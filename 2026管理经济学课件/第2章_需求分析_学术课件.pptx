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05840"/>
            <a:ext cx="1645920" cy="438912"/>
          </a:xfrm>
          <a:prstGeom prst="roundRect">
            <a:avLst/>
          </a:prstGeom>
          <a:solidFill>
            <a:srgbClr val="EBF3FA"/>
          </a:solidFill>
          <a:ln w="1905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B3A5C"/>
                </a:solidFill>
                <a:latin typeface="Times New Roman"/>
                <a:ea typeface="Microsoft YaHei"/>
              </a:rPr>
              <a:t>CH 02</a:t>
            </a:r>
          </a:p>
        </p:txBody>
      </p:sp>
      <p:sp>
        <p:nvSpPr>
          <p:cNvPr id="5" name="TextBox 4"/>
          <p:cNvSpPr txBox="1"/>
          <p:nvPr/>
        </p:nvSpPr>
        <p:spPr>
          <a:xfrm>
            <a:off x="914400" y="1600200"/>
            <a:ext cx="10058400" cy="1005840"/>
          </a:xfrm>
          <a:prstGeom prst="rect">
            <a:avLst/>
          </a:prstGeom>
          <a:noFill/>
        </p:spPr>
        <p:txBody>
          <a:bodyPr wrap="none">
            <a:spAutoFit/>
          </a:bodyPr>
          <a:lstStyle/>
          <a:p>
            <a:r>
              <a:rPr sz="3600" b="1">
                <a:solidFill>
                  <a:srgbClr val="1B3A5C"/>
                </a:solidFill>
                <a:latin typeface="Times New Roman"/>
                <a:ea typeface="Microsoft YaHei"/>
              </a:rPr>
              <a:t>需求分析：理论、弹性与决策应用</a:t>
            </a:r>
          </a:p>
        </p:txBody>
      </p:sp>
      <p:sp>
        <p:nvSpPr>
          <p:cNvPr id="6" name="Rectangle 5"/>
          <p:cNvSpPr/>
          <p:nvPr/>
        </p:nvSpPr>
        <p:spPr>
          <a:xfrm>
            <a:off x="914400" y="26517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88920"/>
            <a:ext cx="10058400" cy="457200"/>
          </a:xfrm>
          <a:prstGeom prst="rect">
            <a:avLst/>
          </a:prstGeom>
          <a:noFill/>
        </p:spPr>
        <p:txBody>
          <a:bodyPr wrap="none">
            <a:spAutoFit/>
          </a:bodyPr>
          <a:lstStyle/>
          <a:p>
            <a:r>
              <a:rPr sz="1700" b="1">
                <a:solidFill>
                  <a:srgbClr val="2E86C1"/>
                </a:solidFill>
                <a:latin typeface="Times New Roman"/>
                <a:ea typeface="Microsoft YaHei"/>
              </a:rPr>
              <a:t>企业生产经营决策的基石与数量敏感度分析工具</a:t>
            </a:r>
          </a:p>
        </p:txBody>
      </p:sp>
      <p:sp>
        <p:nvSpPr>
          <p:cNvPr id="8" name="Rectangle 7"/>
          <p:cNvSpPr/>
          <p:nvPr/>
        </p:nvSpPr>
        <p:spPr>
          <a:xfrm>
            <a:off x="914400" y="3474720"/>
            <a:ext cx="10362895" cy="246888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3474720"/>
            <a:ext cx="103628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703320"/>
            <a:ext cx="9784080" cy="2103120"/>
          </a:xfrm>
          <a:prstGeom prst="rect">
            <a:avLst/>
          </a:prstGeom>
          <a:noFill/>
        </p:spPr>
        <p:txBody>
          <a:bodyPr wrap="none">
            <a:spAutoFit/>
          </a:bodyPr>
          <a:lstStyle/>
          <a:p>
            <a:r>
              <a:rPr sz="1350" b="0">
                <a:solidFill>
                  <a:srgbClr val="2C2C2C"/>
                </a:solidFill>
                <a:latin typeface="Times New Roman"/>
                <a:ea typeface="Microsoft YaHei"/>
              </a:rPr>
              <a:t>•  需求分析的重要性：市场需求是企业一切生产、销售与财务规划的基础出发点</a:t>
            </a:r>
          </a:p>
          <a:p>
            <a:r>
              <a:rPr sz="1350" b="0">
                <a:solidFill>
                  <a:srgbClr val="2C2C2C"/>
                </a:solidFill>
                <a:latin typeface="Times New Roman"/>
                <a:ea typeface="Microsoft YaHei"/>
              </a:rPr>
              <a:t>•  需求的价格弹性（点弹性、弧弹性、几何求法与四类需求曲线特征）</a:t>
            </a:r>
          </a:p>
          <a:p>
            <a:r>
              <a:rPr sz="1350" b="0">
                <a:solidFill>
                  <a:srgbClr val="2C2C2C"/>
                </a:solidFill>
                <a:latin typeface="Times New Roman"/>
                <a:ea typeface="Microsoft YaHei"/>
              </a:rPr>
              <a:t>•  价格弹性与销售收入（TR）、边际收入（MR）、平均收入（AR）的数量联动机制</a:t>
            </a:r>
          </a:p>
          <a:p>
            <a:r>
              <a:rPr sz="1350" b="0">
                <a:solidFill>
                  <a:srgbClr val="2C2C2C"/>
                </a:solidFill>
                <a:latin typeface="Times New Roman"/>
                <a:ea typeface="Microsoft YaHei"/>
              </a:rPr>
              <a:t>•  影响价格弹性的四大核心因素与企业定价、政府征税政策分析</a:t>
            </a:r>
          </a:p>
          <a:p>
            <a:r>
              <a:rPr sz="1350" b="0">
                <a:solidFill>
                  <a:srgbClr val="2C2C2C"/>
                </a:solidFill>
                <a:latin typeface="Times New Roman"/>
                <a:ea typeface="Microsoft YaHei"/>
              </a:rPr>
              <a:t>•  需求的收入弹性：正常品、低档品与高档品分类及长期需求预测</a:t>
            </a:r>
          </a:p>
          <a:p>
            <a:r>
              <a:rPr sz="1350" b="0">
                <a:solidFill>
                  <a:srgbClr val="2C2C2C"/>
                </a:solidFill>
                <a:latin typeface="Times New Roman"/>
                <a:ea typeface="Microsoft YaHei"/>
              </a:rPr>
              <a:t>•  需求的交叉弹性：替代品、互补品判定及产品线关联定价策略（吉列模式）</a:t>
            </a:r>
          </a:p>
        </p:txBody>
      </p:sp>
      <p:sp>
        <p:nvSpPr>
          <p:cNvPr id="11" name="TextBox 10"/>
          <p:cNvSpPr txBox="1"/>
          <p:nvPr/>
        </p:nvSpPr>
        <p:spPr>
          <a:xfrm>
            <a:off x="914400" y="6309360"/>
            <a:ext cx="7315200" cy="320040"/>
          </a:xfrm>
          <a:prstGeom prst="rect">
            <a:avLst/>
          </a:prstGeom>
          <a:noFill/>
        </p:spPr>
        <p:txBody>
          <a:bodyPr wrap="none">
            <a:spAutoFit/>
          </a:bodyPr>
          <a:lstStyle/>
          <a:p>
            <a:r>
              <a:rPr sz="1100" b="0">
                <a:solidFill>
                  <a:srgbClr val="6B6B6B"/>
                </a:solidFill>
                <a:latin typeface="Times New Roman"/>
                <a:ea typeface="Microsoft YaHei"/>
              </a:rPr>
              <a:t>《管理经济学（第7版）》核心教学课件系列</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本章概览</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知识结构与全书逻辑框架</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需求弹性总论</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需求分析的重要性</a:t>
            </a:r>
          </a:p>
          <a:p>
            <a:r>
              <a:rPr sz="1200" b="0">
                <a:solidFill>
                  <a:srgbClr val="2C2C2C"/>
                </a:solidFill>
                <a:latin typeface="Times New Roman"/>
                <a:ea typeface="Microsoft YaHei"/>
              </a:rPr>
              <a:t>• 弹性的相对变动率定义</a:t>
            </a:r>
          </a:p>
          <a:p>
            <a:r>
              <a:rPr sz="1200" b="0">
                <a:solidFill>
                  <a:srgbClr val="2C2C2C"/>
                </a:solidFill>
                <a:latin typeface="Times New Roman"/>
                <a:ea typeface="Microsoft YaHei"/>
              </a:rPr>
              <a:t>• 消除计量单位的随意性</a:t>
            </a:r>
          </a:p>
          <a:p>
            <a:r>
              <a:rPr sz="1200" b="0">
                <a:solidFill>
                  <a:srgbClr val="2C2C2C"/>
                </a:solidFill>
                <a:latin typeface="Times New Roman"/>
                <a:ea typeface="Microsoft YaHei"/>
              </a:rPr>
              <a:t>• 三大核心弹性分类体系</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需求价格弹性</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点弹性与弧弹性计算</a:t>
            </a:r>
          </a:p>
          <a:p>
            <a:r>
              <a:rPr sz="1200" b="0">
                <a:solidFill>
                  <a:srgbClr val="2C2C2C"/>
                </a:solidFill>
                <a:latin typeface="Times New Roman"/>
                <a:ea typeface="Microsoft YaHei"/>
              </a:rPr>
              <a:t>• 4大需求曲线弹性形态</a:t>
            </a:r>
          </a:p>
          <a:p>
            <a:r>
              <a:rPr sz="1200" b="0">
                <a:solidFill>
                  <a:srgbClr val="2C2C2C"/>
                </a:solidFill>
                <a:latin typeface="Times New Roman"/>
                <a:ea typeface="Microsoft YaHei"/>
              </a:rPr>
              <a:t>• 价格弹性与销售收入(TR)</a:t>
            </a:r>
          </a:p>
          <a:p>
            <a:r>
              <a:rPr sz="1200" b="0">
                <a:solidFill>
                  <a:srgbClr val="2C2C2C"/>
                </a:solidFill>
                <a:latin typeface="Times New Roman"/>
                <a:ea typeface="Microsoft YaHei"/>
              </a:rPr>
              <a:t>• MR=P(1-1/|Ep|)模型</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需求收入弹性</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消费者收入敏感度测算</a:t>
            </a:r>
          </a:p>
          <a:p>
            <a:r>
              <a:rPr sz="1200" b="0">
                <a:solidFill>
                  <a:srgbClr val="2C2C2C"/>
                </a:solidFill>
                <a:latin typeface="Times New Roman"/>
                <a:ea typeface="Microsoft YaHei"/>
              </a:rPr>
              <a:t>• 正常货/低档货/高档货</a:t>
            </a:r>
          </a:p>
          <a:p>
            <a:r>
              <a:rPr sz="1200" b="0">
                <a:solidFill>
                  <a:srgbClr val="2C2C2C"/>
                </a:solidFill>
                <a:latin typeface="Times New Roman"/>
                <a:ea typeface="Microsoft YaHei"/>
              </a:rPr>
              <a:t>• 企业景气周期经营决策</a:t>
            </a:r>
          </a:p>
          <a:p>
            <a:r>
              <a:rPr sz="1200" b="0">
                <a:solidFill>
                  <a:srgbClr val="2C2C2C"/>
                </a:solidFill>
                <a:latin typeface="Times New Roman"/>
                <a:ea typeface="Microsoft YaHei"/>
              </a:rPr>
              <a:t>• 产业规划与部门发展速度</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需求交叉弹性</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相关产品价格变动反应</a:t>
            </a:r>
          </a:p>
          <a:p>
            <a:r>
              <a:rPr sz="1200" b="0">
                <a:solidFill>
                  <a:srgbClr val="2C2C2C"/>
                </a:solidFill>
                <a:latin typeface="Times New Roman"/>
                <a:ea typeface="Microsoft YaHei"/>
              </a:rPr>
              <a:t>• 替代品(&gt;0) vs 互补品(&lt;0)</a:t>
            </a:r>
          </a:p>
          <a:p>
            <a:r>
              <a:rPr sz="1200" b="0">
                <a:solidFill>
                  <a:srgbClr val="2C2C2C"/>
                </a:solidFill>
                <a:latin typeface="Times New Roman"/>
                <a:ea typeface="Microsoft YaHei"/>
              </a:rPr>
              <a:t>• 企业产品线联合定价</a:t>
            </a:r>
          </a:p>
          <a:p>
            <a:r>
              <a:rPr sz="1200" b="0">
                <a:solidFill>
                  <a:srgbClr val="2C2C2C"/>
                </a:solidFill>
                <a:latin typeface="Times New Roman"/>
                <a:ea typeface="Microsoft YaHei"/>
              </a:rPr>
              <a:t>• 行业边界与非对称竞争</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归纳要义：核心主线：为什么分析需求 → 需求对价格有多敏感（价格弹性） → 需求对收入有多敏感（收入弹性） → 需求对竞品/关联品有多敏感（交叉弹性） → 企业最优决策</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导论</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需求分析的重要性与需求弹性的本质</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3</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为什么需求分析是企业管理的第一步？</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高需求是企业兴旺发达的前提</a:t>
            </a:r>
          </a:p>
          <a:p>
            <a:r>
              <a:rPr sz="1250" b="0">
                <a:solidFill>
                  <a:srgbClr val="2C2C2C"/>
                </a:solidFill>
                <a:latin typeface="Times New Roman"/>
                <a:ea typeface="Microsoft YaHei"/>
              </a:rPr>
              <a:t>  即使内部管理有方、井井有条，若产品没有销路，企业也无法生存。</a:t>
            </a:r>
          </a:p>
          <a:p>
            <a:r>
              <a:rPr sz="1400" b="1">
                <a:solidFill>
                  <a:srgbClr val="1B3A5C"/>
                </a:solidFill>
                <a:latin typeface="Times New Roman"/>
                <a:ea typeface="Microsoft YaHei"/>
              </a:rPr>
              <a:t>2. 是一切计划工作的基石与出发点</a:t>
            </a:r>
          </a:p>
          <a:p>
            <a:r>
              <a:rPr sz="1250" b="0">
                <a:solidFill>
                  <a:srgbClr val="2C2C2C"/>
                </a:solidFill>
                <a:latin typeface="Times New Roman"/>
                <a:ea typeface="Microsoft YaHei"/>
              </a:rPr>
              <a:t>  生产计划、销售计划、薪酬预算、基建与财务融资皆以需求估计为依据。</a:t>
            </a:r>
          </a:p>
          <a:p>
            <a:r>
              <a:rPr sz="1400" b="1">
                <a:solidFill>
                  <a:srgbClr val="1B3A5C"/>
                </a:solidFill>
                <a:latin typeface="Times New Roman"/>
                <a:ea typeface="Microsoft YaHei"/>
              </a:rPr>
              <a:t>3. 决定企业核心决策</a:t>
            </a:r>
          </a:p>
          <a:p>
            <a:r>
              <a:rPr sz="1250" b="0">
                <a:solidFill>
                  <a:srgbClr val="2C2C2C"/>
                </a:solidFill>
                <a:latin typeface="Times New Roman"/>
                <a:ea typeface="Microsoft YaHei"/>
              </a:rPr>
              <a:t>  具体解答「生产什么」与「生产多少」的根本经营问题。</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为什么使用「变动率（弹性）」而非「绝对量」？</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弹性的通用数学定义</a:t>
            </a:r>
          </a:p>
          <a:p>
            <a:r>
              <a:rPr sz="1250" b="0">
                <a:solidFill>
                  <a:srgbClr val="2C2C2C"/>
                </a:solidFill>
                <a:latin typeface="Times New Roman"/>
                <a:ea typeface="Microsoft YaHei"/>
              </a:rPr>
              <a:t>  E = (需求量变动百分比) / (影响因素变动百分比) = (%ΔQ) / (%ΔX)</a:t>
            </a:r>
          </a:p>
          <a:p>
            <a:r>
              <a:rPr sz="1400" b="1">
                <a:solidFill>
                  <a:srgbClr val="2E86C1"/>
                </a:solidFill>
                <a:latin typeface="Times New Roman"/>
                <a:ea typeface="Microsoft YaHei"/>
              </a:rPr>
              <a:t>2. 消除计量单位（量纲）的干扰</a:t>
            </a:r>
          </a:p>
          <a:p>
            <a:r>
              <a:rPr sz="1250" b="0">
                <a:solidFill>
                  <a:srgbClr val="2C2C2C"/>
                </a:solidFill>
                <a:latin typeface="Times New Roman"/>
                <a:ea typeface="Microsoft YaHei"/>
              </a:rPr>
              <a:t>  若用绝对量：猪肉涨1元降100kg得100；涨100分降100kg得1；产生巨大随意性。</a:t>
            </a:r>
          </a:p>
          <a:p>
            <a:r>
              <a:rPr sz="1400" b="1">
                <a:solidFill>
                  <a:srgbClr val="2E86C1"/>
                </a:solidFill>
                <a:latin typeface="Times New Roman"/>
                <a:ea typeface="Microsoft YaHei"/>
              </a:rPr>
              <a:t>3. 赋予不同商品跨品类可比性</a:t>
            </a:r>
          </a:p>
          <a:p>
            <a:r>
              <a:rPr sz="1250" b="0">
                <a:solidFill>
                  <a:srgbClr val="2C2C2C"/>
                </a:solidFill>
                <a:latin typeface="Times New Roman"/>
                <a:ea typeface="Microsoft YaHei"/>
              </a:rPr>
              <a:t>  使火柴与电视机、汽车与粮食之间的需求敏感度具备统一衡量尺度。</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核心结论：需求弹性反映了需求量对某种影响因素变动的反应程度（即自变量变动 1% 时，需求量变动的百分比）。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1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需求的价格弹性 (Price Elasticity of Demand)</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点价格弹性 · 弧价格弹性 · 几何求解法 · 四类曲线形态 · 销售收入TR联动 · MR-AR-P模型 · 差别定价策略</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需求的价格弹性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价格弹性的计算方法：点弹性与弧弹性</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5</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点价格弹性 (Point Elasticity, εp)</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适用场景与前提</a:t>
            </a:r>
          </a:p>
          <a:p>
            <a:r>
              <a:rPr sz="1250" b="0">
                <a:solidFill>
                  <a:srgbClr val="2C2C2C"/>
                </a:solidFill>
                <a:latin typeface="Times New Roman"/>
                <a:ea typeface="Microsoft YaHei"/>
              </a:rPr>
              <a:t>  适用于需求曲线方程已知，且价格/需求量变化量极微小（趋近于零）的情形。</a:t>
            </a:r>
          </a:p>
          <a:p>
            <a:r>
              <a:rPr sz="1400" b="1">
                <a:solidFill>
                  <a:srgbClr val="1B3A5C"/>
                </a:solidFill>
                <a:latin typeface="Times New Roman"/>
                <a:ea typeface="Microsoft YaHei"/>
              </a:rPr>
              <a:t>2. 微积分计算公式</a:t>
            </a:r>
          </a:p>
          <a:p>
            <a:r>
              <a:rPr sz="1250" b="0">
                <a:solidFill>
                  <a:srgbClr val="2C2C2C"/>
                </a:solidFill>
                <a:latin typeface="Times New Roman"/>
                <a:ea typeface="Microsoft YaHei"/>
              </a:rPr>
              <a:t>  εp = lim(ΔP→0) [ (ΔQ/Q) / (ΔP/P) ] = (dQ / dP) · (P / Q)</a:t>
            </a:r>
          </a:p>
          <a:p>
            <a:r>
              <a:rPr sz="1400" b="1">
                <a:solidFill>
                  <a:srgbClr val="1B3A5C"/>
                </a:solidFill>
                <a:latin typeface="Times New Roman"/>
                <a:ea typeface="Microsoft YaHei"/>
              </a:rPr>
              <a:t>3. 算例解析 (例 2-1)</a:t>
            </a:r>
          </a:p>
          <a:p>
            <a:r>
              <a:rPr sz="1250" b="0">
                <a:solidFill>
                  <a:srgbClr val="2C2C2C"/>
                </a:solidFill>
                <a:latin typeface="Times New Roman"/>
                <a:ea typeface="Microsoft YaHei"/>
              </a:rPr>
              <a:t>  设需求方程 Q = 30 - 5P，求 P=2, Q=20 处的点弹性：
dQ/dP = -5 → εp = -5 × (2/20) = -0.5 (绝对值为 0.5)</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弧价格弹性 (Arc Elasticity, Ep)</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适用场景与前提</a:t>
            </a:r>
          </a:p>
          <a:p>
            <a:r>
              <a:rPr sz="1250" b="0">
                <a:solidFill>
                  <a:srgbClr val="2C2C2C"/>
                </a:solidFill>
                <a:latin typeface="Times New Roman"/>
                <a:ea typeface="Microsoft YaHei"/>
              </a:rPr>
              <a:t>  适用于不知道需求曲线方程，仅已知曲线上两个离散数据点 (P1, Q1) 与 (P2, Q2)。</a:t>
            </a:r>
          </a:p>
          <a:p>
            <a:r>
              <a:rPr sz="1400" b="1">
                <a:solidFill>
                  <a:srgbClr val="2E86C1"/>
                </a:solidFill>
                <a:latin typeface="Times New Roman"/>
                <a:ea typeface="Microsoft YaHei"/>
              </a:rPr>
              <a:t>2. 中点平滑计算公式 (公式 2-3)</a:t>
            </a:r>
          </a:p>
          <a:p>
            <a:r>
              <a:rPr sz="1250" b="0">
                <a:solidFill>
                  <a:srgbClr val="2C2C2C"/>
                </a:solidFill>
                <a:latin typeface="Times New Roman"/>
                <a:ea typeface="Microsoft YaHei"/>
              </a:rPr>
              <a:t>  Ep = [ (Q2-Q1) / ((Q1+Q2)/2) ] / [ (P2-P1) / ((P1+P2)/2) ] = [(Q2-Q1)/(P2-P1)] · [(P1+P2)/(Q1+Q2)]</a:t>
            </a:r>
          </a:p>
          <a:p>
            <a:r>
              <a:rPr sz="1400" b="1">
                <a:solidFill>
                  <a:srgbClr val="2E86C1"/>
                </a:solidFill>
                <a:latin typeface="Times New Roman"/>
                <a:ea typeface="Microsoft YaHei"/>
              </a:rPr>
              <a:t>3. 算例解析 (例 2-2)</a:t>
            </a:r>
          </a:p>
          <a:p>
            <a:r>
              <a:rPr sz="1250" b="0">
                <a:solidFill>
                  <a:srgbClr val="2C2C2C"/>
                </a:solidFill>
                <a:latin typeface="Times New Roman"/>
                <a:ea typeface="Microsoft YaHei"/>
              </a:rPr>
              <a:t>  已知 P1=2, Q1=20; P2=5, Q2=5，则：
Ep = [(5-20)/(5-2)] · [(2+5)/(20+5)] = (-5) × (7/25) = -1.4 (绝对值为 1.4)</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核心结论：注意：价格与需求量呈反向变动，计算结果恒为负值，但在经济学应用中通常取其绝对值 |εp| 进行大小比较。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需求的价格弹性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点弹性的几何图解法与「斜率 ≠ 弹性」辨析</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6</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直线型需求曲线点弹性的几何求法</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几何计算黄金法则</a:t>
            </a:r>
          </a:p>
          <a:p>
            <a:r>
              <a:rPr sz="1250" b="0">
                <a:solidFill>
                  <a:srgbClr val="2C2C2C"/>
                </a:solidFill>
                <a:latin typeface="Times New Roman"/>
                <a:ea typeface="Microsoft YaHei"/>
              </a:rPr>
              <a:t>  设直线需求曲线交纵轴于 A、横轴于 C，曲线上任一点 B 的点弹性为：
|εp| = 下半段线段 / 上半段线段 = BC / AB</a:t>
            </a:r>
          </a:p>
          <a:p>
            <a:r>
              <a:rPr sz="1400" b="1">
                <a:solidFill>
                  <a:srgbClr val="1B3A5C"/>
                </a:solidFill>
                <a:latin typeface="Times New Roman"/>
                <a:ea typeface="Microsoft YaHei"/>
              </a:rPr>
              <a:t>2. 几何证明逻辑</a:t>
            </a:r>
          </a:p>
          <a:p>
            <a:r>
              <a:rPr sz="1250" b="0">
                <a:solidFill>
                  <a:srgbClr val="2C2C2C"/>
                </a:solidFill>
                <a:latin typeface="Times New Roman"/>
                <a:ea typeface="Microsoft YaHei"/>
              </a:rPr>
              <a:t>  |εp| = (dQ/dP)·(P/Q) = (1/斜率)·(BQ/OQ) = (QC/BQ)·(BQ/OQ) = QC/OQ = BC/AB</a:t>
            </a:r>
          </a:p>
          <a:p>
            <a:r>
              <a:rPr sz="1400" b="1">
                <a:solidFill>
                  <a:srgbClr val="1B3A5C"/>
                </a:solidFill>
                <a:latin typeface="Times New Roman"/>
                <a:ea typeface="Microsoft YaHei"/>
              </a:rPr>
              <a:t>3. 关键特征点弹性分布</a:t>
            </a:r>
          </a:p>
          <a:p>
            <a:r>
              <a:rPr sz="1250" b="0">
                <a:solidFill>
                  <a:srgbClr val="2C2C2C"/>
                </a:solidFill>
                <a:latin typeface="Times New Roman"/>
                <a:ea typeface="Microsoft YaHei"/>
              </a:rPr>
              <a:t>  • 纵轴截距 A 点：BC/AB = AC/0 → |εp| = ∞ (完全弹性)
• 需求曲线中点 M：MC/AM = 1 → |εp| = 1 (单元弹性)
• 横轴截距 C 点：0/AC → |εp| = 0 (完全非弹性)</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重要辨析：价格弹性 与 曲线斜率 的本质区别</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斜率与弹性的数学关系</a:t>
            </a:r>
          </a:p>
          <a:p>
            <a:r>
              <a:rPr sz="1250" b="0">
                <a:solidFill>
                  <a:srgbClr val="2C2C2C"/>
                </a:solidFill>
                <a:latin typeface="Times New Roman"/>
                <a:ea typeface="Microsoft YaHei"/>
              </a:rPr>
              <a:t>  价格弹性 |εp| = (1 / 斜率绝对值) · (P / Q)。两者成反比，但绝不等同。</a:t>
            </a:r>
          </a:p>
          <a:p>
            <a:r>
              <a:rPr sz="1400" b="1">
                <a:solidFill>
                  <a:srgbClr val="2E86C1"/>
                </a:solidFill>
                <a:latin typeface="Times New Roman"/>
                <a:ea typeface="Microsoft YaHei"/>
              </a:rPr>
              <a:t>2. 直线需求曲线上斜率恒定，但弹性处处不同</a:t>
            </a:r>
          </a:p>
          <a:p>
            <a:r>
              <a:rPr sz="1250" b="0">
                <a:solidFill>
                  <a:srgbClr val="2C2C2C"/>
                </a:solidFill>
                <a:latin typeface="Times New Roman"/>
                <a:ea typeface="Microsoft YaHei"/>
              </a:rPr>
              <a:t>  沿直线需求曲线向右下方滑动时，斜率不变，但 P/Q 持续递减，故弹性从 ∞ 连续降至 0。</a:t>
            </a:r>
          </a:p>
          <a:p>
            <a:r>
              <a:rPr sz="1400" b="1">
                <a:solidFill>
                  <a:srgbClr val="2E86C1"/>
                </a:solidFill>
                <a:latin typeface="Times New Roman"/>
                <a:ea typeface="Microsoft YaHei"/>
              </a:rPr>
              <a:t>3. 跨曲线比较原则</a:t>
            </a:r>
          </a:p>
          <a:p>
            <a:r>
              <a:rPr sz="1250" b="0">
                <a:solidFill>
                  <a:srgbClr val="2C2C2C"/>
                </a:solidFill>
                <a:latin typeface="Times New Roman"/>
                <a:ea typeface="Microsoft YaHei"/>
              </a:rPr>
              <a:t>  在相同价格 P 和相同需求量 Q 的交点处，平坦的需求曲线（斜率小）弹性大；陡峭的需求曲线（斜率大）弹性小。</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核心结论：牢记：企业管理者绝不能仅凭需求曲线的陡峭程度断定弹性，必须结合当前所在的具体价格点 P/Q 综合测算！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需求的价格弹性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需求曲线按价格弹性的四种典型形态</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7</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完全非弹性 (|εp|=0)</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形态：垂直于横轴的直线</a:t>
            </a:r>
          </a:p>
          <a:p>
            <a:r>
              <a:rPr sz="1200" b="0">
                <a:solidFill>
                  <a:srgbClr val="2C2C2C"/>
                </a:solidFill>
                <a:latin typeface="Times New Roman"/>
                <a:ea typeface="Microsoft YaHei"/>
              </a:rPr>
              <a:t>• 经济含义：无论价格多高，需求量绝对保持不变</a:t>
            </a:r>
          </a:p>
          <a:p>
            <a:r>
              <a:rPr sz="1200" b="0">
                <a:solidFill>
                  <a:srgbClr val="2C2C2C"/>
                </a:solidFill>
                <a:latin typeface="Times New Roman"/>
                <a:ea typeface="Microsoft YaHei"/>
              </a:rPr>
              <a:t>• 现实案例：家庭生活必需的自来水、电、天然气、急救特效药</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完全弹性 (|εp|=∞)</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形态：水平于横轴的直线</a:t>
            </a:r>
          </a:p>
          <a:p>
            <a:r>
              <a:rPr sz="1200" b="0">
                <a:solidFill>
                  <a:srgbClr val="2C2C2C"/>
                </a:solidFill>
                <a:latin typeface="Times New Roman"/>
                <a:ea typeface="Microsoft YaHei"/>
              </a:rPr>
              <a:t>• 经济含义：价格稍有上涨需求立刻归零，微降则无限吸纳</a:t>
            </a:r>
          </a:p>
          <a:p>
            <a:r>
              <a:rPr sz="1200" b="0">
                <a:solidFill>
                  <a:srgbClr val="2C2C2C"/>
                </a:solidFill>
                <a:latin typeface="Times New Roman"/>
                <a:ea typeface="Microsoft YaHei"/>
              </a:rPr>
              <a:t>• 现实案例：完全竞争市场中的同质化农产品/大宗商品企业需求</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单元弹性 (|εp|=1)</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形态：等轴双曲线 (P·Q = k)</a:t>
            </a:r>
          </a:p>
          <a:p>
            <a:r>
              <a:rPr sz="1200" b="0">
                <a:solidFill>
                  <a:srgbClr val="2C2C2C"/>
                </a:solidFill>
                <a:latin typeface="Times New Roman"/>
                <a:ea typeface="Microsoft YaHei"/>
              </a:rPr>
              <a:t>• 经济含义：价格变动百分比引起等比例的需求量反向变动</a:t>
            </a:r>
          </a:p>
          <a:p>
            <a:r>
              <a:rPr sz="1200" b="0">
                <a:solidFill>
                  <a:srgbClr val="2C2C2C"/>
                </a:solidFill>
                <a:latin typeface="Times New Roman"/>
                <a:ea typeface="Microsoft YaHei"/>
              </a:rPr>
              <a:t>• 现实案例：消费者每月固定支出定额预算购买某种日常食品</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常规可变弹性 (直线)</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形态：向右下方倾斜的直线</a:t>
            </a:r>
          </a:p>
          <a:p>
            <a:r>
              <a:rPr sz="1200" b="0">
                <a:solidFill>
                  <a:srgbClr val="2C2C2C"/>
                </a:solidFill>
                <a:latin typeface="Times New Roman"/>
                <a:ea typeface="Microsoft YaHei"/>
              </a:rPr>
              <a:t>• 经济含义：各点弹性连续变化 (上半部&gt;1, 中点=1, 下半部&lt;1)</a:t>
            </a:r>
          </a:p>
          <a:p>
            <a:r>
              <a:rPr sz="1200" b="0">
                <a:solidFill>
                  <a:srgbClr val="2C2C2C"/>
                </a:solidFill>
                <a:latin typeface="Times New Roman"/>
                <a:ea typeface="Microsoft YaHei"/>
              </a:rPr>
              <a:t>• 现实案例：绝大多数制造品、耐用品与商用消费品的市场需求</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归纳要义：不同行业的产品所处的需求曲线形态决定了企业能否自主定价以及调价后对总销售规模的冲击程度。</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需求的价格弹性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价格弹性与销售总收入 (TR) 的内在规律</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8</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价格弹性对销售总收入 (TR = P × Q) 的决定机制</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弹性需求 (|εp| &gt; 1) —— 降价增收 / 提价减收</a:t>
            </a:r>
          </a:p>
          <a:p>
            <a:r>
              <a:rPr sz="1250" b="0">
                <a:solidFill>
                  <a:srgbClr val="2C2C2C"/>
                </a:solidFill>
                <a:latin typeface="Times New Roman"/>
                <a:ea typeface="Microsoft YaHei"/>
              </a:rPr>
              <a:t>  提价使 Q 下降的比例大于 P 上涨的比例，TR 减少；降价使 Q 增加的比例大于 P 下降的比例，TR 增加（薄利多销的经济学基础）。</a:t>
            </a:r>
          </a:p>
          <a:p>
            <a:r>
              <a:rPr sz="1400" b="1">
                <a:solidFill>
                  <a:srgbClr val="1B3A5C"/>
                </a:solidFill>
                <a:latin typeface="Times New Roman"/>
                <a:ea typeface="Microsoft YaHei"/>
              </a:rPr>
              <a:t>2. 单元弹性 (|εp| = 1) —— 价格变动不影响 TR</a:t>
            </a:r>
          </a:p>
          <a:p>
            <a:r>
              <a:rPr sz="1250" b="0">
                <a:solidFill>
                  <a:srgbClr val="2C2C2C"/>
                </a:solidFill>
                <a:latin typeface="Times New Roman"/>
                <a:ea typeface="Microsoft YaHei"/>
              </a:rPr>
              <a:t>  P 变动的百分比与 Q 变动的百分比刚好相互抵消，此时总销售收入达到极值（最大值）。</a:t>
            </a:r>
          </a:p>
          <a:p>
            <a:r>
              <a:rPr sz="1400" b="1">
                <a:solidFill>
                  <a:srgbClr val="1B3A5C"/>
                </a:solidFill>
                <a:latin typeface="Times New Roman"/>
                <a:ea typeface="Microsoft YaHei"/>
              </a:rPr>
              <a:t>3. 非弹性需求 (|εp| &lt; 1) —— 提价增收 / 降价减收</a:t>
            </a:r>
          </a:p>
          <a:p>
            <a:r>
              <a:rPr sz="1250" b="0">
                <a:solidFill>
                  <a:srgbClr val="2C2C2C"/>
                </a:solidFill>
                <a:latin typeface="Times New Roman"/>
                <a:ea typeface="Microsoft YaHei"/>
              </a:rPr>
              <a:t>  提价使 Q 下降的比例小于 P 上涨的比例，TR 反而增加；降价导致的销量扩张不足以弥补价格损失，TR 减少（薄利不仅不多销，反而受损）。</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价格变动与销售收入变动方向对照矩阵 (表 2-1)</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价格上涨 (P ↑)</a:t>
            </a:r>
          </a:p>
          <a:p>
            <a:r>
              <a:rPr sz="1250" b="0">
                <a:solidFill>
                  <a:srgbClr val="2C2C2C"/>
                </a:solidFill>
                <a:latin typeface="Times New Roman"/>
                <a:ea typeface="Microsoft YaHei"/>
              </a:rPr>
              <a:t>  • 弹性需求 (|εp|&gt;1)：销售收入减少 (TR ↓)
• 单元弹性 (|εp|=1)：销售收入不变 (TR —)
• 非弹性需求 (|εp|&lt;1)：销售收入增加 (TR ↑)</a:t>
            </a:r>
          </a:p>
          <a:p>
            <a:r>
              <a:rPr sz="1400" b="1">
                <a:solidFill>
                  <a:srgbClr val="2E86C1"/>
                </a:solidFill>
                <a:latin typeface="Times New Roman"/>
                <a:ea typeface="Microsoft YaHei"/>
              </a:rPr>
              <a:t>价格下跌 (P ↓)</a:t>
            </a:r>
          </a:p>
          <a:p>
            <a:r>
              <a:rPr sz="1250" b="0">
                <a:solidFill>
                  <a:srgbClr val="2C2C2C"/>
                </a:solidFill>
                <a:latin typeface="Times New Roman"/>
                <a:ea typeface="Microsoft YaHei"/>
              </a:rPr>
              <a:t>  • 弹性需求 (|εp|&gt;1)：销售收入增加 (TR ↑) 【薄利多销成功】
• 单元弹性 (|εp|=1)：销售收入不变 (TR —)
• 非弹性需求 (|εp|&lt;1)：销售收入减少 (TR ↓) 【价格战灾难】</a:t>
            </a:r>
          </a:p>
          <a:p>
            <a:r>
              <a:rPr sz="1400" b="1">
                <a:solidFill>
                  <a:srgbClr val="2E86C1"/>
                </a:solidFill>
                <a:latin typeface="Times New Roman"/>
                <a:ea typeface="Microsoft YaHei"/>
              </a:rPr>
              <a:t>管理启示</a:t>
            </a:r>
          </a:p>
          <a:p>
            <a:r>
              <a:rPr sz="1250" b="0">
                <a:solidFill>
                  <a:srgbClr val="2C2C2C"/>
                </a:solidFill>
                <a:latin typeface="Times New Roman"/>
                <a:ea typeface="Microsoft YaHei"/>
              </a:rPr>
              <a:t>  打破「要增加收入必须提高价格」的盲目观念；同时坚决杜绝在非弹性需求区间打价格战！</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核心结论：核心铁律：企业只有在需求富有弹性 (|εp| &gt; 1) 的商品上实行降价促销才能扩大总销售额！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案例研讨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案例 2-1：J 食品公司排块巧克力的三次失败降价</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9</a:t>
            </a:r>
          </a:p>
        </p:txBody>
      </p:sp>
      <p:sp>
        <p:nvSpPr>
          <p:cNvPr id="9" name="Rectangle 8"/>
          <p:cNvSpPr/>
          <p:nvPr/>
        </p:nvSpPr>
        <p:spPr>
          <a:xfrm>
            <a:off x="457200" y="1325880"/>
            <a:ext cx="11247120" cy="457200"/>
          </a:xfrm>
          <a:prstGeom prst="rect">
            <a:avLst/>
          </a:prstGeom>
          <a:solidFill>
            <a:srgbClr val="EBF3FA"/>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9144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353312"/>
            <a:ext cx="10789920" cy="411480"/>
          </a:xfrm>
          <a:prstGeom prst="rect">
            <a:avLst/>
          </a:prstGeom>
          <a:noFill/>
        </p:spPr>
        <p:txBody>
          <a:bodyPr wrap="none">
            <a:spAutoFit/>
          </a:bodyPr>
          <a:lstStyle/>
          <a:p>
            <a:r>
              <a:rPr sz="1550" b="1">
                <a:solidFill>
                  <a:srgbClr val="1B3A5C"/>
                </a:solidFill>
                <a:latin typeface="Times New Roman"/>
                <a:ea typeface="Microsoft YaHei"/>
              </a:rPr>
              <a:t>📖 案例研讨：跨国食品巨头 J 公司在北京市场的价格战折戟</a:t>
            </a:r>
          </a:p>
        </p:txBody>
      </p:sp>
      <p:sp>
        <p:nvSpPr>
          <p:cNvPr id="12" name="Rectangle 11"/>
          <p:cNvSpPr/>
          <p:nvPr/>
        </p:nvSpPr>
        <p:spPr>
          <a:xfrm>
            <a:off x="457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阶段一：原价入市</a:t>
            </a:r>
          </a:p>
        </p:txBody>
      </p:sp>
      <p:sp>
        <p:nvSpPr>
          <p:cNvPr id="15" name="TextBox 14"/>
          <p:cNvSpPr txBox="1"/>
          <p:nvPr/>
        </p:nvSpPr>
        <p:spPr>
          <a:xfrm>
            <a:off x="594360" y="2423160"/>
            <a:ext cx="2400300" cy="2697480"/>
          </a:xfrm>
          <a:prstGeom prst="rect">
            <a:avLst/>
          </a:prstGeom>
          <a:noFill/>
        </p:spPr>
        <p:txBody>
          <a:bodyPr wrap="square">
            <a:spAutoFit/>
          </a:bodyPr>
          <a:lstStyle/>
          <a:p>
            <a:r>
              <a:rPr sz="1200" b="0">
                <a:solidFill>
                  <a:srgbClr val="2C2C2C"/>
                </a:solidFill>
                <a:latin typeface="Times New Roman"/>
                <a:ea typeface="Microsoft YaHei"/>
              </a:rPr>
              <a:t>• 推出 18g 排块巧克力</a:t>
            </a:r>
          </a:p>
          <a:p>
            <a:r>
              <a:rPr sz="1200" b="0">
                <a:solidFill>
                  <a:srgbClr val="2C2C2C"/>
                </a:solidFill>
                <a:latin typeface="Times New Roman"/>
                <a:ea typeface="Microsoft YaHei"/>
              </a:rPr>
              <a:t>• 定价 3 元/块，目标 20 万/月</a:t>
            </a:r>
          </a:p>
          <a:p>
            <a:r>
              <a:rPr sz="1200" b="0">
                <a:solidFill>
                  <a:srgbClr val="2C2C2C"/>
                </a:solidFill>
                <a:latin typeface="Times New Roman"/>
                <a:ea typeface="Microsoft YaHei"/>
              </a:rPr>
              <a:t>• 铺货 6000 家店，收入滑至 6 万以下</a:t>
            </a:r>
          </a:p>
        </p:txBody>
      </p:sp>
      <p:sp>
        <p:nvSpPr>
          <p:cNvPr id="16" name="Rectangle 15"/>
          <p:cNvSpPr/>
          <p:nvPr/>
        </p:nvSpPr>
        <p:spPr>
          <a:xfrm>
            <a:off x="3314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4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06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阶段二：首轮降价</a:t>
            </a:r>
          </a:p>
        </p:txBody>
      </p:sp>
      <p:sp>
        <p:nvSpPr>
          <p:cNvPr id="19" name="TextBox 18"/>
          <p:cNvSpPr txBox="1"/>
          <p:nvPr/>
        </p:nvSpPr>
        <p:spPr>
          <a:xfrm>
            <a:off x="3451860" y="2423160"/>
            <a:ext cx="2400300" cy="2697480"/>
          </a:xfrm>
          <a:prstGeom prst="rect">
            <a:avLst/>
          </a:prstGeom>
          <a:noFill/>
        </p:spPr>
        <p:txBody>
          <a:bodyPr wrap="square">
            <a:spAutoFit/>
          </a:bodyPr>
          <a:lstStyle/>
          <a:p>
            <a:r>
              <a:rPr sz="1200" b="0">
                <a:solidFill>
                  <a:srgbClr val="2C2C2C"/>
                </a:solidFill>
                <a:latin typeface="Times New Roman"/>
                <a:ea typeface="Microsoft YaHei"/>
              </a:rPr>
              <a:t>• 市场部误判价格偏高</a:t>
            </a:r>
          </a:p>
          <a:p>
            <a:r>
              <a:rPr sz="1200" b="0">
                <a:solidFill>
                  <a:srgbClr val="2C2C2C"/>
                </a:solidFill>
                <a:latin typeface="Times New Roman"/>
                <a:ea typeface="Microsoft YaHei"/>
              </a:rPr>
              <a:t>• 价格下调至 2.5 元/块</a:t>
            </a:r>
          </a:p>
          <a:p>
            <a:r>
              <a:rPr sz="1200" b="0">
                <a:solidFill>
                  <a:srgbClr val="2C2C2C"/>
                </a:solidFill>
                <a:latin typeface="Times New Roman"/>
                <a:ea typeface="Microsoft YaHei"/>
              </a:rPr>
              <a:t>• 首月微升至 6.2 万后再次降至 5.2 万</a:t>
            </a:r>
          </a:p>
        </p:txBody>
      </p:sp>
      <p:sp>
        <p:nvSpPr>
          <p:cNvPr id="20" name="Rectangle 19"/>
          <p:cNvSpPr/>
          <p:nvPr/>
        </p:nvSpPr>
        <p:spPr>
          <a:xfrm>
            <a:off x="6172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阶段三：深度降价</a:t>
            </a:r>
          </a:p>
        </p:txBody>
      </p:sp>
      <p:sp>
        <p:nvSpPr>
          <p:cNvPr id="23" name="TextBox 22"/>
          <p:cNvSpPr txBox="1"/>
          <p:nvPr/>
        </p:nvSpPr>
        <p:spPr>
          <a:xfrm>
            <a:off x="6309360" y="2423160"/>
            <a:ext cx="2400300" cy="2697480"/>
          </a:xfrm>
          <a:prstGeom prst="rect">
            <a:avLst/>
          </a:prstGeom>
          <a:noFill/>
        </p:spPr>
        <p:txBody>
          <a:bodyPr wrap="square">
            <a:spAutoFit/>
          </a:bodyPr>
          <a:lstStyle/>
          <a:p>
            <a:r>
              <a:rPr sz="1200" b="0">
                <a:solidFill>
                  <a:srgbClr val="2C2C2C"/>
                </a:solidFill>
                <a:latin typeface="Times New Roman"/>
                <a:ea typeface="Microsoft YaHei"/>
              </a:rPr>
              <a:t>• 进一步降价至 2.0 元/块</a:t>
            </a:r>
          </a:p>
          <a:p>
            <a:r>
              <a:rPr sz="1200" b="0">
                <a:solidFill>
                  <a:srgbClr val="2C2C2C"/>
                </a:solidFill>
                <a:latin typeface="Times New Roman"/>
                <a:ea typeface="Microsoft YaHei"/>
              </a:rPr>
              <a:t>• 月销售收入依然毫无起色</a:t>
            </a:r>
          </a:p>
          <a:p>
            <a:r>
              <a:rPr sz="1200" b="0">
                <a:solidFill>
                  <a:srgbClr val="2C2C2C"/>
                </a:solidFill>
                <a:latin typeface="Times New Roman"/>
                <a:ea typeface="Microsoft YaHei"/>
              </a:rPr>
              <a:t>• 销售渠道与品牌溢价遭受双重打击</a:t>
            </a:r>
          </a:p>
        </p:txBody>
      </p:sp>
      <p:sp>
        <p:nvSpPr>
          <p:cNvPr id="24" name="Rectangle 23"/>
          <p:cNvSpPr/>
          <p:nvPr/>
        </p:nvSpPr>
        <p:spPr>
          <a:xfrm>
            <a:off x="9029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29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21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阶段四：终极清仓</a:t>
            </a:r>
          </a:p>
        </p:txBody>
      </p:sp>
      <p:sp>
        <p:nvSpPr>
          <p:cNvPr id="27" name="TextBox 26"/>
          <p:cNvSpPr txBox="1"/>
          <p:nvPr/>
        </p:nvSpPr>
        <p:spPr>
          <a:xfrm>
            <a:off x="9166860" y="2423160"/>
            <a:ext cx="2400300" cy="2697480"/>
          </a:xfrm>
          <a:prstGeom prst="rect">
            <a:avLst/>
          </a:prstGeom>
          <a:noFill/>
        </p:spPr>
        <p:txBody>
          <a:bodyPr wrap="square">
            <a:spAutoFit/>
          </a:bodyPr>
          <a:lstStyle/>
          <a:p>
            <a:r>
              <a:rPr sz="1200" b="0">
                <a:solidFill>
                  <a:srgbClr val="2C2C2C"/>
                </a:solidFill>
                <a:latin typeface="Times New Roman"/>
                <a:ea typeface="Microsoft YaHei"/>
              </a:rPr>
              <a:t>• 打出「5 元 3 块」底牌</a:t>
            </a:r>
          </a:p>
          <a:p>
            <a:r>
              <a:rPr sz="1200" b="0">
                <a:solidFill>
                  <a:srgbClr val="2C2C2C"/>
                </a:solidFill>
                <a:latin typeface="Times New Roman"/>
                <a:ea typeface="Microsoft YaHei"/>
              </a:rPr>
              <a:t>• 月销售额始终无法突破 6.5 万元</a:t>
            </a:r>
          </a:p>
          <a:p>
            <a:r>
              <a:rPr sz="1200" b="0">
                <a:solidFill>
                  <a:srgbClr val="2C2C2C"/>
                </a:solidFill>
                <a:latin typeface="Times New Roman"/>
                <a:ea typeface="Microsoft YaHei"/>
              </a:rPr>
              <a:t>• 三次降价行动宣告彻底失败</a:t>
            </a:r>
          </a:p>
        </p:txBody>
      </p:sp>
      <p:sp>
        <p:nvSpPr>
          <p:cNvPr id="28" name="Rectangle 27"/>
          <p:cNvSpPr/>
          <p:nvPr/>
        </p:nvSpPr>
        <p:spPr>
          <a:xfrm>
            <a:off x="457200" y="5349240"/>
            <a:ext cx="11247120" cy="914400"/>
          </a:xfrm>
          <a:prstGeom prst="rect">
            <a:avLst/>
          </a:prstGeom>
          <a:solidFill>
            <a:srgbClr val="DCEDF8"/>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413248"/>
            <a:ext cx="10881360" cy="804672"/>
          </a:xfrm>
          <a:prstGeom prst="rect">
            <a:avLst/>
          </a:prstGeom>
          <a:noFill/>
        </p:spPr>
        <p:txBody>
          <a:bodyPr wrap="none">
            <a:spAutoFit/>
          </a:bodyPr>
          <a:lstStyle/>
          <a:p>
            <a:r>
              <a:rPr sz="1300" b="1">
                <a:solidFill>
                  <a:srgbClr val="1B3A5C"/>
                </a:solidFill>
                <a:latin typeface="Times New Roman"/>
                <a:ea typeface="Microsoft YaHei"/>
              </a:rPr>
              <a:t>🎯 管理经济学启示与决策启示：</a:t>
            </a:r>
          </a:p>
          <a:p>
            <a:r>
              <a:rPr sz="1200" b="0">
                <a:solidFill>
                  <a:srgbClr val="2C2C2C"/>
                </a:solidFill>
                <a:latin typeface="Times New Roman"/>
                <a:ea typeface="Microsoft YaHei"/>
              </a:rPr>
              <a:t>事后测算该产品价格弹性仅为 0.28 (|εp| &lt; 1 非弹性需求)！降价不仅无法刺激销量爆发，还把微薄利润直接转移给消费者，导致企业营收严重萎缩。管理决策切忌拍脑袋降价！</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需求的价格弹性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价格弹性与总收入(TR)、边际收入(MR)、平均收入(AR)</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10</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边际收入、价格与价格弹性的核心公式 (公式 2-4)</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边际收入与弹性的数学推导</a:t>
            </a:r>
          </a:p>
          <a:p>
            <a:r>
              <a:rPr sz="1250" b="0">
                <a:solidFill>
                  <a:srgbClr val="2C2C2C"/>
                </a:solidFill>
                <a:latin typeface="Times New Roman"/>
                <a:ea typeface="Microsoft YaHei"/>
              </a:rPr>
              <a:t>  MR = d(TR)/dQ = d(P·Q)/dQ = P + Q(dP/dQ) = P[1 + (Q/P)(dP/dQ)] = P(1 - 1/|εp|)</a:t>
            </a:r>
          </a:p>
          <a:p>
            <a:r>
              <a:rPr sz="1400" b="1">
                <a:solidFill>
                  <a:srgbClr val="1B3A5C"/>
                </a:solidFill>
                <a:latin typeface="Times New Roman"/>
                <a:ea typeface="Microsoft YaHei"/>
              </a:rPr>
              <a:t>2. 当 |εp| = ∞ 时</a:t>
            </a:r>
          </a:p>
          <a:p>
            <a:r>
              <a:rPr sz="1250" b="0">
                <a:solidFill>
                  <a:srgbClr val="2C2C2C"/>
                </a:solidFill>
                <a:latin typeface="Times New Roman"/>
                <a:ea typeface="Microsoft YaHei"/>
              </a:rPr>
              <a:t>  1/|εp| = 0 → MR = P（完全竞争市场，边际收入等于价格）。</a:t>
            </a:r>
          </a:p>
          <a:p>
            <a:r>
              <a:rPr sz="1400" b="1">
                <a:solidFill>
                  <a:srgbClr val="1B3A5C"/>
                </a:solidFill>
                <a:latin typeface="Times New Roman"/>
                <a:ea typeface="Microsoft YaHei"/>
              </a:rPr>
              <a:t>3. 当 |εp| &gt; 1 时 (弹性需求)</a:t>
            </a:r>
          </a:p>
          <a:p>
            <a:r>
              <a:rPr sz="1250" b="0">
                <a:solidFill>
                  <a:srgbClr val="2C2C2C"/>
                </a:solidFill>
                <a:latin typeface="Times New Roman"/>
                <a:ea typeface="Microsoft YaHei"/>
              </a:rPr>
              <a:t>  1/|εp| &lt; 1 → MR &gt; 0（增加产销量能使总收入 TR 继续增加）。</a:t>
            </a:r>
          </a:p>
          <a:p>
            <a:r>
              <a:rPr sz="1400" b="1">
                <a:solidFill>
                  <a:srgbClr val="1B3A5C"/>
                </a:solidFill>
                <a:latin typeface="Times New Roman"/>
                <a:ea typeface="Microsoft YaHei"/>
              </a:rPr>
              <a:t>4. 当 |εp| = 1 时 (单元弹性)</a:t>
            </a:r>
          </a:p>
          <a:p>
            <a:r>
              <a:rPr sz="1250" b="0">
                <a:solidFill>
                  <a:srgbClr val="2C2C2C"/>
                </a:solidFill>
                <a:latin typeface="Times New Roman"/>
                <a:ea typeface="Microsoft YaHei"/>
              </a:rPr>
              <a:t>  1/|εp| = 1 → MR = 0（总收入 TR 达到最高峰顶点！）。</a:t>
            </a:r>
          </a:p>
          <a:p>
            <a:r>
              <a:rPr sz="1400" b="1">
                <a:solidFill>
                  <a:srgbClr val="1B3A5C"/>
                </a:solidFill>
                <a:latin typeface="Times New Roman"/>
                <a:ea typeface="Microsoft YaHei"/>
              </a:rPr>
              <a:t>5. 当 |εp| &lt; 1 时 (非弹性需求)</a:t>
            </a:r>
          </a:p>
          <a:p>
            <a:r>
              <a:rPr sz="1250" b="0">
                <a:solidFill>
                  <a:srgbClr val="2C2C2C"/>
                </a:solidFill>
                <a:latin typeface="Times New Roman"/>
                <a:ea typeface="Microsoft YaHei"/>
              </a:rPr>
              <a:t>  1/|εp| &gt; 1 → MR &lt; 0（继续增加产销量反而导致总收入 TR 下降！）。</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三条收入曲线的几何形态与经济学含义 (图 2-7)</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平均收入曲线 (AR)</a:t>
            </a:r>
          </a:p>
          <a:p>
            <a:r>
              <a:rPr sz="1250" b="0">
                <a:solidFill>
                  <a:srgbClr val="2C2C2C"/>
                </a:solidFill>
                <a:latin typeface="Times New Roman"/>
                <a:ea typeface="Microsoft YaHei"/>
              </a:rPr>
              <a:t>  AR = TR / Q = (P·Q) / Q = P，故平均收入曲线即为企业的需求曲线 D。</a:t>
            </a:r>
          </a:p>
          <a:p>
            <a:r>
              <a:rPr sz="1400" b="1">
                <a:solidFill>
                  <a:srgbClr val="2E86C1"/>
                </a:solidFill>
                <a:latin typeface="Times New Roman"/>
                <a:ea typeface="Microsoft YaHei"/>
              </a:rPr>
              <a:t>2. 边际收入曲线 (MR)</a:t>
            </a:r>
          </a:p>
          <a:p>
            <a:r>
              <a:rPr sz="1250" b="0">
                <a:solidFill>
                  <a:srgbClr val="2C2C2C"/>
                </a:solidFill>
                <a:latin typeface="Times New Roman"/>
                <a:ea typeface="Microsoft YaHei"/>
              </a:rPr>
              <a:t>  从纵轴同一点出发，斜率是需求曲线的 2 倍；当需求中点 |εp|=1 时，MR 恰好穿过横轴 (MR=0)。</a:t>
            </a:r>
          </a:p>
          <a:p>
            <a:r>
              <a:rPr sz="1400" b="1">
                <a:solidFill>
                  <a:srgbClr val="2E86C1"/>
                </a:solidFill>
                <a:latin typeface="Times New Roman"/>
                <a:ea typeface="Microsoft YaHei"/>
              </a:rPr>
              <a:t>3. 总收入曲线 (TR)</a:t>
            </a:r>
          </a:p>
          <a:p>
            <a:r>
              <a:rPr sz="1250" b="0">
                <a:solidFill>
                  <a:srgbClr val="2C2C2C"/>
                </a:solidFill>
                <a:latin typeface="Times New Roman"/>
                <a:ea typeface="Microsoft YaHei"/>
              </a:rPr>
              <a:t>  呈倒 U 型抛物线；当 Q=0 时 TR=0；当 P=0 时 TR=0；在 MR=0 (|εp|=1) 处达到极大值。</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核心结论：重要决策准则：追求利润最大化的企业（MR = MC &gt; 0），其生产经营区间必然锁定在需求富有弹性 (|εp| &gt; 1) 的区域！</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需求的价格弹性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影响商品需求价格弹性的四大核心因素</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11</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必需品 vs 奢侈品</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必需品 (粮食/食盐)：缺乏替代，涨跌价需求量变动极小，弹性小</a:t>
            </a:r>
          </a:p>
          <a:p>
            <a:r>
              <a:rPr sz="1200" b="0">
                <a:solidFill>
                  <a:srgbClr val="2C2C2C"/>
                </a:solidFill>
                <a:latin typeface="Times New Roman"/>
                <a:ea typeface="Microsoft YaHei"/>
              </a:rPr>
              <a:t>• 奢侈品 (珠宝/高级手表)：非刚需，涨价需求剧减，降价剧增，弹性大</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可替代品丰富度</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替代品多且容易替换 (如毛织品/各品牌相机)：消费者极易转向竞品，弹性大</a:t>
            </a:r>
          </a:p>
          <a:p>
            <a:r>
              <a:rPr sz="1200" b="0">
                <a:solidFill>
                  <a:srgbClr val="2C2C2C"/>
                </a:solidFill>
                <a:latin typeface="Times New Roman"/>
                <a:ea typeface="Microsoft YaHei"/>
              </a:rPr>
              <a:t>• 缺乏替代品 (如专用胰岛素/原盐)：消费者无处可逃，弹性极小</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支出占收入比重</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比重极小 (如火柴/食盐/发卡)：价格翻倍对总财务无影响，弹性小</a:t>
            </a:r>
          </a:p>
          <a:p>
            <a:r>
              <a:rPr sz="1200" b="0">
                <a:solidFill>
                  <a:srgbClr val="2C2C2C"/>
                </a:solidFill>
                <a:latin typeface="Times New Roman"/>
                <a:ea typeface="Microsoft YaHei"/>
              </a:rPr>
              <a:t>• 比重大 (如汽车/商品房/大型数码)：价格微调直接影响购买预算，弹性大</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调整时间长短</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短期看：设备、习惯与技术锁定难以迅速转变，需求弹性较小</a:t>
            </a:r>
          </a:p>
          <a:p>
            <a:r>
              <a:rPr sz="1200" b="0">
                <a:solidFill>
                  <a:srgbClr val="2C2C2C"/>
                </a:solidFill>
                <a:latin typeface="Times New Roman"/>
                <a:ea typeface="Microsoft YaHei"/>
              </a:rPr>
              <a:t>• 长期看：消费者可寻找替代品、企业可改造生产技术，需求弹性显著增大</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归纳要义：综合规律：企业微观产品的需求弹性（品牌替代品多）必然远大于宏观整个行业的需求弹性！</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生活中的经济学</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自由贸易如何通过改变价格弹性重塑全球竞争格局</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12</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全球贸易自由化浪潮 (EU / NAFTA / 东盟 / WTO)</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关税与非关税壁垒消除</a:t>
            </a:r>
          </a:p>
          <a:p>
            <a:r>
              <a:rPr sz="1250" b="0">
                <a:solidFill>
                  <a:srgbClr val="2C2C2C"/>
                </a:solidFill>
                <a:latin typeface="Times New Roman"/>
                <a:ea typeface="Microsoft YaHei"/>
              </a:rPr>
              <a:t>  过去国与国之间受到阻隔的商品与服务实现跨国界自由流动。</a:t>
            </a:r>
          </a:p>
          <a:p>
            <a:r>
              <a:rPr sz="1400" b="1">
                <a:solidFill>
                  <a:srgbClr val="1B3A5C"/>
                </a:solidFill>
                <a:latin typeface="Times New Roman"/>
                <a:ea typeface="Microsoft YaHei"/>
              </a:rPr>
              <a:t>2. 市场上可替代产品种类爆发式增长</a:t>
            </a:r>
          </a:p>
          <a:p>
            <a:r>
              <a:rPr sz="1250" b="0">
                <a:solidFill>
                  <a:srgbClr val="2C2C2C"/>
                </a:solidFill>
                <a:latin typeface="Times New Roman"/>
                <a:ea typeface="Microsoft YaHei"/>
              </a:rPr>
              <a:t>  本国消费者不再局限于本土单一或少数寡头厂商的产品，面临海量全球替代选项。</a:t>
            </a:r>
          </a:p>
          <a:p>
            <a:r>
              <a:rPr sz="1400" b="1">
                <a:solidFill>
                  <a:srgbClr val="1B3A5C"/>
                </a:solidFill>
                <a:latin typeface="Times New Roman"/>
                <a:ea typeface="Microsoft YaHei"/>
              </a:rPr>
              <a:t>3. 需求价格弹性普遍显著上升</a:t>
            </a:r>
          </a:p>
          <a:p>
            <a:r>
              <a:rPr sz="1250" b="0">
                <a:solidFill>
                  <a:srgbClr val="2C2C2C"/>
                </a:solidFill>
                <a:latin typeface="Times New Roman"/>
                <a:ea typeface="Microsoft YaHei"/>
              </a:rPr>
              <a:t>  由于替代品极其充裕，任何单一品牌若试图维持高价或低质，消费者会瞬间流失。</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对市场参与者的深远重塑</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对生产企业的倒逼机制</a:t>
            </a:r>
          </a:p>
          <a:p>
            <a:r>
              <a:rPr sz="1250" b="0">
                <a:solidFill>
                  <a:srgbClr val="2C2C2C"/>
                </a:solidFill>
                <a:latin typeface="Times New Roman"/>
                <a:ea typeface="Microsoft YaHei"/>
              </a:rPr>
              <a:t>  过去受贸易保护、效率低下、成本高昂的企业面临剧烈竞争危机，唯有降本增效、技术创新方能生存。</a:t>
            </a:r>
          </a:p>
          <a:p>
            <a:r>
              <a:rPr sz="1400" b="1">
                <a:solidFill>
                  <a:srgbClr val="2E86C1"/>
                </a:solidFill>
                <a:latin typeface="Times New Roman"/>
                <a:ea typeface="Microsoft YaHei"/>
              </a:rPr>
              <a:t>2. 消费者成为最大赢家</a:t>
            </a:r>
          </a:p>
          <a:p>
            <a:r>
              <a:rPr sz="1250" b="0">
                <a:solidFill>
                  <a:srgbClr val="2C2C2C"/>
                </a:solidFill>
                <a:latin typeface="Times New Roman"/>
                <a:ea typeface="Microsoft YaHei"/>
              </a:rPr>
              <a:t>  在更丰富多彩的产品生态中，消费者能以更具竞争力的低廉价格享受到优质产品与服务。</a:t>
            </a:r>
          </a:p>
          <a:p>
            <a:r>
              <a:rPr sz="1400" b="1">
                <a:solidFill>
                  <a:srgbClr val="2E86C1"/>
                </a:solidFill>
                <a:latin typeface="Times New Roman"/>
                <a:ea typeface="Microsoft YaHei"/>
              </a:rPr>
              <a:t>3. 行业洗牌与全球供应链重组</a:t>
            </a:r>
          </a:p>
          <a:p>
            <a:r>
              <a:rPr sz="1250" b="0">
                <a:solidFill>
                  <a:srgbClr val="2C2C2C"/>
                </a:solidFill>
                <a:latin typeface="Times New Roman"/>
                <a:ea typeface="Microsoft YaHei"/>
              </a:rPr>
              <a:t>  缺乏核心竞争力的低效产能被无情出清，全球优势资源向高效率企业加速集中。</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核心结论：贸易自由化通过大幅增加「可替代品」的供给，全面推高了消费品的需求价格弹性，彻底终结了本土垄断暴利。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第1节 需求的价格弹性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价格弹性在企业经营中的三大实战应用</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13</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应用一：对价格与销售量的科学预测与估计</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供给受限时的价格预测 (例 2-3)</a:t>
            </a:r>
          </a:p>
          <a:p>
            <a:r>
              <a:rPr sz="1250" b="0">
                <a:solidFill>
                  <a:srgbClr val="2C2C2C"/>
                </a:solidFill>
                <a:latin typeface="Times New Roman"/>
                <a:ea typeface="Microsoft YaHei"/>
              </a:rPr>
              <a:t>  某国限制石油进口使供给减少 20%，已知需求价格弹性为 0.8~1.4：
ΔP% = (ΔQ%) / |εp| → 预期价格上涨幅度为 14.3% ~ 25%！</a:t>
            </a:r>
          </a:p>
          <a:p>
            <a:r>
              <a:rPr sz="1400" b="1">
                <a:solidFill>
                  <a:srgbClr val="1B3A5C"/>
                </a:solidFill>
                <a:latin typeface="Times New Roman"/>
                <a:ea typeface="Microsoft YaHei"/>
              </a:rPr>
              <a:t>2. 降价促销时的销量预测 (例 2-4)</a:t>
            </a:r>
          </a:p>
          <a:p>
            <a:r>
              <a:rPr sz="1250" b="0">
                <a:solidFill>
                  <a:srgbClr val="2C2C2C"/>
                </a:solidFill>
                <a:latin typeface="Times New Roman"/>
                <a:ea typeface="Microsoft YaHei"/>
              </a:rPr>
              <a:t>  某产品价格弹性为 1.5~2.0，若计划降价 10%：
ΔQ% = ΔP% × |εp| → 预期销售量将增加 15% ~ 20%！</a:t>
            </a:r>
          </a:p>
          <a:p>
            <a:r>
              <a:rPr sz="1400" b="1">
                <a:solidFill>
                  <a:srgbClr val="1B3A5C"/>
                </a:solidFill>
                <a:latin typeface="Times New Roman"/>
                <a:ea typeface="Microsoft YaHei"/>
              </a:rPr>
              <a:t>3. 决策价值</a:t>
            </a:r>
          </a:p>
          <a:p>
            <a:r>
              <a:rPr sz="1250" b="0">
                <a:solidFill>
                  <a:srgbClr val="2C2C2C"/>
                </a:solidFill>
                <a:latin typeface="Times New Roman"/>
                <a:ea typeface="Microsoft YaHei"/>
              </a:rPr>
              <a:t>  使企业的年度销售预算与产能规划从「盲目猜测」走向「量化可控」。</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应用二：企业差别定价策略 (Price Discrimination)</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绝不在非弹性区间定价</a:t>
            </a:r>
          </a:p>
          <a:p>
            <a:r>
              <a:rPr sz="1250" b="0">
                <a:solidFill>
                  <a:srgbClr val="2C2C2C"/>
                </a:solidFill>
                <a:latin typeface="Times New Roman"/>
                <a:ea typeface="Microsoft YaHei"/>
              </a:rPr>
              <a:t>  若处于非弹性区 (|εp|&lt;1)，必须果断提价：提价不仅增加总收入，还能因产量缩减降低总成本，利润大幅暴增！</a:t>
            </a:r>
          </a:p>
          <a:p>
            <a:r>
              <a:rPr sz="1400" b="1">
                <a:solidFill>
                  <a:srgbClr val="2E86C1"/>
                </a:solidFill>
                <a:latin typeface="Times New Roman"/>
                <a:ea typeface="Microsoft YaHei"/>
              </a:rPr>
              <a:t>2. 细分客户群别的弹性定价 (如航空舱位)</a:t>
            </a:r>
          </a:p>
          <a:p>
            <a:r>
              <a:rPr sz="1250" b="0">
                <a:solidFill>
                  <a:srgbClr val="2C2C2C"/>
                </a:solidFill>
                <a:latin typeface="Times New Roman"/>
                <a:ea typeface="Microsoft YaHei"/>
              </a:rPr>
              <a:t>  • 头等舱/公务舱：多为商务客或富裕阶层，时间敏感、价格不敏感 (弹性小) → 定高价。
• 经济舱：自费旅游与大众乘客，价格敏感 (弹性大) → 推出折扣票促销。</a:t>
            </a:r>
          </a:p>
          <a:p>
            <a:r>
              <a:rPr sz="1400" b="1">
                <a:solidFill>
                  <a:srgbClr val="2E86C1"/>
                </a:solidFill>
                <a:latin typeface="Times New Roman"/>
                <a:ea typeface="Microsoft YaHei"/>
              </a:rPr>
              <a:t>3. 出口创汇定价</a:t>
            </a:r>
          </a:p>
          <a:p>
            <a:r>
              <a:rPr sz="1250" b="0">
                <a:solidFill>
                  <a:srgbClr val="2C2C2C"/>
                </a:solidFill>
                <a:latin typeface="Times New Roman"/>
                <a:ea typeface="Microsoft YaHei"/>
              </a:rPr>
              <a:t>  对国际市场竞争激烈、弹性大的产品定较低价格抢份额；对具有独特垄断优势、弹性小的产品定高价获取超额收益。</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核心结论：差别定价的核心经济学法则：对需求价格弹性小的细分市场索取高价，对需求价格弹性大的细分市场索取低价！</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生活中的经济学</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价格弹性与政府征税政策效果（图 2-8 vs 图 2-9）</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14</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政策目标 A：增加政府财政税收 (如对生活必需品征税)</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最佳征税对象：需求价格弹性小的商品 (图 2-9 陡峭曲线)</a:t>
            </a:r>
          </a:p>
          <a:p>
            <a:r>
              <a:rPr sz="1250" b="0">
                <a:solidFill>
                  <a:srgbClr val="2C2C2C"/>
                </a:solidFill>
                <a:latin typeface="Times New Roman"/>
                <a:ea typeface="Microsoft YaHei"/>
              </a:rPr>
              <a:t>  如成品油、食盐、日常水电或成瘾性烟酒。</a:t>
            </a:r>
          </a:p>
          <a:p>
            <a:r>
              <a:rPr sz="1400" b="1">
                <a:solidFill>
                  <a:srgbClr val="1B3A5C"/>
                </a:solidFill>
                <a:latin typeface="Times New Roman"/>
                <a:ea typeface="Microsoft YaHei"/>
              </a:rPr>
              <a:t>2. 征税机制与财政效果</a:t>
            </a:r>
          </a:p>
          <a:p>
            <a:r>
              <a:rPr sz="1250" b="0">
                <a:solidFill>
                  <a:srgbClr val="2C2C2C"/>
                </a:solidFill>
                <a:latin typeface="Times New Roman"/>
                <a:ea typeface="Microsoft YaHei"/>
              </a:rPr>
              <a:t>  因消费者缺乏替代品，征税引起的价格上涨仅导致极小幅度的购买量缩减 (Q1' - Q2' 微小)。</a:t>
            </a:r>
          </a:p>
          <a:p>
            <a:r>
              <a:rPr sz="1400" b="1">
                <a:solidFill>
                  <a:srgbClr val="1B3A5C"/>
                </a:solidFill>
                <a:latin typeface="Times New Roman"/>
                <a:ea typeface="Microsoft YaHei"/>
              </a:rPr>
              <a:t>3. 国库增收最大化</a:t>
            </a:r>
          </a:p>
          <a:p>
            <a:r>
              <a:rPr sz="1250" b="0">
                <a:solidFill>
                  <a:srgbClr val="2C2C2C"/>
                </a:solidFill>
                <a:latin typeface="Times New Roman"/>
                <a:ea typeface="Microsoft YaHei"/>
              </a:rPr>
              <a:t>  政府税收总额等于单位税额乘以税后销量（矩形 P2'b'c'd' 面积巨大），税收流失极少。</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政策目标 B：限制特定商品消费 (如寓禁于征/环保税)</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最佳征税对象：需求价格弹性大的商品 (图 2-8 平坦曲线)</a:t>
            </a:r>
          </a:p>
          <a:p>
            <a:r>
              <a:rPr sz="1250" b="0">
                <a:solidFill>
                  <a:srgbClr val="2C2C2C"/>
                </a:solidFill>
                <a:latin typeface="Times New Roman"/>
                <a:ea typeface="Microsoft YaHei"/>
              </a:rPr>
              <a:t>  如高污染消费品、高糖饮料、奢侈品或高弹性替代品丰富的商品。</a:t>
            </a:r>
          </a:p>
          <a:p>
            <a:r>
              <a:rPr sz="1400" b="1">
                <a:solidFill>
                  <a:srgbClr val="2E86C1"/>
                </a:solidFill>
                <a:latin typeface="Times New Roman"/>
                <a:ea typeface="Microsoft YaHei"/>
              </a:rPr>
              <a:t>2. 抑制消费效果显著</a:t>
            </a:r>
          </a:p>
          <a:p>
            <a:r>
              <a:rPr sz="1250" b="0">
                <a:solidFill>
                  <a:srgbClr val="2C2C2C"/>
                </a:solidFill>
                <a:latin typeface="Times New Roman"/>
                <a:ea typeface="Microsoft YaHei"/>
              </a:rPr>
              <a:t>  价格因税收微幅上涨即引发消费者大规模逃离或缩减购买 (Q1 - Q2 显著缩减)。</a:t>
            </a:r>
          </a:p>
          <a:p>
            <a:r>
              <a:rPr sz="1400" b="1">
                <a:solidFill>
                  <a:srgbClr val="2E86C1"/>
                </a:solidFill>
                <a:latin typeface="Times New Roman"/>
                <a:ea typeface="Microsoft YaHei"/>
              </a:rPr>
              <a:t>3. 政策启示</a:t>
            </a:r>
          </a:p>
          <a:p>
            <a:r>
              <a:rPr sz="1250" b="0">
                <a:solidFill>
                  <a:srgbClr val="2C2C2C"/>
                </a:solidFill>
                <a:latin typeface="Times New Roman"/>
                <a:ea typeface="Microsoft YaHei"/>
              </a:rPr>
              <a:t>  若向香烟征税旨在控烟健康，必须大幅提高税率使其跨入弹性区间；若仅微幅征税，结果只是增加财政而无法控烟。</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核心结论：公共政策法则：想增加国库税收，向弹性小的商品开刀；想有效限制消费与污染，向弹性大的商品征税！</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案例研讨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案例 2-2：根据「εp」把生意做大 —— 美国西南航空的发家史</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15</a:t>
            </a:r>
          </a:p>
        </p:txBody>
      </p:sp>
      <p:sp>
        <p:nvSpPr>
          <p:cNvPr id="9" name="Rectangle 8"/>
          <p:cNvSpPr/>
          <p:nvPr/>
        </p:nvSpPr>
        <p:spPr>
          <a:xfrm>
            <a:off x="457200" y="1325880"/>
            <a:ext cx="11247120" cy="457200"/>
          </a:xfrm>
          <a:prstGeom prst="rect">
            <a:avLst/>
          </a:prstGeom>
          <a:solidFill>
            <a:srgbClr val="EBF3FA"/>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9144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353312"/>
            <a:ext cx="10789920" cy="411480"/>
          </a:xfrm>
          <a:prstGeom prst="rect">
            <a:avLst/>
          </a:prstGeom>
          <a:noFill/>
        </p:spPr>
        <p:txBody>
          <a:bodyPr wrap="none">
            <a:spAutoFit/>
          </a:bodyPr>
          <a:lstStyle/>
          <a:p>
            <a:r>
              <a:rPr sz="1550" b="1">
                <a:solidFill>
                  <a:srgbClr val="1B3A5C"/>
                </a:solidFill>
                <a:latin typeface="Times New Roman"/>
                <a:ea typeface="Microsoft YaHei"/>
              </a:rPr>
              <a:t>📖 案例研讨：赫布·凯莱赫洞察大众民航价格弹性开创廉航帝国</a:t>
            </a:r>
          </a:p>
        </p:txBody>
      </p:sp>
      <p:sp>
        <p:nvSpPr>
          <p:cNvPr id="12" name="Rectangle 11"/>
          <p:cNvSpPr/>
          <p:nvPr/>
        </p:nvSpPr>
        <p:spPr>
          <a:xfrm>
            <a:off x="457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传统行业偏见</a:t>
            </a:r>
          </a:p>
        </p:txBody>
      </p:sp>
      <p:sp>
        <p:nvSpPr>
          <p:cNvPr id="15" name="TextBox 14"/>
          <p:cNvSpPr txBox="1"/>
          <p:nvPr/>
        </p:nvSpPr>
        <p:spPr>
          <a:xfrm>
            <a:off x="594360" y="2423160"/>
            <a:ext cx="2400300" cy="2697480"/>
          </a:xfrm>
          <a:prstGeom prst="rect">
            <a:avLst/>
          </a:prstGeom>
          <a:noFill/>
        </p:spPr>
        <p:txBody>
          <a:bodyPr wrap="square">
            <a:spAutoFit/>
          </a:bodyPr>
          <a:lstStyle/>
          <a:p>
            <a:r>
              <a:rPr sz="1200" b="0">
                <a:solidFill>
                  <a:srgbClr val="2C2C2C"/>
                </a:solidFill>
                <a:latin typeface="Times New Roman"/>
                <a:ea typeface="Microsoft YaHei"/>
              </a:rPr>
              <a:t>• 70年代初民航界认为：飞行是富人与商务客的奢侈专属</a:t>
            </a:r>
          </a:p>
          <a:p>
            <a:r>
              <a:rPr sz="1200" b="0">
                <a:solidFill>
                  <a:srgbClr val="2C2C2C"/>
                </a:solidFill>
                <a:latin typeface="Times New Roman"/>
                <a:ea typeface="Microsoft YaHei"/>
              </a:rPr>
              <a:t>• 断定大众宁乘火车汽车，机票降价也不会带来客流爆发</a:t>
            </a:r>
          </a:p>
        </p:txBody>
      </p:sp>
      <p:sp>
        <p:nvSpPr>
          <p:cNvPr id="16" name="Rectangle 15"/>
          <p:cNvSpPr/>
          <p:nvPr/>
        </p:nvSpPr>
        <p:spPr>
          <a:xfrm>
            <a:off x="3314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4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06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凯莱赫的洞察</a:t>
            </a:r>
          </a:p>
        </p:txBody>
      </p:sp>
      <p:sp>
        <p:nvSpPr>
          <p:cNvPr id="19" name="TextBox 18"/>
          <p:cNvSpPr txBox="1"/>
          <p:nvPr/>
        </p:nvSpPr>
        <p:spPr>
          <a:xfrm>
            <a:off x="3451860" y="2423160"/>
            <a:ext cx="2400300" cy="2697480"/>
          </a:xfrm>
          <a:prstGeom prst="rect">
            <a:avLst/>
          </a:prstGeom>
          <a:noFill/>
        </p:spPr>
        <p:txBody>
          <a:bodyPr wrap="square">
            <a:spAutoFit/>
          </a:bodyPr>
          <a:lstStyle/>
          <a:p>
            <a:r>
              <a:rPr sz="1200" b="0">
                <a:solidFill>
                  <a:srgbClr val="2C2C2C"/>
                </a:solidFill>
                <a:latin typeface="Times New Roman"/>
                <a:ea typeface="Microsoft YaHei"/>
              </a:rPr>
              <a:t>• 坚信大众航空市场的真实价格弹性极大 (|εp| &gt;&gt; 1)</a:t>
            </a:r>
          </a:p>
          <a:p>
            <a:r>
              <a:rPr sz="1200" b="0">
                <a:solidFill>
                  <a:srgbClr val="2C2C2C"/>
                </a:solidFill>
                <a:latin typeface="Times New Roman"/>
                <a:ea typeface="Microsoft YaHei"/>
              </a:rPr>
              <a:t>• 受州际管制限制，选择得州内航线（达拉斯-休斯敦）试验</a:t>
            </a:r>
          </a:p>
        </p:txBody>
      </p:sp>
      <p:sp>
        <p:nvSpPr>
          <p:cNvPr id="20" name="Rectangle 19"/>
          <p:cNvSpPr/>
          <p:nvPr/>
        </p:nvSpPr>
        <p:spPr>
          <a:xfrm>
            <a:off x="6172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低成本高周转</a:t>
            </a:r>
          </a:p>
        </p:txBody>
      </p:sp>
      <p:sp>
        <p:nvSpPr>
          <p:cNvPr id="23" name="TextBox 22"/>
          <p:cNvSpPr txBox="1"/>
          <p:nvPr/>
        </p:nvSpPr>
        <p:spPr>
          <a:xfrm>
            <a:off x="6309360" y="2423160"/>
            <a:ext cx="2400300" cy="2697480"/>
          </a:xfrm>
          <a:prstGeom prst="rect">
            <a:avLst/>
          </a:prstGeom>
          <a:noFill/>
        </p:spPr>
        <p:txBody>
          <a:bodyPr wrap="square">
            <a:spAutoFit/>
          </a:bodyPr>
          <a:lstStyle/>
          <a:p>
            <a:r>
              <a:rPr sz="1200" b="0">
                <a:solidFill>
                  <a:srgbClr val="2C2C2C"/>
                </a:solidFill>
                <a:latin typeface="Times New Roman"/>
                <a:ea typeface="Microsoft YaHei"/>
              </a:rPr>
              <a:t>• 单一机型、只设经济舱、点心仅供应花生饮料</a:t>
            </a:r>
          </a:p>
          <a:p>
            <a:r>
              <a:rPr sz="1200" b="0">
                <a:solidFill>
                  <a:srgbClr val="2C2C2C"/>
                </a:solidFill>
                <a:latin typeface="Times New Roman"/>
                <a:ea typeface="Microsoft YaHei"/>
              </a:rPr>
              <a:t>• 塑料登机牌可重复使用，极致降本支持断崖式低票价</a:t>
            </a:r>
          </a:p>
        </p:txBody>
      </p:sp>
      <p:sp>
        <p:nvSpPr>
          <p:cNvPr id="24" name="Rectangle 23"/>
          <p:cNvSpPr/>
          <p:nvPr/>
        </p:nvSpPr>
        <p:spPr>
          <a:xfrm>
            <a:off x="9029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29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21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颠覆整个行业</a:t>
            </a:r>
          </a:p>
        </p:txBody>
      </p:sp>
      <p:sp>
        <p:nvSpPr>
          <p:cNvPr id="27" name="TextBox 26"/>
          <p:cNvSpPr txBox="1"/>
          <p:nvPr/>
        </p:nvSpPr>
        <p:spPr>
          <a:xfrm>
            <a:off x="9166860" y="2423160"/>
            <a:ext cx="2400300" cy="2697480"/>
          </a:xfrm>
          <a:prstGeom prst="rect">
            <a:avLst/>
          </a:prstGeom>
          <a:noFill/>
        </p:spPr>
        <p:txBody>
          <a:bodyPr wrap="square">
            <a:spAutoFit/>
          </a:bodyPr>
          <a:lstStyle/>
          <a:p>
            <a:r>
              <a:rPr sz="1200" b="0">
                <a:solidFill>
                  <a:srgbClr val="2C2C2C"/>
                </a:solidFill>
                <a:latin typeface="Times New Roman"/>
                <a:ea typeface="Microsoft YaHei"/>
              </a:rPr>
              <a:t>• 大众需求被彻底引爆，客运量呈几何级暴增</a:t>
            </a:r>
          </a:p>
          <a:p>
            <a:r>
              <a:rPr sz="1200" b="0">
                <a:solidFill>
                  <a:srgbClr val="2C2C2C"/>
                </a:solidFill>
                <a:latin typeface="Times New Roman"/>
                <a:ea typeface="Microsoft YaHei"/>
              </a:rPr>
              <a:t>• 不仅击溃竞争对手实现可观盈利，更倒逼美国民航业全面放松管制</a:t>
            </a:r>
          </a:p>
        </p:txBody>
      </p:sp>
      <p:sp>
        <p:nvSpPr>
          <p:cNvPr id="28" name="Rectangle 27"/>
          <p:cNvSpPr/>
          <p:nvPr/>
        </p:nvSpPr>
        <p:spPr>
          <a:xfrm>
            <a:off x="457200" y="5349240"/>
            <a:ext cx="11247120" cy="914400"/>
          </a:xfrm>
          <a:prstGeom prst="rect">
            <a:avLst/>
          </a:prstGeom>
          <a:solidFill>
            <a:srgbClr val="DCEDF8"/>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413248"/>
            <a:ext cx="10881360" cy="804672"/>
          </a:xfrm>
          <a:prstGeom prst="rect">
            <a:avLst/>
          </a:prstGeom>
          <a:noFill/>
        </p:spPr>
        <p:txBody>
          <a:bodyPr wrap="none">
            <a:spAutoFit/>
          </a:bodyPr>
          <a:lstStyle/>
          <a:p>
            <a:r>
              <a:rPr sz="1300" b="1">
                <a:solidFill>
                  <a:srgbClr val="1B3A5C"/>
                </a:solidFill>
                <a:latin typeface="Times New Roman"/>
                <a:ea typeface="Microsoft YaHei"/>
              </a:rPr>
              <a:t>🎯 管理经济学启示与决策启示：</a:t>
            </a:r>
          </a:p>
          <a:p>
            <a:r>
              <a:rPr sz="1200" b="0">
                <a:solidFill>
                  <a:srgbClr val="2C2C2C"/>
                </a:solidFill>
                <a:latin typeface="Times New Roman"/>
                <a:ea typeface="Microsoft YaHei"/>
              </a:rPr>
              <a:t>通过敏锐识别潜在未被满足且「富有价格弹性」的广阔大众市场，西南航空以革命性的低成本结构实现了「薄利多销」的商业奇迹！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2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需求的收入弹性 (Income Elasticity of Demand)</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收入弹性计算 · 正常货 vs 低档货 · 高档品/奢侈品判定 · 经济周期企业决策 · 长远住宅需求预测 · 产业发展速度安排</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需求的收入弹性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需求收入弹性的计算公式与商品经济学属性分类</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17</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收入弹性 (Income Elasticity, εI / EI) 的测算公式</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概念定义</a:t>
            </a:r>
          </a:p>
          <a:p>
            <a:r>
              <a:rPr sz="1250" b="0">
                <a:solidFill>
                  <a:srgbClr val="2C2C2C"/>
                </a:solidFill>
                <a:latin typeface="Times New Roman"/>
                <a:ea typeface="Microsoft YaHei"/>
              </a:rPr>
              <a:t>  反映需求量对消费者收入水平变动的反应程度（收入变动 1% 引起需求量变动的百分比）。</a:t>
            </a:r>
          </a:p>
          <a:p>
            <a:r>
              <a:rPr sz="1400" b="1">
                <a:solidFill>
                  <a:srgbClr val="1B3A5C"/>
                </a:solidFill>
                <a:latin typeface="Times New Roman"/>
                <a:ea typeface="Microsoft YaHei"/>
              </a:rPr>
              <a:t>2. 点收入弹性计算公式 (公式 2-6)</a:t>
            </a:r>
          </a:p>
          <a:p>
            <a:r>
              <a:rPr sz="1250" b="0">
                <a:solidFill>
                  <a:srgbClr val="2C2C2C"/>
                </a:solidFill>
                <a:latin typeface="Times New Roman"/>
                <a:ea typeface="Microsoft YaHei"/>
              </a:rPr>
              <a:t>  εI = (dQ / dI) · (I / Q) （适用于收入函数连续已知情况）</a:t>
            </a:r>
          </a:p>
          <a:p>
            <a:r>
              <a:rPr sz="1400" b="1">
                <a:solidFill>
                  <a:srgbClr val="1B3A5C"/>
                </a:solidFill>
                <a:latin typeface="Times New Roman"/>
                <a:ea typeface="Microsoft YaHei"/>
              </a:rPr>
              <a:t>3. 弧收入弹性计算公式 (公式 2-7)</a:t>
            </a:r>
          </a:p>
          <a:p>
            <a:r>
              <a:rPr sz="1250" b="0">
                <a:solidFill>
                  <a:srgbClr val="2C2C2C"/>
                </a:solidFill>
                <a:latin typeface="Times New Roman"/>
                <a:ea typeface="Microsoft YaHei"/>
              </a:rPr>
              <a:t>  EI = [(Q2 - Q1) / (I2 - I1)] · [(I1 + I2) / (Q1 + Q2)] （适用于跨区间平均测算）</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基于收入弹性正负与大小的商品分类体系</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低档货 / 劣等品 (Inferior Goods: εI &lt; 0)</a:t>
            </a:r>
          </a:p>
          <a:p>
            <a:r>
              <a:rPr sz="1250" b="0">
                <a:solidFill>
                  <a:srgbClr val="2C2C2C"/>
                </a:solidFill>
                <a:latin typeface="Times New Roman"/>
                <a:ea typeface="Microsoft YaHei"/>
              </a:rPr>
              <a:t>  收入增加反而减少购买（如普通劣质大米、绿皮慢车、二手旧衣）。</a:t>
            </a:r>
          </a:p>
          <a:p>
            <a:r>
              <a:rPr sz="1400" b="1">
                <a:solidFill>
                  <a:srgbClr val="2E86C1"/>
                </a:solidFill>
                <a:latin typeface="Times New Roman"/>
                <a:ea typeface="Microsoft YaHei"/>
              </a:rPr>
              <a:t>2. 正常货 (Normal Goods: εI &gt; 0)</a:t>
            </a:r>
          </a:p>
          <a:p>
            <a:r>
              <a:rPr sz="1250" b="0">
                <a:solidFill>
                  <a:srgbClr val="2C2C2C"/>
                </a:solidFill>
                <a:latin typeface="Times New Roman"/>
                <a:ea typeface="Microsoft YaHei"/>
              </a:rPr>
              <a:t>  收入增加需求量同向增加：
• 必需品 (0 &lt; εI &lt; 1)：需求增速慢于收入增速（如食盐、大众蔬菜）。
• 高档品 / 奢侈品 (Luxury Goods: εI &gt; 1)：需求增速远快于收入增速（如旅游度假、艺术品、高端汽车、名贵首饰）。</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核心结论：国民收入水平的持续增长将引发全社会消费结构的系统性升级：低档品市场萎缩，必需品比重下降，高档奢侈品呈指数级扩张！</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需求的收入弹性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收入弹性在宏观需求预测中的实战应用 (例 2-5)</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18</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未来 10 年居民收入增长测算模型</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规划背景</a:t>
            </a:r>
          </a:p>
          <a:p>
            <a:r>
              <a:rPr sz="1250" b="0">
                <a:solidFill>
                  <a:srgbClr val="2C2C2C"/>
                </a:solidFill>
                <a:latin typeface="Times New Roman"/>
                <a:ea typeface="Microsoft YaHei"/>
              </a:rPr>
              <a:t>  政府制定住宅建设 10 年长远规划，已知人均年收入年均增长 2% ~ 3%。</a:t>
            </a:r>
          </a:p>
          <a:p>
            <a:r>
              <a:rPr sz="1400" b="1">
                <a:solidFill>
                  <a:srgbClr val="1B3A5C"/>
                </a:solidFill>
                <a:latin typeface="Times New Roman"/>
                <a:ea typeface="Microsoft YaHei"/>
              </a:rPr>
              <a:t>2. 10 年累计收入增幅复利计算</a:t>
            </a:r>
          </a:p>
          <a:p>
            <a:r>
              <a:rPr sz="1250" b="0">
                <a:solidFill>
                  <a:srgbClr val="2C2C2C"/>
                </a:solidFill>
                <a:latin typeface="Times New Roman"/>
                <a:ea typeface="Microsoft YaHei"/>
              </a:rPr>
              <a:t>  • 年增 2% 时：(1.02)^10 = 121.8% → 10 年人均收入累计增长 21.8%
• 年增 3% 时：(1.03)^10 = 134.3% → 10 年人均收入累计增长 34.3%</a:t>
            </a:r>
          </a:p>
          <a:p>
            <a:r>
              <a:rPr sz="1400" b="1">
                <a:solidFill>
                  <a:srgbClr val="1B3A5C"/>
                </a:solidFill>
                <a:latin typeface="Times New Roman"/>
                <a:ea typeface="Microsoft YaHei"/>
              </a:rPr>
              <a:t>3. 预测基本公式</a:t>
            </a:r>
          </a:p>
          <a:p>
            <a:r>
              <a:rPr sz="1250" b="0">
                <a:solidFill>
                  <a:srgbClr val="2C2C2C"/>
                </a:solidFill>
                <a:latin typeface="Times New Roman"/>
                <a:ea typeface="Microsoft YaHei"/>
              </a:rPr>
              <a:t>  需求量变动百分比 = 收入弹性 × 收入变动百分比 (ΔQ% = εI × ΔI%)</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租房需求 vs 买房需求 的 10 年增长对比</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租房需求预测 (收入弹性较小: 0.8 ~ 1.0)</a:t>
            </a:r>
          </a:p>
          <a:p>
            <a:r>
              <a:rPr sz="1250" b="0">
                <a:solidFill>
                  <a:srgbClr val="2C2C2C"/>
                </a:solidFill>
                <a:latin typeface="Times New Roman"/>
                <a:ea typeface="Microsoft YaHei"/>
              </a:rPr>
              <a:t>  • 收入增 21.8% 时：增长 17.4% ~ 21.8%
• 收入增 34.3% 时：增长 27.4% ~ 34.3%
→ 10 年租房综合需求量预计增加：17.4% ~ 34.3%</a:t>
            </a:r>
          </a:p>
          <a:p>
            <a:r>
              <a:rPr sz="1400" b="1">
                <a:solidFill>
                  <a:srgbClr val="2E86C1"/>
                </a:solidFill>
                <a:latin typeface="Times New Roman"/>
                <a:ea typeface="Microsoft YaHei"/>
              </a:rPr>
              <a:t>2. 买房需求预测 (高档品属性，收入弹性较大: 0.7 ~ 1.5)</a:t>
            </a:r>
          </a:p>
          <a:p>
            <a:r>
              <a:rPr sz="1250" b="0">
                <a:solidFill>
                  <a:srgbClr val="2C2C2C"/>
                </a:solidFill>
                <a:latin typeface="Times New Roman"/>
                <a:ea typeface="Microsoft YaHei"/>
              </a:rPr>
              <a:t>  • 收入增 21.8% 时：增长 15.3% ~ 32.7%
• 收入增 34.3% 时：增长 24.0% ~ 51.5%
→ 10 年买房综合需求量预计增加：15.3% ~ 51.5%</a:t>
            </a:r>
          </a:p>
          <a:p>
            <a:r>
              <a:rPr sz="1400" b="1">
                <a:solidFill>
                  <a:srgbClr val="2E86C1"/>
                </a:solidFill>
                <a:latin typeface="Times New Roman"/>
                <a:ea typeface="Microsoft YaHei"/>
              </a:rPr>
              <a:t>3. 规划决策</a:t>
            </a:r>
          </a:p>
          <a:p>
            <a:r>
              <a:rPr sz="1250" b="0">
                <a:solidFill>
                  <a:srgbClr val="2C2C2C"/>
                </a:solidFill>
                <a:latin typeface="Times New Roman"/>
                <a:ea typeface="Microsoft YaHei"/>
              </a:rPr>
              <a:t>  随着经济繁荣，商品房购买需求增长速度将远高于租赁需求，需大幅增加商品住宅用地供应！</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核心结论：精准的需求收入弹性测算能够为政府基础设施建设、城市住宅规划与企业中长期产能投资提供科学的量化依据。</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第2节 需求的收入弹性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收入弹性在企业经营策略与产业发展规划中的指引</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19</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企业经营与产品组合决策中的「顺周期 vs 逆周期」法则</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预测经济即将迎来繁荣高涨期</a:t>
            </a:r>
          </a:p>
          <a:p>
            <a:r>
              <a:rPr sz="1250" b="0">
                <a:solidFill>
                  <a:srgbClr val="2C2C2C"/>
                </a:solidFill>
                <a:latin typeface="Times New Roman"/>
                <a:ea typeface="Microsoft YaHei"/>
              </a:rPr>
              <a:t>  果断布局和加大生产收入弹性大 (εI &gt; 1) 的高档商品与服务（如高端汽车、轻奢定制、文旅娱乐）。其销量增速将远超 GDP 增速！</a:t>
            </a:r>
          </a:p>
          <a:p>
            <a:r>
              <a:rPr sz="1400" b="1">
                <a:solidFill>
                  <a:srgbClr val="1B3A5C"/>
                </a:solidFill>
                <a:latin typeface="Times New Roman"/>
                <a:ea typeface="Microsoft YaHei"/>
              </a:rPr>
              <a:t>2. 预测宏观经济或区域出现不景气/下行期</a:t>
            </a:r>
          </a:p>
          <a:p>
            <a:r>
              <a:rPr sz="1250" b="0">
                <a:solidFill>
                  <a:srgbClr val="2C2C2C"/>
                </a:solidFill>
                <a:latin typeface="Times New Roman"/>
                <a:ea typeface="Microsoft YaHei"/>
              </a:rPr>
              <a:t>  应收缩高弹性产线，转向经营收入弹性小甚至为负 (εI ≤ 0) 的生活必需品或平价替代品（如平价折扣超市、基础食品）。其抗周期波动能力极强。</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国民经济产业结构与部门发展速度安排</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行业发展速度匹配原则</a:t>
            </a:r>
          </a:p>
          <a:p>
            <a:r>
              <a:rPr sz="1250" b="0">
                <a:solidFill>
                  <a:srgbClr val="2C2C2C"/>
                </a:solidFill>
                <a:latin typeface="Times New Roman"/>
                <a:ea typeface="Microsoft YaHei"/>
              </a:rPr>
              <a:t>  各产业部门的发展速度必须与该产业产品的需求收入弹性相适应。</a:t>
            </a:r>
          </a:p>
          <a:p>
            <a:r>
              <a:rPr sz="1400" b="1">
                <a:solidFill>
                  <a:srgbClr val="2E86C1"/>
                </a:solidFill>
                <a:latin typeface="Times New Roman"/>
                <a:ea typeface="Microsoft YaHei"/>
              </a:rPr>
              <a:t>2. 典型行业对比 (家电 vs 农产品)</a:t>
            </a:r>
          </a:p>
          <a:p>
            <a:r>
              <a:rPr sz="1250" b="0">
                <a:solidFill>
                  <a:srgbClr val="2C2C2C"/>
                </a:solidFill>
                <a:latin typeface="Times New Roman"/>
                <a:ea typeface="Microsoft YaHei"/>
              </a:rPr>
              <a:t>  • 家用电器/智能硬件的收入弹性显著大于初级农产品。
• 因此，工业制造与现代服务业的发展增速必然要快于传统农业，否则会导致工业品短缺与农产品相对过剩。</a:t>
            </a:r>
          </a:p>
          <a:p>
            <a:r>
              <a:rPr sz="1400" b="1">
                <a:solidFill>
                  <a:srgbClr val="2E86C1"/>
                </a:solidFill>
                <a:latin typeface="Times New Roman"/>
                <a:ea typeface="Microsoft YaHei"/>
              </a:rPr>
              <a:t>3. 战略启示</a:t>
            </a:r>
          </a:p>
          <a:p>
            <a:r>
              <a:rPr sz="1250" b="0">
                <a:solidFill>
                  <a:srgbClr val="2C2C2C"/>
                </a:solidFill>
                <a:latin typeface="Times New Roman"/>
                <a:ea typeface="Microsoft YaHei"/>
              </a:rPr>
              <a:t>  新兴朝阳产业通常具备极高的需求收入弹性，是拉动经济增长的核心引擎。</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核心结论：管理启示：优秀的战略家总是顺应经济周期，在繁荣期向高弹性品类要利润，在萧条期向低弹性品类要现金流！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371600"/>
            <a:ext cx="9448495" cy="4114800"/>
          </a:xfrm>
          <a:prstGeom prst="rect">
            <a:avLst/>
          </a:prstGeom>
          <a:solidFill>
            <a:srgbClr val="F8F9FA"/>
          </a:solidFill>
          <a:ln w="1524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371600"/>
            <a:ext cx="109728" cy="41148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28800"/>
            <a:ext cx="8229600" cy="457200"/>
          </a:xfrm>
          <a:prstGeom prst="rect">
            <a:avLst/>
          </a:prstGeom>
          <a:noFill/>
        </p:spPr>
        <p:txBody>
          <a:bodyPr wrap="none">
            <a:spAutoFit/>
          </a:bodyPr>
          <a:lstStyle/>
          <a:p>
            <a:r>
              <a:rPr sz="1800" b="1">
                <a:solidFill>
                  <a:srgbClr val="2E86C1"/>
                </a:solidFill>
                <a:latin typeface="Times New Roman"/>
                <a:ea typeface="Microsoft YaHei"/>
              </a:rPr>
              <a:t>第 3 节</a:t>
            </a:r>
          </a:p>
        </p:txBody>
      </p:sp>
      <p:sp>
        <p:nvSpPr>
          <p:cNvPr id="6" name="TextBox 5"/>
          <p:cNvSpPr txBox="1"/>
          <p:nvPr/>
        </p:nvSpPr>
        <p:spPr>
          <a:xfrm>
            <a:off x="1828800" y="2331720"/>
            <a:ext cx="8229600" cy="822960"/>
          </a:xfrm>
          <a:prstGeom prst="rect">
            <a:avLst/>
          </a:prstGeom>
          <a:noFill/>
        </p:spPr>
        <p:txBody>
          <a:bodyPr wrap="none">
            <a:spAutoFit/>
          </a:bodyPr>
          <a:lstStyle/>
          <a:p>
            <a:r>
              <a:rPr sz="3200" b="1">
                <a:solidFill>
                  <a:srgbClr val="1B3A5C"/>
                </a:solidFill>
                <a:latin typeface="Times New Roman"/>
                <a:ea typeface="Microsoft YaHei"/>
              </a:rPr>
              <a:t>需求的交叉弹性 (Cross-Price Elasticity of Demand)</a:t>
            </a:r>
          </a:p>
        </p:txBody>
      </p:sp>
      <p:sp>
        <p:nvSpPr>
          <p:cNvPr id="7" name="Rectangle 6"/>
          <p:cNvSpPr/>
          <p:nvPr/>
        </p:nvSpPr>
        <p:spPr>
          <a:xfrm>
            <a:off x="1828800" y="3246120"/>
            <a:ext cx="164592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800" y="3520440"/>
            <a:ext cx="8503920" cy="1097280"/>
          </a:xfrm>
          <a:prstGeom prst="roundRect">
            <a:avLst/>
          </a:prstGeom>
          <a:solidFill>
            <a:srgbClr val="EBF3FA"/>
          </a:solidFill>
          <a:ln w="1016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3657600"/>
            <a:ext cx="8138160" cy="822960"/>
          </a:xfrm>
          <a:prstGeom prst="rect">
            <a:avLst/>
          </a:prstGeom>
          <a:noFill/>
        </p:spPr>
        <p:txBody>
          <a:bodyPr wrap="none">
            <a:spAutoFit/>
          </a:bodyPr>
          <a:lstStyle/>
          <a:p>
            <a:r>
              <a:rPr sz="1500" b="1">
                <a:solidFill>
                  <a:srgbClr val="1B3A5C"/>
                </a:solidFill>
                <a:latin typeface="Times New Roman"/>
                <a:ea typeface="Microsoft YaHei"/>
              </a:rPr>
              <a:t>交叉弹性计算 · 替代品 (Ep&gt;0) · 互补品 (Ep&lt;0) · 独立品 (Ep=0) · 吉列定价模式 · 非对称竞争监控 · 行业边界界定</a:t>
            </a:r>
          </a:p>
        </p:txBody>
      </p:sp>
      <p:sp>
        <p:nvSpPr>
          <p:cNvPr id="10" name="TextBox 9"/>
          <p:cNvSpPr txBox="1"/>
          <p:nvPr/>
        </p:nvSpPr>
        <p:spPr>
          <a:xfrm>
            <a:off x="1371600" y="6217920"/>
            <a:ext cx="45720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11" name="TextBox 10"/>
          <p:cNvSpPr txBox="1"/>
          <p:nvPr/>
        </p:nvSpPr>
        <p:spPr>
          <a:xfrm>
            <a:off x="10058400" y="6217920"/>
            <a:ext cx="731520" cy="320040"/>
          </a:xfrm>
          <a:prstGeom prst="rect">
            <a:avLst/>
          </a:prstGeom>
          <a:noFill/>
        </p:spPr>
        <p:txBody>
          <a:bodyPr wrap="none">
            <a:spAutoFit/>
          </a:bodyPr>
          <a:lstStyle/>
          <a:p>
            <a:r>
              <a:rPr sz="1100" b="0">
                <a:solidFill>
                  <a:srgbClr val="6B6B6B"/>
                </a:solidFill>
                <a:latin typeface="Times New Roman"/>
                <a:ea typeface="Microsoft YaHe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需求的交叉弹性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需求交叉弹性的计算公式与三大商品关联属性</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21</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交叉弹性 (Cross Elasticity, εPx / Epx) 的数学测算</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概念定义</a:t>
            </a:r>
          </a:p>
          <a:p>
            <a:r>
              <a:rPr sz="1250" b="0">
                <a:solidFill>
                  <a:srgbClr val="2C2C2C"/>
                </a:solidFill>
                <a:latin typeface="Times New Roman"/>
                <a:ea typeface="Microsoft YaHei"/>
              </a:rPr>
              <a:t>  反映一种产品 Y 的需求量对另一种相关产品 X 价格变动的反应程度（产品 X 价格变动 1% 引起产品 Y 需求量变动的百分比）。</a:t>
            </a:r>
          </a:p>
          <a:p>
            <a:r>
              <a:rPr sz="1400" b="1">
                <a:solidFill>
                  <a:srgbClr val="1B3A5C"/>
                </a:solidFill>
                <a:latin typeface="Times New Roman"/>
                <a:ea typeface="Microsoft YaHei"/>
              </a:rPr>
              <a:t>2. 点交叉弹性计算公式 (公式 2-9)</a:t>
            </a:r>
          </a:p>
          <a:p>
            <a:r>
              <a:rPr sz="1250" b="0">
                <a:solidFill>
                  <a:srgbClr val="2C2C2C"/>
                </a:solidFill>
                <a:latin typeface="Times New Roman"/>
                <a:ea typeface="Microsoft YaHei"/>
              </a:rPr>
              <a:t>  εPx = (dQY / dPX) · (PX / QY) （适用于已知联合需求函数时）</a:t>
            </a:r>
          </a:p>
          <a:p>
            <a:r>
              <a:rPr sz="1400" b="1">
                <a:solidFill>
                  <a:srgbClr val="1B3A5C"/>
                </a:solidFill>
                <a:latin typeface="Times New Roman"/>
                <a:ea typeface="Microsoft YaHei"/>
              </a:rPr>
              <a:t>3. 弧交叉弹性计算公式 (公式 2-10)</a:t>
            </a:r>
          </a:p>
          <a:p>
            <a:r>
              <a:rPr sz="1250" b="0">
                <a:solidFill>
                  <a:srgbClr val="2C2C2C"/>
                </a:solidFill>
                <a:latin typeface="Times New Roman"/>
                <a:ea typeface="Microsoft YaHei"/>
              </a:rPr>
              <a:t>  EPx = [(QY2 - QY1)/(PX2 - PX1)] · [(PX1 + PX2)/(QY1 + QY2)]</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三大经济含义与商品关系判定准则</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交叉弹性为正值 (Ep &gt; 0) —— 替代品 (Substitutes)</a:t>
            </a:r>
          </a:p>
          <a:p>
            <a:r>
              <a:rPr sz="1250" b="0">
                <a:solidFill>
                  <a:srgbClr val="2C2C2C"/>
                </a:solidFill>
                <a:latin typeface="Times New Roman"/>
                <a:ea typeface="Microsoft YaHei"/>
              </a:rPr>
              <a:t>  X 提价促使消费者转向 Y，使 Y 需求增加（同向变动）。如猪肉与牛肉、大米与面粉、棉布与化纤布。数值越大，替代性与竞争越强。</a:t>
            </a:r>
          </a:p>
          <a:p>
            <a:r>
              <a:rPr sz="1400" b="1">
                <a:solidFill>
                  <a:srgbClr val="2E86C1"/>
                </a:solidFill>
                <a:latin typeface="Times New Roman"/>
                <a:ea typeface="Microsoft YaHei"/>
              </a:rPr>
              <a:t>2. 交叉弹性为负值 (Ep &lt; 0) —— 互补品 (Complements)</a:t>
            </a:r>
          </a:p>
          <a:p>
            <a:r>
              <a:rPr sz="1250" b="0">
                <a:solidFill>
                  <a:srgbClr val="2C2C2C"/>
                </a:solidFill>
                <a:latin typeface="Times New Roman"/>
                <a:ea typeface="Microsoft YaHei"/>
              </a:rPr>
              <a:t>  X 提价导致其自身需求萎缩，进而拖累搭档 Y 的需求量下降（反向变动）。如汽车与汽油、打印机与墨盒、剃须刀架与刀片。</a:t>
            </a:r>
          </a:p>
          <a:p>
            <a:r>
              <a:rPr sz="1400" b="1">
                <a:solidFill>
                  <a:srgbClr val="2E86C1"/>
                </a:solidFill>
                <a:latin typeface="Times New Roman"/>
                <a:ea typeface="Microsoft YaHei"/>
              </a:rPr>
              <a:t>3. 交叉弹性为零 (Ep = 0) —— 独立无关品 (Independent)</a:t>
            </a:r>
          </a:p>
          <a:p>
            <a:r>
              <a:rPr sz="1250" b="0">
                <a:solidFill>
                  <a:srgbClr val="2C2C2C"/>
                </a:solidFill>
                <a:latin typeface="Times New Roman"/>
                <a:ea typeface="Microsoft YaHei"/>
              </a:rPr>
              <a:t>  X 的价格变动对 Y 的销量毫无影响。表明两者互不相关、跨行业独立。</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核心结论：交叉弹性是刻画多产品市场中「唇亡齿寒」或「你死我活」竞合关系的终极量化标尺。</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第3节 需求的交叉弹性</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交叉弹性的三大管理应用：定价、竞争监控与行业划分</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22</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互补品定价 (吉列模式)</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基本产品定低价甚至亏损 (主机/刀架/打印机)</a:t>
            </a:r>
          </a:p>
          <a:p>
            <a:r>
              <a:rPr sz="1200" b="0">
                <a:solidFill>
                  <a:srgbClr val="2C2C2C"/>
                </a:solidFill>
                <a:latin typeface="Times New Roman"/>
                <a:ea typeface="Microsoft YaHei"/>
              </a:rPr>
              <a:t>• 高毛利绑定配套耗材定高价 (游戏碟/刀片/墨盒)</a:t>
            </a:r>
          </a:p>
          <a:p>
            <a:r>
              <a:rPr sz="1200" b="0">
                <a:solidFill>
                  <a:srgbClr val="2C2C2C"/>
                </a:solidFill>
                <a:latin typeface="Times New Roman"/>
                <a:ea typeface="Microsoft YaHei"/>
              </a:rPr>
              <a:t>• 靠长期高频消耗品赚取丰厚复利</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非对称竞争监控</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棉布对化纤布交叉弹性仅 0.05 (不用怕化纤降价)</a:t>
            </a:r>
          </a:p>
          <a:p>
            <a:r>
              <a:rPr sz="1200" b="0">
                <a:solidFill>
                  <a:srgbClr val="2C2C2C"/>
                </a:solidFill>
                <a:latin typeface="Times New Roman"/>
                <a:ea typeface="Microsoft YaHei"/>
              </a:rPr>
              <a:t>• 化纤布对棉布交叉弹性达 1.74 (棉布降价将重创化纤)</a:t>
            </a:r>
          </a:p>
          <a:p>
            <a:r>
              <a:rPr sz="1200" b="0">
                <a:solidFill>
                  <a:srgbClr val="2C2C2C"/>
                </a:solidFill>
                <a:latin typeface="Times New Roman"/>
                <a:ea typeface="Microsoft YaHei"/>
              </a:rPr>
              <a:t>• 必须识别竞争影响的单向性与不对称性</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多产品线防内耗</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企业内部同类产品提价可能利于单品，但会分流到自家替代品</a:t>
            </a:r>
          </a:p>
          <a:p>
            <a:r>
              <a:rPr sz="1200" b="0">
                <a:solidFill>
                  <a:srgbClr val="2C2C2C"/>
                </a:solidFill>
                <a:latin typeface="Times New Roman"/>
                <a:ea typeface="Microsoft YaHei"/>
              </a:rPr>
              <a:t>• 必须从企业全产品线总利润最大化视角统筹定价</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经济学行业界定</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交叉弹性绝对值大：产品替代性极高，属于同行业直接竞争</a:t>
            </a:r>
          </a:p>
          <a:p>
            <a:r>
              <a:rPr sz="1200" b="0">
                <a:solidFill>
                  <a:srgbClr val="2C2C2C"/>
                </a:solidFill>
                <a:latin typeface="Times New Roman"/>
                <a:ea typeface="Microsoft YaHei"/>
              </a:rPr>
              <a:t>• 交叉弹性绝对值小/为零：分属不同行业，反垄断界定相关市场的重要依据</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归纳要义：多产品企业切忌孤立定价！必须通过交叉弹性算清「刀架与刀片」、「大件与耗材」之间的综合收益账。</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案例研讨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案例 2-3：20世纪70年代汽油危机与美国小型汽车的逆袭</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23</a:t>
            </a:r>
          </a:p>
        </p:txBody>
      </p:sp>
      <p:sp>
        <p:nvSpPr>
          <p:cNvPr id="9" name="Rectangle 8"/>
          <p:cNvSpPr/>
          <p:nvPr/>
        </p:nvSpPr>
        <p:spPr>
          <a:xfrm>
            <a:off x="457200" y="1325880"/>
            <a:ext cx="11247120" cy="457200"/>
          </a:xfrm>
          <a:prstGeom prst="rect">
            <a:avLst/>
          </a:prstGeom>
          <a:solidFill>
            <a:srgbClr val="EBF3FA"/>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9144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353312"/>
            <a:ext cx="10789920" cy="411480"/>
          </a:xfrm>
          <a:prstGeom prst="rect">
            <a:avLst/>
          </a:prstGeom>
          <a:noFill/>
        </p:spPr>
        <p:txBody>
          <a:bodyPr wrap="none">
            <a:spAutoFit/>
          </a:bodyPr>
          <a:lstStyle/>
          <a:p>
            <a:r>
              <a:rPr sz="1550" b="1">
                <a:solidFill>
                  <a:srgbClr val="1B3A5C"/>
                </a:solidFill>
                <a:latin typeface="Times New Roman"/>
                <a:ea typeface="Microsoft YaHei"/>
              </a:rPr>
              <a:t>📖 案例研讨：两次中东石油危机引发的美国汽车市场大洗牌</a:t>
            </a:r>
          </a:p>
        </p:txBody>
      </p:sp>
      <p:sp>
        <p:nvSpPr>
          <p:cNvPr id="12" name="Rectangle 11"/>
          <p:cNvSpPr/>
          <p:nvPr/>
        </p:nvSpPr>
        <p:spPr>
          <a:xfrm>
            <a:off x="457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石油危机前 (1973前)</a:t>
            </a:r>
          </a:p>
        </p:txBody>
      </p:sp>
      <p:sp>
        <p:nvSpPr>
          <p:cNvPr id="15" name="TextBox 14"/>
          <p:cNvSpPr txBox="1"/>
          <p:nvPr/>
        </p:nvSpPr>
        <p:spPr>
          <a:xfrm>
            <a:off x="594360" y="2423160"/>
            <a:ext cx="2400300" cy="2697480"/>
          </a:xfrm>
          <a:prstGeom prst="rect">
            <a:avLst/>
          </a:prstGeom>
          <a:noFill/>
        </p:spPr>
        <p:txBody>
          <a:bodyPr wrap="square">
            <a:spAutoFit/>
          </a:bodyPr>
          <a:lstStyle/>
          <a:p>
            <a:r>
              <a:rPr sz="1200" b="0">
                <a:solidFill>
                  <a:srgbClr val="2C2C2C"/>
                </a:solidFill>
                <a:latin typeface="Times New Roman"/>
                <a:ea typeface="Microsoft YaHei"/>
              </a:rPr>
              <a:t>• 油价仅 $0.27/加仑，大型车极度盛行</a:t>
            </a:r>
          </a:p>
          <a:p>
            <a:r>
              <a:rPr sz="1200" b="0">
                <a:solidFill>
                  <a:srgbClr val="2C2C2C"/>
                </a:solidFill>
                <a:latin typeface="Times New Roman"/>
                <a:ea typeface="Microsoft YaHei"/>
              </a:rPr>
              <a:t>• 年销大型车 250 万辆、中型 280 万辆、小型仅 230 万辆</a:t>
            </a:r>
          </a:p>
        </p:txBody>
      </p:sp>
      <p:sp>
        <p:nvSpPr>
          <p:cNvPr id="16" name="Rectangle 15"/>
          <p:cNvSpPr/>
          <p:nvPr/>
        </p:nvSpPr>
        <p:spPr>
          <a:xfrm>
            <a:off x="3314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4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06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油价暴涨 (1973-1981)</a:t>
            </a:r>
          </a:p>
        </p:txBody>
      </p:sp>
      <p:sp>
        <p:nvSpPr>
          <p:cNvPr id="19" name="TextBox 18"/>
          <p:cNvSpPr txBox="1"/>
          <p:nvPr/>
        </p:nvSpPr>
        <p:spPr>
          <a:xfrm>
            <a:off x="3451860" y="2423160"/>
            <a:ext cx="2400300" cy="2697480"/>
          </a:xfrm>
          <a:prstGeom prst="rect">
            <a:avLst/>
          </a:prstGeom>
          <a:noFill/>
        </p:spPr>
        <p:txBody>
          <a:bodyPr wrap="square">
            <a:spAutoFit/>
          </a:bodyPr>
          <a:lstStyle/>
          <a:p>
            <a:r>
              <a:rPr sz="1200" b="0">
                <a:solidFill>
                  <a:srgbClr val="2C2C2C"/>
                </a:solidFill>
                <a:latin typeface="Times New Roman"/>
                <a:ea typeface="Microsoft YaHei"/>
              </a:rPr>
              <a:t>• 经历欧佩克禁运与伊朗革命，油价暴涨至 $1.40/加仑 (暴涨5倍)</a:t>
            </a:r>
          </a:p>
          <a:p>
            <a:r>
              <a:rPr sz="1200" b="0">
                <a:solidFill>
                  <a:srgbClr val="2C2C2C"/>
                </a:solidFill>
                <a:latin typeface="Times New Roman"/>
                <a:ea typeface="Microsoft YaHei"/>
              </a:rPr>
              <a:t>• 每跑1.5万英里：大车耗油1000加仑，小车仅需500加仑 (年省$700)</a:t>
            </a:r>
          </a:p>
        </p:txBody>
      </p:sp>
      <p:sp>
        <p:nvSpPr>
          <p:cNvPr id="20" name="Rectangle 19"/>
          <p:cNvSpPr/>
          <p:nvPr/>
        </p:nvSpPr>
        <p:spPr>
          <a:xfrm>
            <a:off x="61722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市场剧烈分化 (1985)</a:t>
            </a:r>
          </a:p>
        </p:txBody>
      </p:sp>
      <p:sp>
        <p:nvSpPr>
          <p:cNvPr id="23" name="TextBox 22"/>
          <p:cNvSpPr txBox="1"/>
          <p:nvPr/>
        </p:nvSpPr>
        <p:spPr>
          <a:xfrm>
            <a:off x="6309360" y="2423160"/>
            <a:ext cx="2400300" cy="2697480"/>
          </a:xfrm>
          <a:prstGeom prst="rect">
            <a:avLst/>
          </a:prstGeom>
          <a:noFill/>
        </p:spPr>
        <p:txBody>
          <a:bodyPr wrap="square">
            <a:spAutoFit/>
          </a:bodyPr>
          <a:lstStyle/>
          <a:p>
            <a:r>
              <a:rPr sz="1200" b="0">
                <a:solidFill>
                  <a:srgbClr val="2C2C2C"/>
                </a:solidFill>
                <a:latin typeface="Times New Roman"/>
                <a:ea typeface="Microsoft YaHei"/>
              </a:rPr>
              <a:t>• 大型车腰斩至 150 万辆，小型车暴增至 370 万辆！</a:t>
            </a:r>
          </a:p>
          <a:p>
            <a:r>
              <a:rPr sz="1200" b="0">
                <a:solidFill>
                  <a:srgbClr val="2C2C2C"/>
                </a:solidFill>
                <a:latin typeface="Times New Roman"/>
                <a:ea typeface="Microsoft YaHei"/>
              </a:rPr>
              <a:t>• 日本省油小型车凭借契机大举占领美国市场份额</a:t>
            </a:r>
          </a:p>
        </p:txBody>
      </p:sp>
      <p:sp>
        <p:nvSpPr>
          <p:cNvPr id="24" name="Rectangle 23"/>
          <p:cNvSpPr/>
          <p:nvPr/>
        </p:nvSpPr>
        <p:spPr>
          <a:xfrm>
            <a:off x="9029700" y="1920240"/>
            <a:ext cx="2674620" cy="3291840"/>
          </a:xfrm>
          <a:prstGeom prst="rect">
            <a:avLst/>
          </a:prstGeom>
          <a:solidFill>
            <a:srgbClr val="FEFCF6"/>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29700" y="1920240"/>
            <a:ext cx="2674620" cy="411480"/>
          </a:xfrm>
          <a:prstGeom prst="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21140" y="1965960"/>
            <a:ext cx="2491740" cy="347472"/>
          </a:xfrm>
          <a:prstGeom prst="rect">
            <a:avLst/>
          </a:prstGeom>
          <a:noFill/>
        </p:spPr>
        <p:txBody>
          <a:bodyPr wrap="none">
            <a:spAutoFit/>
          </a:bodyPr>
          <a:lstStyle/>
          <a:p>
            <a:pPr algn="ctr"/>
            <a:r>
              <a:rPr sz="1300" b="1">
                <a:solidFill>
                  <a:srgbClr val="1B3A5C"/>
                </a:solidFill>
                <a:latin typeface="Times New Roman"/>
                <a:ea typeface="Microsoft YaHei"/>
              </a:rPr>
              <a:t>双重弹性综合作用</a:t>
            </a:r>
          </a:p>
        </p:txBody>
      </p:sp>
      <p:sp>
        <p:nvSpPr>
          <p:cNvPr id="27" name="TextBox 26"/>
          <p:cNvSpPr txBox="1"/>
          <p:nvPr/>
        </p:nvSpPr>
        <p:spPr>
          <a:xfrm>
            <a:off x="9166860" y="2423160"/>
            <a:ext cx="2400300" cy="2697480"/>
          </a:xfrm>
          <a:prstGeom prst="rect">
            <a:avLst/>
          </a:prstGeom>
          <a:noFill/>
        </p:spPr>
        <p:txBody>
          <a:bodyPr wrap="square">
            <a:spAutoFit/>
          </a:bodyPr>
          <a:lstStyle/>
          <a:p>
            <a:r>
              <a:rPr sz="1200" b="0">
                <a:solidFill>
                  <a:srgbClr val="2C2C2C"/>
                </a:solidFill>
                <a:latin typeface="Times New Roman"/>
                <a:ea typeface="Microsoft YaHei"/>
              </a:rPr>
              <a:t>• • 汽油与汽车呈互补关系 (油涨价压制整体用车需求)
• 小型车与大型车呈强替代关系 (交叉弹性引爆需求转移)</a:t>
            </a:r>
          </a:p>
        </p:txBody>
      </p:sp>
      <p:sp>
        <p:nvSpPr>
          <p:cNvPr id="28" name="Rectangle 27"/>
          <p:cNvSpPr/>
          <p:nvPr/>
        </p:nvSpPr>
        <p:spPr>
          <a:xfrm>
            <a:off x="457200" y="5349240"/>
            <a:ext cx="11247120" cy="914400"/>
          </a:xfrm>
          <a:prstGeom prst="rect">
            <a:avLst/>
          </a:prstGeom>
          <a:solidFill>
            <a:srgbClr val="DCEDF8"/>
          </a:solidFill>
          <a:ln w="1524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413248"/>
            <a:ext cx="10881360" cy="804672"/>
          </a:xfrm>
          <a:prstGeom prst="rect">
            <a:avLst/>
          </a:prstGeom>
          <a:noFill/>
        </p:spPr>
        <p:txBody>
          <a:bodyPr wrap="none">
            <a:spAutoFit/>
          </a:bodyPr>
          <a:lstStyle/>
          <a:p>
            <a:r>
              <a:rPr sz="1300" b="1">
                <a:solidFill>
                  <a:srgbClr val="1B3A5C"/>
                </a:solidFill>
                <a:latin typeface="Times New Roman"/>
                <a:ea typeface="Microsoft YaHei"/>
              </a:rPr>
              <a:t>🎯 管理经济学启示与决策启示：</a:t>
            </a:r>
          </a:p>
          <a:p>
            <a:r>
              <a:rPr sz="1200" b="0">
                <a:solidFill>
                  <a:srgbClr val="2C2C2C"/>
                </a:solidFill>
                <a:latin typeface="Times New Roman"/>
                <a:ea typeface="Microsoft YaHei"/>
              </a:rPr>
              <a:t>汽油暴涨导致「小型车需求曲线大幅右移，大型车需求曲线剧烈左移」。互补品价格的外部冲击彻底重塑了替代品市场的生死格局！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商业模型解析</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商业经典：吉列「剃刀与刀片」互补品定价策略</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24</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吉列模式 (Razor and Blades) 的经济学机理</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双重定价结构</a:t>
            </a:r>
          </a:p>
          <a:p>
            <a:r>
              <a:rPr sz="1250" b="0">
                <a:solidFill>
                  <a:srgbClr val="2C2C2C"/>
                </a:solidFill>
                <a:latin typeface="Times New Roman"/>
                <a:ea typeface="Microsoft YaHei"/>
              </a:rPr>
              <a:t>  对耐用的基础平台（刀架）定低价甚至免费赠送，快速降低消费者的尝鲜与准入门槛，最大化装机保有量。</a:t>
            </a:r>
          </a:p>
          <a:p>
            <a:r>
              <a:rPr sz="1400" b="1">
                <a:solidFill>
                  <a:srgbClr val="1B3A5C"/>
                </a:solidFill>
                <a:latin typeface="Times New Roman"/>
                <a:ea typeface="Microsoft YaHei"/>
              </a:rPr>
              <a:t>2. 专用性锁定与高频复购</a:t>
            </a:r>
          </a:p>
          <a:p>
            <a:r>
              <a:rPr sz="1250" b="0">
                <a:solidFill>
                  <a:srgbClr val="2C2C2C"/>
                </a:solidFill>
                <a:latin typeface="Times New Roman"/>
                <a:ea typeface="Microsoft YaHei"/>
              </a:rPr>
              <a:t>  通过专利接口设计锁定耗材（刀片）。消费者购买刀架后产生沉没成本与技术锁定，后续必须持续购买高毛利的专用刀片。</a:t>
            </a:r>
          </a:p>
          <a:p>
            <a:r>
              <a:rPr sz="1400" b="1">
                <a:solidFill>
                  <a:srgbClr val="1B3A5C"/>
                </a:solidFill>
                <a:latin typeface="Times New Roman"/>
                <a:ea typeface="Microsoft YaHei"/>
              </a:rPr>
              <a:t>3. 交叉弹性的负向收益最大化</a:t>
            </a:r>
          </a:p>
          <a:p>
            <a:r>
              <a:rPr sz="1250" b="0">
                <a:solidFill>
                  <a:srgbClr val="2C2C2C"/>
                </a:solidFill>
                <a:latin typeface="Times New Roman"/>
                <a:ea typeface="Microsoft YaHei"/>
              </a:rPr>
              <a:t>  低价刀架激增了刀架保有量（Q_架 ↑），而刀片与刀架强互补（Ep &lt; 0），直接带动高利润刀片销量呈指数级爆发！</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现代商业世界的全行业广泛复制</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打印机与耗材</a:t>
            </a:r>
          </a:p>
          <a:p>
            <a:r>
              <a:rPr sz="1250" b="0">
                <a:solidFill>
                  <a:srgbClr val="2C2C2C"/>
                </a:solidFill>
                <a:latin typeface="Times New Roman"/>
                <a:ea typeface="Microsoft YaHei"/>
              </a:rPr>
              <a:t>  惠普/爱普生低价卖打印机硬件，靠高价原装墨盒与硒鼓获取长年持续暴利。</a:t>
            </a:r>
          </a:p>
          <a:p>
            <a:r>
              <a:rPr sz="1400" b="1">
                <a:solidFill>
                  <a:srgbClr val="2E86C1"/>
                </a:solidFill>
                <a:latin typeface="Times New Roman"/>
                <a:ea typeface="Microsoft YaHei"/>
              </a:rPr>
              <a:t>2. 游戏主机与游戏软件</a:t>
            </a:r>
          </a:p>
          <a:p>
            <a:r>
              <a:rPr sz="1250" b="0">
                <a:solidFill>
                  <a:srgbClr val="2C2C2C"/>
                </a:solidFill>
                <a:latin typeface="Times New Roman"/>
                <a:ea typeface="Microsoft YaHei"/>
              </a:rPr>
              <a:t>  索尼 PlayStation / 微软 Xbox 亏本卖游戏主机，通过游戏光盘/数字版分成及会员订阅实现超级盈利。</a:t>
            </a:r>
          </a:p>
          <a:p>
            <a:r>
              <a:rPr sz="1400" b="1">
                <a:solidFill>
                  <a:srgbClr val="2E86C1"/>
                </a:solidFill>
                <a:latin typeface="Times New Roman"/>
                <a:ea typeface="Microsoft YaHei"/>
              </a:rPr>
              <a:t>3. 胶囊咖啡机与咖啡胶囊</a:t>
            </a:r>
          </a:p>
          <a:p>
            <a:r>
              <a:rPr sz="1250" b="0">
                <a:solidFill>
                  <a:srgbClr val="2C2C2C"/>
                </a:solidFill>
                <a:latin typeface="Times New Roman"/>
                <a:ea typeface="Microsoft YaHei"/>
              </a:rPr>
              <a:t>  奈斯派索 (Nespresso) 平价销售咖啡机，锁定独家咖啡胶囊实现极高复购毛利。</a:t>
            </a:r>
          </a:p>
          <a:p>
            <a:r>
              <a:rPr sz="1400" b="1">
                <a:solidFill>
                  <a:srgbClr val="2E86C1"/>
                </a:solidFill>
                <a:latin typeface="Times New Roman"/>
                <a:ea typeface="Microsoft YaHei"/>
              </a:rPr>
              <a:t>4. 智能手机与应用生态</a:t>
            </a:r>
          </a:p>
          <a:p>
            <a:r>
              <a:rPr sz="1250" b="0">
                <a:solidFill>
                  <a:srgbClr val="2C2C2C"/>
                </a:solidFill>
                <a:latin typeface="Times New Roman"/>
                <a:ea typeface="Microsoft YaHei"/>
              </a:rPr>
              <a:t>  硬件维持极高性价比走量，通过 App Store 软件服务与云存储抽取 30% 分成。</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核心结论：商业智慧：不要在低频进入门槛上赚一次性小钱，而要利用强互补性在高频消耗品上赚一辈子的大钱！</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本章小结</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第2章 需求分析核心知识与决策公式系统复盘</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25</a:t>
            </a:r>
          </a:p>
        </p:txBody>
      </p:sp>
      <p:sp>
        <p:nvSpPr>
          <p:cNvPr id="9" name="Rectangle 8"/>
          <p:cNvSpPr/>
          <p:nvPr/>
        </p:nvSpPr>
        <p:spPr>
          <a:xfrm>
            <a:off x="457200"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01</a:t>
            </a:r>
          </a:p>
        </p:txBody>
      </p:sp>
      <p:sp>
        <p:nvSpPr>
          <p:cNvPr id="12" name="TextBox 11"/>
          <p:cNvSpPr txBox="1"/>
          <p:nvPr/>
        </p:nvSpPr>
        <p:spPr>
          <a:xfrm>
            <a:off x="640080" y="1965960"/>
            <a:ext cx="2286000" cy="502920"/>
          </a:xfrm>
          <a:prstGeom prst="rect">
            <a:avLst/>
          </a:prstGeom>
          <a:noFill/>
        </p:spPr>
        <p:txBody>
          <a:bodyPr wrap="none">
            <a:spAutoFit/>
          </a:bodyPr>
          <a:lstStyle/>
          <a:p>
            <a:r>
              <a:rPr sz="1500" b="1">
                <a:solidFill>
                  <a:srgbClr val="1B3A5C"/>
                </a:solidFill>
                <a:latin typeface="Times New Roman"/>
                <a:ea typeface="Microsoft YaHei"/>
              </a:rPr>
              <a:t>价格弹性 (εp)</a:t>
            </a:r>
          </a:p>
        </p:txBody>
      </p:sp>
      <p:sp>
        <p:nvSpPr>
          <p:cNvPr id="13" name="Rectangle 12"/>
          <p:cNvSpPr/>
          <p:nvPr/>
        </p:nvSpPr>
        <p:spPr>
          <a:xfrm>
            <a:off x="640080"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651760"/>
            <a:ext cx="2286000" cy="2560320"/>
          </a:xfrm>
          <a:prstGeom prst="rect">
            <a:avLst/>
          </a:prstGeom>
          <a:noFill/>
        </p:spPr>
        <p:txBody>
          <a:bodyPr wrap="square">
            <a:spAutoFit/>
          </a:bodyPr>
          <a:lstStyle/>
          <a:p>
            <a:r>
              <a:rPr sz="1200" b="0">
                <a:solidFill>
                  <a:srgbClr val="2C2C2C"/>
                </a:solidFill>
                <a:latin typeface="Times New Roman"/>
                <a:ea typeface="Microsoft YaHei"/>
              </a:rPr>
              <a:t>• 定义：%ΔQ / %ΔP</a:t>
            </a:r>
          </a:p>
          <a:p>
            <a:r>
              <a:rPr sz="1200" b="0">
                <a:solidFill>
                  <a:srgbClr val="2C2C2C"/>
                </a:solidFill>
                <a:latin typeface="Times New Roman"/>
                <a:ea typeface="Microsoft YaHei"/>
              </a:rPr>
              <a:t>• 计算：点弹性 (导数/几何) &amp; 弧弹性</a:t>
            </a:r>
          </a:p>
          <a:p>
            <a:r>
              <a:rPr sz="1200" b="0">
                <a:solidFill>
                  <a:srgbClr val="2C2C2C"/>
                </a:solidFill>
                <a:latin typeface="Times New Roman"/>
                <a:ea typeface="Microsoft YaHei"/>
              </a:rPr>
              <a:t>• |εp|&gt;1 降价增收 / |εp|&lt;1 提价增收</a:t>
            </a:r>
          </a:p>
          <a:p>
            <a:r>
              <a:rPr sz="1200" b="0">
                <a:solidFill>
                  <a:srgbClr val="2C2C2C"/>
                </a:solidFill>
                <a:latin typeface="Times New Roman"/>
                <a:ea typeface="Microsoft YaHei"/>
              </a:rPr>
              <a:t>• 核心公式：MR = P(1 - 1/|εp|)</a:t>
            </a:r>
          </a:p>
        </p:txBody>
      </p:sp>
      <p:sp>
        <p:nvSpPr>
          <p:cNvPr id="15" name="Rectangle 14"/>
          <p:cNvSpPr/>
          <p:nvPr/>
        </p:nvSpPr>
        <p:spPr>
          <a:xfrm>
            <a:off x="3319272"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02</a:t>
            </a:r>
          </a:p>
        </p:txBody>
      </p:sp>
      <p:sp>
        <p:nvSpPr>
          <p:cNvPr id="18" name="TextBox 17"/>
          <p:cNvSpPr txBox="1"/>
          <p:nvPr/>
        </p:nvSpPr>
        <p:spPr>
          <a:xfrm>
            <a:off x="3502152" y="1965960"/>
            <a:ext cx="2286000" cy="502920"/>
          </a:xfrm>
          <a:prstGeom prst="rect">
            <a:avLst/>
          </a:prstGeom>
          <a:noFill/>
        </p:spPr>
        <p:txBody>
          <a:bodyPr wrap="none">
            <a:spAutoFit/>
          </a:bodyPr>
          <a:lstStyle/>
          <a:p>
            <a:r>
              <a:rPr sz="1500" b="1">
                <a:solidFill>
                  <a:srgbClr val="1B3A5C"/>
                </a:solidFill>
                <a:latin typeface="Times New Roman"/>
                <a:ea typeface="Microsoft YaHei"/>
              </a:rPr>
              <a:t>收入弹性 (εI)</a:t>
            </a:r>
          </a:p>
        </p:txBody>
      </p:sp>
      <p:sp>
        <p:nvSpPr>
          <p:cNvPr id="19" name="Rectangle 18"/>
          <p:cNvSpPr/>
          <p:nvPr/>
        </p:nvSpPr>
        <p:spPr>
          <a:xfrm>
            <a:off x="3502152"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02152" y="2651760"/>
            <a:ext cx="2286000" cy="2560320"/>
          </a:xfrm>
          <a:prstGeom prst="rect">
            <a:avLst/>
          </a:prstGeom>
          <a:noFill/>
        </p:spPr>
        <p:txBody>
          <a:bodyPr wrap="square">
            <a:spAutoFit/>
          </a:bodyPr>
          <a:lstStyle/>
          <a:p>
            <a:r>
              <a:rPr sz="1200" b="0">
                <a:solidFill>
                  <a:srgbClr val="2C2C2C"/>
                </a:solidFill>
                <a:latin typeface="Times New Roman"/>
                <a:ea typeface="Microsoft YaHei"/>
              </a:rPr>
              <a:t>• 定义：%ΔQ / %ΔI</a:t>
            </a:r>
          </a:p>
          <a:p>
            <a:r>
              <a:rPr sz="1200" b="0">
                <a:solidFill>
                  <a:srgbClr val="2C2C2C"/>
                </a:solidFill>
                <a:latin typeface="Times New Roman"/>
                <a:ea typeface="Microsoft YaHei"/>
              </a:rPr>
              <a:t>• 分类：低档货(&lt;0) / 正常品(&gt;0) / 奢侈品(&gt;1)</a:t>
            </a:r>
          </a:p>
          <a:p>
            <a:r>
              <a:rPr sz="1200" b="0">
                <a:solidFill>
                  <a:srgbClr val="2C2C2C"/>
                </a:solidFill>
                <a:latin typeface="Times New Roman"/>
                <a:ea typeface="Microsoft YaHei"/>
              </a:rPr>
              <a:t>• 用于 10 年长远需求量预测</a:t>
            </a:r>
          </a:p>
          <a:p>
            <a:r>
              <a:rPr sz="1200" b="0">
                <a:solidFill>
                  <a:srgbClr val="2C2C2C"/>
                </a:solidFill>
                <a:latin typeface="Times New Roman"/>
                <a:ea typeface="Microsoft YaHei"/>
              </a:rPr>
              <a:t>• 周期策略：繁荣做高弹性，萧条做低弹性</a:t>
            </a:r>
          </a:p>
        </p:txBody>
      </p:sp>
      <p:sp>
        <p:nvSpPr>
          <p:cNvPr id="21" name="Rectangle 20"/>
          <p:cNvSpPr/>
          <p:nvPr/>
        </p:nvSpPr>
        <p:spPr>
          <a:xfrm>
            <a:off x="6181344"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4224"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03</a:t>
            </a:r>
          </a:p>
        </p:txBody>
      </p:sp>
      <p:sp>
        <p:nvSpPr>
          <p:cNvPr id="24" name="TextBox 23"/>
          <p:cNvSpPr txBox="1"/>
          <p:nvPr/>
        </p:nvSpPr>
        <p:spPr>
          <a:xfrm>
            <a:off x="6364224" y="1965960"/>
            <a:ext cx="2286000" cy="502920"/>
          </a:xfrm>
          <a:prstGeom prst="rect">
            <a:avLst/>
          </a:prstGeom>
          <a:noFill/>
        </p:spPr>
        <p:txBody>
          <a:bodyPr wrap="none">
            <a:spAutoFit/>
          </a:bodyPr>
          <a:lstStyle/>
          <a:p>
            <a:r>
              <a:rPr sz="1500" b="1">
                <a:solidFill>
                  <a:srgbClr val="1B3A5C"/>
                </a:solidFill>
                <a:latin typeface="Times New Roman"/>
                <a:ea typeface="Microsoft YaHei"/>
              </a:rPr>
              <a:t>交叉弹性 (εPx)</a:t>
            </a:r>
          </a:p>
        </p:txBody>
      </p:sp>
      <p:sp>
        <p:nvSpPr>
          <p:cNvPr id="25" name="Rectangle 24"/>
          <p:cNvSpPr/>
          <p:nvPr/>
        </p:nvSpPr>
        <p:spPr>
          <a:xfrm>
            <a:off x="6364224"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2651760"/>
            <a:ext cx="2286000" cy="2560320"/>
          </a:xfrm>
          <a:prstGeom prst="rect">
            <a:avLst/>
          </a:prstGeom>
          <a:noFill/>
        </p:spPr>
        <p:txBody>
          <a:bodyPr wrap="square">
            <a:spAutoFit/>
          </a:bodyPr>
          <a:lstStyle/>
          <a:p>
            <a:r>
              <a:rPr sz="1200" b="0">
                <a:solidFill>
                  <a:srgbClr val="2C2C2C"/>
                </a:solidFill>
                <a:latin typeface="Times New Roman"/>
                <a:ea typeface="Microsoft YaHei"/>
              </a:rPr>
              <a:t>• 定义：%ΔQY / %ΔPX</a:t>
            </a:r>
          </a:p>
          <a:p>
            <a:r>
              <a:rPr sz="1200" b="0">
                <a:solidFill>
                  <a:srgbClr val="2C2C2C"/>
                </a:solidFill>
                <a:latin typeface="Times New Roman"/>
                <a:ea typeface="Microsoft YaHei"/>
              </a:rPr>
              <a:t>• 分类：替代品(&gt;0) / 互补品(&lt;0) / 独立品(=0)</a:t>
            </a:r>
          </a:p>
          <a:p>
            <a:r>
              <a:rPr sz="1200" b="0">
                <a:solidFill>
                  <a:srgbClr val="2C2C2C"/>
                </a:solidFill>
                <a:latin typeface="Times New Roman"/>
                <a:ea typeface="Microsoft YaHei"/>
              </a:rPr>
              <a:t>• 应用：吉列刀架-刀片互补定价</a:t>
            </a:r>
          </a:p>
          <a:p>
            <a:r>
              <a:rPr sz="1200" b="0">
                <a:solidFill>
                  <a:srgbClr val="2C2C2C"/>
                </a:solidFill>
                <a:latin typeface="Times New Roman"/>
                <a:ea typeface="Microsoft YaHei"/>
              </a:rPr>
              <a:t>• 非对称竞争监控与行业市场界定</a:t>
            </a:r>
          </a:p>
        </p:txBody>
      </p:sp>
      <p:sp>
        <p:nvSpPr>
          <p:cNvPr id="27" name="Rectangle 26"/>
          <p:cNvSpPr/>
          <p:nvPr/>
        </p:nvSpPr>
        <p:spPr>
          <a:xfrm>
            <a:off x="9043416" y="1325880"/>
            <a:ext cx="265176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1325880"/>
            <a:ext cx="2651760" cy="54864"/>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226296" y="1508760"/>
            <a:ext cx="594360" cy="365760"/>
          </a:xfrm>
          <a:prstGeom prst="roundRect">
            <a:avLst/>
          </a:prstGeom>
          <a:solidFill>
            <a:srgbClr val="EBF3FA"/>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B3A5C"/>
                </a:solidFill>
                <a:latin typeface="Times New Roman"/>
                <a:ea typeface="Microsoft YaHei"/>
              </a:rPr>
              <a:t>04</a:t>
            </a:r>
          </a:p>
        </p:txBody>
      </p:sp>
      <p:sp>
        <p:nvSpPr>
          <p:cNvPr id="30" name="TextBox 29"/>
          <p:cNvSpPr txBox="1"/>
          <p:nvPr/>
        </p:nvSpPr>
        <p:spPr>
          <a:xfrm>
            <a:off x="9226296" y="1965960"/>
            <a:ext cx="2286000" cy="502920"/>
          </a:xfrm>
          <a:prstGeom prst="rect">
            <a:avLst/>
          </a:prstGeom>
          <a:noFill/>
        </p:spPr>
        <p:txBody>
          <a:bodyPr wrap="none">
            <a:spAutoFit/>
          </a:bodyPr>
          <a:lstStyle/>
          <a:p>
            <a:r>
              <a:rPr sz="1500" b="1">
                <a:solidFill>
                  <a:srgbClr val="1B3A5C"/>
                </a:solidFill>
                <a:latin typeface="Times New Roman"/>
                <a:ea typeface="Microsoft YaHei"/>
              </a:rPr>
              <a:t>管理决策总纲</a:t>
            </a:r>
          </a:p>
        </p:txBody>
      </p:sp>
      <p:sp>
        <p:nvSpPr>
          <p:cNvPr id="31" name="Rectangle 30"/>
          <p:cNvSpPr/>
          <p:nvPr/>
        </p:nvSpPr>
        <p:spPr>
          <a:xfrm>
            <a:off x="9226296" y="2514600"/>
            <a:ext cx="73152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2651760"/>
            <a:ext cx="2286000" cy="2560320"/>
          </a:xfrm>
          <a:prstGeom prst="rect">
            <a:avLst/>
          </a:prstGeom>
          <a:noFill/>
        </p:spPr>
        <p:txBody>
          <a:bodyPr wrap="square">
            <a:spAutoFit/>
          </a:bodyPr>
          <a:lstStyle/>
          <a:p>
            <a:r>
              <a:rPr sz="1200" b="0">
                <a:solidFill>
                  <a:srgbClr val="2C2C2C"/>
                </a:solidFill>
                <a:latin typeface="Times New Roman"/>
                <a:ea typeface="Microsoft YaHei"/>
              </a:rPr>
              <a:t>• 搞好经营管理，先从需求分析起步</a:t>
            </a:r>
          </a:p>
          <a:p>
            <a:r>
              <a:rPr sz="1200" b="0">
                <a:solidFill>
                  <a:srgbClr val="2C2C2C"/>
                </a:solidFill>
                <a:latin typeface="Times New Roman"/>
                <a:ea typeface="Microsoft YaHei"/>
              </a:rPr>
              <a:t>• 绝不盲目打价格战，认清弹性属性</a:t>
            </a:r>
          </a:p>
          <a:p>
            <a:r>
              <a:rPr sz="1200" b="0">
                <a:solidFill>
                  <a:srgbClr val="2C2C2C"/>
                </a:solidFill>
                <a:latin typeface="Times New Roman"/>
                <a:ea typeface="Microsoft YaHei"/>
              </a:rPr>
              <a:t>• 顺应收入升级趋势调整产品结构</a:t>
            </a:r>
          </a:p>
          <a:p>
            <a:r>
              <a:rPr sz="1200" b="0">
                <a:solidFill>
                  <a:srgbClr val="2C2C2C"/>
                </a:solidFill>
                <a:latin typeface="Times New Roman"/>
                <a:ea typeface="Microsoft YaHei"/>
              </a:rPr>
              <a:t>• 统筹全产品线关联利润最大化</a:t>
            </a:r>
          </a:p>
        </p:txBody>
      </p:sp>
      <p:sp>
        <p:nvSpPr>
          <p:cNvPr id="33" name="Rectangle 32"/>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归纳要义：需求分析是管理经济学的基石；价格弹性、收入弹性与交叉弹性构成了企业进行科学定价、销售预测与战略定位的三维导航仪。</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45720" cy="680313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5486400" cy="320040"/>
          </a:xfrm>
          <a:prstGeom prst="rect">
            <a:avLst/>
          </a:prstGeom>
          <a:noFill/>
        </p:spPr>
        <p:txBody>
          <a:bodyPr wrap="none">
            <a:spAutoFit/>
          </a:bodyPr>
          <a:lstStyle/>
          <a:p>
            <a:r>
              <a:rPr sz="1200" b="1">
                <a:solidFill>
                  <a:srgbClr val="2E86C1"/>
                </a:solidFill>
                <a:latin typeface="Times New Roman"/>
                <a:ea typeface="Microsoft YaHei"/>
              </a:rPr>
              <a:t>复习与研讨</a:t>
            </a:r>
          </a:p>
        </p:txBody>
      </p:sp>
      <p:sp>
        <p:nvSpPr>
          <p:cNvPr id="5" name="TextBox 4"/>
          <p:cNvSpPr txBox="1"/>
          <p:nvPr/>
        </p:nvSpPr>
        <p:spPr>
          <a:xfrm>
            <a:off x="457200" y="475488"/>
            <a:ext cx="10515600" cy="548640"/>
          </a:xfrm>
          <a:prstGeom prst="rect">
            <a:avLst/>
          </a:prstGeom>
          <a:noFill/>
        </p:spPr>
        <p:txBody>
          <a:bodyPr wrap="none">
            <a:spAutoFit/>
          </a:bodyPr>
          <a:lstStyle/>
          <a:p>
            <a:r>
              <a:rPr sz="2600" b="1">
                <a:solidFill>
                  <a:srgbClr val="1B3A5C"/>
                </a:solidFill>
                <a:latin typeface="Times New Roman"/>
                <a:ea typeface="Microsoft YaHei"/>
              </a:rPr>
              <a:t>第2章 经典复习思考与考研/实战挑战题</a:t>
            </a:r>
          </a:p>
        </p:txBody>
      </p:sp>
      <p:sp>
        <p:nvSpPr>
          <p:cNvPr id="6" name="Rectangle 5"/>
          <p:cNvSpPr/>
          <p:nvPr/>
        </p:nvSpPr>
        <p:spPr>
          <a:xfrm>
            <a:off x="457200" y="1051560"/>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a:spAutoFit/>
          </a:bodyPr>
          <a:lstStyle/>
          <a:p>
            <a:r>
              <a:rPr sz="1000" b="0">
                <a:solidFill>
                  <a:srgbClr val="6B6B6B"/>
                </a:solidFill>
                <a:latin typeface="Times New Roman"/>
                <a:ea typeface="Microsoft YaHei"/>
              </a:rPr>
              <a:t>管理经济学（第7版） · 第2章 需求分析</a:t>
            </a:r>
          </a:p>
        </p:txBody>
      </p:sp>
      <p:sp>
        <p:nvSpPr>
          <p:cNvPr id="8" name="TextBox 7"/>
          <p:cNvSpPr txBox="1"/>
          <p:nvPr/>
        </p:nvSpPr>
        <p:spPr>
          <a:xfrm>
            <a:off x="11247120" y="6400800"/>
            <a:ext cx="731520" cy="320040"/>
          </a:xfrm>
          <a:prstGeom prst="rect">
            <a:avLst/>
          </a:prstGeom>
          <a:noFill/>
        </p:spPr>
        <p:txBody>
          <a:bodyPr wrap="none">
            <a:spAutoFit/>
          </a:bodyPr>
          <a:lstStyle/>
          <a:p>
            <a:r>
              <a:rPr sz="1100" b="0">
                <a:solidFill>
                  <a:srgbClr val="6B6B6B"/>
                </a:solidFill>
                <a:latin typeface="Times New Roman"/>
                <a:ea typeface="Microsoft YaHei"/>
              </a:rPr>
              <a:t>26</a:t>
            </a:r>
          </a:p>
        </p:txBody>
      </p:sp>
      <p:sp>
        <p:nvSpPr>
          <p:cNvPr id="9" name="Rectangle 8"/>
          <p:cNvSpPr/>
          <p:nvPr/>
        </p:nvSpPr>
        <p:spPr>
          <a:xfrm>
            <a:off x="457200" y="1325880"/>
            <a:ext cx="530352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303520" cy="502920"/>
          </a:xfrm>
          <a:prstGeom prst="rect">
            <a:avLst/>
          </a:prstGeom>
          <a:solidFill>
            <a:srgbClr val="EBF3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25880"/>
            <a:ext cx="73152"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371600"/>
            <a:ext cx="4846320" cy="411480"/>
          </a:xfrm>
          <a:prstGeom prst="rect">
            <a:avLst/>
          </a:prstGeom>
          <a:noFill/>
        </p:spPr>
        <p:txBody>
          <a:bodyPr wrap="none">
            <a:spAutoFit/>
          </a:bodyPr>
          <a:lstStyle/>
          <a:p>
            <a:r>
              <a:rPr sz="1600" b="1">
                <a:solidFill>
                  <a:srgbClr val="1B3A5C"/>
                </a:solidFill>
                <a:latin typeface="Times New Roman"/>
                <a:ea typeface="Microsoft YaHei"/>
              </a:rPr>
              <a:t>深度理论辨析题 (Seminar Questions)</a:t>
            </a:r>
          </a:p>
        </p:txBody>
      </p:sp>
      <p:sp>
        <p:nvSpPr>
          <p:cNvPr id="13" name="TextBox 12"/>
          <p:cNvSpPr txBox="1"/>
          <p:nvPr/>
        </p:nvSpPr>
        <p:spPr>
          <a:xfrm>
            <a:off x="685800" y="1965960"/>
            <a:ext cx="4846320" cy="3200400"/>
          </a:xfrm>
          <a:prstGeom prst="rect">
            <a:avLst/>
          </a:prstGeom>
          <a:noFill/>
        </p:spPr>
        <p:txBody>
          <a:bodyPr wrap="square">
            <a:spAutoFit/>
          </a:bodyPr>
          <a:lstStyle/>
          <a:p>
            <a:r>
              <a:rPr sz="1400" b="1">
                <a:solidFill>
                  <a:srgbClr val="1B3A5C"/>
                </a:solidFill>
                <a:latin typeface="Times New Roman"/>
                <a:ea typeface="Microsoft YaHei"/>
              </a:rPr>
              <a:t>1. 边际收入与非弹性需求 (思考题 3)</a:t>
            </a:r>
          </a:p>
          <a:p>
            <a:r>
              <a:rPr sz="1250" b="0">
                <a:solidFill>
                  <a:srgbClr val="2C2C2C"/>
                </a:solidFill>
                <a:latin typeface="Times New Roman"/>
                <a:ea typeface="Microsoft YaHei"/>
              </a:rPr>
              <a:t>  当企业处于非弹性需求 (|εp|&lt;1) 时，其边际收入 MR 是正值还是负值？为什么？此时总收入呈上升还是下降趋势？
👉 答：MR 为负值（由 MR=P(1-1/|εp|) 得出）；降价使销量增加但总收入 TR 下降；平均收入 AR &gt; MR。</a:t>
            </a:r>
          </a:p>
          <a:p>
            <a:r>
              <a:rPr sz="1400" b="1">
                <a:solidFill>
                  <a:srgbClr val="1B3A5C"/>
                </a:solidFill>
                <a:latin typeface="Times New Roman"/>
                <a:ea typeface="Microsoft YaHei"/>
              </a:rPr>
              <a:t>2. 跨行业危机抵抗力差异 (思考题 10)</a:t>
            </a:r>
          </a:p>
          <a:p>
            <a:r>
              <a:rPr sz="1250" b="0">
                <a:solidFill>
                  <a:srgbClr val="2C2C2C"/>
                </a:solidFill>
                <a:latin typeface="Times New Roman"/>
                <a:ea typeface="Microsoft YaHei"/>
              </a:rPr>
              <a:t>  2008年次贷危机中，美国汽车巨头（通用/克莱斯勒）破产保护，而农业部门损失极小，为什么？
👉 答：汽车属于高收入弹性 (&gt;1) 的耐用奢侈品，受危机冲击剧烈；农产品属于低收入弹性 (&lt;1) 的生活必需品，刚性需求受危机影响极小。</a:t>
            </a:r>
          </a:p>
          <a:p>
            <a:r>
              <a:rPr sz="1400" b="1">
                <a:solidFill>
                  <a:srgbClr val="1B3A5C"/>
                </a:solidFill>
                <a:latin typeface="Times New Roman"/>
                <a:ea typeface="Microsoft YaHei"/>
              </a:rPr>
              <a:t>3. 企业需求曲线 vs 行业需求曲线 (思考题 9)</a:t>
            </a:r>
          </a:p>
          <a:p>
            <a:r>
              <a:rPr sz="1250" b="0">
                <a:solidFill>
                  <a:srgbClr val="2C2C2C"/>
                </a:solidFill>
                <a:latin typeface="Times New Roman"/>
                <a:ea typeface="Microsoft YaHei"/>
              </a:rPr>
              <a:t>  为什么单一企业的需求价格弹性一般远大于整个行业的需求弹性？
👉 答：单一企业产品面临同行业众多竞品的直接替代，替代品极其丰富；而整个行业产品缺乏外部大类替代品。</a:t>
            </a:r>
          </a:p>
        </p:txBody>
      </p:sp>
      <p:sp>
        <p:nvSpPr>
          <p:cNvPr id="14" name="Rectangle 13"/>
          <p:cNvSpPr/>
          <p:nvPr/>
        </p:nvSpPr>
        <p:spPr>
          <a:xfrm>
            <a:off x="6035040" y="1325880"/>
            <a:ext cx="5669280" cy="3931920"/>
          </a:xfrm>
          <a:prstGeom prst="rect">
            <a:avLst/>
          </a:prstGeom>
          <a:solidFill>
            <a:srgbClr val="F8F9FA"/>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25880"/>
            <a:ext cx="5669280" cy="502920"/>
          </a:xfrm>
          <a:prstGeom prst="rect">
            <a:avLst/>
          </a:prstGeom>
          <a:solidFill>
            <a:srgbClr val="F0F4F8"/>
          </a:solidFill>
          <a:ln w="12700">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35040" y="1325880"/>
            <a:ext cx="73152"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371600"/>
            <a:ext cx="5212080" cy="411480"/>
          </a:xfrm>
          <a:prstGeom prst="rect">
            <a:avLst/>
          </a:prstGeom>
          <a:noFill/>
        </p:spPr>
        <p:txBody>
          <a:bodyPr wrap="none">
            <a:spAutoFit/>
          </a:bodyPr>
          <a:lstStyle/>
          <a:p>
            <a:r>
              <a:rPr sz="1600" b="1">
                <a:solidFill>
                  <a:srgbClr val="2E86C1"/>
                </a:solidFill>
                <a:latin typeface="Times New Roman"/>
                <a:ea typeface="Microsoft YaHei"/>
              </a:rPr>
              <a:t>计算与实战应用挑战 (Applied Calculation)</a:t>
            </a:r>
          </a:p>
        </p:txBody>
      </p:sp>
      <p:sp>
        <p:nvSpPr>
          <p:cNvPr id="18" name="TextBox 17"/>
          <p:cNvSpPr txBox="1"/>
          <p:nvPr/>
        </p:nvSpPr>
        <p:spPr>
          <a:xfrm>
            <a:off x="6263640" y="1965960"/>
            <a:ext cx="5212080" cy="3200400"/>
          </a:xfrm>
          <a:prstGeom prst="rect">
            <a:avLst/>
          </a:prstGeom>
          <a:noFill/>
        </p:spPr>
        <p:txBody>
          <a:bodyPr wrap="square">
            <a:spAutoFit/>
          </a:bodyPr>
          <a:lstStyle/>
          <a:p>
            <a:r>
              <a:rPr sz="1400" b="1">
                <a:solidFill>
                  <a:srgbClr val="2E86C1"/>
                </a:solidFill>
                <a:latin typeface="Times New Roman"/>
                <a:ea typeface="Microsoft YaHei"/>
              </a:rPr>
              <a:t>1. 汽车市场复合弹性预测 (作业题 1)</a:t>
            </a:r>
          </a:p>
          <a:p>
            <a:r>
              <a:rPr sz="1250" b="0">
                <a:solidFill>
                  <a:srgbClr val="2C2C2C"/>
                </a:solidFill>
                <a:latin typeface="Times New Roman"/>
                <a:ea typeface="Microsoft YaHei"/>
              </a:rPr>
              <a:t>  已知汽车价格弹性为 1.2，收入弹性为 3.0。若价格下降 3%，且居民收入提高 2%，求销售量总变动：
👉 算解：ΔQ% = (3% × 1.2) + (2% × 3.0) = 3.6% + 6.0% = +9.6% (销量将显著增长 9.6%)！</a:t>
            </a:r>
          </a:p>
          <a:p>
            <a:r>
              <a:rPr sz="1400" b="1">
                <a:solidFill>
                  <a:srgbClr val="2E86C1"/>
                </a:solidFill>
                <a:latin typeface="Times New Roman"/>
                <a:ea typeface="Microsoft YaHei"/>
              </a:rPr>
              <a:t>2. 垄断与收益最大化定价 (作业题 5)</a:t>
            </a:r>
          </a:p>
          <a:p>
            <a:r>
              <a:rPr sz="1250" b="0">
                <a:solidFill>
                  <a:srgbClr val="2C2C2C"/>
                </a:solidFill>
                <a:latin typeface="Times New Roman"/>
                <a:ea typeface="Microsoft YaHei"/>
              </a:rPr>
              <a:t>  某产品需求方程 P = 20 - Q。欲使销售总收入 TR 最大，应如何定价？
👉 算解：TR = P·Q = 20Q - Q² → MR = 20 - 2Q = 0 → Q = 10，代入得 P = 10 元 (此时刚好处于中点 |εp|=1 单元弹性)！</a:t>
            </a:r>
          </a:p>
          <a:p>
            <a:r>
              <a:rPr sz="1400" b="1">
                <a:solidFill>
                  <a:srgbClr val="2E86C1"/>
                </a:solidFill>
                <a:latin typeface="Times New Roman"/>
                <a:ea typeface="Microsoft YaHei"/>
              </a:rPr>
              <a:t>3. 竞争对手交叉弹性核算 (作业题 8)</a:t>
            </a:r>
          </a:p>
          <a:p>
            <a:r>
              <a:rPr sz="1250" b="0">
                <a:solidFill>
                  <a:srgbClr val="2C2C2C"/>
                </a:solidFill>
                <a:latin typeface="Times New Roman"/>
                <a:ea typeface="Microsoft YaHei"/>
              </a:rPr>
              <a:t>  甲鞋现价 60 元月销 1 万双。乙鞋从 65 降为 55 元，致甲销量降至 8000 双。
👉 交叉弹性：Epx = [(8000-10000)/10000] / [(55-65)/65] = (-20%) / (-15.38%) = +1.30 (强替代品)！</a:t>
            </a:r>
          </a:p>
        </p:txBody>
      </p:sp>
      <p:sp>
        <p:nvSpPr>
          <p:cNvPr id="19" name="Rectangle 18"/>
          <p:cNvSpPr/>
          <p:nvPr/>
        </p:nvSpPr>
        <p:spPr>
          <a:xfrm>
            <a:off x="457200" y="5440680"/>
            <a:ext cx="11247120" cy="777240"/>
          </a:xfrm>
          <a:prstGeom prst="rect">
            <a:avLst/>
          </a:prstGeom>
          <a:solidFill>
            <a:srgbClr val="DCEDF8"/>
          </a:solidFill>
          <a:ln w="12700">
            <a:solidFill>
              <a:srgbClr val="2E86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532120"/>
            <a:ext cx="10881360" cy="594360"/>
          </a:xfrm>
          <a:prstGeom prst="rect">
            <a:avLst/>
          </a:prstGeom>
          <a:noFill/>
        </p:spPr>
        <p:txBody>
          <a:bodyPr wrap="none">
            <a:spAutoFit/>
          </a:bodyPr>
          <a:lstStyle/>
          <a:p>
            <a:r>
              <a:rPr sz="1300" b="1">
                <a:solidFill>
                  <a:srgbClr val="1B3A5C"/>
                </a:solidFill>
                <a:latin typeface="Times New Roman"/>
                <a:ea typeface="Microsoft YaHei"/>
              </a:rPr>
              <a:t>💡 核心结论：课后实践：请同学们任选一家上市公司（如苹果、特斯拉或农夫山泉），分析其核心产品线的三大弹性属性及当前的定价策略！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