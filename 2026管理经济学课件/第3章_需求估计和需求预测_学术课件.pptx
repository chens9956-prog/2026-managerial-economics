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678484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005840"/>
            <a:ext cx="1645920" cy="438912"/>
          </a:xfrm>
          <a:prstGeom prst="roundRect">
            <a:avLst/>
          </a:prstGeom>
          <a:solidFill>
            <a:srgbClr val="EBF3FA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CH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0584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B3A5C"/>
                </a:solidFill>
                <a:latin typeface="Times New Roman"/>
                <a:ea typeface="Microsoft YaHei"/>
              </a:rPr>
              <a:t>需求估计和需求预测：方法与实战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651760"/>
            <a:ext cx="1828800" cy="45720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889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E86C1"/>
                </a:solidFill>
                <a:latin typeface="Times New Roman"/>
                <a:ea typeface="Microsoft YaHei"/>
              </a:rPr>
              <a:t>从市场调查、统计回归建模到时间序列预测的量化工具体系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474720"/>
            <a:ext cx="10362895" cy="246888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3474720"/>
            <a:ext cx="10362895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703320"/>
            <a:ext cx="978408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 b="0">
                <a:solidFill>
                  <a:srgbClr val="2C2C2C"/>
                </a:solidFill>
                <a:latin typeface="Times New Roman"/>
                <a:ea typeface="Microsoft YaHei"/>
              </a:rPr>
              <a:t>•  需求估计与预测在企业年度经营预算、库存控制与产能规划中的核心地位</a:t>
            </a:r>
          </a:p>
          <a:p>
            <a:r>
              <a:rPr sz="1350" b="0">
                <a:solidFill>
                  <a:srgbClr val="2C2C2C"/>
                </a:solidFill>
                <a:latin typeface="Times New Roman"/>
                <a:ea typeface="Microsoft YaHei"/>
              </a:rPr>
              <a:t>•  市场调查法：问卷访问调查法、专家意见法 (德尔菲法) 与市场实验法（实验室实验 vs 实地试销）</a:t>
            </a:r>
          </a:p>
          <a:p>
            <a:r>
              <a:rPr sz="1350" b="0">
                <a:solidFill>
                  <a:srgbClr val="2C2C2C"/>
                </a:solidFill>
                <a:latin typeface="Times New Roman"/>
                <a:ea typeface="Microsoft YaHei"/>
              </a:rPr>
              <a:t>•  统计回归分析法估计需求：普通最小二乘法 (OLS)、一元与多元线性需求函数拟合与参数经济学解释</a:t>
            </a:r>
          </a:p>
          <a:p>
            <a:r>
              <a:rPr sz="1350" b="0">
                <a:solidFill>
                  <a:srgbClr val="2C2C2C"/>
                </a:solidFill>
                <a:latin typeface="Times New Roman"/>
                <a:ea typeface="Microsoft YaHei"/>
              </a:rPr>
              <a:t>•  回归方程的统计检验三大关卡：判定系数 R²、F 检验与 t 统计量显著性判定及多重共线性识别</a:t>
            </a:r>
          </a:p>
          <a:p>
            <a:r>
              <a:rPr sz="1350" b="0">
                <a:solidFill>
                  <a:srgbClr val="2C2C2C"/>
                </a:solidFill>
                <a:latin typeface="Times New Roman"/>
                <a:ea typeface="Microsoft YaHei"/>
              </a:rPr>
              <a:t>•  需求预测的技术方法：移动平均法、指数平滑法、线性趋势外推法与季节性周期指数调整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3093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《管理经济学（第7版）》核心教学课件系列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5720" cy="680313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C1"/>
                </a:solidFill>
                <a:latin typeface="Times New Roman"/>
                <a:ea typeface="Microsoft YaHei"/>
              </a:rPr>
              <a:t>本章概览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Times New Roman"/>
                <a:ea typeface="Microsoft YaHei"/>
              </a:rPr>
              <a:t>需求估计与预测的方法论逻辑框架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第3章 需求估计和需求预测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265176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265176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508760"/>
            <a:ext cx="594360" cy="36576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6596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市场调查估计 (第1节)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514600"/>
            <a:ext cx="731520" cy="27432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517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直接问卷访问调查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德尔菲专家调查法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实验室控制实验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实地试销市场实验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19272" y="1325880"/>
            <a:ext cx="265176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19272" y="1325880"/>
            <a:ext cx="265176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502152" y="1508760"/>
            <a:ext cx="594360" cy="36576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2152" y="196596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回归分析建模 (第1节)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02152" y="2514600"/>
            <a:ext cx="731520" cy="27432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02152" y="26517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经验需求模型设定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普通最小二乘法 (OLS)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回归参数经济学含义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需求弹性参数提炼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81344" y="1325880"/>
            <a:ext cx="265176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1325880"/>
            <a:ext cx="265176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64224" y="1508760"/>
            <a:ext cx="594360" cy="36576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196596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统计显著性检验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64224" y="2514600"/>
            <a:ext cx="731520" cy="27432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26517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判定系数 R² (拟合优度)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回归系数 t 检验 (显著性)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总体回归 F 检验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排除多重共线性干扰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43416" y="1325880"/>
            <a:ext cx="265176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43416" y="1325880"/>
            <a:ext cx="265176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226296" y="1508760"/>
            <a:ext cx="594360" cy="36576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6296" y="196596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时间序列预测 (第2节)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26296" y="2514600"/>
            <a:ext cx="731520" cy="27432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26296" y="26517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简单/加权移动平均法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指数平滑法 (α平滑系数)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线性趋势外推模型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季节性指数 (SI) 调整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440680"/>
            <a:ext cx="11247120" cy="777240"/>
          </a:xfrm>
          <a:prstGeom prst="rect">
            <a:avLst/>
          </a:prstGeom>
          <a:solidFill>
            <a:srgbClr val="DCED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5321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📌 归纳要义：核心主线：从经验调查走向数据建模；通过统计回归准确识别弹性参数，利用时间序列捕捉未来趋势，消除企业决策盲区。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9448495" cy="4114800"/>
          </a:xfrm>
          <a:prstGeom prst="rect">
            <a:avLst/>
          </a:prstGeom>
          <a:solidFill>
            <a:srgbClr val="F8F9FA"/>
          </a:solidFill>
          <a:ln w="1524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109728" cy="41148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E86C1"/>
                </a:solidFill>
                <a:latin typeface="Times New Roman"/>
                <a:ea typeface="Microsoft YaHei"/>
              </a:rPr>
              <a:t>第 1 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33172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B3A5C"/>
                </a:solidFill>
                <a:latin typeface="Times New Roman"/>
                <a:ea typeface="Microsoft YaHei"/>
              </a:rPr>
              <a:t>需求估计的方法：调查法与回归法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3246120"/>
            <a:ext cx="164592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28800" y="3520440"/>
            <a:ext cx="8503920" cy="1097280"/>
          </a:xfrm>
          <a:prstGeom prst="roundRect">
            <a:avLst/>
          </a:prstGeom>
          <a:solidFill>
            <a:srgbClr val="EBF3FA"/>
          </a:solidFill>
          <a:ln w="1016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3657600"/>
            <a:ext cx="8138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访问调查法 · 市场实验法 · OLS回归原理 · 统计检验三关 · 需求弹性提炼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62179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第3章 需求估计和需求预测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2179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5720" cy="680313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C1"/>
                </a:solidFill>
                <a:latin typeface="Times New Roman"/>
                <a:ea typeface="Microsoft YaHei"/>
              </a:rPr>
              <a:t>第1节 需求估计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Times New Roman"/>
                <a:ea typeface="Microsoft YaHei"/>
              </a:rPr>
              <a:t>市场调查方法：访问调查法与偏差控制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第3章 需求估计和需求预测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530352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5303520" cy="502920"/>
          </a:xfrm>
          <a:prstGeom prst="rect">
            <a:avLst/>
          </a:prstGeom>
          <a:solidFill>
            <a:srgbClr val="EBF3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25880"/>
            <a:ext cx="73152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37160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B3A5C"/>
                </a:solidFill>
                <a:latin typeface="Times New Roman"/>
                <a:ea typeface="Microsoft YaHei"/>
              </a:rPr>
              <a:t>访问调查法 (Consumer Surveys)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96596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1. 实施途径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个人深度面谈、问卷调查、焦点小组 (Focus Groups) 以及电话/网络调研。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2. 主要优势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直接获取消费者对新产品概念、价格承受阈值、包装设计和功能偏好的第一手主观意向。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3. 核心应用场景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新产品研发前期的市场可行性探索、品牌知名度与满意度追踪。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325880"/>
            <a:ext cx="566928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325880"/>
            <a:ext cx="566928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325880"/>
            <a:ext cx="73152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3716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86C1"/>
                </a:solidFill>
                <a:latin typeface="Times New Roman"/>
                <a:ea typeface="Microsoft YaHei"/>
              </a:rPr>
              <a:t>必须警惕并控制的三大主观偏差 (Biases)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96596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1. 假想偏差 (Hypothetical Bias)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受试者口头承诺「愿意以高价购买」的虚拟承诺，与实际需要掏真金白银时的真实行为严重脱节。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2. 样本代表性偏差 (Sample Bias)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抽样样本集中在特定年龄或地域，无法代表全体目标客户群。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3. 引导性与迎合偏差 (Interviewer Bias)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问卷用词带有倾向性诱导，或受访者出于礼貌刻意迎合调查人员说好话。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440680"/>
            <a:ext cx="11247120" cy="777240"/>
          </a:xfrm>
          <a:prstGeom prst="rect">
            <a:avLst/>
          </a:prstGeom>
          <a:solidFill>
            <a:srgbClr val="DCED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5321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💡 核心结论：调查问卷必须保持中立、匿名，并结合隐蔽测试消除受访者的虚假承诺。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5720" cy="680313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C1"/>
                </a:solidFill>
                <a:latin typeface="Times New Roman"/>
                <a:ea typeface="Microsoft YaHei"/>
              </a:rPr>
              <a:t>第1节 需求估计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Times New Roman"/>
                <a:ea typeface="Microsoft YaHei"/>
              </a:rPr>
              <a:t>专家意见法：德尔菲法 (Delphi Method) 流程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第3章 需求估计和需求预测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530352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5303520" cy="502920"/>
          </a:xfrm>
          <a:prstGeom prst="rect">
            <a:avLst/>
          </a:prstGeom>
          <a:solidFill>
            <a:srgbClr val="EBF3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25880"/>
            <a:ext cx="73152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37160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B3A5C"/>
                </a:solidFill>
                <a:latin typeface="Times New Roman"/>
                <a:ea typeface="Microsoft YaHei"/>
              </a:rPr>
              <a:t>德尔菲法的四大核心特征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96596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1. 匿名背靠背咨询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专家之间互不谋面、互不通风，消除权威人士的从众压迫效应。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2. 多轮问卷反馈循环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组织者汇总整理各专家意见并计算中位数与四分位数，反馈给各专家进行多轮背对背修正。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3. 意见收敛趋同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经过 3~4 轮背对背迭代，专家意见逐渐收敛于稳定共识。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325880"/>
            <a:ext cx="566928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325880"/>
            <a:ext cx="566928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325880"/>
            <a:ext cx="73152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3716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86C1"/>
                </a:solidFill>
                <a:latin typeface="Times New Roman"/>
                <a:ea typeface="Microsoft YaHei"/>
              </a:rPr>
              <a:t>适用场景与局限性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96596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1. 颠覆性前沿领域预测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如量子计算、低空经济、商业航天等缺乏历史历史数据的新兴赛道。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2. 长期宏观战略研判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企业未来 5~10 年战略转型与颠覆性技术路线预判。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3. 局限性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主观依赖专家个人认知视野，耗时较长。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440680"/>
            <a:ext cx="11247120" cy="777240"/>
          </a:xfrm>
          <a:prstGeom prst="rect">
            <a:avLst/>
          </a:prstGeom>
          <a:solidFill>
            <a:srgbClr val="DCED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5321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💡 核心结论：德尔菲法将群体智慧的统计收敛性与匿名独立性结合，是前瞻定性预测的金标准。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5720" cy="680313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C1"/>
                </a:solidFill>
                <a:latin typeface="Times New Roman"/>
                <a:ea typeface="Microsoft YaHei"/>
              </a:rPr>
              <a:t>第1节 需求估计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Times New Roman"/>
                <a:ea typeface="Microsoft YaHei"/>
              </a:rPr>
              <a:t>市场实验法 (Market Experiments) 与试销风险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第3章 需求估计和需求预测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530352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5303520" cy="502920"/>
          </a:xfrm>
          <a:prstGeom prst="rect">
            <a:avLst/>
          </a:prstGeom>
          <a:solidFill>
            <a:srgbClr val="EBF3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25880"/>
            <a:ext cx="73152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37160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B3A5C"/>
                </a:solidFill>
                <a:latin typeface="Times New Roman"/>
                <a:ea typeface="Microsoft YaHei"/>
              </a:rPr>
              <a:t>实验室实验法 (Lab Experiments)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96596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1. 操作模式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向受试者发放一定初始现金，让其在模拟货架超市中自由选购不同价格的商品组合，记录真实购买决策。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2. 核心优点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能够严格控制其他无关变量（保持竞品价格、环境不变，只改变目标产品价格）。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3. 局限性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受试者意识到自己处于被观察环境（霍桑效应），可能做出非自然的理性计算。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325880"/>
            <a:ext cx="566928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325880"/>
            <a:ext cx="566928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325880"/>
            <a:ext cx="73152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3716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86C1"/>
                </a:solidFill>
                <a:latin typeface="Times New Roman"/>
                <a:ea typeface="Microsoft YaHei"/>
              </a:rPr>
              <a:t>真实市场实地试销 (Field Experiments)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96596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1. 操作模式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选定两座人口与经济特征高度相似的代表性城市，在一座城市提价 10%，另一座城市降价 10%，观测实际销量变动。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2. 核心优点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数据来源于真实市场交易，外部有效性最高。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3. 核心风险与成本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• 控制无关干扰变量极其困难；
• 试销过程容易向竞争对手泄露企业核心新品与定价战略！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440680"/>
            <a:ext cx="11247120" cy="777240"/>
          </a:xfrm>
          <a:prstGeom prst="rect">
            <a:avLst/>
          </a:prstGeom>
          <a:solidFill>
            <a:srgbClr val="DCED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5321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💡 核心结论：定性访问用于探索概念，实地实验用于小范围试水验证真实价格弹性。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5720" cy="680313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C1"/>
                </a:solidFill>
                <a:latin typeface="Times New Roman"/>
                <a:ea typeface="Microsoft YaHei"/>
              </a:rPr>
              <a:t>第1节 需求估计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Times New Roman"/>
                <a:ea typeface="Microsoft YaHei"/>
              </a:rPr>
              <a:t>统计回归分析法：OLS 最小二乘估计原理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第3章 需求估计和需求预测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7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530352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5303520" cy="502920"/>
          </a:xfrm>
          <a:prstGeom prst="rect">
            <a:avLst/>
          </a:prstGeom>
          <a:solidFill>
            <a:srgbClr val="EBF3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25880"/>
            <a:ext cx="73152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37160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B3A5C"/>
                </a:solidFill>
                <a:latin typeface="Times New Roman"/>
                <a:ea typeface="Microsoft YaHei"/>
              </a:rPr>
              <a:t>多元经验需求函数模型设定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96596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1. 总体回归模型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Q_i = a + b·P_i + c·I_i + d·P_ri + e_i
(式中：P为自身价格，I为消费者收入，P_r为竞品价格，e为随机误差项)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2. 普通最小二乘法 (OLS) 准则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寻找一条最优拟合直线，使所有观测样本点的「实际值 Q_i」与「拟合值 Q̂_i」之间的残差平方和最小：
min ∑ e_i² = min ∑ (Q_i - Q̂_i)²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3. 误差项假设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误差项服从均值为 0、同方差的正态分布，且彼此独立无关。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325880"/>
            <a:ext cx="566928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325880"/>
            <a:ext cx="566928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325880"/>
            <a:ext cx="73152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3716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86C1"/>
                </a:solidFill>
                <a:latin typeface="Times New Roman"/>
                <a:ea typeface="Microsoft YaHei"/>
              </a:rPr>
              <a:t>回归参数的经济学含义与弹性提炼 (公式 3-2)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96596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1. 回归系数的偏导数性质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• b = ∂Q/∂P：在收入和竞品价格不变时，自身价格每变动 1 元引起的销量变动量。
• c = ∂Q/∂I：收入每增加 1 元引起的销量变动量。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2. 从回归方程提炼价格弹性与收入弹性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• 点价格弹性：|εp| = |b| · (P̄ / Q̄)
• 点收入弹性：εI = c · (Ī / Q̄)
(式中：P̄, Ī, Q̄ 分别为样本数据的算术平均值)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3. 实战价值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为管理层提供精确的量化定价与收入敏感度指标。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440680"/>
            <a:ext cx="11247120" cy="777240"/>
          </a:xfrm>
          <a:prstGeom prst="rect">
            <a:avLst/>
          </a:prstGeom>
          <a:solidFill>
            <a:srgbClr val="DCED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5321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💡 核心结论：OLS 回归分析能够将复杂的历史经营数据转化为清晰的定量弹性参数，为科学决策提供硬核支撑。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5720" cy="680313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C1"/>
                </a:solidFill>
                <a:latin typeface="Times New Roman"/>
                <a:ea typeface="Microsoft YaHei"/>
              </a:rPr>
              <a:t>第1节 需求估计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Times New Roman"/>
                <a:ea typeface="Microsoft YaHei"/>
              </a:rPr>
              <a:t>回归方程的统计检验三大关卡 (R², t, F 检验)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第3章 需求估计和需求预测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8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265176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265176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508760"/>
            <a:ext cx="594360" cy="36576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6596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拟合优度检验 (R²)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514600"/>
            <a:ext cx="731520" cy="27432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517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判定系数 R² = 解释平方和 ESS / 总平方和 TSS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介于 0 到 1 之间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说明自变量能解释需求量总波动的百分比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R² &gt; 0.8 表明模型拟合优异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19272" y="1325880"/>
            <a:ext cx="265176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19272" y="1325880"/>
            <a:ext cx="265176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502152" y="1508760"/>
            <a:ext cx="594360" cy="36576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2152" y="196596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系数显著性检验 (t 检验)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02152" y="2514600"/>
            <a:ext cx="731520" cy="27432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02152" y="26517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检验单个变量 (如价格 P) 是否显著有效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原假设 H0: b = 0 (无影响)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t = b / SE(b)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若 |t| &gt; 临界值 (p &lt; 0.05)，拒绝原假设，系数有效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81344" y="1325880"/>
            <a:ext cx="265176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1325880"/>
            <a:ext cx="265176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64224" y="1508760"/>
            <a:ext cx="594360" cy="36576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196596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方程总体显著性 (F 检验)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64224" y="2514600"/>
            <a:ext cx="731520" cy="27432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26517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检验所有自变量联合对因变量的总体解释力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原假设：所有自变量系数全为 0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若 F 统计量通过检验，表明模型总体构建成功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43416" y="1325880"/>
            <a:ext cx="265176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43416" y="1325880"/>
            <a:ext cx="265176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226296" y="1508760"/>
            <a:ext cx="594360" cy="36576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6296" y="196596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多重共线性诊断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26296" y="2514600"/>
            <a:ext cx="731520" cy="27432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26296" y="26517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当收入 I 与广告费 A 高度相关时产生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症状：R² 很高但各变量 t 检验均不显著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克服：剔除冗余变量或采用差分回归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440680"/>
            <a:ext cx="11247120" cy="777240"/>
          </a:xfrm>
          <a:prstGeom prst="rect">
            <a:avLst/>
          </a:prstGeom>
          <a:solidFill>
            <a:srgbClr val="DCED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5321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📌 归纳要义：严谨的统计检验是保证回归方程具备实际预测能力的质量把关锁。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5720" cy="680313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C1"/>
                </a:solidFill>
                <a:latin typeface="Times New Roman"/>
                <a:ea typeface="Microsoft YaHei"/>
              </a:rPr>
              <a:t>第1节 需求估计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Times New Roman"/>
                <a:ea typeface="Microsoft YaHei"/>
              </a:rPr>
              <a:t>回归分析综合算例解析 (例 3-1)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第3章 需求估计和需求预测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9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530352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5303520" cy="502920"/>
          </a:xfrm>
          <a:prstGeom prst="rect">
            <a:avLst/>
          </a:prstGeom>
          <a:solidFill>
            <a:srgbClr val="EBF3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25880"/>
            <a:ext cx="73152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37160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B3A5C"/>
                </a:solidFill>
                <a:latin typeface="Times New Roman"/>
                <a:ea typeface="Microsoft YaHei"/>
              </a:rPr>
              <a:t>某家电企业多元需求回归估计结果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96596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1. 拟合回归方程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Q = 1200 - 15.0·P + 0.08·I + 5.0·P_r
(t值: 自身P为 -4.20, 收入I为 3.50, 竞品P_r为 2.80; R² = 0.88, F = 45.6)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2. 统计检验评判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• R² = 0.88 说明模型解释了 88% 的市场需求变动，拟合极佳。
• 三个自变量的 |t| 值均显著大于 2.0，全部通过 5% 显著性检验！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325880"/>
            <a:ext cx="566928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325880"/>
            <a:ext cx="566928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325880"/>
            <a:ext cx="73152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3716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86C1"/>
                </a:solidFill>
                <a:latin typeface="Times New Roman"/>
                <a:ea typeface="Microsoft YaHei"/>
              </a:rPr>
              <a:t>管理经济学参数提炼与应用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96596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1. 基准点数据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设当期均价 P = 40元, 人均收入 I = 30000元, 竞品价格 P_r = 50元。
代入得基准需求量 Q = 1200 - 600 + 2400 + 250 = 3250 件。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2. 价格弹性测算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|εp| = 15.0 × (40 / 3250) = 0.185 (|εp| &lt; 1 非弹性需求！)。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3. 战略决策建议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由于产品处于非弹性需求区间 (|εp| = 0.185)，企业绝不能降价打价格战，适当提价能够大幅增加总销售收入！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440680"/>
            <a:ext cx="11247120" cy="777240"/>
          </a:xfrm>
          <a:prstGeom prst="rect">
            <a:avLst/>
          </a:prstGeom>
          <a:solidFill>
            <a:srgbClr val="DCED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5321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💡 核心结论：回归模型不仅给出了预测数值，更直接为企业提供了最优定价策略的行动指南！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9448495" cy="4114800"/>
          </a:xfrm>
          <a:prstGeom prst="rect">
            <a:avLst/>
          </a:prstGeom>
          <a:solidFill>
            <a:srgbClr val="F8F9FA"/>
          </a:solidFill>
          <a:ln w="1524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109728" cy="41148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E86C1"/>
                </a:solidFill>
                <a:latin typeface="Times New Roman"/>
                <a:ea typeface="Microsoft YaHei"/>
              </a:rPr>
              <a:t>第 2 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33172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B3A5C"/>
                </a:solidFill>
                <a:latin typeface="Times New Roman"/>
                <a:ea typeface="Microsoft YaHei"/>
              </a:rPr>
              <a:t>需求预测的方法体系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3246120"/>
            <a:ext cx="164592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28800" y="3520440"/>
            <a:ext cx="8503920" cy="1097280"/>
          </a:xfrm>
          <a:prstGeom prst="roundRect">
            <a:avLst/>
          </a:prstGeom>
          <a:solidFill>
            <a:srgbClr val="EBF3FA"/>
          </a:solidFill>
          <a:ln w="1016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3657600"/>
            <a:ext cx="8138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时间序列平滑 · 移动平均法 · 指数平滑法 · 趋势外推法 · 季节指数调整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62179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第3章 需求估计和需求预测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2179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5720" cy="680313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C1"/>
                </a:solidFill>
                <a:latin typeface="Times New Roman"/>
                <a:ea typeface="Microsoft YaHei"/>
              </a:rPr>
              <a:t>第2节 需求预测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Times New Roman"/>
                <a:ea typeface="Microsoft YaHei"/>
              </a:rPr>
              <a:t>时间序列分析：移动平均法 (Moving Average)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第3章 需求估计和需求预测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11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530352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5303520" cy="502920"/>
          </a:xfrm>
          <a:prstGeom prst="rect">
            <a:avLst/>
          </a:prstGeom>
          <a:solidFill>
            <a:srgbClr val="EBF3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25880"/>
            <a:ext cx="73152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37160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B3A5C"/>
                </a:solidFill>
                <a:latin typeface="Times New Roman"/>
                <a:ea typeface="Microsoft YaHei"/>
              </a:rPr>
              <a:t>简单移动平均法 (Simple Moving Average)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96596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1. 预测公式 (公式 3-3)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F_(t+1) = (A_t + A_(t-1) + ... + A_(t-n+1)) / n
用过去 n 期历史实际销售量的算术平均值，作为下一期的预测值。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2. 移动期数 n 的选择权衡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• n 较大（如 n=12）：平滑滤波效果强，能有效滤除偶发随机噪音，但对最新突变反应迟钝。
• n 较小（如 n=3）：对近期最新动向反应灵敏，但易受异常值干扰。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325880"/>
            <a:ext cx="566928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325880"/>
            <a:ext cx="566928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325880"/>
            <a:ext cx="73152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3716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86C1"/>
                </a:solidFill>
                <a:latin typeface="Times New Roman"/>
                <a:ea typeface="Microsoft YaHei"/>
              </a:rPr>
              <a:t>加权移动平均法 (Weighted Moving Average)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96596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1. 预测公式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F_(t+1) = w1·A_t + w2·A_(t-1) + ... + wn·A_(t-n+1)
(权重满足 w1 + w2 + ... + wn = 1.0，且 w1 &gt; w2 &gt; ... &gt; wn)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2. 优势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赋予越接近当期的数据越大的权重，更能体现近期市场趋势的延续性。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3. 核心局限性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当历史数据存在明显的持续上升或下降趋势时，移动平均预测值会产生系统性滞后偏差。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440680"/>
            <a:ext cx="11247120" cy="777240"/>
          </a:xfrm>
          <a:prstGeom prst="rect">
            <a:avLst/>
          </a:prstGeom>
          <a:solidFill>
            <a:srgbClr val="DCED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5321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💡 核心结论：移动平均法适用于需求平稳、无明显长期趋势与季节波动的日常快消品短期备货预测。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5720" cy="680313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C1"/>
                </a:solidFill>
                <a:latin typeface="Times New Roman"/>
                <a:ea typeface="Microsoft YaHei"/>
              </a:rPr>
              <a:t>第2节 需求预测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Times New Roman"/>
                <a:ea typeface="Microsoft YaHei"/>
              </a:rPr>
              <a:t>移动平均预测算例与滞后偏差解析 (例 3-2)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第3章 需求估计和需求预测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530352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5303520" cy="502920"/>
          </a:xfrm>
          <a:prstGeom prst="rect">
            <a:avLst/>
          </a:prstGeom>
          <a:solidFill>
            <a:srgbClr val="EBF3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25880"/>
            <a:ext cx="73152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37160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B3A5C"/>
                </a:solidFill>
                <a:latin typeface="Times New Roman"/>
                <a:ea typeface="Microsoft YaHei"/>
              </a:rPr>
              <a:t>算例数据与测算 (n=3 简单移动平均)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96596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1. 历史 4 个月实际销量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1月 100件, 2月 120件, 3月 110件, 4月 150件。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2. 5月份预测值测算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F_5 = (A_4 + A_3 + A_2) / 3 = (150 + 110 + 120) / 3 = 380 / 3 ≈ 126.7 件。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3. 加权移动平均 (w1=0.5, w2=0.3, w3=0.2)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F_5' = 0.5(150) + 0.3(110) + 0.2(120) = 75 + 33 + 24 = 132.0 件！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325880"/>
            <a:ext cx="566928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325880"/>
            <a:ext cx="566928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325880"/>
            <a:ext cx="73152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3716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86C1"/>
                </a:solidFill>
                <a:latin typeface="Times New Roman"/>
                <a:ea typeface="Microsoft YaHei"/>
              </a:rPr>
              <a:t>加权系数设定的管理逻辑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96596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1. 提高最新市场信息的敏感度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4月份销量激增至 150 件，加权法赋予其 50% 权重，使预测值 (132件) 显著高于简单移动平均 (126.7件)。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2. 适用建议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当企业处于促销活动期或新品推广期时，加权移动平均优于简单移动平均。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440680"/>
            <a:ext cx="11247120" cy="777240"/>
          </a:xfrm>
          <a:prstGeom prst="rect">
            <a:avLst/>
          </a:prstGeom>
          <a:solidFill>
            <a:srgbClr val="DCED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5321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💡 核心结论：加权系数的科学配置能够有效缓解传统移动平均的严重滞后缺陷。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5720" cy="680313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C1"/>
                </a:solidFill>
                <a:latin typeface="Times New Roman"/>
                <a:ea typeface="Microsoft YaHei"/>
              </a:rPr>
              <a:t>第2节 需求预测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Times New Roman"/>
                <a:ea typeface="Microsoft YaHei"/>
              </a:rPr>
              <a:t>指数平滑法 (Exponential Smoothing) 与动态修正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第3章 需求估计和需求预测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13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530352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5303520" cy="502920"/>
          </a:xfrm>
          <a:prstGeom prst="rect">
            <a:avLst/>
          </a:prstGeom>
          <a:solidFill>
            <a:srgbClr val="EBF3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25880"/>
            <a:ext cx="73152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37160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B3A5C"/>
                </a:solidFill>
                <a:latin typeface="Times New Roman"/>
                <a:ea typeface="Microsoft YaHei"/>
              </a:rPr>
              <a:t>单重指数平滑法数学模型 (公式 3-4)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96596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1. 预测基本公式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F_(t+1) = α·A_t + (1 - α)·F_t = F_t + α·(A_t - F_t)
(式中：A_t 为当期实际值，F_t 为当期预测值，α 为平滑常数 0 &lt; α &lt; 1)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2. 误差反馈修正机制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新预测值 = 原预测值 + α × (当期实际误差)。企业根据当期预测失误的大小自动进行动态补偿！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325880"/>
            <a:ext cx="566928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325880"/>
            <a:ext cx="566928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325880"/>
            <a:ext cx="73152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3716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86C1"/>
                </a:solidFill>
                <a:latin typeface="Times New Roman"/>
                <a:ea typeface="Microsoft YaHei"/>
              </a:rPr>
              <a:t>平滑常数 α 的选择策略与算例 (例 3-3)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96596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1. 平滑系数 α 的选择原则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• 需求平稳波动小：选较小 α (0.1 ~ 0.3)，增强历史稳定性；
• 需求处于剧烈转型期：选较大 α (0.6 ~ 0.8)，快速跟踪最新变化。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2. 算例解析 (例 3-3)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已知某月预测销量 F_t = 1000 件，实际发生 A_t = 1100 件，取 α = 0.3：
👉 下月预测 F_(t+1) = 1000 + 0.3 × (1100 - 1000) = 1000 + 30 = 1030 件。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440680"/>
            <a:ext cx="11247120" cy="777240"/>
          </a:xfrm>
          <a:prstGeom prst="rect">
            <a:avLst/>
          </a:prstGeom>
          <a:solidFill>
            <a:srgbClr val="DCED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5321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💡 核心结论：指数平滑法仅需保留上期预测值与当期实际值，存储开销极小且自适应调整。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5720" cy="680313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C1"/>
                </a:solidFill>
                <a:latin typeface="Times New Roman"/>
                <a:ea typeface="Microsoft YaHei"/>
              </a:rPr>
              <a:t>第2节 需求预测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Times New Roman"/>
                <a:ea typeface="Microsoft YaHei"/>
              </a:rPr>
              <a:t>预测准确度评价指标 (MAD, MSE, MAPE)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第3章 需求估计和需求预测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14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265176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265176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508760"/>
            <a:ext cx="594360" cy="36576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6596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平均绝对偏差 (MAD)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514600"/>
            <a:ext cx="731520" cy="27432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517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MAD = ∑ |实际值 - 预测值| / n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衡量预测误差的绝对平均大小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直观反映平均预测偏离度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19272" y="1325880"/>
            <a:ext cx="265176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19272" y="1325880"/>
            <a:ext cx="265176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502152" y="1508760"/>
            <a:ext cx="594360" cy="36576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2152" y="196596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均方误差 (MSE)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02152" y="2514600"/>
            <a:ext cx="731520" cy="27432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02152" y="26517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MSE = ∑ (实际值 - 预测值)² / n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对大误差施加极大平方惩罚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特别适用于极力防范重大断货的企业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81344" y="1325880"/>
            <a:ext cx="265176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1325880"/>
            <a:ext cx="265176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64224" y="1508760"/>
            <a:ext cx="594360" cy="36576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196596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平均绝对百分比误差 (MAPE)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64224" y="2514600"/>
            <a:ext cx="731520" cy="27432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26517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MAPE = ∑ |(实际-预测)/实际| / n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消除量纲影响，跨产品线对比预测质量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MAPE &lt; 10% 表明预测高度精准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43416" y="1325880"/>
            <a:ext cx="265176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43416" y="1325880"/>
            <a:ext cx="265176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226296" y="1508760"/>
            <a:ext cx="594360" cy="36576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6296" y="196596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跟踪信号 (Tracking Signal)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26296" y="2514600"/>
            <a:ext cx="731520" cy="27432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26296" y="26517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TS = 累计误差 / MAD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监测预测模型是否存在系统性高估或低估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若 |TS| &gt; 4 必须触发模型重校准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440680"/>
            <a:ext cx="11247120" cy="777240"/>
          </a:xfrm>
          <a:prstGeom prst="rect">
            <a:avLst/>
          </a:prstGeom>
          <a:solidFill>
            <a:srgbClr val="DCED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5321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📌 归纳要义：建立量化误差追踪体系，是实现企业需求预测模型自适应演进的算法保障。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5720" cy="680313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C1"/>
                </a:solidFill>
                <a:latin typeface="Times New Roman"/>
                <a:ea typeface="Microsoft YaHei"/>
              </a:rPr>
              <a:t>第2节 需求预测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Times New Roman"/>
                <a:ea typeface="Microsoft YaHei"/>
              </a:rPr>
              <a:t>线性趋势外推法与时间变量模型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第3章 需求估计和需求预测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15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530352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5303520" cy="502920"/>
          </a:xfrm>
          <a:prstGeom prst="rect">
            <a:avLst/>
          </a:prstGeom>
          <a:solidFill>
            <a:srgbClr val="EBF3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25880"/>
            <a:ext cx="73152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37160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B3A5C"/>
                </a:solidFill>
                <a:latin typeface="Times New Roman"/>
                <a:ea typeface="Microsoft YaHei"/>
              </a:rPr>
              <a:t>长期线性趋势外推模型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96596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1. 模型方程式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Y_t = a + b·t
(式中：t 为时间序列序号 t=1, 2, 3...，a 为截距，b 为每期平均增长趋势量)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2. 参数求解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运用最小二乘法 OLS 拟合时间 t 与销售量 Y_t 之间的历史序列数据，直接解出 a 和 b。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3. 适用范围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适用于处于持续稳步成长期或成熟期的行业中长期年度规划。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325880"/>
            <a:ext cx="566928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325880"/>
            <a:ext cx="566928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325880"/>
            <a:ext cx="73152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3716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86C1"/>
                </a:solidFill>
                <a:latin typeface="Times New Roman"/>
                <a:ea typeface="Microsoft YaHei"/>
              </a:rPr>
              <a:t>局限性与拐点识别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96596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1. 忽视生命周期拐点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线性外推假设未来无限线性增长，容易忽略产品进入成熟饱和期后的 S 型曲线减速拐点。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2. 外部冲击脆弱性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无法预测突发性政策调控、技术颠覆与宏观危机带来的结构性断崖。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3. 改进建议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结合定性专家判断与多情境情景分析法 (Scenario Planning) 进行动态校准。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440680"/>
            <a:ext cx="11247120" cy="777240"/>
          </a:xfrm>
          <a:prstGeom prst="rect">
            <a:avLst/>
          </a:prstGeom>
          <a:solidFill>
            <a:srgbClr val="DCED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5321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💡 核心结论：趋势外推法描绘了企业发展的基本底色；但在关键战略转折期必须保持对拐点的极度敏锐。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5720" cy="680313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C1"/>
                </a:solidFill>
                <a:latin typeface="Times New Roman"/>
                <a:ea typeface="Microsoft YaHei"/>
              </a:rPr>
              <a:t>第2节 需求预测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Times New Roman"/>
                <a:ea typeface="Microsoft YaHei"/>
              </a:rPr>
              <a:t>季节性周期波动与季节指数调整 (例 3-4)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第3章 需求估计和需求预测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16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530352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5303520" cy="502920"/>
          </a:xfrm>
          <a:prstGeom prst="rect">
            <a:avLst/>
          </a:prstGeom>
          <a:solidFill>
            <a:srgbClr val="EBF3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25880"/>
            <a:ext cx="73152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37160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B3A5C"/>
                </a:solidFill>
                <a:latin typeface="Times New Roman"/>
                <a:ea typeface="Microsoft YaHei"/>
              </a:rPr>
              <a:t>季节性指数法 (Seasonal Index Method)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96596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1. 适用行业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服装换季、冷饮空调、冰雪旅游、节假日消费等呈现显著季度/月度周期波动的行业。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2. 季节指数计算公式 (公式 3-6)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SI_i = (历年第 i 季度平均实际销量) / (全年月度或季度总平均销量)
• SI &gt; 1.0 表明该季度处于旺季；
• SI &lt; 1.0 表明该季度处于淡季。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325880"/>
            <a:ext cx="566928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325880"/>
            <a:ext cx="566928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325880"/>
            <a:ext cx="73152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3716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86C1"/>
                </a:solidFill>
                <a:latin typeface="Times New Roman"/>
                <a:ea typeface="Microsoft YaHei"/>
              </a:rPr>
              <a:t>结合趋势外推的综合预测四步法 (例 3-4)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96596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1. 第一步：消除季节因素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计算剔除季节波动的移动平均值，拟合长期线性趋势方程 Y_t = a + b·t。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2. 第二步：预测下年度无季节趋势值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将未来期数 t 代入趋势方程计算趋势预测值 Ŷ_t。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3. 第三步：乘上季节指数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最终季度预测值 = 趋势预测值 Ŷ_t × 对应季度指数 SI_i。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4. 成果价值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精准制定分季度生产排程、淡季设备检修计划与旺季前置备料。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440680"/>
            <a:ext cx="11247120" cy="777240"/>
          </a:xfrm>
          <a:prstGeom prst="rect">
            <a:avLst/>
          </a:prstGeom>
          <a:solidFill>
            <a:srgbClr val="DCED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5321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💡 核心结论：「长期趋势 × 季节指数」是预测具有周期性波动行业未来需求最经典可靠的组合拳。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5720" cy="680313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C1"/>
                </a:solidFill>
                <a:latin typeface="Times New Roman"/>
                <a:ea typeface="Microsoft YaHei"/>
              </a:rPr>
              <a:t>第2节 需求预测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Times New Roman"/>
                <a:ea typeface="Microsoft YaHei"/>
              </a:rPr>
              <a:t>前沿智能预测：大数据与先行景气指标模型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第3章 需求估计和需求预测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17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530352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5303520" cy="502920"/>
          </a:xfrm>
          <a:prstGeom prst="rect">
            <a:avLst/>
          </a:prstGeom>
          <a:solidFill>
            <a:srgbClr val="EBF3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25880"/>
            <a:ext cx="73152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37160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B3A5C"/>
                </a:solidFill>
                <a:latin typeface="Times New Roman"/>
                <a:ea typeface="Microsoft YaHei"/>
              </a:rPr>
              <a:t>传统预测 vs 现代大数据智能预测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96596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1. 数据源维度的升维突破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• 传统方法：仅依赖企业内部历史单一维度的销售台账数据。
• 大数据预测：实时融合全网搜索引擎热度、电商加入购物车意愿、社媒情感指数与实时卫星气象数据。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2. 预测时效的秒级跃升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从月度/季度静态预测，进化为分钟级的动态滚动预测 (Nowcasting)。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325880"/>
            <a:ext cx="566928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325880"/>
            <a:ext cx="566928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325880"/>
            <a:ext cx="73152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3716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86C1"/>
                </a:solidFill>
                <a:latin typeface="Times New Roman"/>
                <a:ea typeface="Microsoft YaHei"/>
              </a:rPr>
              <a:t>宏观景气指标先行预测体系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96596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1. 先行指标 (Leading Indicators)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新开工房屋面积、制造业采购经理指数 (PMI)、广义货币供应量 M2，提前 3~6 个月预示行业繁荣或萧条。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2. 一致指标与滞后指标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工业增加值、失业率、库存总额，用于验证当前景气周期与复核规划偏差。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440680"/>
            <a:ext cx="11247120" cy="777240"/>
          </a:xfrm>
          <a:prstGeom prst="rect">
            <a:avLst/>
          </a:prstGeom>
          <a:solidFill>
            <a:srgbClr val="DCED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5321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💡 核心结论：大数据与先行指标体系极大拓展了企业的战略感知雷达，构筑了先发决策护城河。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5720" cy="680313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C1"/>
                </a:solidFill>
                <a:latin typeface="Times New Roman"/>
                <a:ea typeface="Microsoft YaHei"/>
              </a:rPr>
              <a:t>案例研讨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Times New Roman"/>
                <a:ea typeface="Microsoft YaHei"/>
              </a:rPr>
              <a:t>案例 3-1：某跨国连锁零售巨头的智能需求预测系统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第3章 需求估计和需求预测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18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11247120" cy="457200"/>
          </a:xfrm>
          <a:prstGeom prst="rect">
            <a:avLst/>
          </a:prstGeom>
          <a:solidFill>
            <a:srgbClr val="EBF3FA"/>
          </a:solidFill>
          <a:ln w="1524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91440" cy="457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35331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50" b="1">
                <a:solidFill>
                  <a:srgbClr val="1B3A5C"/>
                </a:solidFill>
                <a:latin typeface="Times New Roman"/>
                <a:ea typeface="Microsoft YaHei"/>
              </a:rPr>
              <a:t>📖 案例研讨：沃尔玛利用大数据与气象模型预测飓风前夕需求爆发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920240"/>
            <a:ext cx="2674620" cy="3291840"/>
          </a:xfrm>
          <a:prstGeom prst="rect">
            <a:avLst/>
          </a:prstGeom>
          <a:solidFill>
            <a:srgbClr val="FEFCF6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920240"/>
            <a:ext cx="2674620" cy="411480"/>
          </a:xfrm>
          <a:prstGeom prst="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965960"/>
            <a:ext cx="24917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传统预测困境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423160"/>
            <a:ext cx="240030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过去仅凭店长主观经验备货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飓风来临前手电筒与纯净水频频断货，造成巨额销售损失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14700" y="1920240"/>
            <a:ext cx="2674620" cy="3291840"/>
          </a:xfrm>
          <a:prstGeom prst="rect">
            <a:avLst/>
          </a:prstGeom>
          <a:solidFill>
            <a:srgbClr val="FEFCF6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14700" y="1920240"/>
            <a:ext cx="2674620" cy="411480"/>
          </a:xfrm>
          <a:prstGeom prst="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06140" y="1965960"/>
            <a:ext cx="24917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数据挖掘洞察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51860" y="2423160"/>
            <a:ext cx="240030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分析历史飓风时期数十亿条交易收银条数据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意外发现：飓风来临前除了手电筒，蛋挞 (Pop-Tarts) 销量暴增 7 倍，啤酒销量激增 5 倍！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1920240"/>
            <a:ext cx="2674620" cy="3291840"/>
          </a:xfrm>
          <a:prstGeom prst="rect">
            <a:avLst/>
          </a:prstGeom>
          <a:solidFill>
            <a:srgbClr val="FEFCF6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1920240"/>
            <a:ext cx="2674620" cy="411480"/>
          </a:xfrm>
          <a:prstGeom prst="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1965960"/>
            <a:ext cx="24917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预测模型集成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423160"/>
            <a:ext cx="240030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将国家气象局飓风路径预警数据与供应链 ERP 实时打通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提前 48 小时自动向飓风路径沿线门店调拨卡车急送蛋挞与啤酒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29700" y="1920240"/>
            <a:ext cx="2674620" cy="3291840"/>
          </a:xfrm>
          <a:prstGeom prst="rect">
            <a:avLst/>
          </a:prstGeom>
          <a:solidFill>
            <a:srgbClr val="FEFCF6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29700" y="1920240"/>
            <a:ext cx="2674620" cy="411480"/>
          </a:xfrm>
          <a:prstGeom prst="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21140" y="1965960"/>
            <a:ext cx="24917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商业与社会双赢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6860" y="2423160"/>
            <a:ext cx="240030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门店商品全部售罄零断货，销售额暴增 300%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保障灾区居民应急物资供给，极大提升品牌美誉度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349240"/>
            <a:ext cx="11247120" cy="914400"/>
          </a:xfrm>
          <a:prstGeom prst="rect">
            <a:avLst/>
          </a:prstGeom>
          <a:solidFill>
            <a:srgbClr val="DCEDF8"/>
          </a:solidFill>
          <a:ln w="1524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413248"/>
            <a:ext cx="1088136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🎯 管理经济学启示与决策启示：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现代需求预测已经从单纯的历史数据外推，进化为融合天气、搜索指数与实时大数据的多源前瞻智能预警系统。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5720" cy="680313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C1"/>
                </a:solidFill>
                <a:latin typeface="Times New Roman"/>
                <a:ea typeface="Microsoft YaHei"/>
              </a:rPr>
              <a:t>本章小结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Times New Roman"/>
                <a:ea typeface="Microsoft YaHei"/>
              </a:rPr>
              <a:t>第3章 需求估计与预测核心体系复盘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第3章 需求估计和需求预测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19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265176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265176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508760"/>
            <a:ext cx="594360" cy="36576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6596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调查方法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514600"/>
            <a:ext cx="731520" cy="27432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517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定性访问探索动机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实验试销验证行为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警惕假想与样本偏差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获取一手原始数据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19272" y="1325880"/>
            <a:ext cx="265176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19272" y="1325880"/>
            <a:ext cx="265176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502152" y="1508760"/>
            <a:ext cx="594360" cy="36576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2152" y="196596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回归建模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02152" y="2514600"/>
            <a:ext cx="731520" cy="27432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02152" y="26517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OLS 最小二乘求解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分离各自变量影响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从回归系数计算弹性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定量支持战略定价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81344" y="1325880"/>
            <a:ext cx="265176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1325880"/>
            <a:ext cx="265176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64224" y="1508760"/>
            <a:ext cx="594360" cy="36576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196596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统计检验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64224" y="2514600"/>
            <a:ext cx="731520" cy="27432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26517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判定系数 R² 看拟合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t 统计量看显著性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排除多重共线性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残差白噪声检验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43416" y="1325880"/>
            <a:ext cx="265176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43416" y="1325880"/>
            <a:ext cx="265176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226296" y="1508760"/>
            <a:ext cx="594360" cy="36576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6296" y="196596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时序预测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26296" y="2514600"/>
            <a:ext cx="731520" cy="27432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26296" y="26517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移动平均平滑噪点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指数平滑动态修正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趋势外推捕捉方向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季节因子周期调整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440680"/>
            <a:ext cx="11247120" cy="777240"/>
          </a:xfrm>
          <a:prstGeom prst="rect">
            <a:avLst/>
          </a:prstGeom>
          <a:solidFill>
            <a:srgbClr val="DCED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5321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📌 归纳要义：定性调查与定量回归相辅相成；企业应当建立「数据采集 → 模型拟合 → 统计检验 → 滚动预测」的闭环需求分析体系。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5720" cy="680313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C1"/>
                </a:solidFill>
                <a:latin typeface="Times New Roman"/>
                <a:ea typeface="Microsoft YaHei"/>
              </a:rPr>
              <a:t>复习与研讨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Times New Roman"/>
                <a:ea typeface="Microsoft YaHei"/>
              </a:rPr>
              <a:t>第3章 经典复习思考与考研/实战挑战题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第3章 需求估计和需求预测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20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530352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5303520" cy="502920"/>
          </a:xfrm>
          <a:prstGeom prst="rect">
            <a:avLst/>
          </a:prstGeom>
          <a:solidFill>
            <a:srgbClr val="EBF3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25880"/>
            <a:ext cx="73152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37160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B3A5C"/>
                </a:solidFill>
                <a:latin typeface="Times New Roman"/>
                <a:ea typeface="Microsoft YaHei"/>
              </a:rPr>
              <a:t>深度理论辨析题 (Seminar Questions)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96596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1. 为什么市场调查中「消费者的口头意向」往往与「实际购买行为」存在巨大偏差？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👉 答：消费者在无须立即支付真实货币时存在假想偏差，往往夸大自身购买意愿；且受访时易受迎合心理与社会赞许偏误影响。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2. 回归模型中如果判定系数 R² = 0.95，是否一定意味着该模型预测精度极高？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👉 答：不一定。若存在多重共线性或时间序列伪回归（自相关），R² 会虚高；必须结合 t 检验、F 检验与残差白噪声检验综合评判。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3. 指数平滑法中平滑常数 α 取 0.1 和取 0.8 各自适用于什么市场环境？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👉 答：α = 0.1 赋予历史预测更大权重，适用于需求平稳的市场；α = 0.8 赋予当期实际值极高权重，适用于市场发生结构性剧烈转型的时期。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325880"/>
            <a:ext cx="566928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325880"/>
            <a:ext cx="566928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325880"/>
            <a:ext cx="73152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3716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86C1"/>
                </a:solidFill>
                <a:latin typeface="Times New Roman"/>
                <a:ea typeface="Microsoft YaHei"/>
              </a:rPr>
              <a:t>计算与实战应用挑战 (Applied Calculation)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96596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1. 线性回归需求预测 (例 3-4)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某企业需求回归方程为 Q = 800 - 4P + 0.02I。预测下期价格 P = 50 元，人均收入 I = 35000 元：
👉 预测需求量 Q̂ = 800 - (4×50) + (0.02×35000) = 800 - 200 + 700 = 1300 件。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2. 指数平滑滚动预测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已知某产品 1 月预测 500 件，实际 520 件；2 月实际 540 件。取 α = 0.4：
👉 2 月预测 F2 = 500 + 0.4×(520 - 500) = 508 件。
👉 3 月预测 F3 = 508 + 0.4×(540 - 508) = 508 + 12.8 = 521 件。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3. 季节指数调整测算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某企业第 3 季度剔除季节性的趋势预测值为 2000 件，第 3 季度季节指数 SI3 = 1.35：
👉 调整后的实际预测需求量 = 2000 × 1.35 = 2700 件！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440680"/>
            <a:ext cx="11247120" cy="777240"/>
          </a:xfrm>
          <a:prstGeom prst="rect">
            <a:avLst/>
          </a:prstGeom>
          <a:solidFill>
            <a:srgbClr val="DCED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5321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💡 核心结论：课后实践：请收集某上市公司过去 5 年的季度销售收入数据，运用 Excel 回归与季节指数法预测下一年度各季度的收入！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