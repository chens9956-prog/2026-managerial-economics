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678484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005840"/>
            <a:ext cx="1645920" cy="438912"/>
          </a:xfrm>
          <a:prstGeom prst="roundRect">
            <a:avLst/>
          </a:prstGeom>
          <a:solidFill>
            <a:srgbClr val="EBF3FA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B3A5C"/>
                </a:solidFill>
                <a:latin typeface="Times New Roman"/>
                <a:ea typeface="Microsoft YaHei"/>
              </a:rPr>
              <a:t>CH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0584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B3A5C"/>
                </a:solidFill>
                <a:latin typeface="Times New Roman"/>
                <a:ea typeface="Microsoft YaHei"/>
              </a:rPr>
              <a:t>政府的经济作用：市场失灵与微观经济规制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651760"/>
            <a:ext cx="1828800" cy="45720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889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E86C1"/>
                </a:solidFill>
                <a:latin typeface="Times New Roman"/>
                <a:ea typeface="Microsoft YaHei"/>
              </a:rPr>
              <a:t>外部性、公共产品、信息不对称、反垄断法与政府管制政策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474720"/>
            <a:ext cx="10362895" cy="246888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3474720"/>
            <a:ext cx="10362895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703320"/>
            <a:ext cx="978408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 b="0">
                <a:solidFill>
                  <a:srgbClr val="2C2C2C"/>
                </a:solidFill>
                <a:latin typeface="Times New Roman"/>
                <a:ea typeface="Microsoft YaHei"/>
              </a:rPr>
              <a:t>•  社会主义市场经济条件下政府与市场的边界：市场起决定性作用与政府宏观调控</a:t>
            </a:r>
          </a:p>
          <a:p>
            <a:r>
              <a:rPr sz="1350" b="0">
                <a:solidFill>
                  <a:srgbClr val="2C2C2C"/>
                </a:solidFill>
                <a:latin typeface="Times New Roman"/>
                <a:ea typeface="Microsoft YaHei"/>
              </a:rPr>
              <a:t>•  市场失灵 (Market Failure) 的四大核心表现：市场势力（垄断）、外部性、公共产品与信息不对称</a:t>
            </a:r>
          </a:p>
          <a:p>
            <a:r>
              <a:rPr sz="1350" b="0">
                <a:solidFill>
                  <a:srgbClr val="2C2C2C"/>
                </a:solidFill>
                <a:latin typeface="Times New Roman"/>
                <a:ea typeface="Microsoft YaHei"/>
              </a:rPr>
              <a:t>•  外部性及其微观治理政策：负外部性（污染）与正外部性、庇古税/补贴、科斯定理 (Coase Theorem) 与排污权交易</a:t>
            </a:r>
          </a:p>
          <a:p>
            <a:r>
              <a:rPr sz="1350" b="0">
                <a:solidFill>
                  <a:srgbClr val="2C2C2C"/>
                </a:solidFill>
                <a:latin typeface="Times New Roman"/>
                <a:ea typeface="Microsoft YaHei"/>
              </a:rPr>
              <a:t>•  公共产品 (Public Goods) 的非排他性与非竞争性、搭便车问题 (Free-Rider Problem) 与政府供给</a:t>
            </a:r>
          </a:p>
          <a:p>
            <a:r>
              <a:rPr sz="1350" b="0">
                <a:solidFill>
                  <a:srgbClr val="2C2C2C"/>
                </a:solidFill>
                <a:latin typeface="Times New Roman"/>
                <a:ea typeface="Microsoft YaHei"/>
              </a:rPr>
              <a:t>•  政府对垄断的规制与反垄断：自然垄断的价格规制（边际成本定价 vs 平均成本定价）、RPI-X 价格上限与反垄断执法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3093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《管理经济学（第7版）》核心教学课件系列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45720" cy="680313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86C1"/>
                </a:solidFill>
                <a:latin typeface="Times New Roman"/>
                <a:ea typeface="Microsoft YaHei"/>
              </a:rPr>
              <a:t>本章概览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Times New Roman"/>
                <a:ea typeface="Microsoft YaHei"/>
              </a:rPr>
              <a:t>政府经济作用与规制方法论框架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第10章 政府的经济作用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265176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265176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508760"/>
            <a:ext cx="594360" cy="36576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6596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Times New Roman"/>
                <a:ea typeface="Microsoft YaHei"/>
              </a:rPr>
              <a:t>市场失灵根源 (第1节)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514600"/>
            <a:ext cx="731520" cy="27432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517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垄断势力导致效率损失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外部性阻碍社会最优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公共产品搭便车失灵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信息不对称引发逆向选择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19272" y="1325880"/>
            <a:ext cx="265176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19272" y="1325880"/>
            <a:ext cx="265176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502152" y="1508760"/>
            <a:ext cx="594360" cy="36576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2152" y="196596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Times New Roman"/>
                <a:ea typeface="Microsoft YaHei"/>
              </a:rPr>
              <a:t>外部性治理 (第3节)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02152" y="2514600"/>
            <a:ext cx="731520" cy="27432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02152" y="26517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私人成本 vs 社会成本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庇古税收与财政补贴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科斯产权界定谈判机制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可交易排污许可证市场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81344" y="1325880"/>
            <a:ext cx="265176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1325880"/>
            <a:ext cx="265176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64224" y="1508760"/>
            <a:ext cx="594360" cy="36576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196596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Times New Roman"/>
                <a:ea typeface="Microsoft YaHei"/>
              </a:rPr>
              <a:t>公共品与信息 (第4-5节)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64224" y="2514600"/>
            <a:ext cx="731520" cy="27432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26517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非排他性与非竞争性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纯公共品与准公共品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逆向选择与道德风险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信号传递与信息披露规制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43416" y="1325880"/>
            <a:ext cx="265176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43416" y="1325880"/>
            <a:ext cx="265176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226296" y="1508760"/>
            <a:ext cx="594360" cy="36576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6296" y="196596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Times New Roman"/>
                <a:ea typeface="Microsoft YaHei"/>
              </a:rPr>
              <a:t>反垄断与规制 (第2节)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26296" y="2514600"/>
            <a:ext cx="731520" cy="27432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26296" y="26517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自然垄断沉淀成本沉没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边际成本定价政府补贴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平均成本定价正常利润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反垄断反不正当竞争法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440680"/>
            <a:ext cx="11247120" cy="777240"/>
          </a:xfrm>
          <a:prstGeom prst="rect">
            <a:avLst/>
          </a:prstGeom>
          <a:solidFill>
            <a:srgbClr val="DCEDF8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5321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📌 归纳要义：核心主线：市场并非万能；在市场失灵领域，政府必须以制度、规制与税收杠杆矫正资源错配，保障公平与全社会效率。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9448495" cy="4114800"/>
          </a:xfrm>
          <a:prstGeom prst="rect">
            <a:avLst/>
          </a:prstGeom>
          <a:solidFill>
            <a:srgbClr val="F8F9FA"/>
          </a:solidFill>
          <a:ln w="1524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109728" cy="41148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E86C1"/>
                </a:solidFill>
                <a:latin typeface="Times New Roman"/>
                <a:ea typeface="Microsoft YaHei"/>
              </a:rPr>
              <a:t>第 1 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33172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B3A5C"/>
                </a:solidFill>
                <a:latin typeface="Times New Roman"/>
                <a:ea typeface="Microsoft YaHei"/>
              </a:rPr>
              <a:t>市场失灵的四大表现与政府介入逻辑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3246120"/>
            <a:ext cx="164592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28800" y="3520440"/>
            <a:ext cx="8503920" cy="1097280"/>
          </a:xfrm>
          <a:prstGeom prst="roundRect">
            <a:avLst/>
          </a:prstGeom>
          <a:solidFill>
            <a:srgbClr val="EBF3FA"/>
          </a:solidFill>
          <a:ln w="1016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3657600"/>
            <a:ext cx="8138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Times New Roman"/>
                <a:ea typeface="Microsoft YaHei"/>
              </a:rPr>
              <a:t>效率边界 · 市场势力 · 外部性 · 公共产品 · 信息不对称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62179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第10章 政府的经济作用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2179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45720" cy="680313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86C1"/>
                </a:solidFill>
                <a:latin typeface="Times New Roman"/>
                <a:ea typeface="Microsoft YaHei"/>
              </a:rPr>
              <a:t>第1节 市场失灵概论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Times New Roman"/>
                <a:ea typeface="Microsoft YaHei"/>
              </a:rPr>
              <a:t>市场失灵的四大微观表现与政府职能界定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第10章 政府的经济作用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265176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265176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508760"/>
            <a:ext cx="594360" cy="36576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6596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Times New Roman"/>
                <a:ea typeface="Microsoft YaHei"/>
              </a:rPr>
              <a:t>市场势力与垄断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514600"/>
            <a:ext cx="731520" cy="27432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517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问题：企业限制产量抬高价格 (P &gt; MC)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后果：造成社会无谓损失 DWL 与寻租浪费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干预：反垄断审查、拆分垄断与价格上限管制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19272" y="1325880"/>
            <a:ext cx="265176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19272" y="1325880"/>
            <a:ext cx="265176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502152" y="1508760"/>
            <a:ext cx="594360" cy="36576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2152" y="196596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Times New Roman"/>
                <a:ea typeface="Microsoft YaHei"/>
              </a:rPr>
              <a:t>外部性 (Externalities)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02152" y="2514600"/>
            <a:ext cx="731520" cy="27432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02152" y="26517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问题：私人成本与社会成本产生背离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后果：负外部性过度生产，正外部性生产不足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干预：征收庇古税、发放补贴、明晰初始产权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81344" y="1325880"/>
            <a:ext cx="265176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1325880"/>
            <a:ext cx="265176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64224" y="1508760"/>
            <a:ext cx="594360" cy="36576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196596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Times New Roman"/>
                <a:ea typeface="Microsoft YaHei"/>
              </a:rPr>
              <a:t>公共产品 (Public Goods)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64224" y="2514600"/>
            <a:ext cx="731520" cy="27432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26517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问题：具备非排他性与非竞争性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后果：人人搭便车，私人市场供给量为零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干预：政府动用财政税收直接投资或特许经营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43416" y="1325880"/>
            <a:ext cx="265176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43416" y="1325880"/>
            <a:ext cx="265176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226296" y="1508760"/>
            <a:ext cx="594360" cy="36576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6296" y="196596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Times New Roman"/>
                <a:ea typeface="Microsoft YaHei"/>
              </a:rPr>
              <a:t>信息不对称 (Asymmetry)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26296" y="2514600"/>
            <a:ext cx="731520" cy="27432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26296" y="26517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问题：交易双方掌握信息极度不对等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后果：劣币驱逐良币（逆向选择）与道德风险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干预：强制信息披露、资质认证与食品药品监管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440680"/>
            <a:ext cx="11247120" cy="777240"/>
          </a:xfrm>
          <a:prstGeom prst="rect">
            <a:avLst/>
          </a:prstGeom>
          <a:solidFill>
            <a:srgbClr val="DCEDF8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5321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📌 归纳要义：政府介入的根本正当性在于「弥补市场失灵」；一切干预手段皆应以恢复和提升全社会资源配置效率为导向。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45720" cy="680313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86C1"/>
                </a:solidFill>
                <a:latin typeface="Times New Roman"/>
                <a:ea typeface="Microsoft YaHei"/>
              </a:rPr>
              <a:t>第1节 市场失灵概论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Times New Roman"/>
                <a:ea typeface="Microsoft YaHei"/>
              </a:rPr>
              <a:t>完全垄断的社会福利净损失与哈伯格三角形测算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第10章 政府的经济作用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530352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5303520" cy="502920"/>
          </a:xfrm>
          <a:prstGeom prst="rect">
            <a:avLst/>
          </a:prstGeom>
          <a:solidFill>
            <a:srgbClr val="EBF3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25880"/>
            <a:ext cx="73152" cy="502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37160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B3A5C"/>
                </a:solidFill>
                <a:latin typeface="Times New Roman"/>
                <a:ea typeface="Microsoft YaHei"/>
              </a:rPr>
              <a:t>垄断势力的经济学无谓损失 (Deadweight Loss, DWL)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96596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1. 价格扭曲机制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垄断厂商为追求超额利润，刻意将产量压缩至 Q_m &lt; Q_c，并将售价抬高至 P_m &gt; MC。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2. 哈伯格三角形 (Harberger Triangle)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消费者剩余大幅缩减：一部分转化为垄断利润，另一部分与生产者剩余损失共同构成纯粹的社会总福利净损失 (DWL)。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3. 动态 X-非效率 (X-Inefficiency)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缺乏竞争压力导致企业内部管理松懈、成本浪费与寻租 (Rent-Seeking) 行为泛滥。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325880"/>
            <a:ext cx="566928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1325880"/>
            <a:ext cx="566928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325880"/>
            <a:ext cx="73152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3716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86C1"/>
                </a:solidFill>
                <a:latin typeface="Times New Roman"/>
                <a:ea typeface="Microsoft YaHei"/>
              </a:rPr>
              <a:t>反垄断法律体系的三大支柱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96596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1. 禁止垄断协议 (横向/纵向卡特尔)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严厉打击同行串通固定价格、分割销售市场与限制产出协议。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2. 禁止滥用市场支配地位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禁止掠夺性定价、强制搭售、拒绝交易与差别待遇（如电商平台“二选一”）。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3. 经营者集中反垄断审查 (M&amp;A)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对大型并购重组可能导致的过度集中与市场封锁进行前置审查。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440680"/>
            <a:ext cx="11247120" cy="777240"/>
          </a:xfrm>
          <a:prstGeom prst="rect">
            <a:avLst/>
          </a:prstGeom>
          <a:solidFill>
            <a:srgbClr val="DCEDF8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5321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💡 核心结论：反垄断法的根本宗旨是维护自由竞争的公平秩序，保护消费者长远福利与全社会创新动力。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9448495" cy="4114800"/>
          </a:xfrm>
          <a:prstGeom prst="rect">
            <a:avLst/>
          </a:prstGeom>
          <a:solidFill>
            <a:srgbClr val="F8F9FA"/>
          </a:solidFill>
          <a:ln w="1524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109728" cy="41148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E86C1"/>
                </a:solidFill>
                <a:latin typeface="Times New Roman"/>
                <a:ea typeface="Microsoft YaHei"/>
              </a:rPr>
              <a:t>第 2 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33172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B3A5C"/>
                </a:solidFill>
                <a:latin typeface="Times New Roman"/>
                <a:ea typeface="Microsoft YaHei"/>
              </a:rPr>
              <a:t>外部性理论及其微观政策工具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3246120"/>
            <a:ext cx="164592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28800" y="3520440"/>
            <a:ext cx="8503920" cy="1097280"/>
          </a:xfrm>
          <a:prstGeom prst="roundRect">
            <a:avLst/>
          </a:prstGeom>
          <a:solidFill>
            <a:srgbClr val="EBF3FA"/>
          </a:solidFill>
          <a:ln w="1016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3657600"/>
            <a:ext cx="8138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Times New Roman"/>
                <a:ea typeface="Microsoft YaHei"/>
              </a:rPr>
              <a:t>私人成本 vs 社会成本 · 庇古税 · 财政补贴 · 科斯定理 · 排污权交易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62179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第10章 政府的经济作用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2179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45720" cy="680313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86C1"/>
                </a:solidFill>
                <a:latin typeface="Times New Roman"/>
                <a:ea typeface="Microsoft YaHei"/>
              </a:rPr>
              <a:t>第3节 外部性治理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Times New Roman"/>
                <a:ea typeface="Microsoft YaHei"/>
              </a:rPr>
              <a:t>负外部性（污染）的经济学机理与庇古税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第10章 政府的经济作用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7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530352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5303520" cy="502920"/>
          </a:xfrm>
          <a:prstGeom prst="rect">
            <a:avLst/>
          </a:prstGeom>
          <a:solidFill>
            <a:srgbClr val="EBF3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25880"/>
            <a:ext cx="73152" cy="502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37160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B3A5C"/>
                </a:solidFill>
                <a:latin typeface="Times New Roman"/>
                <a:ea typeface="Microsoft YaHei"/>
              </a:rPr>
              <a:t>负外部性导致的资源配置扭曲 (图 10-1)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96596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1. 边际私人成本 (MPC) vs 边际社会成本 (MSC)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MSC = MPC + 边际外部损害成本 (MEC)。造纸厂只承担自身原料工资，将废水污染转嫁给社会。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2. 市场自发产出过度 (Q_m &gt; Q*)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企业仅按 MPC = P 决策产出 Q_m；而社会最优产出应满足 MSC = P 对应点 Q*。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3. 福利损失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在 Q* 到 Q_m 之间，全社会承担的边际真实成本高于消费者的边际效用，造成社会总福利净损失！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325880"/>
            <a:ext cx="566928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1325880"/>
            <a:ext cx="566928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325880"/>
            <a:ext cx="73152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3716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86C1"/>
                </a:solidFill>
                <a:latin typeface="Times New Roman"/>
                <a:ea typeface="Microsoft YaHei"/>
              </a:rPr>
              <a:t>庇古税 (Pigouvian Tax) 内部化机制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96596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1. 征税原理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对排污企业每单位产出征收恰好等于边际外部损害成本 (t = MEC) 的税收。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2. 内部化效果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将外部社会成本强制转化为企业的私人生产成本，促使企业的私人边际成本线上移至 MSC，市场自发收敛至最优产量 Q*！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3. 正外部性与庇古补贴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对具有正外部性的活动（基础科学研究、植树造林、传染病疫苗接种），政府给予单位补贴 (s = MEB)，刺激供给达到社会最优。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440680"/>
            <a:ext cx="11247120" cy="777240"/>
          </a:xfrm>
          <a:prstGeom prst="rect">
            <a:avLst/>
          </a:prstGeom>
          <a:solidFill>
            <a:srgbClr val="DCEDF8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5321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💡 核心结论：庇古税利用价格杠杆让「污染者付费 (Polluter Pays)」，是矫正外部性最经典的经济学方案。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45720" cy="680313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86C1"/>
                </a:solidFill>
                <a:latin typeface="Times New Roman"/>
                <a:ea typeface="Microsoft YaHei"/>
              </a:rPr>
              <a:t>第3节 外部性治理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Times New Roman"/>
                <a:ea typeface="Microsoft YaHei"/>
              </a:rPr>
              <a:t>庇古税最优税额与社会福利改善算例 (例 10-2)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第10章 政府的经济作用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8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530352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5303520" cy="502920"/>
          </a:xfrm>
          <a:prstGeom prst="rect">
            <a:avLst/>
          </a:prstGeom>
          <a:solidFill>
            <a:srgbClr val="EBF3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25880"/>
            <a:ext cx="73152" cy="502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37160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B3A5C"/>
                </a:solidFill>
                <a:latin typeface="Times New Roman"/>
                <a:ea typeface="Microsoft YaHei"/>
              </a:rPr>
              <a:t>市场供求与外部污染参数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96596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1. 某造纸行业市场参数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反需求曲线 P = 100 - Q，私人边际成本 MPC = 10 + Q，每吨纸产生外部污染损害 MEC = Q。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2. 市场自发竞争均衡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令 P = MPC → 100 - Q = 10 + Q → 2Q = 90 → 市场产量 Q_m = 45 吨，售价 P_m = 55 元。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325880"/>
            <a:ext cx="566928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1325880"/>
            <a:ext cx="566928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325880"/>
            <a:ext cx="73152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3716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86C1"/>
                </a:solidFill>
                <a:latin typeface="Times New Roman"/>
                <a:ea typeface="Microsoft YaHei"/>
              </a:rPr>
              <a:t>社会最优产出与庇古税征收测算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96596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1. 边际社会成本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MSC = MPC + MEC = 10 + Q + Q = 10 + 2Q。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2. 社会最优产出求解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令 P = MSC → 100 - Q = 10 + 2Q → 3Q = 90 → 最优产量 Q* = 30 吨，社会出清价 P* = 70 元。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3. 庇古税额核算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在 Q* = 30 处，边际外部损害 t* = MEC(30) = 30 元/吨！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4. 政策效果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对每吨纸征税 30 元后，企业边际成本由 10+Q 变为 40+Q，市场产量自发收缩至 30 吨，消除全部外部性福利损失！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440680"/>
            <a:ext cx="11247120" cy="777240"/>
          </a:xfrm>
          <a:prstGeom prst="rect">
            <a:avLst/>
          </a:prstGeom>
          <a:solidFill>
            <a:srgbClr val="DCEDF8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5321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💡 核心结论：庇古税用精准的价格机制引导企业自主将产量压减至社会最优水平。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45720" cy="680313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86C1"/>
                </a:solidFill>
                <a:latin typeface="Times New Roman"/>
                <a:ea typeface="Microsoft YaHei"/>
              </a:rPr>
              <a:t>第3节 外部性治理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Times New Roman"/>
                <a:ea typeface="Microsoft YaHei"/>
              </a:rPr>
              <a:t>科斯定理 (Coase Theorem) 与排污权交易市场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第10章 政府的经济作用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9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530352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5303520" cy="502920"/>
          </a:xfrm>
          <a:prstGeom prst="rect">
            <a:avLst/>
          </a:prstGeom>
          <a:solidFill>
            <a:srgbClr val="EBF3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25880"/>
            <a:ext cx="73152" cy="502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37160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B3A5C"/>
                </a:solidFill>
                <a:latin typeface="Times New Roman"/>
                <a:ea typeface="Microsoft YaHei"/>
              </a:rPr>
              <a:t>科斯定理的划时代洞察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96596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1. 科斯定理核心表述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只要产权明确界定，且交易费用为零（或极低），无论初始产权赋予哪一方，市场各方通过自愿谈判协商，最终都能实现资源最优配置（帕累托最优）。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2. 案例：化工厂 vs 下游养鱼场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• 产权归养鱼场：化工厂必须向养鱼场购买赔偿排污权，产量降至社会最优 Q*。
• 产权归化工厂：养鱼场集资贿赂化工厂要求其减产，产量同样降至 Q*！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3. 现实制约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当受害主体成千上万（交易费用极高）时，自愿谈判失灵，仍需政府法律规制。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325880"/>
            <a:ext cx="566928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1325880"/>
            <a:ext cx="566928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325880"/>
            <a:ext cx="73152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3716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86C1"/>
                </a:solidFill>
                <a:latin typeface="Times New Roman"/>
                <a:ea typeface="Microsoft YaHei"/>
              </a:rPr>
              <a:t>排污权交易制度 (Cap-and-Trade)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96596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1. 机制设计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政府确定全行业排污总量上限 (Cap)，向企业发放或竞价拍卖固定配额许可证。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2. 市场交易自发实现最低成本减排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• 治污技术先进、减排成本低的企业：超额减排并将富余配额在碳市场高价卖出盈利。
• 治污成本高昂的企业：选择从市场购买配额。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3. 制度优越性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全社会以最低的总体经济代价达成环保减排目标（如全国碳排放权交易市场）。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440680"/>
            <a:ext cx="11247120" cy="777240"/>
          </a:xfrm>
          <a:prstGeom prst="rect">
            <a:avLst/>
          </a:prstGeom>
          <a:solidFill>
            <a:srgbClr val="DCEDF8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5321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💡 核心结论：排污权交易完美融合了政府规制（设定总量红线）与市场机制（价格引导自主交易），是现代环境经济学的杰作。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45720" cy="680313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86C1"/>
                </a:solidFill>
                <a:latin typeface="Times New Roman"/>
                <a:ea typeface="Microsoft YaHei"/>
              </a:rPr>
              <a:t>第3节 外部性治理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Times New Roman"/>
                <a:ea typeface="Microsoft YaHei"/>
              </a:rPr>
              <a:t>全国碳排放权交易市场 (ETS) 运行与碳配额分配机制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第10章 政府的经济作用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10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265176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265176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508760"/>
            <a:ext cx="594360" cy="36576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6596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Times New Roman"/>
                <a:ea typeface="Microsoft YaHei"/>
              </a:rPr>
              <a:t>碳排放基准线法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514600"/>
            <a:ext cx="731520" cy="27432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517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根据机组能效先进水平设定基准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鼓励先进机组超额减排创利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倒逼落后高排放小机组淘汰关闭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19272" y="1325880"/>
            <a:ext cx="265176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19272" y="1325880"/>
            <a:ext cx="265176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502152" y="1508760"/>
            <a:ext cx="594360" cy="36576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2152" y="196596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Times New Roman"/>
                <a:ea typeface="Microsoft YaHei"/>
              </a:rPr>
              <a:t>履约清缴与跨期结转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02152" y="2514600"/>
            <a:ext cx="731520" cy="27432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02152" y="26517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每年对重点控排企业开展实际碳排核查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按实际排放量 1:1 清缴配额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结余配额可在下一年度继续结转使用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81344" y="1325880"/>
            <a:ext cx="265176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1325880"/>
            <a:ext cx="265176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64224" y="1508760"/>
            <a:ext cx="594360" cy="36576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196596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Times New Roman"/>
                <a:ea typeface="Microsoft YaHei"/>
              </a:rPr>
              <a:t>CCER 自愿核证减排量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64224" y="2514600"/>
            <a:ext cx="731520" cy="27432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26517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林业碳汇、光伏风电等自愿减排项目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允许控排企业抵销不超过 5% 的履约缺口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引导全社会绿色生态投资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43416" y="1325880"/>
            <a:ext cx="265176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43416" y="1325880"/>
            <a:ext cx="265176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226296" y="1508760"/>
            <a:ext cx="594360" cy="36576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6296" y="196596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Times New Roman"/>
                <a:ea typeface="Microsoft YaHei"/>
              </a:rPr>
              <a:t>绿色金融赋能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26296" y="2514600"/>
            <a:ext cx="731520" cy="27432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26296" y="26517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碳资产质押融资贷款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碳债券与绿色债券发行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推动工业全产业链深度脱碳转型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440680"/>
            <a:ext cx="11247120" cy="777240"/>
          </a:xfrm>
          <a:prstGeom prst="rect">
            <a:avLst/>
          </a:prstGeom>
          <a:solidFill>
            <a:srgbClr val="DCEDF8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5321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📌 归纳要义：全国碳市场以制度化金融属性推动经济社会绿色低碳转型，实现了高水平环境保护与高质量发展的双赢。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9448495" cy="4114800"/>
          </a:xfrm>
          <a:prstGeom prst="rect">
            <a:avLst/>
          </a:prstGeom>
          <a:solidFill>
            <a:srgbClr val="F8F9FA"/>
          </a:solidFill>
          <a:ln w="1524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109728" cy="41148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E86C1"/>
                </a:solidFill>
                <a:latin typeface="Times New Roman"/>
                <a:ea typeface="Microsoft YaHei"/>
              </a:rPr>
              <a:t>第 3 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33172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B3A5C"/>
                </a:solidFill>
                <a:latin typeface="Times New Roman"/>
                <a:ea typeface="Microsoft YaHei"/>
              </a:rPr>
              <a:t>自然垄断规制与反垄断政策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3246120"/>
            <a:ext cx="164592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28800" y="3520440"/>
            <a:ext cx="8503920" cy="1097280"/>
          </a:xfrm>
          <a:prstGeom prst="roundRect">
            <a:avLst/>
          </a:prstGeom>
          <a:solidFill>
            <a:srgbClr val="EBF3FA"/>
          </a:solidFill>
          <a:ln w="1016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3657600"/>
            <a:ext cx="8138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Times New Roman"/>
                <a:ea typeface="Microsoft YaHei"/>
              </a:rPr>
              <a:t>自然垄断特征 · 边际成本定价管制 · 平均成本定价管制 · RPI-X 价格上限 · 反垄断法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62179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第10章 政府的经济作用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2179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45720" cy="680313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86C1"/>
                </a:solidFill>
                <a:latin typeface="Times New Roman"/>
                <a:ea typeface="Microsoft YaHei"/>
              </a:rPr>
              <a:t>第2节 自然垄断规制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Times New Roman"/>
                <a:ea typeface="Microsoft YaHei"/>
              </a:rPr>
              <a:t>自然垄断企业的价格管制方案抉择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第10章 政府的经济作用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530352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5303520" cy="502920"/>
          </a:xfrm>
          <a:prstGeom prst="rect">
            <a:avLst/>
          </a:prstGeom>
          <a:solidFill>
            <a:srgbClr val="EBF3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25880"/>
            <a:ext cx="73152" cy="502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37160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B3A5C"/>
                </a:solidFill>
                <a:latin typeface="Times New Roman"/>
                <a:ea typeface="Microsoft YaHei"/>
              </a:rPr>
              <a:t>方案一：边际成本定价管制 (P = MC)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96596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1. 规制目标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追求全社会配置效率最优 (P = MC)，彻底消除垄断无谓损失。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2. 致命财务困境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自然垄断行业（输电网、自来水管网）具有极高的固定沉淀成本，长期内边际成本持续低于平均成本 (MC &lt; AC)。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3. 必然结果：企业陷入严重账面亏损！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若强制 P = MC，企业连固定资产折旧都无法收回。政府必须动用财政税收对亏损给予常年巨额补贴，带来财政扭曲。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325880"/>
            <a:ext cx="566928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1325880"/>
            <a:ext cx="566928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325880"/>
            <a:ext cx="73152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3716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86C1"/>
                </a:solidFill>
                <a:latin typeface="Times New Roman"/>
                <a:ea typeface="Microsoft YaHei"/>
              </a:rPr>
              <a:t>方案二：平均成本定价管制 (P = AC)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96596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1. 规制实操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允许企业按完全平均成本加合理利润定价 (P = AC)，使企业刚好实现盈亏平衡、赚取正常资本回报率。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2. 优势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企业财务自负盈亏，无需政府财政补贴，可行性极高。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3. 局限性与 A-J 效应 (Averch-Johnson Effect)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当按资本投入比例核定回报率时，会诱使企业过度投资于昂贵冗余的固定资产设备，虚增成本基数。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440680"/>
            <a:ext cx="11247120" cy="777240"/>
          </a:xfrm>
          <a:prstGeom prst="rect">
            <a:avLst/>
          </a:prstGeom>
          <a:solidFill>
            <a:srgbClr val="DCEDF8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5321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💡 核心结论：价格管制必须在社会效率最优 (P=MC) 与企业财务可持续性 (P=AC) 之间寻求务实的动态平衡。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45720" cy="680313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86C1"/>
                </a:solidFill>
                <a:latin typeface="Times New Roman"/>
                <a:ea typeface="Microsoft YaHei"/>
              </a:rPr>
              <a:t>第2节 自然垄断规制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Times New Roman"/>
                <a:ea typeface="Microsoft YaHei"/>
              </a:rPr>
              <a:t>价格上限管制 (RPI - X) 激励模型与公用事业改革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第10章 政府的经济作用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13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530352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5303520" cy="502920"/>
          </a:xfrm>
          <a:prstGeom prst="rect">
            <a:avLst/>
          </a:prstGeom>
          <a:solidFill>
            <a:srgbClr val="EBF3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25880"/>
            <a:ext cx="73152" cy="502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37160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B3A5C"/>
                </a:solidFill>
                <a:latin typeface="Times New Roman"/>
                <a:ea typeface="Microsoft YaHei"/>
              </a:rPr>
              <a:t>价格上限管制 (Price-Cap Regulation) 原理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96596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1. 规制公式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最高允许调价涨幅 ΔP ≤ 零售物价指数 (RPI) - 生产率提升因子 (X)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2. 激励相容机制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政府锁死最高售价上限；企业若通过管理创新或技术改造将成本降得更低，节约的全部成本直接转化为企业留存利润！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3. 彻底克服传统管制缺陷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打破了传统成本加成管制下企业“花得越多赚得越多”的过度投资恶习。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325880"/>
            <a:ext cx="566928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1325880"/>
            <a:ext cx="566928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325880"/>
            <a:ext cx="73152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3716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86C1"/>
                </a:solidFill>
                <a:latin typeface="Times New Roman"/>
                <a:ea typeface="Microsoft YaHei"/>
              </a:rPr>
              <a:t>英国电信与中国公用事业电价改革实践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96596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1. 英国电信 (BT) 早期改革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推行 RPI-3% 价格上限管制，倒逼电信企业大幅压缩冗员与提升数字化设备运营效率。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2. 中国电网「准许成本 + 合理收益」输配电价改革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严格核定电网有效资产，剥离非相关资产，推动电力市场化交易。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440680"/>
            <a:ext cx="11247120" cy="777240"/>
          </a:xfrm>
          <a:prstGeom prst="rect">
            <a:avLst/>
          </a:prstGeom>
          <a:solidFill>
            <a:srgbClr val="DCEDF8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5321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💡 核心结论：价格上限管制将市场竞争激励注入垄断特许行业，是现代微观经济规制的经典范本。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45720" cy="680313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86C1"/>
                </a:solidFill>
                <a:latin typeface="Times New Roman"/>
                <a:ea typeface="Microsoft YaHei"/>
              </a:rPr>
              <a:t>第4-5节 公共品与信息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Times New Roman"/>
                <a:ea typeface="Microsoft YaHei"/>
              </a:rPr>
              <a:t>公共产品供给与信息不对称规制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第10章 政府的经济作用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14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530352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5303520" cy="502920"/>
          </a:xfrm>
          <a:prstGeom prst="rect">
            <a:avLst/>
          </a:prstGeom>
          <a:solidFill>
            <a:srgbClr val="EBF3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25880"/>
            <a:ext cx="73152" cy="502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37160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B3A5C"/>
                </a:solidFill>
                <a:latin typeface="Times New Roman"/>
                <a:ea typeface="Microsoft YaHei"/>
              </a:rPr>
              <a:t>公共产品的非排他性与非竞争性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96596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1. 纯公共产品特征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• 非排他性：无法排除他人免费消费（国防、路灯、灯塔）。
• 非竞争性：新增一人消费该产品的边际成本为 0。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2. 搭便车困境 (Free-Rider)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私人企业无法通过收费收回成本，导致市场失灵；必须由政府动用税收财政资金直接投资或委托公私合作 (PPP) 供给。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325880"/>
            <a:ext cx="566928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1325880"/>
            <a:ext cx="566928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325880"/>
            <a:ext cx="73152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3716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86C1"/>
                </a:solidFill>
                <a:latin typeface="Times New Roman"/>
                <a:ea typeface="Microsoft YaHei"/>
              </a:rPr>
              <a:t>信息不对称：逆向选择与道德风险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96596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1. 逆向选择 (Adverse Selection - 事前)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二手车「柠檬市场」中买方无法识别好车坏车只愿付均价，导致好车退出市场、劣币驱逐良币。政府应对：强制车辆检测与信息透明公示。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2. 道德风险 (Moral Hazard - 事后)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购买全额财产险后业主放松防火警惕。企业应对：免赔额设计与共同自负比例。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440680"/>
            <a:ext cx="11247120" cy="777240"/>
          </a:xfrm>
          <a:prstGeom prst="rect">
            <a:avLst/>
          </a:prstGeom>
          <a:solidFill>
            <a:srgbClr val="DCEDF8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5321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💡 核心结论：有效的信息规制与产权保护，能够显著降低交易摩擦，恢复市场自发配置效率。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45720" cy="680313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86C1"/>
                </a:solidFill>
                <a:latin typeface="Times New Roman"/>
                <a:ea typeface="Microsoft YaHei"/>
              </a:rPr>
              <a:t>第5节 信息不对称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Times New Roman"/>
                <a:ea typeface="Microsoft YaHei"/>
              </a:rPr>
              <a:t>二手车柠檬市场模型与信号传递机制 (Signaling)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第10章 政府的经济作用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15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530352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5303520" cy="502920"/>
          </a:xfrm>
          <a:prstGeom prst="rect">
            <a:avLst/>
          </a:prstGeom>
          <a:solidFill>
            <a:srgbClr val="EBF3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25880"/>
            <a:ext cx="73152" cy="502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37160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B3A5C"/>
                </a:solidFill>
                <a:latin typeface="Times New Roman"/>
                <a:ea typeface="Microsoft YaHei"/>
              </a:rPr>
              <a:t>阿克洛夫 (Akerlof) 柠檬市场数学机理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96596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1. 市场设定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好车价值 10 万元 (占50%)，坏车 (Lemon) 价值 4 万元 (占50%)。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2. 买方期望出价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买方无法鉴别好坏，只愿出平均价 P = 0.5(10) + 0.5(4) = 7 万元。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3. 逆向淘汰循环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好车卖家因 7 万低于其底价 10 万而愤然退出市场！市场上只剩下坏车，最终成交价暴跌至 4 万元，好车完全被驱逐出市场！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325880"/>
            <a:ext cx="566928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1325880"/>
            <a:ext cx="566928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325880"/>
            <a:ext cx="73152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3716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86C1"/>
                </a:solidFill>
                <a:latin typeface="Times New Roman"/>
                <a:ea typeface="Microsoft YaHei"/>
              </a:rPr>
              <a:t>解决信息不对称的市场信号机制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96596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1. 信号传递 (Signaling)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卖方主动发出高昂且不可轻易伪造的优质信号（如品牌厂家提供 5 年超长整车质保、提供权威第三方检测报告）。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2. 信息甄别 (Screening)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买方设计不同合同菜单让卖方自我暴露真实品质（如保险公司设计高免赔低保费 vs 低免赔高保费方案）。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440680"/>
            <a:ext cx="11247120" cy="777240"/>
          </a:xfrm>
          <a:prstGeom prst="rect">
            <a:avLst/>
          </a:prstGeom>
          <a:solidFill>
            <a:srgbClr val="DCEDF8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5321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💡 核心结论：信号传递与信息甄别是现代商业跨越信任鸿沟、促成高质量交易的核心制度设计。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45720" cy="680313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86C1"/>
                </a:solidFill>
                <a:latin typeface="Times New Roman"/>
                <a:ea typeface="Microsoft YaHei"/>
              </a:rPr>
              <a:t>第5节 委托代理问题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Times New Roman"/>
                <a:ea typeface="Microsoft YaHei"/>
              </a:rPr>
              <a:t>委托代理理论 (Principal-Agent) 与高管长期激励契约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第10章 政府的经济作用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16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530352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5303520" cy="502920"/>
          </a:xfrm>
          <a:prstGeom prst="rect">
            <a:avLst/>
          </a:prstGeom>
          <a:solidFill>
            <a:srgbClr val="EBF3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25880"/>
            <a:ext cx="73152" cy="502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37160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B3A5C"/>
                </a:solidFill>
                <a:latin typeface="Times New Roman"/>
                <a:ea typeface="Microsoft YaHei"/>
              </a:rPr>
              <a:t>所有权与经营权分离下的利益冲突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96596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1. 委托人 (股东) 目标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追求股东财富最大化与企业长期价值持续增长。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2. 代理人 (职业经理人) 目标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追求自身薪酬奖金、在职消费、权力帝国与职位安全；可能牺牲长期研发去粉饰短期财报。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3. 道德风险与信息不对称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股东无法完全监督经理人的每一项日常努力程度，容易滋生偷懒、过度投资与短期化行为。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325880"/>
            <a:ext cx="566928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1325880"/>
            <a:ext cx="566928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325880"/>
            <a:ext cx="73152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3716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86C1"/>
                </a:solidFill>
                <a:latin typeface="Times New Roman"/>
                <a:ea typeface="Microsoft YaHei"/>
              </a:rPr>
              <a:t>现代最优激励契约机制设计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96596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1. 股票期权与限制性股票 (Stock Options)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将高管个人利益与公司长期股价深度绑定，激励其关注长期企业价值。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2. 平衡计分卡 (BSC) 综合考评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将财务指标与客户满意度、内部运营效率、员工学习成长多维度综合考核。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3. 独立董事与信息披露制度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强化外部审计与独立董事监督制衡，保障中小股东合法权益。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440680"/>
            <a:ext cx="11247120" cy="777240"/>
          </a:xfrm>
          <a:prstGeom prst="rect">
            <a:avLst/>
          </a:prstGeom>
          <a:solidFill>
            <a:srgbClr val="DCEDF8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5321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💡 核心结论：科学的制度设计让代理人“为股东打工”转变为“为自己的长期价值奋斗”，是解决委托代理矛盾的根本出路。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45720" cy="680313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86C1"/>
                </a:solidFill>
                <a:latin typeface="Times New Roman"/>
                <a:ea typeface="Microsoft YaHei"/>
              </a:rPr>
              <a:t>第6节 效率与公平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Times New Roman"/>
                <a:ea typeface="Microsoft YaHei"/>
              </a:rPr>
              <a:t>效率与公平的权衡：洛伦兹曲线与基尼系数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第10章 政府的经济作用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17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530352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5303520" cy="502920"/>
          </a:xfrm>
          <a:prstGeom prst="rect">
            <a:avLst/>
          </a:prstGeom>
          <a:solidFill>
            <a:srgbClr val="EBF3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25880"/>
            <a:ext cx="73152" cy="502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37160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B3A5C"/>
                </a:solidFill>
                <a:latin typeface="Times New Roman"/>
                <a:ea typeface="Microsoft YaHei"/>
              </a:rPr>
              <a:t>收入分配不平等度量模型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96596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1. 洛伦兹曲线 (Lorenz Curve)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横轴表示累计人口百分比，纵轴表示累计国民收入百分比。曲线弯曲程度越大，收入分配越不平等。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2. 基尼系数 (Gini Coefficient: G)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基尼系数 G = 不平等面积 A / (完全平等三角形面积 A + B)。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3. 国际警戒线标准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• G &lt; 0.2：高度平均；
• 0.2 ≤ G &lt; 0.4：相对合理区间；
• G ≥ 0.4：国际公认贫富差距警戒线！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325880"/>
            <a:ext cx="566928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1325880"/>
            <a:ext cx="566928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325880"/>
            <a:ext cx="73152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3716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86C1"/>
                </a:solidFill>
                <a:latin typeface="Times New Roman"/>
                <a:ea typeface="Microsoft YaHei"/>
              </a:rPr>
              <a:t>政府再分配政策工具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96596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1. 初次分配注重效率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坚持按劳分配为主体、多种分配方式并存，健全要素由市场评价贡献、按贡献决定报酬的机制。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2. 再分配注重公平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加大税收（超额累进个人所得税、财产税）、社会保障、转移支付等调节力度。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3. 第三次分配与共同富裕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引导、支持有意愿有能力的企业、社会组织和个人积极参与公益慈善事业。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440680"/>
            <a:ext cx="11247120" cy="777240"/>
          </a:xfrm>
          <a:prstGeom prst="rect">
            <a:avLst/>
          </a:prstGeom>
          <a:solidFill>
            <a:srgbClr val="DCEDF8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5321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💡 核心结论：共同富裕是社会主义的本质要求：做大蛋糕是基础，分好蛋糕是保障。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45720" cy="680313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86C1"/>
                </a:solidFill>
                <a:latin typeface="Times New Roman"/>
                <a:ea typeface="Microsoft YaHei"/>
              </a:rPr>
              <a:t>案例研讨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Times New Roman"/>
                <a:ea typeface="Microsoft YaHei"/>
              </a:rPr>
              <a:t>案例 10-1：某跨国科技巨头反垄断执法与反不正当竞争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第10章 政府的经济作用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18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11247120" cy="457200"/>
          </a:xfrm>
          <a:prstGeom prst="rect">
            <a:avLst/>
          </a:prstGeom>
          <a:solidFill>
            <a:srgbClr val="EBF3FA"/>
          </a:solidFill>
          <a:ln w="1524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91440" cy="457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35331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50" b="1">
                <a:solidFill>
                  <a:srgbClr val="1B3A5C"/>
                </a:solidFill>
                <a:latin typeface="Times New Roman"/>
                <a:ea typeface="Microsoft YaHei"/>
              </a:rPr>
              <a:t>📖 案例研讨：平台经济“二选一”垄断行为查处与反垄断监管重塑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920240"/>
            <a:ext cx="2674620" cy="3291840"/>
          </a:xfrm>
          <a:prstGeom prst="rect">
            <a:avLst/>
          </a:prstGeom>
          <a:solidFill>
            <a:srgbClr val="FEFCF6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1920240"/>
            <a:ext cx="2674620" cy="411480"/>
          </a:xfrm>
          <a:prstGeom prst="rect">
            <a:avLst/>
          </a:prstGeom>
          <a:solidFill>
            <a:srgbClr val="EBF3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965960"/>
            <a:ext cx="24917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滥用支配地位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423160"/>
            <a:ext cx="240030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利用平台市场支配力强制要求入驻商家签署排他协议（“二选一”）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屏蔽竞争对手链接，扼杀中小创新企业生存空间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14700" y="1920240"/>
            <a:ext cx="2674620" cy="3291840"/>
          </a:xfrm>
          <a:prstGeom prst="rect">
            <a:avLst/>
          </a:prstGeom>
          <a:solidFill>
            <a:srgbClr val="FEFCF6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14700" y="1920240"/>
            <a:ext cx="2674620" cy="411480"/>
          </a:xfrm>
          <a:prstGeom prst="rect">
            <a:avLst/>
          </a:prstGeom>
          <a:solidFill>
            <a:srgbClr val="EBF3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06140" y="1965960"/>
            <a:ext cx="24917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监管立案调查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51860" y="2423160"/>
            <a:ext cx="240030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国家市场监管总局依法立案开展反垄断调查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调取数十万份商家合同与后台算法运行数据，认定其构成滥用市场支配地位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1920240"/>
            <a:ext cx="2674620" cy="3291840"/>
          </a:xfrm>
          <a:prstGeom prst="rect">
            <a:avLst/>
          </a:prstGeom>
          <a:solidFill>
            <a:srgbClr val="FEFCF6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1920240"/>
            <a:ext cx="2674620" cy="411480"/>
          </a:xfrm>
          <a:prstGeom prst="rect">
            <a:avLst/>
          </a:prstGeom>
          <a:solidFill>
            <a:srgbClr val="EBF3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1965960"/>
            <a:ext cx="24917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依法顶格处罚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423160"/>
            <a:ext cx="240030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处以其上一年度境内销售额 4% 的巨额行政罚款（达 182 亿元）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发出行政指导书，责令全面解除排他协议、开放平台生态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29700" y="1920240"/>
            <a:ext cx="2674620" cy="3291840"/>
          </a:xfrm>
          <a:prstGeom prst="rect">
            <a:avLst/>
          </a:prstGeom>
          <a:solidFill>
            <a:srgbClr val="FEFCF6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29700" y="1920240"/>
            <a:ext cx="2674620" cy="411480"/>
          </a:xfrm>
          <a:prstGeom prst="rect">
            <a:avLst/>
          </a:prstGeom>
          <a:solidFill>
            <a:srgbClr val="EBF3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21140" y="1965960"/>
            <a:ext cx="24917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监管深远启示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6860" y="2423160"/>
            <a:ext cx="240030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反垄断不是打击平台经济，而是维护公平竞争的市场秩序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倒逼科技企业将重心转向底层核心技术突破与开放赋能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349240"/>
            <a:ext cx="11247120" cy="914400"/>
          </a:xfrm>
          <a:prstGeom prst="rect">
            <a:avLst/>
          </a:prstGeom>
          <a:solidFill>
            <a:srgbClr val="DCEDF8"/>
          </a:solidFill>
          <a:ln w="1524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413248"/>
            <a:ext cx="1088136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🎯 管理经济学启示与决策启示：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现代反垄断规制旨在打破平台封锁、保护市场竞争活力，为中小创新企业营造公平的营商环境。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45720" cy="680313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86C1"/>
                </a:solidFill>
                <a:latin typeface="Times New Roman"/>
                <a:ea typeface="Microsoft YaHei"/>
              </a:rPr>
              <a:t>本章小结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Times New Roman"/>
                <a:ea typeface="Microsoft YaHei"/>
              </a:rPr>
              <a:t>第10章 政府经济作用与规制体系复盘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第10章 政府的经济作用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19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265176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265176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508760"/>
            <a:ext cx="594360" cy="36576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6596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Times New Roman"/>
                <a:ea typeface="Microsoft YaHei"/>
              </a:rPr>
              <a:t>市场失灵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514600"/>
            <a:ext cx="731520" cy="27432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517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垄断/外部性/公共品/信息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政府介入的合法性前提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以提升社会福利为导向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警惕政府规制自身失灵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19272" y="1325880"/>
            <a:ext cx="265176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19272" y="1325880"/>
            <a:ext cx="265176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502152" y="1508760"/>
            <a:ext cx="594360" cy="36576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2152" y="196596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Times New Roman"/>
                <a:ea typeface="Microsoft YaHei"/>
              </a:rPr>
              <a:t>外部性治理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02152" y="2514600"/>
            <a:ext cx="731520" cy="27432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02152" y="26517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私人成本向社会成本看齐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庇古税让污染者付费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科斯定理强调明晰产权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碳交易市场化减排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81344" y="1325880"/>
            <a:ext cx="265176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1325880"/>
            <a:ext cx="265176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64224" y="1508760"/>
            <a:ext cx="594360" cy="36576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196596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Times New Roman"/>
                <a:ea typeface="Microsoft YaHei"/>
              </a:rPr>
              <a:t>公共品供给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64224" y="2514600"/>
            <a:ext cx="731520" cy="27432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26517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非排他性引发搭便车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财政税收直接投资托底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准公共品引入特许经营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公私合作 PPP 模式创新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43416" y="1325880"/>
            <a:ext cx="265176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43416" y="1325880"/>
            <a:ext cx="265176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226296" y="1508760"/>
            <a:ext cx="594360" cy="36576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6296" y="196596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Times New Roman"/>
                <a:ea typeface="Microsoft YaHei"/>
              </a:rPr>
              <a:t>自然垄断规制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26296" y="2514600"/>
            <a:ext cx="731520" cy="27432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26296" y="26517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P=MC 需财政补贴支持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P=AC 保障企业自负盈亏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RPI-X 激励效率提升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反垄断法维护竞争活力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440680"/>
            <a:ext cx="11247120" cy="777240"/>
          </a:xfrm>
          <a:prstGeom prst="rect">
            <a:avLst/>
          </a:prstGeom>
          <a:solidFill>
            <a:srgbClr val="DCEDF8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5321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📌 归纳要义：现代市场经济是「有效的市场」与「有为的政府」的有机结合：政府做市场做不好或做不了的事，让市场在资源配置中起决定性作用。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45720" cy="680313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86C1"/>
                </a:solidFill>
                <a:latin typeface="Times New Roman"/>
                <a:ea typeface="Microsoft YaHei"/>
              </a:rPr>
              <a:t>复习与研讨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Times New Roman"/>
                <a:ea typeface="Microsoft YaHei"/>
              </a:rPr>
              <a:t>第10章 经典复习思考与考研/实战挑战题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第10章 政府的经济作用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20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530352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5303520" cy="502920"/>
          </a:xfrm>
          <a:prstGeom prst="rect">
            <a:avLst/>
          </a:prstGeom>
          <a:solidFill>
            <a:srgbClr val="EBF3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25880"/>
            <a:ext cx="73152" cy="502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37160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B3A5C"/>
                </a:solidFill>
                <a:latin typeface="Times New Roman"/>
                <a:ea typeface="Microsoft YaHei"/>
              </a:rPr>
              <a:t>深度理论辨析题 (Seminar Questions)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96596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1. 为什么说解决外部性的庇古税 (Pigouvian Tax) 在理论上优于直接行政命令关停企业？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👉 答：直接行政关停忽略了企业异质性；庇古税通过价格机制让企业根据自身减排成本自主决策：减排成本低于税率的企业主动治污，从而以全社会最低的经济成本实现环保目标。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2. 什么是公共产品的「搭便车 (Free-Rider)」问题？为什么私人市场无法有效提供纯公共品？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👉 答：纯公共产品具有非排他性，任何人无法排除他人免费享受好处。消费者隐瞒真实支付意愿选择搭便车，导致私人厂商无法通过收费覆盖成本，市场供给量必然为零。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3. 自然垄断规制中实行边际成本定价 (P=MC) 为何会导致企业财务亏损？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👉 答：自然垄断企业固定成本极高且存在显著规模经济，其长期边际成本持续低于平均成本 (MC &lt; AC)。若强制 P=MC，则价格必然低于平均成本，导致企业发生账面亏损。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325880"/>
            <a:ext cx="566928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1325880"/>
            <a:ext cx="566928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325880"/>
            <a:ext cx="73152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3716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86C1"/>
                </a:solidFill>
                <a:latin typeface="Times New Roman"/>
                <a:ea typeface="Microsoft YaHei"/>
              </a:rPr>
              <a:t>计算与实战应用挑战 (Applied Calculation)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96596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1. 负外部性与庇古税税额计算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某钢铁厂反需求函数 P = 100 - Q，私人边际成本 MPC = 20 + Q，外部污染损害 MEC = Q：
👉 边际社会成本 MSC = MPC + MEC = 20 + 2Q。
👉 市场自发产量 (P=MPC)：100 - Q = 20 + Q → 2Q = 80 → Q_m = 40 件。
👉 社会最优产量 (P=MSC)：100 - Q = 20 + 2Q → 3Q = 80 → Q* = 26.67 件。
👉 庇古税额：在 Q* 处，t = MEC(Q*) = 26.67 元/件！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2. 自然垄断价格规制收益测算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某自来水管网公司成本 TC = 1000 + 2Q，需求 P = 10 - 0.01Q：
👉 边际成本 MC = 2 元；平均成本 AC = 1000/Q + 2。
👉 若实行 P = MC = 2 元：Q = 800 件，TR = 1600 元，TC = 1000 + 1600 = 2600 元，企业亏损 1000 元 (需政府补贴 1000 元)！
👉 若实行 P = AC：10 - 0.01Q = 1000/Q + 2 → 解得保本规制价格与产量。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440680"/>
            <a:ext cx="11247120" cy="777240"/>
          </a:xfrm>
          <a:prstGeom prst="rect">
            <a:avLst/>
          </a:prstGeom>
          <a:solidFill>
            <a:srgbClr val="DCEDF8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5321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💡 核心结论：课后实践：请调研中国全国碳排放权交易市场 (CEA) 的运行机制，分析碳配额价格对重化工业企业技术改造的激励效应！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