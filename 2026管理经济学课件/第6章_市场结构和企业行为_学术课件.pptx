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645920" cy="438912"/>
          </a:xfrm>
          <a:prstGeom prst="roundRect">
            <a:avLst/>
          </a:prstGeom>
          <a:solidFill>
            <a:srgbClr val="EBF3FA"/>
          </a:solidFill>
          <a:ln w="1905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3A5C"/>
                </a:solidFill>
                <a:latin typeface="Times New Roman"/>
                <a:ea typeface="Microsoft YaHei"/>
              </a:rPr>
              <a:t>CH 06</a:t>
            </a:r>
          </a:p>
        </p:txBody>
      </p:sp>
      <p:sp>
        <p:nvSpPr>
          <p:cNvPr id="5" name="TextBox 4"/>
          <p:cNvSpPr txBox="1"/>
          <p:nvPr/>
        </p:nvSpPr>
        <p:spPr>
          <a:xfrm>
            <a:off x="914400" y="1600200"/>
            <a:ext cx="10058400" cy="1005840"/>
          </a:xfrm>
          <a:prstGeom prst="rect">
            <a:avLst/>
          </a:prstGeom>
          <a:noFill/>
        </p:spPr>
        <p:txBody>
          <a:bodyPr wrap="none">
            <a:spAutoFit/>
          </a:bodyPr>
          <a:lstStyle/>
          <a:p>
            <a:r>
              <a:rPr sz="3600" b="1">
                <a:solidFill>
                  <a:srgbClr val="1B3A5C"/>
                </a:solidFill>
                <a:latin typeface="Times New Roman"/>
                <a:ea typeface="Microsoft YaHei"/>
              </a:rPr>
              <a:t>市场结构和企业行为：竞争、垄断与博弈</a:t>
            </a:r>
          </a:p>
        </p:txBody>
      </p:sp>
      <p:sp>
        <p:nvSpPr>
          <p:cNvPr id="6" name="Rectangle 5"/>
          <p:cNvSpPr/>
          <p:nvPr/>
        </p:nvSpPr>
        <p:spPr>
          <a:xfrm>
            <a:off x="914400" y="26517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10058400" cy="457200"/>
          </a:xfrm>
          <a:prstGeom prst="rect">
            <a:avLst/>
          </a:prstGeom>
          <a:noFill/>
        </p:spPr>
        <p:txBody>
          <a:bodyPr wrap="none">
            <a:spAutoFit/>
          </a:bodyPr>
          <a:lstStyle/>
          <a:p>
            <a:r>
              <a:rPr sz="1700" b="1">
                <a:solidFill>
                  <a:srgbClr val="2E86C1"/>
                </a:solidFill>
                <a:latin typeface="Times New Roman"/>
                <a:ea typeface="Microsoft YaHei"/>
              </a:rPr>
              <a:t>四类市场结构的特征、企业最优产量与价格决定及寡头动态博弈</a:t>
            </a:r>
          </a:p>
        </p:txBody>
      </p:sp>
      <p:sp>
        <p:nvSpPr>
          <p:cNvPr id="8" name="Rectangle 7"/>
          <p:cNvSpPr/>
          <p:nvPr/>
        </p:nvSpPr>
        <p:spPr>
          <a:xfrm>
            <a:off x="914400" y="3474720"/>
            <a:ext cx="10362895" cy="246888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474720"/>
            <a:ext cx="103628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03320"/>
            <a:ext cx="9784080" cy="2103120"/>
          </a:xfrm>
          <a:prstGeom prst="rect">
            <a:avLst/>
          </a:prstGeom>
          <a:noFill/>
        </p:spPr>
        <p:txBody>
          <a:bodyPr wrap="none">
            <a:spAutoFit/>
          </a:bodyPr>
          <a:lstStyle/>
          <a:p>
            <a:r>
              <a:rPr sz="1350" b="0">
                <a:solidFill>
                  <a:srgbClr val="2C2C2C"/>
                </a:solidFill>
                <a:latin typeface="Times New Roman"/>
                <a:ea typeface="Microsoft YaHei"/>
              </a:rPr>
              <a:t>•  市场结构四分类标准：完全竞争、垄断竞争、寡头垄断与完全垄断的判定维度</a:t>
            </a:r>
          </a:p>
          <a:p>
            <a:r>
              <a:rPr sz="1350" b="0">
                <a:solidFill>
                  <a:srgbClr val="2C2C2C"/>
                </a:solidFill>
                <a:latin typeface="Times New Roman"/>
                <a:ea typeface="Microsoft YaHei"/>
              </a:rPr>
              <a:t>•  完全竞争市场：企业需求曲线水平、短期停产点与收支平衡点、长期零经济利润均衡</a:t>
            </a:r>
          </a:p>
          <a:p>
            <a:r>
              <a:rPr sz="1350" b="0">
                <a:solidFill>
                  <a:srgbClr val="2C2C2C"/>
                </a:solidFill>
                <a:latin typeface="Times New Roman"/>
                <a:ea typeface="Microsoft YaHei"/>
              </a:rPr>
              <a:t>•  完全垄断市场：向下倾斜的需求曲线与边际收益、垄断定价法则、社会福利净损失与寻租</a:t>
            </a:r>
          </a:p>
          <a:p>
            <a:r>
              <a:rPr sz="1350" b="0">
                <a:solidFill>
                  <a:srgbClr val="2C2C2C"/>
                </a:solidFill>
                <a:latin typeface="Times New Roman"/>
                <a:ea typeface="Microsoft YaHei"/>
              </a:rPr>
              <a:t>•  垄断竞争市场：产品差异化竞争、短期超额利润与长期超额生产能力 (Excess Capacity)</a:t>
            </a:r>
          </a:p>
          <a:p>
            <a:r>
              <a:rPr sz="1350" b="0">
                <a:solidFill>
                  <a:srgbClr val="2C2C2C"/>
                </a:solidFill>
                <a:latin typeface="Times New Roman"/>
                <a:ea typeface="Microsoft YaHei"/>
              </a:rPr>
              <a:t>•  寡头垄断与博弈论入门：古诺双头模型 (Cournot)、斯威齐折拐需求曲线、囚徒困境与纳什均衡</a:t>
            </a:r>
          </a:p>
        </p:txBody>
      </p:sp>
      <p:sp>
        <p:nvSpPr>
          <p:cNvPr id="11" name="TextBox 10"/>
          <p:cNvSpPr txBox="1"/>
          <p:nvPr/>
        </p:nvSpPr>
        <p:spPr>
          <a:xfrm>
            <a:off x="914400" y="6309360"/>
            <a:ext cx="7315200" cy="320040"/>
          </a:xfrm>
          <a:prstGeom prst="rect">
            <a:avLst/>
          </a:prstGeom>
          <a:noFill/>
        </p:spPr>
        <p:txBody>
          <a:bodyPr wrap="none">
            <a:spAutoFit/>
          </a:bodyPr>
          <a:lstStyle/>
          <a:p>
            <a:r>
              <a:rPr sz="1100" b="0">
                <a:solidFill>
                  <a:srgbClr val="6B6B6B"/>
                </a:solidFill>
                <a:latin typeface="Times New Roman"/>
                <a:ea typeface="Microsoft YaHei"/>
              </a:rPr>
              <a:t>《管理经济学（第7版）》核心教学课件系列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本章概览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市场结构与企业策略行为逻辑框架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四类市场划分 (第1节)</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厂商数目与集中度</a:t>
            </a:r>
          </a:p>
          <a:p>
            <a:r>
              <a:rPr sz="1200" b="0">
                <a:solidFill>
                  <a:srgbClr val="2C2C2C"/>
                </a:solidFill>
                <a:latin typeface="Times New Roman"/>
                <a:ea typeface="Microsoft YaHei"/>
              </a:rPr>
              <a:t>• 产品同质性与差异度</a:t>
            </a:r>
          </a:p>
          <a:p>
            <a:r>
              <a:rPr sz="1200" b="0">
                <a:solidFill>
                  <a:srgbClr val="2C2C2C"/>
                </a:solidFill>
                <a:latin typeface="Times New Roman"/>
                <a:ea typeface="Microsoft YaHei"/>
              </a:rPr>
              <a:t>• 行业进出壁垒高低</a:t>
            </a:r>
          </a:p>
          <a:p>
            <a:r>
              <a:rPr sz="1200" b="0">
                <a:solidFill>
                  <a:srgbClr val="2C2C2C"/>
                </a:solidFill>
                <a:latin typeface="Times New Roman"/>
                <a:ea typeface="Microsoft YaHei"/>
              </a:rPr>
              <a:t>• 企业价格控制能力</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完全竞争市场 (第2节)</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水平需求 P=MR=AR</a:t>
            </a:r>
          </a:p>
          <a:p>
            <a:r>
              <a:rPr sz="1200" b="0">
                <a:solidFill>
                  <a:srgbClr val="2C2C2C"/>
                </a:solidFill>
                <a:latin typeface="Times New Roman"/>
                <a:ea typeface="Microsoft YaHei"/>
              </a:rPr>
              <a:t>• 短期停产点 P &lt; AVC</a:t>
            </a:r>
          </a:p>
          <a:p>
            <a:r>
              <a:rPr sz="1200" b="0">
                <a:solidFill>
                  <a:srgbClr val="2C2C2C"/>
                </a:solidFill>
                <a:latin typeface="Times New Roman"/>
                <a:ea typeface="Microsoft YaHei"/>
              </a:rPr>
              <a:t>• 短期供给曲线推导</a:t>
            </a:r>
          </a:p>
          <a:p>
            <a:r>
              <a:rPr sz="1200" b="0">
                <a:solidFill>
                  <a:srgbClr val="2C2C2C"/>
                </a:solidFill>
                <a:latin typeface="Times New Roman"/>
                <a:ea typeface="Microsoft YaHei"/>
              </a:rPr>
              <a:t>• 长期零经济利润均衡</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完全垄断市场 (第3节)</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向下倾斜需求 MR &lt; P</a:t>
            </a:r>
          </a:p>
          <a:p>
            <a:r>
              <a:rPr sz="1200" b="0">
                <a:solidFill>
                  <a:srgbClr val="2C2C2C"/>
                </a:solidFill>
                <a:latin typeface="Times New Roman"/>
                <a:ea typeface="Microsoft YaHei"/>
              </a:rPr>
              <a:t>• 垄断最优定价法则</a:t>
            </a:r>
          </a:p>
          <a:p>
            <a:r>
              <a:rPr sz="1200" b="0">
                <a:solidFill>
                  <a:srgbClr val="2C2C2C"/>
                </a:solidFill>
                <a:latin typeface="Times New Roman"/>
                <a:ea typeface="Microsoft YaHei"/>
              </a:rPr>
              <a:t>• 勒纳指数度量势力</a:t>
            </a:r>
          </a:p>
          <a:p>
            <a:r>
              <a:rPr sz="1200" b="0">
                <a:solidFill>
                  <a:srgbClr val="2C2C2C"/>
                </a:solidFill>
                <a:latin typeface="Times New Roman"/>
                <a:ea typeface="Microsoft YaHei"/>
              </a:rPr>
              <a:t>• 无谓损失 DWL 与寻租</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垄断竞争与寡头 (第4-5节)</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产品差异化是生命线</a:t>
            </a:r>
          </a:p>
          <a:p>
            <a:r>
              <a:rPr sz="1200" b="0">
                <a:solidFill>
                  <a:srgbClr val="2C2C2C"/>
                </a:solidFill>
                <a:latin typeface="Times New Roman"/>
                <a:ea typeface="Microsoft YaHei"/>
              </a:rPr>
              <a:t>• 超额生产能力代价</a:t>
            </a:r>
          </a:p>
          <a:p>
            <a:r>
              <a:rPr sz="1200" b="0">
                <a:solidFill>
                  <a:srgbClr val="2C2C2C"/>
                </a:solidFill>
                <a:latin typeface="Times New Roman"/>
                <a:ea typeface="Microsoft YaHei"/>
              </a:rPr>
              <a:t>• 折拐需求曲线价格刚性</a:t>
            </a:r>
          </a:p>
          <a:p>
            <a:r>
              <a:rPr sz="1200" b="0">
                <a:solidFill>
                  <a:srgbClr val="2C2C2C"/>
                </a:solidFill>
                <a:latin typeface="Times New Roman"/>
                <a:ea typeface="Microsoft YaHei"/>
              </a:rPr>
              <a:t>• 古诺模型与囚徒困境</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归纳要义：核心主线：外部市场结构决定了企业的定价权边界与战略空间；从被动接受价格到主动垄断定价，再到寡头之间的针锋相对与博弈演进。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1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市场结构的分类标准与特征矩阵</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四类市场界定 · 集中度与CR4/HHI · 进出壁垒 · 产品差异度 · 市场势力</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市场结构分类</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四种基本市场结构的特征对比矩阵 (表 6-1)</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4</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完全竞争 (Perfect Comp.)</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厂商数目：无数多个极小企业</a:t>
            </a:r>
          </a:p>
          <a:p>
            <a:r>
              <a:rPr sz="1200" b="0">
                <a:solidFill>
                  <a:srgbClr val="2C2C2C"/>
                </a:solidFill>
                <a:latin typeface="Times New Roman"/>
                <a:ea typeface="Microsoft YaHei"/>
              </a:rPr>
              <a:t>• 产品特征：完全同质无差异</a:t>
            </a:r>
          </a:p>
          <a:p>
            <a:r>
              <a:rPr sz="1200" b="0">
                <a:solidFill>
                  <a:srgbClr val="2C2C2C"/>
                </a:solidFill>
                <a:latin typeface="Times New Roman"/>
                <a:ea typeface="Microsoft YaHei"/>
              </a:rPr>
              <a:t>• 价格控制：零（价格接受者 Price Taker）</a:t>
            </a:r>
          </a:p>
          <a:p>
            <a:r>
              <a:rPr sz="1200" b="0">
                <a:solidFill>
                  <a:srgbClr val="2C2C2C"/>
                </a:solidFill>
                <a:latin typeface="Times New Roman"/>
                <a:ea typeface="Microsoft YaHei"/>
              </a:rPr>
              <a:t>• 进出壁垒：完全自由进出</a:t>
            </a:r>
          </a:p>
          <a:p>
            <a:r>
              <a:rPr sz="1200" b="0">
                <a:solidFill>
                  <a:srgbClr val="2C2C2C"/>
                </a:solidFill>
                <a:latin typeface="Times New Roman"/>
                <a:ea typeface="Microsoft YaHei"/>
              </a:rPr>
              <a:t>• 典型：大宗农产品、初级矿石</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垄断竞争 (Monopolistic)</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厂商数目：非常多中小型企业</a:t>
            </a:r>
          </a:p>
          <a:p>
            <a:r>
              <a:rPr sz="1200" b="0">
                <a:solidFill>
                  <a:srgbClr val="2C2C2C"/>
                </a:solidFill>
                <a:latin typeface="Times New Roman"/>
                <a:ea typeface="Microsoft YaHei"/>
              </a:rPr>
              <a:t>• 产品特征：存在品牌/功能差异</a:t>
            </a:r>
          </a:p>
          <a:p>
            <a:r>
              <a:rPr sz="1200" b="0">
                <a:solidFill>
                  <a:srgbClr val="2C2C2C"/>
                </a:solidFill>
                <a:latin typeface="Times New Roman"/>
                <a:ea typeface="Microsoft YaHei"/>
              </a:rPr>
              <a:t>• 价格控制：有微弱自主控制力</a:t>
            </a:r>
          </a:p>
          <a:p>
            <a:r>
              <a:rPr sz="1200" b="0">
                <a:solidFill>
                  <a:srgbClr val="2C2C2C"/>
                </a:solidFill>
                <a:latin typeface="Times New Roman"/>
                <a:ea typeface="Microsoft YaHei"/>
              </a:rPr>
              <a:t>• 进出壁垒：进出较为容易</a:t>
            </a:r>
          </a:p>
          <a:p>
            <a:r>
              <a:rPr sz="1200" b="0">
                <a:solidFill>
                  <a:srgbClr val="2C2C2C"/>
                </a:solidFill>
                <a:latin typeface="Times New Roman"/>
                <a:ea typeface="Microsoft YaHei"/>
              </a:rPr>
              <a:t>• 典型：餐饮零售、服装、家化</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寡头垄断 (Oligopoly)</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厂商数目：极少数几家巨头</a:t>
            </a:r>
          </a:p>
          <a:p>
            <a:r>
              <a:rPr sz="1200" b="0">
                <a:solidFill>
                  <a:srgbClr val="2C2C2C"/>
                </a:solidFill>
                <a:latin typeface="Times New Roman"/>
                <a:ea typeface="Microsoft YaHei"/>
              </a:rPr>
              <a:t>• 产品特征：同质或高度差异化</a:t>
            </a:r>
          </a:p>
          <a:p>
            <a:r>
              <a:rPr sz="1200" b="0">
                <a:solidFill>
                  <a:srgbClr val="2C2C2C"/>
                </a:solidFill>
                <a:latin typeface="Times New Roman"/>
                <a:ea typeface="Microsoft YaHei"/>
              </a:rPr>
              <a:t>• 价格控制：高度控制（策略相互依存）</a:t>
            </a:r>
          </a:p>
          <a:p>
            <a:r>
              <a:rPr sz="1200" b="0">
                <a:solidFill>
                  <a:srgbClr val="2C2C2C"/>
                </a:solidFill>
                <a:latin typeface="Times New Roman"/>
                <a:ea typeface="Microsoft YaHei"/>
              </a:rPr>
              <a:t>• 进出壁垒：极高（资金/技术/资质）</a:t>
            </a:r>
          </a:p>
          <a:p>
            <a:r>
              <a:rPr sz="1200" b="0">
                <a:solidFill>
                  <a:srgbClr val="2C2C2C"/>
                </a:solidFill>
                <a:latin typeface="Times New Roman"/>
                <a:ea typeface="Microsoft YaHei"/>
              </a:rPr>
              <a:t>• 典型：民航客机、汽车、电信</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完全垄断 (Pure Monopoly)</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厂商数目：仅此一家独占厂商</a:t>
            </a:r>
          </a:p>
          <a:p>
            <a:r>
              <a:rPr sz="1200" b="0">
                <a:solidFill>
                  <a:srgbClr val="2C2C2C"/>
                </a:solidFill>
                <a:latin typeface="Times New Roman"/>
                <a:ea typeface="Microsoft YaHei"/>
              </a:rPr>
              <a:t>• 产品特征：独一无二无替代品</a:t>
            </a:r>
          </a:p>
          <a:p>
            <a:r>
              <a:rPr sz="1200" b="0">
                <a:solidFill>
                  <a:srgbClr val="2C2C2C"/>
                </a:solidFill>
                <a:latin typeface="Times New Roman"/>
                <a:ea typeface="Microsoft YaHei"/>
              </a:rPr>
              <a:t>• 价格控制：极高（价格制定者 Price Maker）</a:t>
            </a:r>
          </a:p>
          <a:p>
            <a:r>
              <a:rPr sz="1200" b="0">
                <a:solidFill>
                  <a:srgbClr val="2C2C2C"/>
                </a:solidFill>
                <a:latin typeface="Times New Roman"/>
                <a:ea typeface="Microsoft YaHei"/>
              </a:rPr>
              <a:t>• 进出壁垒：完全封锁</a:t>
            </a:r>
          </a:p>
          <a:p>
            <a:r>
              <a:rPr sz="1200" b="0">
                <a:solidFill>
                  <a:srgbClr val="2C2C2C"/>
                </a:solidFill>
                <a:latin typeface="Times New Roman"/>
                <a:ea typeface="Microsoft YaHei"/>
              </a:rPr>
              <a:t>• 典型：公用电网、国家邮政、专利新药</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归纳要义：市场结构越靠近完全竞争，社会资源配置效率越高；越靠近垄断，企业超额利润越丰厚但社会福利损失越大。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2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完全竞争市场下的企业经营决策</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水平需求曲线 · P=MR=AR · 短期停产点 · 收支平衡点 · 长期零利润</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完全竞争市场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完全竞争企业的需求曲线与短期决策平衡</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企业面临的水平需求曲线 (P = MR = AR)</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价格接受者特征</a:t>
            </a:r>
          </a:p>
          <a:p>
            <a:r>
              <a:rPr sz="1250" b="0">
                <a:solidFill>
                  <a:srgbClr val="2C2C2C"/>
                </a:solidFill>
                <a:latin typeface="Times New Roman"/>
                <a:ea typeface="Microsoft YaHei"/>
              </a:rPr>
              <a:t>  单一微小企业产出占全行业比例微不足道，无论卖多少都只能按行业既定市场价格 P0 出售。</a:t>
            </a:r>
          </a:p>
          <a:p>
            <a:r>
              <a:rPr sz="1400" b="1">
                <a:solidFill>
                  <a:srgbClr val="1B3A5C"/>
                </a:solidFill>
                <a:latin typeface="Times New Roman"/>
                <a:ea typeface="Microsoft YaHei"/>
              </a:rPr>
              <a:t>2. 三线合一的几何形态</a:t>
            </a:r>
          </a:p>
          <a:p>
            <a:r>
              <a:rPr sz="1250" b="0">
                <a:solidFill>
                  <a:srgbClr val="2C2C2C"/>
                </a:solidFill>
                <a:latin typeface="Times New Roman"/>
                <a:ea typeface="Microsoft YaHei"/>
              </a:rPr>
              <a:t>  企业面临的需求曲线 d 是一条水平直线，且恒有：P0 = MR = AR。</a:t>
            </a:r>
          </a:p>
          <a:p>
            <a:r>
              <a:rPr sz="1400" b="1">
                <a:solidFill>
                  <a:srgbClr val="1B3A5C"/>
                </a:solidFill>
                <a:latin typeface="Times New Roman"/>
                <a:ea typeface="Microsoft YaHei"/>
              </a:rPr>
              <a:t>3. 利润最大化产出原则</a:t>
            </a:r>
          </a:p>
          <a:p>
            <a:r>
              <a:rPr sz="1250" b="0">
                <a:solidFill>
                  <a:srgbClr val="2C2C2C"/>
                </a:solidFill>
                <a:latin typeface="Times New Roman"/>
                <a:ea typeface="Microsoft YaHei"/>
              </a:rPr>
              <a:t>  令 MR = MC，即 P0 = MC(Q*)，企业只需根据当前市场价格决定最优产销量 Q*。</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短期停产点与收支平衡点 (图 6-3)</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收支平衡点 (Break-even Point: P = ATC最低点)</a:t>
            </a:r>
          </a:p>
          <a:p>
            <a:r>
              <a:rPr sz="1250" b="0">
                <a:solidFill>
                  <a:srgbClr val="2C2C2C"/>
                </a:solidFill>
                <a:latin typeface="Times New Roman"/>
                <a:ea typeface="Microsoft YaHei"/>
              </a:rPr>
              <a:t>  此时经济利润为 0，企业刚好赚取正常利润，全部资本获得合理补偿。</a:t>
            </a:r>
          </a:p>
          <a:p>
            <a:r>
              <a:rPr sz="1400" b="1">
                <a:solidFill>
                  <a:srgbClr val="2E86C1"/>
                </a:solidFill>
                <a:latin typeface="Times New Roman"/>
                <a:ea typeface="Microsoft YaHei"/>
              </a:rPr>
              <a:t>2. 亏损但继续生产区间 (AVC最低点 &lt; P &lt; ATC最低点)</a:t>
            </a:r>
          </a:p>
          <a:p>
            <a:r>
              <a:rPr sz="1250" b="0">
                <a:solidFill>
                  <a:srgbClr val="2C2C2C"/>
                </a:solidFill>
                <a:latin typeface="Times New Roman"/>
                <a:ea typeface="Microsoft YaHei"/>
              </a:rPr>
              <a:t>  P &gt; AVC 说明销售收入在扣减可变成本后仍有剩余贡献毛益用于补偿部分固定成本。继续生产比立刻停产亏损更小！</a:t>
            </a:r>
          </a:p>
          <a:p>
            <a:r>
              <a:rPr sz="1400" b="1">
                <a:solidFill>
                  <a:srgbClr val="2E86C1"/>
                </a:solidFill>
                <a:latin typeface="Times New Roman"/>
                <a:ea typeface="Microsoft YaHei"/>
              </a:rPr>
              <a:t>3. 停产点 / 关门点 (Shutdown Point: P ≤ AVC最低点)</a:t>
            </a:r>
          </a:p>
          <a:p>
            <a:r>
              <a:rPr sz="1250" b="0">
                <a:solidFill>
                  <a:srgbClr val="2C2C2C"/>
                </a:solidFill>
                <a:latin typeface="Times New Roman"/>
                <a:ea typeface="Microsoft YaHei"/>
              </a:rPr>
              <a:t>  P 连可变成本都无法覆盖，多生产一件亏损多一件，企业必须立刻拉闸停工！</a:t>
            </a:r>
          </a:p>
          <a:p>
            <a:r>
              <a:rPr sz="1400" b="1">
                <a:solidFill>
                  <a:srgbClr val="2E86C1"/>
                </a:solidFill>
                <a:latin typeface="Times New Roman"/>
                <a:ea typeface="Microsoft YaHei"/>
              </a:rPr>
              <a:t>4. 短期供给曲线</a:t>
            </a:r>
          </a:p>
          <a:p>
            <a:r>
              <a:rPr sz="1250" b="0">
                <a:solidFill>
                  <a:srgbClr val="2C2C2C"/>
                </a:solidFill>
                <a:latin typeface="Times New Roman"/>
                <a:ea typeface="Microsoft YaHei"/>
              </a:rPr>
              <a:t>  完全竞争企业的短期供给曲线即为 MC 曲线位于 AVC 最低点以上的那一段上升曲线！</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核心结论：完全竞争企业短期停产的唯一判断准则：市场价格是否跌破平均可变成本最低点 (P &lt; AVC_min)。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完全竞争市场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完全竞争短期决策算例解析 (例 6-1)</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7</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算例条件与成本函数</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某完全竞争企业短期成本函数</a:t>
            </a:r>
          </a:p>
          <a:p>
            <a:r>
              <a:rPr sz="1250" b="0">
                <a:solidFill>
                  <a:srgbClr val="2C2C2C"/>
                </a:solidFill>
                <a:latin typeface="Times New Roman"/>
                <a:ea typeface="Microsoft YaHei"/>
              </a:rPr>
              <a:t>  TC = 0.1Q³ - 2Q² + 15Q + 10
(式中：固定成本 TFC = 10，可变成本 TVC = 0.1Q³ - 2Q² + 15Q)</a:t>
            </a:r>
          </a:p>
          <a:p>
            <a:r>
              <a:rPr sz="1400" b="1">
                <a:solidFill>
                  <a:srgbClr val="1B3A5C"/>
                </a:solidFill>
                <a:latin typeface="Times New Roman"/>
                <a:ea typeface="Microsoft YaHei"/>
              </a:rPr>
              <a:t>2. 边际成本函数求导</a:t>
            </a:r>
          </a:p>
          <a:p>
            <a:r>
              <a:rPr sz="1250" b="0">
                <a:solidFill>
                  <a:srgbClr val="2C2C2C"/>
                </a:solidFill>
                <a:latin typeface="Times New Roman"/>
                <a:ea typeface="Microsoft YaHei"/>
              </a:rPr>
              <a:t>  MC = d(TC)/dQ = 0.3Q² - 4Q + 15</a:t>
            </a:r>
          </a:p>
          <a:p>
            <a:r>
              <a:rPr sz="1400" b="1">
                <a:solidFill>
                  <a:srgbClr val="1B3A5C"/>
                </a:solidFill>
                <a:latin typeface="Times New Roman"/>
                <a:ea typeface="Microsoft YaHei"/>
              </a:rPr>
              <a:t>3. 平均可变成本函数</a:t>
            </a:r>
          </a:p>
          <a:p>
            <a:r>
              <a:rPr sz="1250" b="0">
                <a:solidFill>
                  <a:srgbClr val="2C2C2C"/>
                </a:solidFill>
                <a:latin typeface="Times New Roman"/>
                <a:ea typeface="Microsoft YaHei"/>
              </a:rPr>
              <a:t>  AVC = TVC / Q = 0.1Q² - 2Q + 15</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求解最优产量与停产价格</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求解停产临界点 (AVC 最低点)</a:t>
            </a:r>
          </a:p>
          <a:p>
            <a:r>
              <a:rPr sz="1250" b="0">
                <a:solidFill>
                  <a:srgbClr val="2C2C2C"/>
                </a:solidFill>
                <a:latin typeface="Times New Roman"/>
                <a:ea typeface="Microsoft YaHei"/>
              </a:rPr>
              <a:t>  令 d(AVC)/dQ = 0.2Q - 2 = 0 → Q = 10。
代入得 AVC_min = 0.1(100) - 2(10) + 15 = 10 - 20 + 15 = 5 元。
👉 结论：若市场价格 P &lt; 5 元，企业必须立刻停产！</a:t>
            </a:r>
          </a:p>
          <a:p>
            <a:r>
              <a:rPr sz="1400" b="1">
                <a:solidFill>
                  <a:srgbClr val="2E86C1"/>
                </a:solidFill>
                <a:latin typeface="Times New Roman"/>
                <a:ea typeface="Microsoft YaHei"/>
              </a:rPr>
              <a:t>2. 若市场价格 P = 20 元时的最优产量</a:t>
            </a:r>
          </a:p>
          <a:p>
            <a:r>
              <a:rPr sz="1250" b="0">
                <a:solidFill>
                  <a:srgbClr val="2C2C2C"/>
                </a:solidFill>
                <a:latin typeface="Times New Roman"/>
                <a:ea typeface="Microsoft YaHei"/>
              </a:rPr>
              <a:t>  令 P = MC → 20 = 0.3Q² - 4Q + 15 → 0.3Q² - 4Q - 5 = 0
解得最优产量 Q* ≈ 14.49 件。
代入总利润 π = (20×14.49) - TC(14.49) &gt; 0 (实现超额利润)！</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核心结论：通过成本函数求导，企业能够精准锁定停产红线价格与各价格水平下的最优利润产出。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完全竞争市场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长期均衡：自由进出与零经济利润 (Zero Economic Profit)</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长期行业动态调整机制</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超额利润引发行业进入</a:t>
            </a:r>
          </a:p>
          <a:p>
            <a:r>
              <a:rPr sz="1250" b="0">
                <a:solidFill>
                  <a:srgbClr val="2C2C2C"/>
                </a:solidFill>
                <a:latin typeface="Times New Roman"/>
                <a:ea typeface="Microsoft YaHei"/>
              </a:rPr>
              <a:t>  若行业内存在经济利润 (P &gt; LAC)，外部资本迅速涌入建厂，行业总供给 S 右移，推动市场出清价格 P 下跌直至利润消失。</a:t>
            </a:r>
          </a:p>
          <a:p>
            <a:r>
              <a:rPr sz="1400" b="1">
                <a:solidFill>
                  <a:srgbClr val="1B3A5C"/>
                </a:solidFill>
                <a:latin typeface="Times New Roman"/>
                <a:ea typeface="Microsoft YaHei"/>
              </a:rPr>
              <a:t>2. 行业亏损引发企业退出</a:t>
            </a:r>
          </a:p>
          <a:p>
            <a:r>
              <a:rPr sz="1250" b="0">
                <a:solidFill>
                  <a:srgbClr val="2C2C2C"/>
                </a:solidFill>
                <a:latin typeface="Times New Roman"/>
                <a:ea typeface="Microsoft YaHei"/>
              </a:rPr>
              <a:t>  若全行业亏损 (P &lt; LAC)，低效企业陆续破产退出，行业总供给 S 左移，推动价格回升至盈亏平衡点。</a:t>
            </a:r>
          </a:p>
          <a:p>
            <a:r>
              <a:rPr sz="1400" b="1">
                <a:solidFill>
                  <a:srgbClr val="1B3A5C"/>
                </a:solidFill>
                <a:latin typeface="Times New Roman"/>
                <a:ea typeface="Microsoft YaHei"/>
              </a:rPr>
              <a:t>3. 长期均衡终极状态</a:t>
            </a:r>
          </a:p>
          <a:p>
            <a:r>
              <a:rPr sz="1250" b="0">
                <a:solidFill>
                  <a:srgbClr val="2C2C2C"/>
                </a:solidFill>
                <a:latin typeface="Times New Roman"/>
                <a:ea typeface="Microsoft YaHei"/>
              </a:rPr>
              <a:t>  行业内部无资本流入流出冲动，所有企业实现长期静态均衡。</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长期均衡的黄金数学条件与社会效率</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长期均衡等式 (公式 6-4)</a:t>
            </a:r>
          </a:p>
          <a:p>
            <a:r>
              <a:rPr sz="1250" b="0">
                <a:solidFill>
                  <a:srgbClr val="2C2C2C"/>
                </a:solidFill>
                <a:latin typeface="Times New Roman"/>
                <a:ea typeface="Microsoft YaHei"/>
              </a:rPr>
              <a:t>  P = MR = LMC = SMC = LAC最低点 = SAC最低点</a:t>
            </a:r>
          </a:p>
          <a:p>
            <a:r>
              <a:rPr sz="1400" b="1">
                <a:solidFill>
                  <a:srgbClr val="2E86C1"/>
                </a:solidFill>
                <a:latin typeface="Times New Roman"/>
                <a:ea typeface="Microsoft YaHei"/>
              </a:rPr>
              <a:t>2. 生产效率最优化 (Productive Efficiency)</a:t>
            </a:r>
          </a:p>
          <a:p>
            <a:r>
              <a:rPr sz="1250" b="0">
                <a:solidFill>
                  <a:srgbClr val="2C2C2C"/>
                </a:solidFill>
                <a:latin typeface="Times New Roman"/>
                <a:ea typeface="Microsoft YaHei"/>
              </a:rPr>
              <a:t>  企业被迫在长期平均成本 LAC 的最低点组织生产，社会以最低的可能成本生产商品。</a:t>
            </a:r>
          </a:p>
          <a:p>
            <a:r>
              <a:rPr sz="1400" b="1">
                <a:solidFill>
                  <a:srgbClr val="2E86C1"/>
                </a:solidFill>
                <a:latin typeface="Times New Roman"/>
                <a:ea typeface="Microsoft YaHei"/>
              </a:rPr>
              <a:t>3. 配置效率最优化 (Allocative Efficiency)</a:t>
            </a:r>
          </a:p>
          <a:p>
            <a:r>
              <a:rPr sz="1250" b="0">
                <a:solidFill>
                  <a:srgbClr val="2C2C2C"/>
                </a:solidFill>
                <a:latin typeface="Times New Roman"/>
                <a:ea typeface="Microsoft YaHei"/>
              </a:rPr>
              <a:t>  价格等于边际成本 (P = MC)，消费者支付意愿恰好等于生产最后一单位商品的社会资源机会成本，无任何效率浪费！</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核心结论：完全竞争市场长期内消灭了一切超额经济利润，迫使所有企业把经营效率推至极致，消费者获得最大社会福利。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3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完全垄断市场下的企业决策与社会福利</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向下倾斜需求 · MR&lt;P · 垄断定价 · 勒纳指数 · 福利损失与寻租</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完全垄断市场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完全垄断企业的边际收益与定价法则</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需求曲线与边际收益曲线关系</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需求函数与反需求函数</a:t>
            </a:r>
          </a:p>
          <a:p>
            <a:r>
              <a:rPr sz="1250" b="0">
                <a:solidFill>
                  <a:srgbClr val="2C2C2C"/>
                </a:solidFill>
                <a:latin typeface="Times New Roman"/>
                <a:ea typeface="Microsoft YaHei"/>
              </a:rPr>
              <a:t>  设反需求函数为线性形式：P = a - b·Q。</a:t>
            </a:r>
          </a:p>
          <a:p>
            <a:r>
              <a:rPr sz="1400" b="1">
                <a:solidFill>
                  <a:srgbClr val="1B3A5C"/>
                </a:solidFill>
                <a:latin typeface="Times New Roman"/>
                <a:ea typeface="Microsoft YaHei"/>
              </a:rPr>
              <a:t>2. 总收益与边际收益推导</a:t>
            </a:r>
          </a:p>
          <a:p>
            <a:r>
              <a:rPr sz="1250" b="0">
                <a:solidFill>
                  <a:srgbClr val="2C2C2C"/>
                </a:solidFill>
                <a:latin typeface="Times New Roman"/>
                <a:ea typeface="Microsoft YaHei"/>
              </a:rPr>
              <a:t>  TR = P · Q = (a - b·Q) · Q = a·Q - b·Q²
MR = d(TR)/dQ = a - 2b·Q (斜率是需求曲线的 2 倍！)</a:t>
            </a:r>
          </a:p>
          <a:p>
            <a:r>
              <a:rPr sz="1400" b="1">
                <a:solidFill>
                  <a:srgbClr val="1B3A5C"/>
                </a:solidFill>
                <a:latin typeface="Times New Roman"/>
                <a:ea typeface="Microsoft YaHei"/>
              </a:rPr>
              <a:t>3. 几何特征</a:t>
            </a:r>
          </a:p>
          <a:p>
            <a:r>
              <a:rPr sz="1250" b="0">
                <a:solidFill>
                  <a:srgbClr val="2C2C2C"/>
                </a:solidFill>
                <a:latin typeface="Times New Roman"/>
                <a:ea typeface="Microsoft YaHei"/>
              </a:rPr>
              <a:t>  边际收益曲线 MR 与需求曲线 D 从纵轴同一点 a 出发，MR 向下倾斜速度是 D 的两倍，且平分纵轴与需求曲线横截距！</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垄断最优定价法则与算例 (例 6-2)</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垄断定价公式</a:t>
            </a:r>
          </a:p>
          <a:p>
            <a:r>
              <a:rPr sz="1250" b="0">
                <a:solidFill>
                  <a:srgbClr val="2C2C2C"/>
                </a:solidFill>
                <a:latin typeface="Times New Roman"/>
                <a:ea typeface="Microsoft YaHei"/>
              </a:rPr>
              <a:t>  P = MC / [ 1 - 1/|εp| ]
需求价格弹性 |εp| 越小，垄断企业加价空间越大；弹性越大，加价空间受限。</a:t>
            </a:r>
          </a:p>
          <a:p>
            <a:r>
              <a:rPr sz="1400" b="1">
                <a:solidFill>
                  <a:srgbClr val="2E86C1"/>
                </a:solidFill>
                <a:latin typeface="Times New Roman"/>
                <a:ea typeface="Microsoft YaHei"/>
              </a:rPr>
              <a:t>2. 算例解析 (例 6-2)</a:t>
            </a:r>
          </a:p>
          <a:p>
            <a:r>
              <a:rPr sz="1250" b="0">
                <a:solidFill>
                  <a:srgbClr val="2C2C2C"/>
                </a:solidFill>
                <a:latin typeface="Times New Roman"/>
                <a:ea typeface="Microsoft YaHei"/>
              </a:rPr>
              <a:t>  已知反需求函数 P = 100 - 4Q，边际成本 MC = 20：
👉 边际收益 MR = 100 - 8Q。
👉 令 MR = MC → 100 - 8Q = 20 → 8Q = 80 → 最优产量 Q_m = 10 件。
👉 代入需求方程得垄断价格 P_m = 100 - (4×10) = 60 元 (P_m 远高于 MC 20元！)。</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核心结论：垄断企业通过人为压低产量 (Q_m=10) 索取高额垄断溢价 (P_m=60)，赚取超额垄断利润。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完全垄断市场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勒纳指数 (Lerner Index) 与市场势力度量</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11</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勒纳指数的定义与公式 (公式 6-8)</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核心数学定义</a:t>
            </a:r>
          </a:p>
          <a:p>
            <a:r>
              <a:rPr sz="1250" b="0">
                <a:solidFill>
                  <a:srgbClr val="2C2C2C"/>
                </a:solidFill>
                <a:latin typeface="Times New Roman"/>
                <a:ea typeface="Microsoft YaHei"/>
              </a:rPr>
              <a:t>  L = (P - MC) / P = 1 / |εp|
衡量商品价格偏离边际成本的相对溢价程度（市场势力 Market Power）。</a:t>
            </a:r>
          </a:p>
          <a:p>
            <a:r>
              <a:rPr sz="1400" b="1">
                <a:solidFill>
                  <a:srgbClr val="1B3A5C"/>
                </a:solidFill>
                <a:latin typeface="Times New Roman"/>
                <a:ea typeface="Microsoft YaHei"/>
              </a:rPr>
              <a:t>2. 指标区间与含义</a:t>
            </a:r>
          </a:p>
          <a:p>
            <a:r>
              <a:rPr sz="1250" b="0">
                <a:solidFill>
                  <a:srgbClr val="2C2C2C"/>
                </a:solidFill>
                <a:latin typeface="Times New Roman"/>
                <a:ea typeface="Microsoft YaHei"/>
              </a:rPr>
              <a:t>  • 完全竞争市场：P = MC → L = 0 (无任何加价能力)；
• 垄断市场：L 介于 0 到 1 之间。L 越大，表明企业定价权越强大、垄断壁垒越坚固。</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垄断势力的持久性与壁垒来源</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法律特许与知识产权</a:t>
            </a:r>
          </a:p>
          <a:p>
            <a:r>
              <a:rPr sz="1250" b="0">
                <a:solidFill>
                  <a:srgbClr val="2C2C2C"/>
                </a:solidFill>
                <a:latin typeface="Times New Roman"/>
                <a:ea typeface="Microsoft YaHei"/>
              </a:rPr>
              <a:t>  政府专营牌照、国家电网特许经营权、制药企业长达 20 年的新药核心化合物专利。</a:t>
            </a:r>
          </a:p>
          <a:p>
            <a:r>
              <a:rPr sz="1400" b="1">
                <a:solidFill>
                  <a:srgbClr val="2E86C1"/>
                </a:solidFill>
                <a:latin typeface="Times New Roman"/>
                <a:ea typeface="Microsoft YaHei"/>
              </a:rPr>
              <a:t>2. 关键稀缺资源独占</a:t>
            </a:r>
          </a:p>
          <a:p>
            <a:r>
              <a:rPr sz="1250" b="0">
                <a:solidFill>
                  <a:srgbClr val="2C2C2C"/>
                </a:solidFill>
                <a:latin typeface="Times New Roman"/>
                <a:ea typeface="Microsoft YaHei"/>
              </a:rPr>
              <a:t>  如戴比尔斯曾经独占全球 80% 的天然钻石原矿供应。</a:t>
            </a:r>
          </a:p>
          <a:p>
            <a:r>
              <a:rPr sz="1400" b="1">
                <a:solidFill>
                  <a:srgbClr val="2E86C1"/>
                </a:solidFill>
                <a:latin typeface="Times New Roman"/>
                <a:ea typeface="Microsoft YaHei"/>
              </a:rPr>
              <a:t>3. 自然垄断 (Natural Monopoly)</a:t>
            </a:r>
          </a:p>
          <a:p>
            <a:r>
              <a:rPr sz="1250" b="0">
                <a:solidFill>
                  <a:srgbClr val="2C2C2C"/>
                </a:solidFill>
                <a:latin typeface="Times New Roman"/>
                <a:ea typeface="Microsoft YaHei"/>
              </a:rPr>
              <a:t>  巨额初始沉淀投资与显著规模经济，使得单一企业供应用网成本远低于多家竞争。</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核心结论：勒纳指数直观量化了企业的定价护城河：弹性越小，企业对市场的支配与索价能力越强。</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完全垄断市场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垄断导致的社会无谓损失 (DWL) 与寻租理论</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12</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无谓损失 (Deadweight Loss, DWL) 几何推导</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产量与价格扭曲</a:t>
            </a:r>
          </a:p>
          <a:p>
            <a:r>
              <a:rPr sz="1250" b="0">
                <a:solidFill>
                  <a:srgbClr val="2C2C2C"/>
                </a:solidFill>
                <a:latin typeface="Times New Roman"/>
                <a:ea typeface="Microsoft YaHei"/>
              </a:rPr>
              <a:t>  相比完全竞争 (P_c, Q_c)，垄断企业人为限制产量 (Q_m &lt; Q_c)，并索取高价 (P_m &gt; P_c)。</a:t>
            </a:r>
          </a:p>
          <a:p>
            <a:r>
              <a:rPr sz="1400" b="1">
                <a:solidFill>
                  <a:srgbClr val="1B3A5C"/>
                </a:solidFill>
                <a:latin typeface="Times New Roman"/>
                <a:ea typeface="Microsoft YaHei"/>
              </a:rPr>
              <a:t>2. 消费者剩余的剥夺与转移</a:t>
            </a:r>
          </a:p>
          <a:p>
            <a:r>
              <a:rPr sz="1250" b="0">
                <a:solidFill>
                  <a:srgbClr val="2C2C2C"/>
                </a:solidFill>
                <a:latin typeface="Times New Roman"/>
                <a:ea typeface="Microsoft YaHei"/>
              </a:rPr>
              <a:t>  消费者剩余 (CS) 大幅缩水，其中一部分转化为垄断者的超额利润。</a:t>
            </a:r>
          </a:p>
          <a:p>
            <a:r>
              <a:rPr sz="1400" b="1">
                <a:solidFill>
                  <a:srgbClr val="1B3A5C"/>
                </a:solidFill>
                <a:latin typeface="Times New Roman"/>
                <a:ea typeface="Microsoft YaHei"/>
              </a:rPr>
              <a:t>3. 纯社会福利净损失 (哈伯格三角形 DWL)</a:t>
            </a:r>
          </a:p>
          <a:p>
            <a:r>
              <a:rPr sz="1250" b="0">
                <a:solidFill>
                  <a:srgbClr val="2C2C2C"/>
                </a:solidFill>
                <a:latin typeface="Times New Roman"/>
                <a:ea typeface="Microsoft YaHei"/>
              </a:rPr>
              <a:t>  在 Q_m 到 Q_c 之间，消费者愿付价格高于边际成本 (P &gt; MC)，本可实现双赢的互利交易被强行扼杀，造成社会总财富净损失！</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寻租理论 (Rent Seeking) 与政府规制</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寻租的概念</a:t>
            </a:r>
          </a:p>
          <a:p>
            <a:r>
              <a:rPr sz="1250" b="0">
                <a:solidFill>
                  <a:srgbClr val="2C2C2C"/>
                </a:solidFill>
                <a:latin typeface="Times New Roman"/>
                <a:ea typeface="Microsoft YaHei"/>
              </a:rPr>
              <a:t>  企业为了获得、维持或强化政府特许垄断地位而耗费的游说、公关与非生产性支出。</a:t>
            </a:r>
          </a:p>
          <a:p>
            <a:r>
              <a:rPr sz="1400" b="1">
                <a:solidFill>
                  <a:srgbClr val="2E86C1"/>
                </a:solidFill>
                <a:latin typeface="Times New Roman"/>
                <a:ea typeface="Microsoft YaHei"/>
              </a:rPr>
              <a:t>2. 寻租带来的额外社会浪费</a:t>
            </a:r>
          </a:p>
          <a:p>
            <a:r>
              <a:rPr sz="1250" b="0">
                <a:solidFill>
                  <a:srgbClr val="2C2C2C"/>
                </a:solidFill>
                <a:latin typeface="Times New Roman"/>
                <a:ea typeface="Microsoft YaHei"/>
              </a:rPr>
              <a:t>  企业把大量宝贵的人才与资金浪费在争夺垄断租金上，导致全社会创新与研发动力退化。</a:t>
            </a:r>
          </a:p>
          <a:p>
            <a:r>
              <a:rPr sz="1400" b="1">
                <a:solidFill>
                  <a:srgbClr val="2E86C1"/>
                </a:solidFill>
                <a:latin typeface="Times New Roman"/>
                <a:ea typeface="Microsoft YaHei"/>
              </a:rPr>
              <a:t>3. 政府反垄断规制工具</a:t>
            </a:r>
          </a:p>
          <a:p>
            <a:r>
              <a:rPr sz="1250" b="0">
                <a:solidFill>
                  <a:srgbClr val="2C2C2C"/>
                </a:solidFill>
                <a:latin typeface="Times New Roman"/>
                <a:ea typeface="Microsoft YaHei"/>
              </a:rPr>
              <a:t>  • 反垄断立法拆分垄断巨头
• 价格上限管制 (RPI - X)
• 引入第三方准入竞争与反不正当竞争审查</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核心结论：反垄断法的根本宗旨是保护市场竞争机制，消除限制产量的垄断弊害，维护消费者与全社会的根本福利。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4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垄断竞争市场与产品差异化竞争</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产品差异化 · 两阶段需求曲线 · 短期利润与长期零利润 · 超额生产能力 · 多样性权衡</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第4节 垄断竞争市场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产品差异化、两阶段需求曲线与长期均衡</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主观需求曲线 d vs 客观市场份额曲线 D</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主观需求曲线 d (平坦)</a:t>
            </a:r>
          </a:p>
          <a:p>
            <a:r>
              <a:rPr sz="1250" b="0">
                <a:solidFill>
                  <a:srgbClr val="2C2C2C"/>
                </a:solidFill>
                <a:latin typeface="Times New Roman"/>
                <a:ea typeface="Microsoft YaHei"/>
              </a:rPr>
              <a:t>  企业假设自己调价而竞争对手不跟进时面临的需求弹性（弹性较大）。</a:t>
            </a:r>
          </a:p>
          <a:p>
            <a:r>
              <a:rPr sz="1400" b="1">
                <a:solidFill>
                  <a:srgbClr val="1B3A5C"/>
                </a:solidFill>
                <a:latin typeface="Times New Roman"/>
                <a:ea typeface="Microsoft YaHei"/>
              </a:rPr>
              <a:t>2. 客观市场份额曲线 D (陡峭)</a:t>
            </a:r>
          </a:p>
          <a:p>
            <a:r>
              <a:rPr sz="1250" b="0">
                <a:solidFill>
                  <a:srgbClr val="2C2C2C"/>
                </a:solidFill>
                <a:latin typeface="Times New Roman"/>
                <a:ea typeface="Microsoft YaHei"/>
              </a:rPr>
              <a:t>  当企业调价而同行业所有竞品集体跟随调价时，企业实际获得的真实市场份额需求（弹性较小）。</a:t>
            </a:r>
          </a:p>
          <a:p>
            <a:r>
              <a:rPr sz="1400" b="1">
                <a:solidFill>
                  <a:srgbClr val="1B3A5C"/>
                </a:solidFill>
                <a:latin typeface="Times New Roman"/>
                <a:ea typeface="Microsoft YaHei"/>
              </a:rPr>
              <a:t>3. 动态博弈过程</a:t>
            </a:r>
          </a:p>
          <a:p>
            <a:r>
              <a:rPr sz="1250" b="0">
                <a:solidFill>
                  <a:srgbClr val="2C2C2C"/>
                </a:solidFill>
                <a:latin typeface="Times New Roman"/>
                <a:ea typeface="Microsoft YaHei"/>
              </a:rPr>
              <a:t>  企业误以为沿 d 降价能大幅抢夺份额，结果同行集体跟随降价，实际沿 D 移动，引发全行业利润萎缩。</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长期均衡与超额生产能力 (Excess Capacity)</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长期零经济利润均衡 (P = LAC)</a:t>
            </a:r>
          </a:p>
          <a:p>
            <a:r>
              <a:rPr sz="1250" b="0">
                <a:solidFill>
                  <a:srgbClr val="2C2C2C"/>
                </a:solidFill>
                <a:latin typeface="Times New Roman"/>
                <a:ea typeface="Microsoft YaHei"/>
              </a:rPr>
              <a:t>  由于自由进出无壁垒，新品牌不断涌入瓜分市场，主观需求曲线 d 持续向左下平移并与 LAC 相切，超额利润被彻底抹平。</a:t>
            </a:r>
          </a:p>
          <a:p>
            <a:r>
              <a:rPr sz="1400" b="1">
                <a:solidFill>
                  <a:srgbClr val="2E86C1"/>
                </a:solidFill>
                <a:latin typeface="Times New Roman"/>
                <a:ea typeface="Microsoft YaHei"/>
              </a:rPr>
              <a:t>2. 超额生产能力代价 (图 6-5)</a:t>
            </a:r>
          </a:p>
          <a:p>
            <a:r>
              <a:rPr sz="1250" b="0">
                <a:solidFill>
                  <a:srgbClr val="2C2C2C"/>
                </a:solidFill>
                <a:latin typeface="Times New Roman"/>
                <a:ea typeface="Microsoft YaHei"/>
              </a:rPr>
              <a:t>  相切点位于 LAC 曲线向下倾斜的左侧，企业实际生产规模 Q_mc 小于长期平均成本最低点对应的最优规模 Q_opt！</a:t>
            </a:r>
          </a:p>
          <a:p>
            <a:r>
              <a:rPr sz="1400" b="1">
                <a:solidFill>
                  <a:srgbClr val="2E86C1"/>
                </a:solidFill>
                <a:latin typeface="Times New Roman"/>
                <a:ea typeface="Microsoft YaHei"/>
              </a:rPr>
              <a:t>3. 为什么社会容忍超额生产能力？</a:t>
            </a:r>
          </a:p>
          <a:p>
            <a:r>
              <a:rPr sz="1250" b="0">
                <a:solidFill>
                  <a:srgbClr val="2C2C2C"/>
                </a:solidFill>
                <a:latin typeface="Times New Roman"/>
                <a:ea typeface="Microsoft YaHei"/>
              </a:rPr>
              <a:t>  消费者支付了稍高成本，换取了丰富多彩的产品多样性 (Variety)、个性化设计与差异化体验！</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核心结论：垄断竞争企业的生存铁律：唯有持续进行品牌创新与功能差异化，才能在向零利润均值回归的洪流中保持超额收益。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5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寡头垄断市场模型与博弈论 (Game Theory)</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寡头特征 · 折拐需求模型 · 古诺双头模型 · 囚徒困境 · 卡特尔联盟</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第5节 寡头垄断博弈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斯威齐折拐需求曲线模型 (Sweezy Model) 与价格刚性</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「跟跌不跟涨」的非对称竞争假定</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假定前提</a:t>
            </a:r>
          </a:p>
          <a:p>
            <a:r>
              <a:rPr sz="1250" b="0">
                <a:solidFill>
                  <a:srgbClr val="2C2C2C"/>
                </a:solidFill>
                <a:latin typeface="Times New Roman"/>
                <a:ea typeface="Microsoft YaHei"/>
              </a:rPr>
              <a:t>  寡头企业认为：如果自己提价，对手为了抢夺客户决不跟随提价（弹性极大，平坦）；如果自己降价，对手为了自保必然全部跟随降价（弹性极小，陡峭）。</a:t>
            </a:r>
          </a:p>
          <a:p>
            <a:r>
              <a:rPr sz="1400" b="1">
                <a:solidFill>
                  <a:srgbClr val="1B3A5C"/>
                </a:solidFill>
                <a:latin typeface="Times New Roman"/>
                <a:ea typeface="Microsoft YaHei"/>
              </a:rPr>
              <a:t>2. 折拐需求曲线的形成</a:t>
            </a:r>
          </a:p>
          <a:p>
            <a:r>
              <a:rPr sz="1250" b="0">
                <a:solidFill>
                  <a:srgbClr val="2C2C2C"/>
                </a:solidFill>
                <a:latin typeface="Times New Roman"/>
                <a:ea typeface="Microsoft YaHei"/>
              </a:rPr>
              <a:t>  需求曲线在既定现行价格 P0 处发生折拐，形成一条由两段弹性悬殊的线段拼接而成的拐折曲线。</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边际收益中断断口与价格刚性解释 (图 6-6)</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边际收益曲线 MR 的垂直间断口</a:t>
            </a:r>
          </a:p>
          <a:p>
            <a:r>
              <a:rPr sz="1250" b="0">
                <a:solidFill>
                  <a:srgbClr val="2C2C2C"/>
                </a:solidFill>
                <a:latin typeface="Times New Roman"/>
                <a:ea typeface="Microsoft YaHei"/>
              </a:rPr>
              <a:t>  由于需求曲线发生折拐，对应的边际收益曲线 MR 在折拐点产量 Q0 处出现一条垂直的上下断口 [AB]。</a:t>
            </a:r>
          </a:p>
          <a:p>
            <a:r>
              <a:rPr sz="1400" b="1">
                <a:solidFill>
                  <a:srgbClr val="2E86C1"/>
                </a:solidFill>
                <a:latin typeface="Times New Roman"/>
                <a:ea typeface="Microsoft YaHei"/>
              </a:rPr>
              <a:t>2. 价格刚性 (Price Rigidity) 的经济学解释</a:t>
            </a:r>
          </a:p>
          <a:p>
            <a:r>
              <a:rPr sz="1250" b="0">
                <a:solidFill>
                  <a:srgbClr val="2C2C2C"/>
                </a:solidFill>
                <a:latin typeface="Times New Roman"/>
                <a:ea typeface="Microsoft YaHei"/>
              </a:rPr>
              <a:t>  只要企业的边际成本曲线 MC 在垂直断口 [AB] 内发生上下波动（如原材料微涨微跌），利润最大化条件 MR = MC 对应的最优价格 P0 和产量 Q0 保持绝对纹丝不动！</a:t>
            </a:r>
          </a:p>
          <a:p>
            <a:r>
              <a:rPr sz="1400" b="1">
                <a:solidFill>
                  <a:srgbClr val="2E86C1"/>
                </a:solidFill>
                <a:latin typeface="Times New Roman"/>
                <a:ea typeface="Microsoft YaHei"/>
              </a:rPr>
              <a:t>3. 管理启示</a:t>
            </a:r>
          </a:p>
          <a:p>
            <a:r>
              <a:rPr sz="1250" b="0">
                <a:solidFill>
                  <a:srgbClr val="2C2C2C"/>
                </a:solidFill>
                <a:latin typeface="Times New Roman"/>
                <a:ea typeface="Microsoft YaHei"/>
              </a:rPr>
              <a:t>  寡头企业极度忌惮价格战，倾向于维持价格稳定，转向广告与售后等非价格竞争。</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核心结论：斯威齐模型完美解释了为什么寡头垄断市场上的产品价格在成本轻微波动时往往表现出惊人的刚性稳定性。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第5节 寡头垄断博弈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古诺双头模型 (Cournot Model) 与反应函数推导</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17</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古诺模型的假设与反应函数构建</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基本假设</a:t>
            </a:r>
          </a:p>
          <a:p>
            <a:r>
              <a:rPr sz="1250" b="0">
                <a:solidFill>
                  <a:srgbClr val="2C2C2C"/>
                </a:solidFill>
                <a:latin typeface="Times New Roman"/>
                <a:ea typeface="Microsoft YaHei"/>
              </a:rPr>
              <a:t>  市场上只有甲、乙两家双头垄断厂商，生产完全同质产品，边际成本 MC = 0。两家同时独立决策产量。</a:t>
            </a:r>
          </a:p>
          <a:p>
            <a:r>
              <a:rPr sz="1400" b="1">
                <a:solidFill>
                  <a:srgbClr val="1B3A5C"/>
                </a:solidFill>
                <a:latin typeface="Times New Roman"/>
                <a:ea typeface="Microsoft YaHei"/>
              </a:rPr>
              <a:t>2. 反应函数 (Reaction Function) 推导</a:t>
            </a:r>
          </a:p>
          <a:p>
            <a:r>
              <a:rPr sz="1250" b="0">
                <a:solidFill>
                  <a:srgbClr val="2C2C2C"/>
                </a:solidFill>
                <a:latin typeface="Times New Roman"/>
                <a:ea typeface="Microsoft YaHei"/>
              </a:rPr>
              <a:t>  设行业市场需求 P = 100 - (Q1 + Q2)：
• 厂商 1 利润 π1 = P·Q1 = [100 - Q1 - Q2]·Q1 = 100Q1 - Q1² - Q1Q2
• 令 dπ1/dQ1 = 100 - 2Q1 - Q2 = 0 → 厂商 1 反应函数：Q1 = 50 - 0.5Q2
• 同理可得厂商 2 反应函数：Q2 = 50 - 0.5Q1</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古诺纳什均衡解求解 (例 6-3)</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联立求解两厂商反应函数</a:t>
            </a:r>
          </a:p>
          <a:p>
            <a:r>
              <a:rPr sz="1250" b="0">
                <a:solidFill>
                  <a:srgbClr val="2C2C2C"/>
                </a:solidFill>
                <a:latin typeface="Times New Roman"/>
                <a:ea typeface="Microsoft YaHei"/>
              </a:rPr>
              <a:t>  将 Q2 代入 Q1：Q1 = 50 - 0.5(50 - 0.5Q1) = 25 + 0.25Q1
→ 0.75Q1 = 25 → Q1* = 33.33 件，Q2* = 33.33 件。</a:t>
            </a:r>
          </a:p>
          <a:p>
            <a:r>
              <a:rPr sz="1400" b="1">
                <a:solidFill>
                  <a:srgbClr val="2E86C1"/>
                </a:solidFill>
                <a:latin typeface="Times New Roman"/>
                <a:ea typeface="Microsoft YaHei"/>
              </a:rPr>
              <a:t>2. 行业总产出与价格</a:t>
            </a:r>
          </a:p>
          <a:p>
            <a:r>
              <a:rPr sz="1250" b="0">
                <a:solidFill>
                  <a:srgbClr val="2C2C2C"/>
                </a:solidFill>
                <a:latin typeface="Times New Roman"/>
                <a:ea typeface="Microsoft YaHei"/>
              </a:rPr>
              <a:t>  • 行业总产量 Q_总 = 33.33 + 33.33 = 66.67 件（恰好等于全市场容量 100 的 2/3！）
• 市场价格 P* = 100 - 66.67 = 33.33 元。</a:t>
            </a:r>
          </a:p>
          <a:p>
            <a:r>
              <a:rPr sz="1400" b="1">
                <a:solidFill>
                  <a:srgbClr val="2E86C1"/>
                </a:solidFill>
                <a:latin typeface="Times New Roman"/>
                <a:ea typeface="Microsoft YaHei"/>
              </a:rPr>
              <a:t>3. 规律推广 (N 家寡头企业)</a:t>
            </a:r>
          </a:p>
          <a:p>
            <a:r>
              <a:rPr sz="1250" b="0">
                <a:solidFill>
                  <a:srgbClr val="2C2C2C"/>
                </a:solidFill>
                <a:latin typeface="Times New Roman"/>
                <a:ea typeface="Microsoft YaHei"/>
              </a:rPr>
              <a:t>  每家产量 Q_i = 1/(N+1) 市场容量；行业总产出 Q_总 = N/(N+1) 市场容量。
当 N 趋近于无穷大时，古诺均衡渐进收敛于完全竞争均衡！</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核心结论：古诺模型揭示了寡头产出介于垄断与完全竞争之间：厂商数目越多，总产出越高，价格越逼近边际成本。</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第5节 寡头垄断博弈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博弈论入门：囚徒困境与卡特尔联盟瓦解 (例 6-5)</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寡头价格战的「囚徒困境」支付矩阵</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两寡头 (A与B) 的博弈收益矩阵</a:t>
            </a:r>
          </a:p>
          <a:p>
            <a:r>
              <a:rPr sz="1250" b="0">
                <a:solidFill>
                  <a:srgbClr val="2C2C2C"/>
                </a:solidFill>
                <a:latin typeface="Times New Roman"/>
                <a:ea typeface="Microsoft YaHei"/>
              </a:rPr>
              <a:t>  • 双方均维持高价 (合谋)：各自赚取高额垄断利润 (+100万, +100万)；
• A 降价而 B 守高价：A 抢夺全部客户赚取暴利 (+150万)，B 惨亏 (-50万)；
• B 降价而 A 守高价：B 赚 (+150万)，A 亏 (-50万)；
• 双方均降价打价格战：各自微利 (+20万, +20万)。</a:t>
            </a:r>
          </a:p>
          <a:p>
            <a:r>
              <a:rPr sz="1400" b="1">
                <a:solidFill>
                  <a:srgbClr val="1B3A5C"/>
                </a:solidFill>
                <a:latin typeface="Times New Roman"/>
                <a:ea typeface="Microsoft YaHei"/>
              </a:rPr>
              <a:t>2. 占优策略与纳什均衡 (Nash Equilibrium)</a:t>
            </a:r>
          </a:p>
          <a:p>
            <a:r>
              <a:rPr sz="1250" b="0">
                <a:solidFill>
                  <a:srgbClr val="2C2C2C"/>
                </a:solidFill>
                <a:latin typeface="Times New Roman"/>
                <a:ea typeface="Microsoft YaHei"/>
              </a:rPr>
              <a:t>  无论对手选高价还是低价，单方选择「降价」始终是自身收益最大化的占优策略。</a:t>
            </a:r>
          </a:p>
          <a:p>
            <a:r>
              <a:rPr sz="1400" b="1">
                <a:solidFill>
                  <a:srgbClr val="1B3A5C"/>
                </a:solidFill>
                <a:latin typeface="Times New Roman"/>
                <a:ea typeface="Microsoft YaHei"/>
              </a:rPr>
              <a:t>3. 纳什均衡结果</a:t>
            </a:r>
          </a:p>
          <a:p>
            <a:r>
              <a:rPr sz="1250" b="0">
                <a:solidFill>
                  <a:srgbClr val="2C2C2C"/>
                </a:solidFill>
                <a:latin typeface="Times New Roman"/>
                <a:ea typeface="Microsoft YaHei"/>
              </a:rPr>
              <a:t>  双方均落入 (降价, 降价) 的低利润泥潭 (+20万, +20万)，无法自发达成 (+100万, +100万) 的帕累托最优！</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卡特尔联盟 (Cartel) 的内在脆弱性</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卡特尔的本质</a:t>
            </a:r>
          </a:p>
          <a:p>
            <a:r>
              <a:rPr sz="1250" b="0">
                <a:solidFill>
                  <a:srgbClr val="2C2C2C"/>
                </a:solidFill>
                <a:latin typeface="Times New Roman"/>
                <a:ea typeface="Microsoft YaHei"/>
              </a:rPr>
              <a:t>  寡头企业公开签署正式协议，联合限制产量、划分市场份额并固定高垄断价格（如 OPEC）。</a:t>
            </a:r>
          </a:p>
          <a:p>
            <a:r>
              <a:rPr sz="1400" b="1">
                <a:solidFill>
                  <a:srgbClr val="2E86C1"/>
                </a:solidFill>
                <a:latin typeface="Times New Roman"/>
                <a:ea typeface="Microsoft YaHei"/>
              </a:rPr>
              <a:t>2. 致命的内部背叛诱惑</a:t>
            </a:r>
          </a:p>
          <a:p>
            <a:r>
              <a:rPr sz="1250" b="0">
                <a:solidFill>
                  <a:srgbClr val="2C2C2C"/>
                </a:solidFill>
                <a:latin typeface="Times New Roman"/>
                <a:ea typeface="Microsoft YaHei"/>
              </a:rPr>
              <a:t>  在既定卡特尔高价下，任何单个成员国都存在极强烈的「偷偷超产降价以独吞暴利」的暗中背叛动机！</a:t>
            </a:r>
          </a:p>
          <a:p>
            <a:r>
              <a:rPr sz="1400" b="1">
                <a:solidFill>
                  <a:srgbClr val="2E86C1"/>
                </a:solidFill>
                <a:latin typeface="Times New Roman"/>
                <a:ea typeface="Microsoft YaHei"/>
              </a:rPr>
              <a:t>3. 维持合谋的必要条件</a:t>
            </a:r>
          </a:p>
          <a:p>
            <a:r>
              <a:rPr sz="1250" b="0">
                <a:solidFill>
                  <a:srgbClr val="2C2C2C"/>
                </a:solidFill>
                <a:latin typeface="Times New Roman"/>
                <a:ea typeface="Microsoft YaHei"/>
              </a:rPr>
              <a:t>  • 具备透明的违约监测系统；
• 具备强有力的跨期报复惩罚机制（如以牙还牙 Tit-for-Tat 策略，一旦背叛下期永久打价格战！）。</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核心结论：博弈论揭示了寡头竞争的残酷现实：个体理性追求私利往往导致集体非理性的价格战悲剧。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本章小结</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第6章 市场结构与企业行为核心复盘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19</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完全竞争</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价格接受者 (P=MR=MC)</a:t>
            </a:r>
          </a:p>
          <a:p>
            <a:r>
              <a:rPr sz="1200" b="0">
                <a:solidFill>
                  <a:srgbClr val="2C2C2C"/>
                </a:solidFill>
                <a:latin typeface="Times New Roman"/>
                <a:ea typeface="Microsoft YaHei"/>
              </a:rPr>
              <a:t>• P &lt; AVC 立即停产关门</a:t>
            </a:r>
          </a:p>
          <a:p>
            <a:r>
              <a:rPr sz="1200" b="0">
                <a:solidFill>
                  <a:srgbClr val="2C2C2C"/>
                </a:solidFill>
                <a:latin typeface="Times New Roman"/>
                <a:ea typeface="Microsoft YaHei"/>
              </a:rPr>
              <a:t>• 长期自由进出零利润</a:t>
            </a:r>
          </a:p>
          <a:p>
            <a:r>
              <a:rPr sz="1200" b="0">
                <a:solidFill>
                  <a:srgbClr val="2C2C2C"/>
                </a:solidFill>
                <a:latin typeface="Times New Roman"/>
                <a:ea typeface="Microsoft YaHei"/>
              </a:rPr>
              <a:t>• 社会资源配置最高效率</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完全垄断</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向下倾斜 D 与 MR&lt;P</a:t>
            </a:r>
          </a:p>
          <a:p>
            <a:r>
              <a:rPr sz="1200" b="0">
                <a:solidFill>
                  <a:srgbClr val="2C2C2C"/>
                </a:solidFill>
                <a:latin typeface="Times New Roman"/>
                <a:ea typeface="Microsoft YaHei"/>
              </a:rPr>
              <a:t>• 勒纳指数衡量市场势力</a:t>
            </a:r>
          </a:p>
          <a:p>
            <a:r>
              <a:rPr sz="1200" b="0">
                <a:solidFill>
                  <a:srgbClr val="2C2C2C"/>
                </a:solidFill>
                <a:latin typeface="Times New Roman"/>
                <a:ea typeface="Microsoft YaHei"/>
              </a:rPr>
              <a:t>• 垄断产生无谓损失 DWL</a:t>
            </a:r>
          </a:p>
          <a:p>
            <a:r>
              <a:rPr sz="1200" b="0">
                <a:solidFill>
                  <a:srgbClr val="2C2C2C"/>
                </a:solidFill>
                <a:latin typeface="Times New Roman"/>
                <a:ea typeface="Microsoft YaHei"/>
              </a:rPr>
              <a:t>• 寻租行为加剧社会浪费</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垄断竞争</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产品差异化是竞争核心</a:t>
            </a:r>
          </a:p>
          <a:p>
            <a:r>
              <a:rPr sz="1200" b="0">
                <a:solidFill>
                  <a:srgbClr val="2C2C2C"/>
                </a:solidFill>
                <a:latin typeface="Times New Roman"/>
                <a:ea typeface="Microsoft YaHei"/>
              </a:rPr>
              <a:t>• 长期存在超额生产能力</a:t>
            </a:r>
          </a:p>
          <a:p>
            <a:r>
              <a:rPr sz="1200" b="0">
                <a:solidFill>
                  <a:srgbClr val="2C2C2C"/>
                </a:solidFill>
                <a:latin typeface="Times New Roman"/>
                <a:ea typeface="Microsoft YaHei"/>
              </a:rPr>
              <a:t>• 多样性满足个性化需求</a:t>
            </a:r>
          </a:p>
          <a:p>
            <a:r>
              <a:rPr sz="1200" b="0">
                <a:solidFill>
                  <a:srgbClr val="2C2C2C"/>
                </a:solidFill>
                <a:latin typeface="Times New Roman"/>
                <a:ea typeface="Microsoft YaHei"/>
              </a:rPr>
              <a:t>• 品牌与服务持续升级</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寡头博弈</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相互依存与策略互动</a:t>
            </a:r>
          </a:p>
          <a:p>
            <a:r>
              <a:rPr sz="1200" b="0">
                <a:solidFill>
                  <a:srgbClr val="2C2C2C"/>
                </a:solidFill>
                <a:latin typeface="Times New Roman"/>
                <a:ea typeface="Microsoft YaHei"/>
              </a:rPr>
              <a:t>• 折拐需求曲线价格刚性</a:t>
            </a:r>
          </a:p>
          <a:p>
            <a:r>
              <a:rPr sz="1200" b="0">
                <a:solidFill>
                  <a:srgbClr val="2C2C2C"/>
                </a:solidFill>
                <a:latin typeface="Times New Roman"/>
                <a:ea typeface="Microsoft YaHei"/>
              </a:rPr>
              <a:t>• 囚徒困境与价格战防范</a:t>
            </a:r>
          </a:p>
          <a:p>
            <a:r>
              <a:rPr sz="1200" b="0">
                <a:solidFill>
                  <a:srgbClr val="2C2C2C"/>
                </a:solidFill>
                <a:latin typeface="Times New Roman"/>
                <a:ea typeface="Microsoft YaHei"/>
              </a:rPr>
              <a:t>• 重复博弈与默契合谋</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归纳要义：市场结构为企业划定了生存竞争的棋局；唯有认清自身所处格局，方能制定克敌制胜的最优价格与产量战略。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复习与研讨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第6章 经典复习思考与考研/实战挑战题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第6章 市场结构和企业行为</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深度理论辨析题 (Seminar Questions)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为什么完全垄断企业的需求曲线越富有弹性，其垄断加价能力反而越弱？</a:t>
            </a:r>
          </a:p>
          <a:p>
            <a:r>
              <a:rPr sz="1250" b="0">
                <a:solidFill>
                  <a:srgbClr val="2C2C2C"/>
                </a:solidFill>
                <a:latin typeface="Times New Roman"/>
                <a:ea typeface="Microsoft YaHei"/>
              </a:rPr>
              <a:t>  👉 答：由勒纳指数 L = (P-MC)/P = 1/|εp| 可知，需求弹性 |εp| 越大，价格上涨导致消费者逃离的比例越高，垄断者被迫将价格定得更接近边际成本，加价空间受到刚性压制。</a:t>
            </a:r>
          </a:p>
          <a:p>
            <a:r>
              <a:rPr sz="1400" b="1">
                <a:solidFill>
                  <a:srgbClr val="1B3A5C"/>
                </a:solidFill>
                <a:latin typeface="Times New Roman"/>
                <a:ea typeface="Microsoft YaHei"/>
              </a:rPr>
              <a:t>2. 为什么垄断竞争企业在长期内只能获得零经济利润，但依然存在超额生产能力？</a:t>
            </a:r>
          </a:p>
          <a:p>
            <a:r>
              <a:rPr sz="1250" b="0">
                <a:solidFill>
                  <a:srgbClr val="2C2C2C"/>
                </a:solidFill>
                <a:latin typeface="Times New Roman"/>
                <a:ea typeface="Microsoft YaHei"/>
              </a:rPr>
              <a:t>  👉 答：自由进出消灭了超额利润 (P=LAC)；但由于产品差异化使需求曲线向下倾斜，其与 LAC 的切点必然位于 LAC 最低点的左侧，未能充分发挥设备规模效率。</a:t>
            </a:r>
          </a:p>
          <a:p>
            <a:r>
              <a:rPr sz="1400" b="1">
                <a:solidFill>
                  <a:srgbClr val="1B3A5C"/>
                </a:solidFill>
                <a:latin typeface="Times New Roman"/>
                <a:ea typeface="Microsoft YaHei"/>
              </a:rPr>
              <a:t>3. 卡特尔联盟为什么在现实中极易破裂？</a:t>
            </a:r>
          </a:p>
          <a:p>
            <a:r>
              <a:rPr sz="1250" b="0">
                <a:solidFill>
                  <a:srgbClr val="2C2C2C"/>
                </a:solidFill>
                <a:latin typeface="Times New Roman"/>
                <a:ea typeface="Microsoft YaHei"/>
              </a:rPr>
              <a:t>  👉 答：在卡特尔维持高价时，每个成员企业面临的边际收益 MR 远高于边际成本 MC，私自超产暗中降价能带来巨大额外利润，缺乏惩罚机制的个体背叛冲动必然瓦解联盟。</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计算与实战应用挑战 (Applied Calculation)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垄断企业最优产销与利润计算 (例 6-2)</a:t>
            </a:r>
          </a:p>
          <a:p>
            <a:r>
              <a:rPr sz="1250" b="0">
                <a:solidFill>
                  <a:srgbClr val="2C2C2C"/>
                </a:solidFill>
                <a:latin typeface="Times New Roman"/>
                <a:ea typeface="Microsoft YaHei"/>
              </a:rPr>
              <a:t>  已知反需求函数 P = 100 - 2Q，总成本 TC = 20Q + Q²：
👉 TR = 100Q - 2Q² → MR = 100 - 4Q；MC = 20 + 2Q。
👉 令 MR = MC → 100 - 4Q = 20 + 2Q → 6Q = 80 → Q* = 13.33 件。
👉 垄断价格 P* = 100 - 2(13.33) = 73.33 元，最大利润 π = TR - TC = 533.33 元！</a:t>
            </a:r>
          </a:p>
          <a:p>
            <a:r>
              <a:rPr sz="1400" b="1">
                <a:solidFill>
                  <a:srgbClr val="2E86C1"/>
                </a:solidFill>
                <a:latin typeface="Times New Roman"/>
                <a:ea typeface="Microsoft YaHei"/>
              </a:rPr>
              <a:t>2. 古诺双头模型纳什均衡求解 (例 6-4)</a:t>
            </a:r>
          </a:p>
          <a:p>
            <a:r>
              <a:rPr sz="1250" b="0">
                <a:solidFill>
                  <a:srgbClr val="2C2C2C"/>
                </a:solidFill>
                <a:latin typeface="Times New Roman"/>
                <a:ea typeface="Microsoft YaHei"/>
              </a:rPr>
              <a:t>  需求 P = 120 - Q1 - Q2，两厂商 MC1 = MC2 = 0：
👉 反应函数 Q1 = 60 - 0.5Q2，Q2 = 60 - 0.5Q1。
👉 联立得 Q1* = 40 件，Q2* = 40 件，总产量 Q = 80 件，价格 P = 40 元！</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核心结论：课后实践：请同学们以可口可乐与百事可乐、或波音与空客为例，运用博弈论分析其在营销与新机型研发中的战略互动！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