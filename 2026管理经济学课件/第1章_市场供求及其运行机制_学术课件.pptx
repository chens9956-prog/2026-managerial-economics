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05840"/>
            <a:ext cx="1645920" cy="438912"/>
          </a:xfrm>
          <a:prstGeom prst="roundRect">
            <a:avLst/>
          </a:prstGeom>
          <a:solidFill>
            <a:srgbClr val="EBF3FA"/>
          </a:solidFill>
          <a:ln w="1905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3A5C"/>
                </a:solidFill>
                <a:latin typeface="Times New Roman"/>
                <a:ea typeface="Microsoft YaHei"/>
              </a:rPr>
              <a:t>CH 01</a:t>
            </a:r>
          </a:p>
        </p:txBody>
      </p:sp>
      <p:sp>
        <p:nvSpPr>
          <p:cNvPr id="5" name="TextBox 4"/>
          <p:cNvSpPr txBox="1"/>
          <p:nvPr/>
        </p:nvSpPr>
        <p:spPr>
          <a:xfrm>
            <a:off x="914400" y="1600200"/>
            <a:ext cx="10058400" cy="1005840"/>
          </a:xfrm>
          <a:prstGeom prst="rect">
            <a:avLst/>
          </a:prstGeom>
          <a:noFill/>
        </p:spPr>
        <p:txBody>
          <a:bodyPr wrap="none">
            <a:spAutoFit/>
          </a:bodyPr>
          <a:lstStyle/>
          <a:p>
            <a:r>
              <a:rPr sz="3600" b="1">
                <a:solidFill>
                  <a:srgbClr val="1B3A5C"/>
                </a:solidFill>
                <a:latin typeface="Times New Roman"/>
                <a:ea typeface="Microsoft YaHei"/>
              </a:rPr>
              <a:t>市场供求及其运行机制</a:t>
            </a:r>
          </a:p>
        </p:txBody>
      </p:sp>
      <p:sp>
        <p:nvSpPr>
          <p:cNvPr id="6" name="Rectangle 5"/>
          <p:cNvSpPr/>
          <p:nvPr/>
        </p:nvSpPr>
        <p:spPr>
          <a:xfrm>
            <a:off x="914400" y="26517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88920"/>
            <a:ext cx="10058400" cy="457200"/>
          </a:xfrm>
          <a:prstGeom prst="rect">
            <a:avLst/>
          </a:prstGeom>
          <a:noFill/>
        </p:spPr>
        <p:txBody>
          <a:bodyPr wrap="none">
            <a:spAutoFit/>
          </a:bodyPr>
          <a:lstStyle/>
          <a:p>
            <a:r>
              <a:rPr sz="1700" b="1">
                <a:solidFill>
                  <a:srgbClr val="2E86C1"/>
                </a:solidFill>
                <a:latin typeface="Times New Roman"/>
                <a:ea typeface="Microsoft YaHei"/>
              </a:rPr>
              <a:t>市场经济体制下价格形成、资源配置与供求动态均衡法则</a:t>
            </a:r>
          </a:p>
        </p:txBody>
      </p:sp>
      <p:sp>
        <p:nvSpPr>
          <p:cNvPr id="8" name="Rectangle 7"/>
          <p:cNvSpPr/>
          <p:nvPr/>
        </p:nvSpPr>
        <p:spPr>
          <a:xfrm>
            <a:off x="914400" y="3474720"/>
            <a:ext cx="10362895" cy="246888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3474720"/>
            <a:ext cx="103628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703320"/>
            <a:ext cx="9784080" cy="2103120"/>
          </a:xfrm>
          <a:prstGeom prst="rect">
            <a:avLst/>
          </a:prstGeom>
          <a:noFill/>
        </p:spPr>
        <p:txBody>
          <a:bodyPr wrap="none">
            <a:spAutoFit/>
          </a:bodyPr>
          <a:lstStyle/>
          <a:p>
            <a:r>
              <a:rPr sz="1350" b="0">
                <a:solidFill>
                  <a:srgbClr val="2C2C2C"/>
                </a:solidFill>
                <a:latin typeface="Times New Roman"/>
                <a:ea typeface="Microsoft YaHei"/>
              </a:rPr>
              <a:t>•  需求理论：需求量、需求函数、需求曲线与需求规律（价格变动 vs 外部因素移动）</a:t>
            </a:r>
          </a:p>
          <a:p>
            <a:r>
              <a:rPr sz="1350" b="0">
                <a:solidFill>
                  <a:srgbClr val="2C2C2C"/>
                </a:solidFill>
                <a:latin typeface="Times New Roman"/>
                <a:ea typeface="Microsoft YaHei"/>
              </a:rPr>
              <a:t>•  供给理论：供给量、供给函数、供给曲线与供给规律（成本驱动 vs 技术进步）</a:t>
            </a:r>
          </a:p>
          <a:p>
            <a:r>
              <a:rPr sz="1350" b="0">
                <a:solidFill>
                  <a:srgbClr val="2C2C2C"/>
                </a:solidFill>
                <a:latin typeface="Times New Roman"/>
                <a:ea typeface="Microsoft YaHei"/>
              </a:rPr>
              <a:t>•  市场均衡机制：均衡价格与均衡产量的形成、供求变动四定理及蛛网动态收敛</a:t>
            </a:r>
          </a:p>
          <a:p>
            <a:r>
              <a:rPr sz="1350" b="0">
                <a:solidFill>
                  <a:srgbClr val="2C2C2C"/>
                </a:solidFill>
                <a:latin typeface="Times New Roman"/>
                <a:ea typeface="Microsoft YaHei"/>
              </a:rPr>
              <a:t>•  价格管制与市场干预：最高限价（租金管制短缺）、最低限价（农产品过剩）与福利损失</a:t>
            </a:r>
          </a:p>
          <a:p>
            <a:r>
              <a:rPr sz="1350" b="0">
                <a:solidFill>
                  <a:srgbClr val="2C2C2C"/>
                </a:solidFill>
                <a:latin typeface="Times New Roman"/>
                <a:ea typeface="Microsoft YaHei"/>
              </a:rPr>
              <a:t>•  市场机制与社会资源配置：消费者剩余、生产者剩余与亚当·斯密「看不见的手」</a:t>
            </a:r>
          </a:p>
        </p:txBody>
      </p:sp>
      <p:sp>
        <p:nvSpPr>
          <p:cNvPr id="11" name="TextBox 10"/>
          <p:cNvSpPr txBox="1"/>
          <p:nvPr/>
        </p:nvSpPr>
        <p:spPr>
          <a:xfrm>
            <a:off x="914400" y="6309360"/>
            <a:ext cx="7315200" cy="320040"/>
          </a:xfrm>
          <a:prstGeom prst="rect">
            <a:avLst/>
          </a:prstGeom>
          <a:noFill/>
        </p:spPr>
        <p:txBody>
          <a:bodyPr wrap="none">
            <a:spAutoFit/>
          </a:bodyPr>
          <a:lstStyle/>
          <a:p>
            <a:r>
              <a:rPr sz="1100" b="0">
                <a:solidFill>
                  <a:srgbClr val="6B6B6B"/>
                </a:solidFill>
                <a:latin typeface="Times New Roman"/>
                <a:ea typeface="Microsoft YaHei"/>
              </a:rPr>
              <a:t>《管理经济学（第7版）》核心教学课件系列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本章概览</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知识结构与全书逻辑框架</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需求理论 (第1节)</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需求量与需求定义</a:t>
            </a:r>
          </a:p>
          <a:p>
            <a:r>
              <a:rPr sz="1200" b="0">
                <a:solidFill>
                  <a:srgbClr val="2C2C2C"/>
                </a:solidFill>
                <a:latin typeface="Times New Roman"/>
                <a:ea typeface="Microsoft YaHei"/>
              </a:rPr>
              <a:t>• 需求规律与曲线形态</a:t>
            </a:r>
          </a:p>
          <a:p>
            <a:r>
              <a:rPr sz="1200" b="0">
                <a:solidFill>
                  <a:srgbClr val="2C2C2C"/>
                </a:solidFill>
                <a:latin typeface="Times New Roman"/>
                <a:ea typeface="Microsoft YaHei"/>
              </a:rPr>
              <a:t>• 替代效应与收入效应</a:t>
            </a:r>
          </a:p>
          <a:p>
            <a:r>
              <a:rPr sz="1200" b="0">
                <a:solidFill>
                  <a:srgbClr val="2C2C2C"/>
                </a:solidFill>
                <a:latin typeface="Times New Roman"/>
                <a:ea typeface="Microsoft YaHei"/>
              </a:rPr>
              <a:t>• 需求量变动 vs 需求变动</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供给理论 (第2节)</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供给量与供给定义</a:t>
            </a:r>
          </a:p>
          <a:p>
            <a:r>
              <a:rPr sz="1200" b="0">
                <a:solidFill>
                  <a:srgbClr val="2C2C2C"/>
                </a:solidFill>
                <a:latin typeface="Times New Roman"/>
                <a:ea typeface="Microsoft YaHei"/>
              </a:rPr>
              <a:t>• 供给规律与成本制约</a:t>
            </a:r>
          </a:p>
          <a:p>
            <a:r>
              <a:rPr sz="1200" b="0">
                <a:solidFill>
                  <a:srgbClr val="2C2C2C"/>
                </a:solidFill>
                <a:latin typeface="Times New Roman"/>
                <a:ea typeface="Microsoft YaHei"/>
              </a:rPr>
              <a:t>• 技术革新推动右移</a:t>
            </a:r>
          </a:p>
          <a:p>
            <a:r>
              <a:rPr sz="1200" b="0">
                <a:solidFill>
                  <a:srgbClr val="2C2C2C"/>
                </a:solidFill>
                <a:latin typeface="Times New Roman"/>
                <a:ea typeface="Microsoft YaHei"/>
              </a:rPr>
              <a:t>• 供给量变动 vs 供给变动</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供求均衡法则 (第3节)</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供求交点市场出清</a:t>
            </a:r>
          </a:p>
          <a:p>
            <a:r>
              <a:rPr sz="1200" b="0">
                <a:solidFill>
                  <a:srgbClr val="2C2C2C"/>
                </a:solidFill>
                <a:latin typeface="Times New Roman"/>
                <a:ea typeface="Microsoft YaHei"/>
              </a:rPr>
              <a:t>• 超额供求自发平抑</a:t>
            </a:r>
          </a:p>
          <a:p>
            <a:r>
              <a:rPr sz="1200" b="0">
                <a:solidFill>
                  <a:srgbClr val="2C2C2C"/>
                </a:solidFill>
                <a:latin typeface="Times New Roman"/>
                <a:ea typeface="Microsoft YaHei"/>
              </a:rPr>
              <a:t>• 供求变动四定理</a:t>
            </a:r>
          </a:p>
          <a:p>
            <a:r>
              <a:rPr sz="1200" b="0">
                <a:solidFill>
                  <a:srgbClr val="2C2C2C"/>
                </a:solidFill>
                <a:latin typeface="Times New Roman"/>
                <a:ea typeface="Microsoft YaHei"/>
              </a:rPr>
              <a:t>• 蛛网模型动态发散/收敛</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机制与管制 (第4节)</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看不见的手与社会福利</a:t>
            </a:r>
          </a:p>
          <a:p>
            <a:r>
              <a:rPr sz="1200" b="0">
                <a:solidFill>
                  <a:srgbClr val="2C2C2C"/>
                </a:solidFill>
                <a:latin typeface="Times New Roman"/>
                <a:ea typeface="Microsoft YaHei"/>
              </a:rPr>
              <a:t>• 消费者与生产者剩余</a:t>
            </a:r>
          </a:p>
          <a:p>
            <a:r>
              <a:rPr sz="1200" b="0">
                <a:solidFill>
                  <a:srgbClr val="2C2C2C"/>
                </a:solidFill>
                <a:latin typeface="Times New Roman"/>
                <a:ea typeface="Microsoft YaHei"/>
              </a:rPr>
              <a:t>• 最高限价 (短缺与黑市)</a:t>
            </a:r>
          </a:p>
          <a:p>
            <a:r>
              <a:rPr sz="1200" b="0">
                <a:solidFill>
                  <a:srgbClr val="2C2C2C"/>
                </a:solidFill>
                <a:latin typeface="Times New Roman"/>
                <a:ea typeface="Microsoft YaHei"/>
              </a:rPr>
              <a:t>• 最低限价 (过剩与收购)</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归纳要义：核心主线：买方（需求）与卖方（供给）在价格信号引导下自发博弈达到动态均衡；任何背离供求规律的人为管制皆会产生效率扭曲。</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1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需求理论与需求规律</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需求量定义 · 需求规律 · 需求函数与曲线 · 替代与收入效应 · 曲线平移外力</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需求</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需求量与需求规律：概念界定与微观机理</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4</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需求 (Demand) 与 需求量 (Quantity Demanded)</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需求量的严格经济学定义</a:t>
            </a:r>
          </a:p>
          <a:p>
            <a:r>
              <a:rPr sz="1250" b="0">
                <a:solidFill>
                  <a:srgbClr val="2C2C2C"/>
                </a:solidFill>
                <a:latin typeface="Times New Roman"/>
                <a:ea typeface="Microsoft YaHei"/>
              </a:rPr>
              <a:t>  在一定时期内、在某一既定价格水平下，消费者「愿意且能够购买」的某种商品或服务的数量。</a:t>
            </a:r>
          </a:p>
          <a:p>
            <a:r>
              <a:rPr sz="1400" b="1">
                <a:solidFill>
                  <a:srgbClr val="1B3A5C"/>
                </a:solidFill>
                <a:latin typeface="Times New Roman"/>
                <a:ea typeface="Microsoft YaHei"/>
              </a:rPr>
              <a:t>2. 有效需求的双重前提</a:t>
            </a:r>
          </a:p>
          <a:p>
            <a:r>
              <a:rPr sz="1250" b="0">
                <a:solidFill>
                  <a:srgbClr val="2C2C2C"/>
                </a:solidFill>
                <a:latin typeface="Times New Roman"/>
                <a:ea typeface="Microsoft YaHei"/>
              </a:rPr>
              <a:t>  • 购买欲望（主观意愿）
• 支付能力（客观购买力）
缺一不可；只有具备支付能力的意愿才构成市场有效需求。</a:t>
            </a:r>
          </a:p>
          <a:p>
            <a:r>
              <a:rPr sz="1400" b="1">
                <a:solidFill>
                  <a:srgbClr val="1B3A5C"/>
                </a:solidFill>
                <a:latin typeface="Times New Roman"/>
                <a:ea typeface="Microsoft YaHei"/>
              </a:rPr>
              <a:t>3. 需求函数通用形式</a:t>
            </a:r>
          </a:p>
          <a:p>
            <a:r>
              <a:rPr sz="1250" b="0">
                <a:solidFill>
                  <a:srgbClr val="2C2C2C"/>
                </a:solidFill>
                <a:latin typeface="Times New Roman"/>
                <a:ea typeface="Microsoft YaHei"/>
              </a:rPr>
              <a:t>  Q_d = f(P, I, P_r, T, E, N)
(P:自身价格, I:收入, P_r:相关品价格, T:偏好, E:预期, N:人口规模)</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需求规律 (Law of Demand) 与微观成因</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需求规律表述</a:t>
            </a:r>
          </a:p>
          <a:p>
            <a:r>
              <a:rPr sz="1250" b="0">
                <a:solidFill>
                  <a:srgbClr val="2C2C2C"/>
                </a:solidFill>
                <a:latin typeface="Times New Roman"/>
                <a:ea typeface="Microsoft YaHei"/>
              </a:rPr>
              <a:t>  在其他条件不变的情况下，商品价格与需求量之间呈反方向变动关系（P ↑ → Q_d ↓；P ↓ → Q_d ↑）。需求曲线向右下方倾斜。</a:t>
            </a:r>
          </a:p>
          <a:p>
            <a:r>
              <a:rPr sz="1400" b="1">
                <a:solidFill>
                  <a:srgbClr val="2E86C1"/>
                </a:solidFill>
                <a:latin typeface="Times New Roman"/>
                <a:ea typeface="Microsoft YaHei"/>
              </a:rPr>
              <a:t>2. 替代效应 (Substitution Effect)</a:t>
            </a:r>
          </a:p>
          <a:p>
            <a:r>
              <a:rPr sz="1250" b="0">
                <a:solidFill>
                  <a:srgbClr val="2C2C2C"/>
                </a:solidFill>
                <a:latin typeface="Times New Roman"/>
                <a:ea typeface="Microsoft YaHei"/>
              </a:rPr>
              <a:t>  当某商品价格上涨时，消费者倾向于减少该商品购买，转而购买其他相对便宜的替代品。</a:t>
            </a:r>
          </a:p>
          <a:p>
            <a:r>
              <a:rPr sz="1400" b="1">
                <a:solidFill>
                  <a:srgbClr val="2E86C1"/>
                </a:solidFill>
                <a:latin typeface="Times New Roman"/>
                <a:ea typeface="Microsoft YaHei"/>
              </a:rPr>
              <a:t>3. 收入效应 (Income Effect)</a:t>
            </a:r>
          </a:p>
          <a:p>
            <a:r>
              <a:rPr sz="1250" b="0">
                <a:solidFill>
                  <a:srgbClr val="2C2C2C"/>
                </a:solidFill>
                <a:latin typeface="Times New Roman"/>
                <a:ea typeface="Microsoft YaHei"/>
              </a:rPr>
              <a:t>  价格上涨导致消费者名义货币收入的实际购买力下降，从而被动缩减各商品的购买量。</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核心结论：需求规律是微观经济学的第一基石：替代效应与收入效应共同决定了需求曲线向右下方倾斜。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需求</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「需求量的变动」 vs 「需求的变动」深度辨析</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5</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需求量的变动 (Movement along Curve)</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诱发原因</a:t>
            </a:r>
          </a:p>
          <a:p>
            <a:r>
              <a:rPr sz="1250" b="0">
                <a:solidFill>
                  <a:srgbClr val="2C2C2C"/>
                </a:solidFill>
                <a:latin typeface="Times New Roman"/>
                <a:ea typeface="Microsoft YaHei"/>
              </a:rPr>
              <a:t>  仅仅是由商品「自身价格 P」的变动所引起。</a:t>
            </a:r>
          </a:p>
          <a:p>
            <a:r>
              <a:rPr sz="1400" b="1">
                <a:solidFill>
                  <a:srgbClr val="1B3A5C"/>
                </a:solidFill>
                <a:latin typeface="Times New Roman"/>
                <a:ea typeface="Microsoft YaHei"/>
              </a:rPr>
              <a:t>2. 几何表现</a:t>
            </a:r>
          </a:p>
          <a:p>
            <a:r>
              <a:rPr sz="1250" b="0">
                <a:solidFill>
                  <a:srgbClr val="2C2C2C"/>
                </a:solidFill>
                <a:latin typeface="Times New Roman"/>
                <a:ea typeface="Microsoft YaHei"/>
              </a:rPr>
              <a:t>  在同一条固定的需求曲线上，点沿着曲线向上或向下滑动。</a:t>
            </a:r>
          </a:p>
          <a:p>
            <a:r>
              <a:rPr sz="1400" b="1">
                <a:solidFill>
                  <a:srgbClr val="1B3A5C"/>
                </a:solidFill>
                <a:latin typeface="Times New Roman"/>
                <a:ea typeface="Microsoft YaHei"/>
              </a:rPr>
              <a:t>3. 企业决策含义</a:t>
            </a:r>
          </a:p>
          <a:p>
            <a:r>
              <a:rPr sz="1250" b="0">
                <a:solidFill>
                  <a:srgbClr val="2C2C2C"/>
                </a:solidFill>
                <a:latin typeface="Times New Roman"/>
                <a:ea typeface="Microsoft YaHei"/>
              </a:rPr>
              <a:t>  企业通过降价促销、打折优惠所带来的销量提升，属于需求量的滑动。</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需求的变动 (Shift of Demand Curve)</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诱发原因</a:t>
            </a:r>
          </a:p>
          <a:p>
            <a:r>
              <a:rPr sz="1250" b="0">
                <a:solidFill>
                  <a:srgbClr val="2C2C2C"/>
                </a:solidFill>
                <a:latin typeface="Times New Roman"/>
                <a:ea typeface="Microsoft YaHei"/>
              </a:rPr>
              <a:t>  由商品「自身价格以外的其他外部环境因素」变动引起。</a:t>
            </a:r>
          </a:p>
          <a:p>
            <a:r>
              <a:rPr sz="1400" b="1">
                <a:solidFill>
                  <a:srgbClr val="2E86C1"/>
                </a:solidFill>
                <a:latin typeface="Times New Roman"/>
                <a:ea typeface="Microsoft YaHei"/>
              </a:rPr>
              <a:t>2. 几何表现</a:t>
            </a:r>
          </a:p>
          <a:p>
            <a:r>
              <a:rPr sz="1250" b="0">
                <a:solidFill>
                  <a:srgbClr val="2C2C2C"/>
                </a:solidFill>
                <a:latin typeface="Times New Roman"/>
                <a:ea typeface="Microsoft YaHei"/>
              </a:rPr>
              <a:t>  整条需求曲线向右上方平移（需求增加）或向左下方平移（需求减少）。</a:t>
            </a:r>
          </a:p>
          <a:p>
            <a:r>
              <a:rPr sz="1400" b="1">
                <a:solidFill>
                  <a:srgbClr val="2E86C1"/>
                </a:solidFill>
                <a:latin typeface="Times New Roman"/>
                <a:ea typeface="Microsoft YaHei"/>
              </a:rPr>
              <a:t>3. 驱动需求曲线整体平移的核心外部因素</a:t>
            </a:r>
          </a:p>
          <a:p>
            <a:r>
              <a:rPr sz="1250" b="0">
                <a:solidFill>
                  <a:srgbClr val="2C2C2C"/>
                </a:solidFill>
                <a:latin typeface="Times New Roman"/>
                <a:ea typeface="Microsoft YaHei"/>
              </a:rPr>
              <a:t>  • 消费者收入增长 (I ↑) → 正常品需求右移
• 替代品价格上涨 (P_sub ↑) / 互补品价格下跌 (P_comp ↓) → 需求右移
• 广告营销成功、品牌偏好提升、消费人口规模扩张</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核心结论：管理者切忌混淆：降价是「沿曲线向下滑动」，而品牌升级与产品创新是「推动整条需求曲线向右平移」！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需求</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需求方程拟合与算例解析 (例 1-1)</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6</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线性需求方程模型 (Linear Demand Equation)</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标准线性方程</a:t>
            </a:r>
          </a:p>
          <a:p>
            <a:r>
              <a:rPr sz="1250" b="0">
                <a:solidFill>
                  <a:srgbClr val="2C2C2C"/>
                </a:solidFill>
                <a:latin typeface="Times New Roman"/>
                <a:ea typeface="Microsoft YaHei"/>
              </a:rPr>
              <a:t>  Q_d = a - b·P
(式中：a 为最大潜在市场容量，b 为价格敏感度斜率参数，b &gt; 0)</a:t>
            </a:r>
          </a:p>
          <a:p>
            <a:r>
              <a:rPr sz="1400" b="1">
                <a:solidFill>
                  <a:srgbClr val="1B3A5C"/>
                </a:solidFill>
                <a:latin typeface="Times New Roman"/>
                <a:ea typeface="Microsoft YaHei"/>
              </a:rPr>
              <a:t>2. 反需求函数 (Inverse Demand Function)</a:t>
            </a:r>
          </a:p>
          <a:p>
            <a:r>
              <a:rPr sz="1250" b="0">
                <a:solidFill>
                  <a:srgbClr val="2C2C2C"/>
                </a:solidFill>
                <a:latin typeface="Times New Roman"/>
                <a:ea typeface="Microsoft YaHei"/>
              </a:rPr>
              <a:t>  P = (a/b) - (1/b)·Q_d
将价格表达为产销量的函数，便于后续边际收益 MR 的求导推导。</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算例解析 (例 1-1)：多变量需求方程计算</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某企业需求函数</a:t>
            </a:r>
          </a:p>
          <a:p>
            <a:r>
              <a:rPr sz="1250" b="0">
                <a:solidFill>
                  <a:srgbClr val="2C2C2C"/>
                </a:solidFill>
                <a:latin typeface="Times New Roman"/>
                <a:ea typeface="Microsoft YaHei"/>
              </a:rPr>
              <a:t>  Q = 500 - 10P + 0.05I + 2P_r
(设当前 P = 20元, 消费者收入 I = 40000元, 竞品价格 P_r = 15元)</a:t>
            </a:r>
          </a:p>
          <a:p>
            <a:r>
              <a:rPr sz="1400" b="1">
                <a:solidFill>
                  <a:srgbClr val="2E86C1"/>
                </a:solidFill>
                <a:latin typeface="Times New Roman"/>
                <a:ea typeface="Microsoft YaHei"/>
              </a:rPr>
              <a:t>2. 当期市场需求量测算</a:t>
            </a:r>
          </a:p>
          <a:p>
            <a:r>
              <a:rPr sz="1250" b="0">
                <a:solidFill>
                  <a:srgbClr val="2C2C2C"/>
                </a:solidFill>
                <a:latin typeface="Times New Roman"/>
                <a:ea typeface="Microsoft YaHei"/>
              </a:rPr>
              <a:t>  Q = 500 - (10×20) + (0.05×40000) + (2×15) = 500 - 200 + 2000 + 30 = 2330 件。</a:t>
            </a:r>
          </a:p>
          <a:p>
            <a:r>
              <a:rPr sz="1400" b="1">
                <a:solidFill>
                  <a:srgbClr val="2E86C1"/>
                </a:solidFill>
                <a:latin typeface="Times New Roman"/>
                <a:ea typeface="Microsoft YaHei"/>
              </a:rPr>
              <a:t>3. 敏感度分析</a:t>
            </a:r>
          </a:p>
          <a:p>
            <a:r>
              <a:rPr sz="1250" b="0">
                <a:solidFill>
                  <a:srgbClr val="2C2C2C"/>
                </a:solidFill>
                <a:latin typeface="Times New Roman"/>
                <a:ea typeface="Microsoft YaHei"/>
              </a:rPr>
              <a:t>  • 自身每涨价 1 元，销量减少 10 件；
• 收入每增加 1000 元，销量增加 50 件；
• 竞品每涨价 1 元，本品销量增加 2 件（强替代品）。</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核心结论：通过多元需求方程，企业能够精准剥离价格、宏观收入与竞争对手定价对自身销量的独立影响。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2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供给理论与供给规律</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供给量定义 · 供给规律 · 供给函数与曲线 · 边际成本递增 · 供给曲线平移外力</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供给</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供给量、供给规律与供给曲线移动机制</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8</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供给 (Supply) 与 供给规律 (Law of Supply)</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供给量的严格经济学定义</a:t>
            </a:r>
          </a:p>
          <a:p>
            <a:r>
              <a:rPr sz="1250" b="0">
                <a:solidFill>
                  <a:srgbClr val="2C2C2C"/>
                </a:solidFill>
                <a:latin typeface="Times New Roman"/>
                <a:ea typeface="Microsoft YaHei"/>
              </a:rPr>
              <a:t>  在一定时期内、在某一既定价格水平下，生产者「愿意并且能够提供」出售的商品或服务数量。</a:t>
            </a:r>
          </a:p>
          <a:p>
            <a:r>
              <a:rPr sz="1400" b="1">
                <a:solidFill>
                  <a:srgbClr val="1B3A5C"/>
                </a:solidFill>
                <a:latin typeface="Times New Roman"/>
                <a:ea typeface="Microsoft YaHei"/>
              </a:rPr>
              <a:t>2. 供给规律</a:t>
            </a:r>
          </a:p>
          <a:p>
            <a:r>
              <a:rPr sz="1250" b="0">
                <a:solidFill>
                  <a:srgbClr val="2C2C2C"/>
                </a:solidFill>
                <a:latin typeface="Times New Roman"/>
                <a:ea typeface="Microsoft YaHei"/>
              </a:rPr>
              <a:t>  在其他条件不变的情况下，商品价格与供给量之间呈同方向变动（P ↑ → Q_s ↑；P ↓ → Q_s ↓）。供给曲线向右上方倾斜。</a:t>
            </a:r>
          </a:p>
          <a:p>
            <a:r>
              <a:rPr sz="1400" b="1">
                <a:solidFill>
                  <a:srgbClr val="1B3A5C"/>
                </a:solidFill>
                <a:latin typeface="Times New Roman"/>
                <a:ea typeface="Microsoft YaHei"/>
              </a:rPr>
              <a:t>3. 边际成本递增的制约机理</a:t>
            </a:r>
          </a:p>
          <a:p>
            <a:r>
              <a:rPr sz="1250" b="0">
                <a:solidFill>
                  <a:srgbClr val="2C2C2C"/>
                </a:solidFill>
                <a:latin typeface="Times New Roman"/>
                <a:ea typeface="Microsoft YaHei"/>
              </a:rPr>
              <a:t>  随着生产规模扩大，边际生产成本逐步递增；唯有更高的市场价格，才能补偿追加生产的额外成本，从而激励企业扩产。</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「供给量的变动」 vs 「供给的变动」</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供给量的变动 (沿曲线滑动)</a:t>
            </a:r>
          </a:p>
          <a:p>
            <a:r>
              <a:rPr sz="1250" b="0">
                <a:solidFill>
                  <a:srgbClr val="2C2C2C"/>
                </a:solidFill>
                <a:latin typeface="Times New Roman"/>
                <a:ea typeface="Microsoft YaHei"/>
              </a:rPr>
              <a:t>  仅由商品自身价格 P 变动引起，在既定供给曲线上移动。</a:t>
            </a:r>
          </a:p>
          <a:p>
            <a:r>
              <a:rPr sz="1400" b="1">
                <a:solidFill>
                  <a:srgbClr val="2E86C1"/>
                </a:solidFill>
                <a:latin typeface="Times New Roman"/>
                <a:ea typeface="Microsoft YaHei"/>
              </a:rPr>
              <a:t>2. 供给的变动 (整条曲线平移)</a:t>
            </a:r>
          </a:p>
          <a:p>
            <a:r>
              <a:rPr sz="1250" b="0">
                <a:solidFill>
                  <a:srgbClr val="2C2C2C"/>
                </a:solidFill>
                <a:latin typeface="Times New Roman"/>
                <a:ea typeface="Microsoft YaHei"/>
              </a:rPr>
              <a:t>  由生产成本、技术等外部因素变化引起供给曲线整体向右下（增加）或左上（减少）平移。</a:t>
            </a:r>
          </a:p>
          <a:p>
            <a:r>
              <a:rPr sz="1400" b="1">
                <a:solidFill>
                  <a:srgbClr val="2E86C1"/>
                </a:solidFill>
                <a:latin typeface="Times New Roman"/>
                <a:ea typeface="Microsoft YaHei"/>
              </a:rPr>
              <a:t>3. 驱动供给曲线平移的核心因素</a:t>
            </a:r>
          </a:p>
          <a:p>
            <a:r>
              <a:rPr sz="1250" b="0">
                <a:solidFill>
                  <a:srgbClr val="2C2C2C"/>
                </a:solidFill>
                <a:latin typeface="Times New Roman"/>
                <a:ea typeface="Microsoft YaHei"/>
              </a:rPr>
              <a:t>  • 生产要素价格（原材料、工资、能源）下降 → 成本降低，供给右移
• 生产工艺与自动化技术突破 → 效率提升，供给右移
• 政府税收减免或产业补贴 → 供给右移
• 预期未来价格下跌 → 厂商加速当期出货，供给右移</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核心结论：工业制造技术与芯片自动化技术的飞速进步，不断推动高科技产品的供给曲线大幅右移，实现「性能倍增、价格大降」。</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3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供求法则与需求-供给均衡分析</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市场均衡 · 均衡价格与产量 · 超额供求自发平抑 · 供求变动四定理 · 蛛网动态模型</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供求均衡</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市场均衡价格与均衡产量的形成机制</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10</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市场出清与均衡点 (Market Equilibrium)</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均衡的定义</a:t>
            </a:r>
          </a:p>
          <a:p>
            <a:r>
              <a:rPr sz="1250" b="0">
                <a:solidFill>
                  <a:srgbClr val="2C2C2C"/>
                </a:solidFill>
                <a:latin typeface="Times New Roman"/>
                <a:ea typeface="Microsoft YaHei"/>
              </a:rPr>
              <a:t>  市场需求曲线与供给曲线交点 E 处的稳定状态。此时需求量恰好等于供给量 (Q_d = Q_s = Q0)，市场处于完全出清状态。</a:t>
            </a:r>
          </a:p>
          <a:p>
            <a:r>
              <a:rPr sz="1400" b="1">
                <a:solidFill>
                  <a:srgbClr val="1B3A5C"/>
                </a:solidFill>
                <a:latin typeface="Times New Roman"/>
                <a:ea typeface="Microsoft YaHei"/>
              </a:rPr>
              <a:t>2. 均衡价格 (P0) 与 均衡产量 (Q0)</a:t>
            </a:r>
          </a:p>
          <a:p>
            <a:r>
              <a:rPr sz="1250" b="0">
                <a:solidFill>
                  <a:srgbClr val="2C2C2C"/>
                </a:solidFill>
                <a:latin typeface="Times New Roman"/>
                <a:ea typeface="Microsoft YaHei"/>
              </a:rPr>
              <a:t>  买卖双方意愿完全达成一致时的成交价格与成交规模。</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市场自发纠偏机制（价格机制看不见的手）</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当市场价格 P1 &gt; P0 时 (超额供给 / 市场过剩)</a:t>
            </a:r>
          </a:p>
          <a:p>
            <a:r>
              <a:rPr sz="1250" b="0">
                <a:solidFill>
                  <a:srgbClr val="2C2C2C"/>
                </a:solidFill>
                <a:latin typeface="Times New Roman"/>
                <a:ea typeface="Microsoft YaHei"/>
              </a:rPr>
              <a:t>  供给量大于需求量 (Q_s &gt; Q_d)，厂商库存积压严重；厂商为了回笼资金被迫降价促销，驱动价格向 P0 回落。</a:t>
            </a:r>
          </a:p>
          <a:p>
            <a:r>
              <a:rPr sz="1400" b="1">
                <a:solidFill>
                  <a:srgbClr val="2E86C1"/>
                </a:solidFill>
                <a:latin typeface="Times New Roman"/>
                <a:ea typeface="Microsoft YaHei"/>
              </a:rPr>
              <a:t>2. 当市场价格 P2 &lt; P0 时 (超额需求 / 市场短缺)</a:t>
            </a:r>
          </a:p>
          <a:p>
            <a:r>
              <a:rPr sz="1250" b="0">
                <a:solidFill>
                  <a:srgbClr val="2C2C2C"/>
                </a:solidFill>
                <a:latin typeface="Times New Roman"/>
                <a:ea typeface="Microsoft YaHei"/>
              </a:rPr>
              <a:t>  需求量大于供给量 (Q_d &gt; Q_s)，消费者买不到商品争相抢购；厂商乘机提价，驱动价格向 P0 回升。</a:t>
            </a:r>
          </a:p>
          <a:p>
            <a:r>
              <a:rPr sz="1400" b="1">
                <a:solidFill>
                  <a:srgbClr val="2E86C1"/>
                </a:solidFill>
                <a:latin typeface="Times New Roman"/>
                <a:ea typeface="Microsoft YaHei"/>
              </a:rPr>
              <a:t>3. 动态收敛</a:t>
            </a:r>
          </a:p>
          <a:p>
            <a:r>
              <a:rPr sz="1250" b="0">
                <a:solidFill>
                  <a:srgbClr val="2C2C2C"/>
                </a:solidFill>
                <a:latin typeface="Times New Roman"/>
                <a:ea typeface="Microsoft YaHei"/>
              </a:rPr>
              <a:t>  在竞争性市场中，供求双方力量自动推动市场向出清点靠拢。</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核心结论：市场价格具有自动出清与纠偏功能：过剩逼迫降价，短缺催生提价，直至供需达到动态平衡。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供求均衡</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供求变动对市场均衡的综合影响定理</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11</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定理一：需求单向变动</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供给不变时：</a:t>
            </a:r>
          </a:p>
          <a:p>
            <a:r>
              <a:rPr sz="1200" b="0">
                <a:solidFill>
                  <a:srgbClr val="2C2C2C"/>
                </a:solidFill>
                <a:latin typeface="Times New Roman"/>
                <a:ea typeface="Microsoft YaHei"/>
              </a:rPr>
              <a:t>• • 需求增加 (D 右移) → 均衡价格上升 (P ↑)，均衡产量增加 (Q ↑)</a:t>
            </a:r>
          </a:p>
          <a:p>
            <a:r>
              <a:rPr sz="1200" b="0">
                <a:solidFill>
                  <a:srgbClr val="2C2C2C"/>
                </a:solidFill>
                <a:latin typeface="Times New Roman"/>
                <a:ea typeface="Microsoft YaHei"/>
              </a:rPr>
              <a:t>• • 需求减少 (D 左移) → 均衡价格下跌 (P ↓)，均衡产量减少 (Q ↓)</a:t>
            </a:r>
          </a:p>
          <a:p>
            <a:r>
              <a:rPr sz="1200" b="0">
                <a:solidFill>
                  <a:srgbClr val="2C2C2C"/>
                </a:solidFill>
                <a:latin typeface="Times New Roman"/>
                <a:ea typeface="Microsoft YaHei"/>
              </a:rPr>
              <a:t>• 价格与产量同向变化</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定理二：供给单向变动</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需求不变时：</a:t>
            </a:r>
          </a:p>
          <a:p>
            <a:r>
              <a:rPr sz="1200" b="0">
                <a:solidFill>
                  <a:srgbClr val="2C2C2C"/>
                </a:solidFill>
                <a:latin typeface="Times New Roman"/>
                <a:ea typeface="Microsoft YaHei"/>
              </a:rPr>
              <a:t>• • 供给增加 (S 右移) → 均衡价格下跌 (P ↓)，均衡产量增加 (Q ↑)</a:t>
            </a:r>
          </a:p>
          <a:p>
            <a:r>
              <a:rPr sz="1200" b="0">
                <a:solidFill>
                  <a:srgbClr val="2C2C2C"/>
                </a:solidFill>
                <a:latin typeface="Times New Roman"/>
                <a:ea typeface="Microsoft YaHei"/>
              </a:rPr>
              <a:t>• • 供给减少 (S 左移) → 均衡价格上涨 (P ↑)，均衡产量减少 (Q ↓)</a:t>
            </a:r>
          </a:p>
          <a:p>
            <a:r>
              <a:rPr sz="1200" b="0">
                <a:solidFill>
                  <a:srgbClr val="2C2C2C"/>
                </a:solidFill>
                <a:latin typeface="Times New Roman"/>
                <a:ea typeface="Microsoft YaHei"/>
              </a:rPr>
              <a:t>• 价格与产量反向变化</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定理三：同向双向变动</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供求同时增加 (D右移+S右移)：</a:t>
            </a:r>
          </a:p>
          <a:p>
            <a:r>
              <a:rPr sz="1200" b="0">
                <a:solidFill>
                  <a:srgbClr val="2C2C2C"/>
                </a:solidFill>
                <a:latin typeface="Times New Roman"/>
                <a:ea typeface="Microsoft YaHei"/>
              </a:rPr>
              <a:t>• • 均衡产量 Q 必然显著增加 (Q ↑↑)</a:t>
            </a:r>
          </a:p>
          <a:p>
            <a:r>
              <a:rPr sz="1200" b="0">
                <a:solidFill>
                  <a:srgbClr val="2C2C2C"/>
                </a:solidFill>
                <a:latin typeface="Times New Roman"/>
                <a:ea typeface="Microsoft YaHei"/>
              </a:rPr>
              <a:t>• • 均衡价格 P 取决于两者力量对比：若需求增幅更大则 P↑，若供给增幅更大则 P↓</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定理四：反向双向变动</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需求增加+供给减少 (D右移+S左移)：</a:t>
            </a:r>
          </a:p>
          <a:p>
            <a:r>
              <a:rPr sz="1200" b="0">
                <a:solidFill>
                  <a:srgbClr val="2C2C2C"/>
                </a:solidFill>
                <a:latin typeface="Times New Roman"/>
                <a:ea typeface="Microsoft YaHei"/>
              </a:rPr>
              <a:t>• • 均衡价格 P 必然暴涨 (P ↑↑)</a:t>
            </a:r>
          </a:p>
          <a:p>
            <a:r>
              <a:rPr sz="1200" b="0">
                <a:solidFill>
                  <a:srgbClr val="2C2C2C"/>
                </a:solidFill>
                <a:latin typeface="Times New Roman"/>
                <a:ea typeface="Microsoft YaHei"/>
              </a:rPr>
              <a:t>• • 均衡产量 Q 不确定（取决于移动幅度）</a:t>
            </a:r>
          </a:p>
          <a:p>
            <a:r>
              <a:rPr sz="1200" b="0">
                <a:solidFill>
                  <a:srgbClr val="2C2C2C"/>
                </a:solidFill>
                <a:latin typeface="Times New Roman"/>
                <a:ea typeface="Microsoft YaHei"/>
              </a:rPr>
              <a:t>• 典型：战争突发引发抢购且供应链中断</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归纳要义：供求变动定理是分析一切行业周期、大宗商品价格暴涨暴跌与房地产波动的核心分析工具。</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供求均衡</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动态供求波动：蛛网模型 (Cobweb Model)</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12</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蛛网理论的适用场景与基本假设</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生产周期滞后性</a:t>
            </a:r>
          </a:p>
          <a:p>
            <a:r>
              <a:rPr sz="1250" b="0">
                <a:solidFill>
                  <a:srgbClr val="2C2C2C"/>
                </a:solidFill>
                <a:latin typeface="Times New Roman"/>
                <a:ea typeface="Microsoft YaHei"/>
              </a:rPr>
              <a:t>  适用于从开始投入生产到产出商品需要较长生产周期的行业（如生猪养殖「猪周期」、农产品、果园种植）。</a:t>
            </a:r>
          </a:p>
          <a:p>
            <a:r>
              <a:rPr sz="1400" b="1">
                <a:solidFill>
                  <a:srgbClr val="1B3A5C"/>
                </a:solidFill>
                <a:latin typeface="Times New Roman"/>
                <a:ea typeface="Microsoft YaHei"/>
              </a:rPr>
              <a:t>2. 生产者预期假设</a:t>
            </a:r>
          </a:p>
          <a:p>
            <a:r>
              <a:rPr sz="1250" b="0">
                <a:solidFill>
                  <a:srgbClr val="2C2C2C"/>
                </a:solidFill>
                <a:latin typeface="Times New Roman"/>
                <a:ea typeface="Microsoft YaHei"/>
              </a:rPr>
              <a:t>  生产者根据当期的市场价格 P_t 决定下一期的产量供给 Q_(t+1)；而当期价格 P_t 取决于当期的实际供给量。</a:t>
            </a:r>
          </a:p>
          <a:p>
            <a:r>
              <a:rPr sz="1400" b="1">
                <a:solidFill>
                  <a:srgbClr val="1B3A5C"/>
                </a:solidFill>
                <a:latin typeface="Times New Roman"/>
                <a:ea typeface="Microsoft YaHei"/>
              </a:rPr>
              <a:t>3. 价格与产量的螺旋波动</a:t>
            </a:r>
          </a:p>
          <a:p>
            <a:r>
              <a:rPr sz="1250" b="0">
                <a:solidFill>
                  <a:srgbClr val="2C2C2C"/>
                </a:solidFill>
                <a:latin typeface="Times New Roman"/>
                <a:ea typeface="Microsoft YaHei"/>
              </a:rPr>
              <a:t>  由于供给反应滞后，市场价格与产量围绕均衡点呈现周期性的蛛网状振荡。</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蛛网模型的三种动态收敛形态</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收敛型蛛网 (供给弹性 &lt; 需求弹性)</a:t>
            </a:r>
          </a:p>
          <a:p>
            <a:r>
              <a:rPr sz="1250" b="0">
                <a:solidFill>
                  <a:srgbClr val="2C2C2C"/>
                </a:solidFill>
                <a:latin typeface="Times New Roman"/>
                <a:ea typeface="Microsoft YaHei"/>
              </a:rPr>
              <a:t>  供给曲线比需求曲线更陡峭。价格与产量的振荡幅度逐期缩小，最终收敛于均衡点 E。</a:t>
            </a:r>
          </a:p>
          <a:p>
            <a:r>
              <a:rPr sz="1400" b="1">
                <a:solidFill>
                  <a:srgbClr val="2E86C1"/>
                </a:solidFill>
                <a:latin typeface="Times New Roman"/>
                <a:ea typeface="Microsoft YaHei"/>
              </a:rPr>
              <a:t>2. 发散型蛛网 (供给弹性 &gt; 需求弹性)</a:t>
            </a:r>
          </a:p>
          <a:p>
            <a:r>
              <a:rPr sz="1250" b="0">
                <a:solidFill>
                  <a:srgbClr val="2C2C2C"/>
                </a:solidFill>
                <a:latin typeface="Times New Roman"/>
                <a:ea typeface="Microsoft YaHei"/>
              </a:rPr>
              <a:t>  供给曲线比需求曲线更平坦。波动幅度逐期放大，市场陷入极端失控（暴利与暴亏交替）。</a:t>
            </a:r>
          </a:p>
          <a:p>
            <a:r>
              <a:rPr sz="1400" b="1">
                <a:solidFill>
                  <a:srgbClr val="2E86C1"/>
                </a:solidFill>
                <a:latin typeface="Times New Roman"/>
                <a:ea typeface="Microsoft YaHei"/>
              </a:rPr>
              <a:t>3. 封闭型蛛网 (供给弹性 = 需求弹性)</a:t>
            </a:r>
          </a:p>
          <a:p>
            <a:r>
              <a:rPr sz="1250" b="0">
                <a:solidFill>
                  <a:srgbClr val="2C2C2C"/>
                </a:solidFill>
                <a:latin typeface="Times New Roman"/>
                <a:ea typeface="Microsoft YaHei"/>
              </a:rPr>
              <a:t>  价格与产量维持恒定振幅的循环周期波动。</a:t>
            </a:r>
          </a:p>
          <a:p>
            <a:r>
              <a:rPr sz="1400" b="1">
                <a:solidFill>
                  <a:srgbClr val="2E86C1"/>
                </a:solidFill>
                <a:latin typeface="Times New Roman"/>
                <a:ea typeface="Microsoft YaHei"/>
              </a:rPr>
              <a:t>4. 企业应对策略</a:t>
            </a:r>
          </a:p>
          <a:p>
            <a:r>
              <a:rPr sz="1250" b="0">
                <a:solidFill>
                  <a:srgbClr val="2C2C2C"/>
                </a:solidFill>
                <a:latin typeface="Times New Roman"/>
                <a:ea typeface="Microsoft YaHei"/>
              </a:rPr>
              <a:t>  运用期货期权套期保值、冷链仓储平滑出栏节奏，打破「追涨杀跌」的蛛网悲剧。</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核心结论：猪周期的本质是信息滞后与发散型蛛网波动；现代化规模企业通过数字化预测与订单农业实现平稳跨越周期。</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4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市场机制与社会资源配置</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看不见的手 · 消费者剩余 CS · 生产者剩余 PS · 价格上限管制 · 价格下限支持</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市场机制与资源配置</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市场效率度量：消费者剩余 (CS) 与生产者剩余 (PS)</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14</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消费者剩余 (Consumer Surplus, CS)</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概念定义</a:t>
            </a:r>
          </a:p>
          <a:p>
            <a:r>
              <a:rPr sz="1250" b="0">
                <a:solidFill>
                  <a:srgbClr val="2C2C2C"/>
                </a:solidFill>
                <a:latin typeface="Times New Roman"/>
                <a:ea typeface="Microsoft YaHei"/>
              </a:rPr>
              <a:t>  消费者对某种商品愿意支付的最高价格与其实际支付的市场价格之间的差额。</a:t>
            </a:r>
          </a:p>
          <a:p>
            <a:r>
              <a:rPr sz="1400" b="1">
                <a:solidFill>
                  <a:srgbClr val="1B3A5C"/>
                </a:solidFill>
                <a:latin typeface="Times New Roman"/>
                <a:ea typeface="Microsoft YaHei"/>
              </a:rPr>
              <a:t>2. 几何图解</a:t>
            </a:r>
          </a:p>
          <a:p>
            <a:r>
              <a:rPr sz="1250" b="0">
                <a:solidFill>
                  <a:srgbClr val="2C2C2C"/>
                </a:solidFill>
                <a:latin typeface="Times New Roman"/>
                <a:ea typeface="Microsoft YaHei"/>
              </a:rPr>
              <a:t>  需求曲线以下、市场价格线以上的三角形区域面积。</a:t>
            </a:r>
          </a:p>
          <a:p>
            <a:r>
              <a:rPr sz="1400" b="1">
                <a:solidFill>
                  <a:srgbClr val="1B3A5C"/>
                </a:solidFill>
                <a:latin typeface="Times New Roman"/>
                <a:ea typeface="Microsoft YaHei"/>
              </a:rPr>
              <a:t>3. 经济学本质</a:t>
            </a:r>
          </a:p>
          <a:p>
            <a:r>
              <a:rPr sz="1250" b="0">
                <a:solidFill>
                  <a:srgbClr val="2C2C2C"/>
                </a:solidFill>
                <a:latin typeface="Times New Roman"/>
                <a:ea typeface="Microsoft YaHei"/>
              </a:rPr>
              <a:t>  衡量消费者从市场交易中获得的「净主观满足感 / 福利净收益」。</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生产者剩余 (Producer Surplus, PS) 与社会总福利</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生产者剩余定义</a:t>
            </a:r>
          </a:p>
          <a:p>
            <a:r>
              <a:rPr sz="1250" b="0">
                <a:solidFill>
                  <a:srgbClr val="2C2C2C"/>
                </a:solidFill>
                <a:latin typeface="Times New Roman"/>
                <a:ea typeface="Microsoft YaHei"/>
              </a:rPr>
              <a:t>  厂商实际出售商品获得的销售收入与生产该批商品所必须的最低边际成本之间的差额。</a:t>
            </a:r>
          </a:p>
          <a:p>
            <a:r>
              <a:rPr sz="1400" b="1">
                <a:solidFill>
                  <a:srgbClr val="2E86C1"/>
                </a:solidFill>
                <a:latin typeface="Times New Roman"/>
                <a:ea typeface="Microsoft YaHei"/>
              </a:rPr>
              <a:t>2. 几何图解</a:t>
            </a:r>
          </a:p>
          <a:p>
            <a:r>
              <a:rPr sz="1250" b="0">
                <a:solidFill>
                  <a:srgbClr val="2C2C2C"/>
                </a:solidFill>
                <a:latin typeface="Times New Roman"/>
                <a:ea typeface="Microsoft YaHei"/>
              </a:rPr>
              <a:t>  市场价格线以下、供给曲线以上的三角形区域面积。</a:t>
            </a:r>
          </a:p>
          <a:p>
            <a:r>
              <a:rPr sz="1400" b="1">
                <a:solidFill>
                  <a:srgbClr val="2E86C1"/>
                </a:solidFill>
                <a:latin typeface="Times New Roman"/>
                <a:ea typeface="Microsoft YaHei"/>
              </a:rPr>
              <a:t>3. 社会总福利最大化 (Social Welfare)</a:t>
            </a:r>
          </a:p>
          <a:p>
            <a:r>
              <a:rPr sz="1250" b="0">
                <a:solidFill>
                  <a:srgbClr val="2C2C2C"/>
                </a:solidFill>
                <a:latin typeface="Times New Roman"/>
                <a:ea typeface="Microsoft YaHei"/>
              </a:rPr>
              <a:t>  社会总福利 = 消费者剩余 CS + 生产者剩余 PS。在完全竞争市场均衡点 E 处，社会总福利达到最大化，实现帕累托最优！</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核心结论：自由竞争的市场均衡出清点使得买卖双方的社会总剩余达到峰值，没有任何资源闲置与效率浪费。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价格管制</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政府最高限价 (Price Ceiling) 的经济学效应分析</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15</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最高限价（价格上限）的实施动机与机制</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政策初衷</a:t>
            </a:r>
          </a:p>
          <a:p>
            <a:r>
              <a:rPr sz="1250" b="0">
                <a:solidFill>
                  <a:srgbClr val="2C2C2C"/>
                </a:solidFill>
                <a:latin typeface="Times New Roman"/>
                <a:ea typeface="Microsoft YaHei"/>
              </a:rPr>
              <a:t>  政府为了抑制通胀、保障低收入弱势群体生活（如平价房租、生活必需水电、平价口罩），规定市场价格不得超过某一法定上限 (P_c &lt; P0)。</a:t>
            </a:r>
          </a:p>
          <a:p>
            <a:r>
              <a:rPr sz="1400" b="1">
                <a:solidFill>
                  <a:srgbClr val="1B3A5C"/>
                </a:solidFill>
                <a:latin typeface="Times New Roman"/>
                <a:ea typeface="Microsoft YaHei"/>
              </a:rPr>
              <a:t>2. 必然产生的失衡后果</a:t>
            </a:r>
          </a:p>
          <a:p>
            <a:r>
              <a:rPr sz="1250" b="0">
                <a:solidFill>
                  <a:srgbClr val="2C2C2C"/>
                </a:solidFill>
                <a:latin typeface="Times New Roman"/>
                <a:ea typeface="Microsoft YaHei"/>
              </a:rPr>
              <a:t>  • 市场严重短缺：低价刺激需求扩张 (Q_d ↑)，但打击生产者积极性抑制供给 (Q_s ↓)，产生巨大短缺缺口 (Q_d - Q_s)。
• 非价格配给成本：排长队抢购、凭票供应、托关系走后门。</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派生次生灾害与社会无谓损失</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滋生地下黑市交易 (Black Market)</a:t>
            </a:r>
          </a:p>
          <a:p>
            <a:r>
              <a:rPr sz="1250" b="0">
                <a:solidFill>
                  <a:srgbClr val="2C2C2C"/>
                </a:solidFill>
                <a:latin typeface="Times New Roman"/>
                <a:ea typeface="Microsoft YaHei"/>
              </a:rPr>
              <a:t>  投机倒把分子按法定低价抢购囤积，再在地下黑市以远高于均衡价格的暴利私下倒卖。</a:t>
            </a:r>
          </a:p>
          <a:p>
            <a:r>
              <a:rPr sz="1400" b="1">
                <a:solidFill>
                  <a:srgbClr val="2E86C1"/>
                </a:solidFill>
                <a:latin typeface="Times New Roman"/>
                <a:ea typeface="Microsoft YaHei"/>
              </a:rPr>
              <a:t>2. 质量变相下降与服务劣化</a:t>
            </a:r>
          </a:p>
          <a:p>
            <a:r>
              <a:rPr sz="1250" b="0">
                <a:solidFill>
                  <a:srgbClr val="2C2C2C"/>
                </a:solidFill>
                <a:latin typeface="Times New Roman"/>
                <a:ea typeface="Microsoft YaHei"/>
              </a:rPr>
              <a:t>  房东缺乏修缮动力导致房源破旧不堪；厂家偷工减料降低产品品质。</a:t>
            </a:r>
          </a:p>
          <a:p>
            <a:r>
              <a:rPr sz="1400" b="1">
                <a:solidFill>
                  <a:srgbClr val="2E86C1"/>
                </a:solidFill>
                <a:latin typeface="Times New Roman"/>
                <a:ea typeface="Microsoft YaHei"/>
              </a:rPr>
              <a:t>3. 社会福利净损失 (Deadweight Loss)</a:t>
            </a:r>
          </a:p>
          <a:p>
            <a:r>
              <a:rPr sz="1250" b="0">
                <a:solidFill>
                  <a:srgbClr val="2C2C2C"/>
                </a:solidFill>
                <a:latin typeface="Times New Roman"/>
                <a:ea typeface="Microsoft YaHei"/>
              </a:rPr>
              <a:t>  交易量被人为压低至 Q_s，产生哈伯格三角形无谓损失，实际损害了全社会福利。</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核心结论：最高限价好心办坏事：租金管制往往不仅无法让穷人住上好房，反而摧毁了整个城市的租房供给生态。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价格管制</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政府最低限价 (Price Floor) 的经济学效应分析</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16</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最低限价（价格支持）的实施动机与机制</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政策初衷</a:t>
            </a:r>
          </a:p>
          <a:p>
            <a:r>
              <a:rPr sz="1250" b="0">
                <a:solidFill>
                  <a:srgbClr val="2C2C2C"/>
                </a:solidFill>
                <a:latin typeface="Times New Roman"/>
                <a:ea typeface="Microsoft YaHei"/>
              </a:rPr>
              <a:t>  政府为了扶持特定弱势产业或保护劳动者收益（如农产品保护收购价、法定最低工资标准），规定价格不得低于某一法定下限 (P_f &gt; P0)。</a:t>
            </a:r>
          </a:p>
          <a:p>
            <a:r>
              <a:rPr sz="1400" b="1">
                <a:solidFill>
                  <a:srgbClr val="1B3A5C"/>
                </a:solidFill>
                <a:latin typeface="Times New Roman"/>
                <a:ea typeface="Microsoft YaHei"/>
              </a:rPr>
              <a:t>2. 必然产生的失衡后果</a:t>
            </a:r>
          </a:p>
          <a:p>
            <a:r>
              <a:rPr sz="1250" b="0">
                <a:solidFill>
                  <a:srgbClr val="2C2C2C"/>
                </a:solidFill>
                <a:latin typeface="Times New Roman"/>
                <a:ea typeface="Microsoft YaHei"/>
              </a:rPr>
              <a:t>  • 市场严重过剩：高价刺激供给激增 (Q_s ↑)，但抑制了市场真实需求 (Q_d ↓)，产生严重库存积压 (Q_s - Q_d)。
• 财政包袱沉重：为了维持保护价，政府必须动用财政巨资敞开收购过剩农产品，耗费仓储与损耗成本。</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劳动力市场最低工资管制的争议</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对在职劳动者的保护</a:t>
            </a:r>
          </a:p>
          <a:p>
            <a:r>
              <a:rPr sz="1250" b="0">
                <a:solidFill>
                  <a:srgbClr val="2C2C2C"/>
                </a:solidFill>
                <a:latin typeface="Times New Roman"/>
                <a:ea typeface="Microsoft YaHei"/>
              </a:rPr>
              <a:t>  确保获得法定最低工资的在职员工获得体面收入保障。</a:t>
            </a:r>
          </a:p>
          <a:p>
            <a:r>
              <a:rPr sz="1400" b="1">
                <a:solidFill>
                  <a:srgbClr val="2E86C1"/>
                </a:solidFill>
                <a:latin typeface="Times New Roman"/>
                <a:ea typeface="Microsoft YaHei"/>
              </a:rPr>
              <a:t>2. 对低技能青年的潜在挤出</a:t>
            </a:r>
          </a:p>
          <a:p>
            <a:r>
              <a:rPr sz="1250" b="0">
                <a:solidFill>
                  <a:srgbClr val="2C2C2C"/>
                </a:solidFill>
                <a:latin typeface="Times New Roman"/>
                <a:ea typeface="Microsoft YaHei"/>
              </a:rPr>
              <a:t>  最低工资过高可能诱使中小企业减少用工或加速机器人自动化替代，导致部分低技能青年与外来务工人员面临更高失业风险。</a:t>
            </a:r>
          </a:p>
          <a:p>
            <a:r>
              <a:rPr sz="1400" b="1">
                <a:solidFill>
                  <a:srgbClr val="2E86C1"/>
                </a:solidFill>
                <a:latin typeface="Times New Roman"/>
                <a:ea typeface="Microsoft YaHei"/>
              </a:rPr>
              <a:t>3. 政策替代建议</a:t>
            </a:r>
          </a:p>
          <a:p>
            <a:r>
              <a:rPr sz="1250" b="0">
                <a:solidFill>
                  <a:srgbClr val="2C2C2C"/>
                </a:solidFill>
                <a:latin typeface="Times New Roman"/>
                <a:ea typeface="Microsoft YaHei"/>
              </a:rPr>
              <a:t>  运用「负所得税」或政府直接现金劳动补贴，比直接扭曲市场用工价格更具效率。</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核心结论：最低限价人为制造了过剩与财政负担；现代农业政策正全面转向「价补分离」——让市场定价格，政府直接补收入。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案例研讨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案例 1-1：大城市租金管制政策的得与失</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17</a:t>
            </a:r>
          </a:p>
        </p:txBody>
      </p:sp>
      <p:sp>
        <p:nvSpPr>
          <p:cNvPr id="9" name="Rectangle 8"/>
          <p:cNvSpPr/>
          <p:nvPr/>
        </p:nvSpPr>
        <p:spPr>
          <a:xfrm>
            <a:off x="457200" y="1325880"/>
            <a:ext cx="11247120" cy="457200"/>
          </a:xfrm>
          <a:prstGeom prst="rect">
            <a:avLst/>
          </a:prstGeom>
          <a:solidFill>
            <a:srgbClr val="EBF3FA"/>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9144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353312"/>
            <a:ext cx="10789920" cy="411480"/>
          </a:xfrm>
          <a:prstGeom prst="rect">
            <a:avLst/>
          </a:prstGeom>
          <a:noFill/>
        </p:spPr>
        <p:txBody>
          <a:bodyPr wrap="none">
            <a:spAutoFit/>
          </a:bodyPr>
          <a:lstStyle/>
          <a:p>
            <a:r>
              <a:rPr sz="1550" b="1">
                <a:solidFill>
                  <a:srgbClr val="1B3A5C"/>
                </a:solidFill>
                <a:latin typeface="Times New Roman"/>
                <a:ea typeface="Microsoft YaHei"/>
              </a:rPr>
              <a:t>📖 案例研讨：纽约与旧金山房租管制半个世纪的现实启示</a:t>
            </a:r>
          </a:p>
        </p:txBody>
      </p:sp>
      <p:sp>
        <p:nvSpPr>
          <p:cNvPr id="12" name="Rectangle 11"/>
          <p:cNvSpPr/>
          <p:nvPr/>
        </p:nvSpPr>
        <p:spPr>
          <a:xfrm>
            <a:off x="457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管制出台 (二战期间)</a:t>
            </a:r>
          </a:p>
        </p:txBody>
      </p:sp>
      <p:sp>
        <p:nvSpPr>
          <p:cNvPr id="15" name="TextBox 14"/>
          <p:cNvSpPr txBox="1"/>
          <p:nvPr/>
        </p:nvSpPr>
        <p:spPr>
          <a:xfrm>
            <a:off x="594360" y="2423160"/>
            <a:ext cx="2400300" cy="2697480"/>
          </a:xfrm>
          <a:prstGeom prst="rect">
            <a:avLst/>
          </a:prstGeom>
          <a:noFill/>
        </p:spPr>
        <p:txBody>
          <a:bodyPr wrap="square">
            <a:spAutoFit/>
          </a:bodyPr>
          <a:lstStyle/>
          <a:p>
            <a:r>
              <a:rPr sz="1200" b="0">
                <a:solidFill>
                  <a:srgbClr val="2C2C2C"/>
                </a:solidFill>
                <a:latin typeface="Times New Roman"/>
                <a:ea typeface="Microsoft YaHei"/>
              </a:rPr>
              <a:t>• 战时通胀严峻，为保护租客利益</a:t>
            </a:r>
          </a:p>
          <a:p>
            <a:r>
              <a:rPr sz="1200" b="0">
                <a:solidFill>
                  <a:srgbClr val="2C2C2C"/>
                </a:solidFill>
                <a:latin typeface="Times New Roman"/>
                <a:ea typeface="Microsoft YaHei"/>
              </a:rPr>
              <a:t>• 法定冻结房租，规定年涨幅上限不得超过 2%</a:t>
            </a:r>
          </a:p>
          <a:p>
            <a:r>
              <a:rPr sz="1200" b="0">
                <a:solidFill>
                  <a:srgbClr val="2C2C2C"/>
                </a:solidFill>
                <a:latin typeface="Times New Roman"/>
                <a:ea typeface="Microsoft YaHei"/>
              </a:rPr>
              <a:t>• 短期内租客欢呼，房租支出大幅下降</a:t>
            </a:r>
          </a:p>
        </p:txBody>
      </p:sp>
      <p:sp>
        <p:nvSpPr>
          <p:cNvPr id="16" name="Rectangle 15"/>
          <p:cNvSpPr/>
          <p:nvPr/>
        </p:nvSpPr>
        <p:spPr>
          <a:xfrm>
            <a:off x="3314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4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6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供给端急剧恶化 (70-80年代)</a:t>
            </a:r>
          </a:p>
        </p:txBody>
      </p:sp>
      <p:sp>
        <p:nvSpPr>
          <p:cNvPr id="19" name="TextBox 18"/>
          <p:cNvSpPr txBox="1"/>
          <p:nvPr/>
        </p:nvSpPr>
        <p:spPr>
          <a:xfrm>
            <a:off x="3451860" y="2423160"/>
            <a:ext cx="2400300" cy="2697480"/>
          </a:xfrm>
          <a:prstGeom prst="rect">
            <a:avLst/>
          </a:prstGeom>
          <a:noFill/>
        </p:spPr>
        <p:txBody>
          <a:bodyPr wrap="square">
            <a:spAutoFit/>
          </a:bodyPr>
          <a:lstStyle/>
          <a:p>
            <a:r>
              <a:rPr sz="1200" b="0">
                <a:solidFill>
                  <a:srgbClr val="2C2C2C"/>
                </a:solidFill>
                <a:latin typeface="Times New Roman"/>
                <a:ea typeface="Microsoft YaHei"/>
              </a:rPr>
              <a:t>• 房东无利可图停止维护保养房屋</a:t>
            </a:r>
          </a:p>
          <a:p>
            <a:r>
              <a:rPr sz="1200" b="0">
                <a:solidFill>
                  <a:srgbClr val="2C2C2C"/>
                </a:solidFill>
                <a:latin typeface="Times New Roman"/>
                <a:ea typeface="Microsoft YaHei"/>
              </a:rPr>
              <a:t>• 大批公寓破败甚至被房东蓄意弃管</a:t>
            </a:r>
          </a:p>
          <a:p>
            <a:r>
              <a:rPr sz="1200" b="0">
                <a:solidFill>
                  <a:srgbClr val="2C2C2C"/>
                </a:solidFill>
                <a:latin typeface="Times New Roman"/>
                <a:ea typeface="Microsoft YaHei"/>
              </a:rPr>
              <a:t>• 开发商完全停止新建普通租赁住房</a:t>
            </a:r>
          </a:p>
        </p:txBody>
      </p:sp>
      <p:sp>
        <p:nvSpPr>
          <p:cNvPr id="20" name="Rectangle 19"/>
          <p:cNvSpPr/>
          <p:nvPr/>
        </p:nvSpPr>
        <p:spPr>
          <a:xfrm>
            <a:off x="6172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市场严重扭曲 (90年代至今)</a:t>
            </a:r>
          </a:p>
        </p:txBody>
      </p:sp>
      <p:sp>
        <p:nvSpPr>
          <p:cNvPr id="23" name="TextBox 22"/>
          <p:cNvSpPr txBox="1"/>
          <p:nvPr/>
        </p:nvSpPr>
        <p:spPr>
          <a:xfrm>
            <a:off x="6309360" y="2423160"/>
            <a:ext cx="2400300" cy="2697480"/>
          </a:xfrm>
          <a:prstGeom prst="rect">
            <a:avLst/>
          </a:prstGeom>
          <a:noFill/>
        </p:spPr>
        <p:txBody>
          <a:bodyPr wrap="square">
            <a:spAutoFit/>
          </a:bodyPr>
          <a:lstStyle/>
          <a:p>
            <a:r>
              <a:rPr sz="1200" b="0">
                <a:solidFill>
                  <a:srgbClr val="2C2C2C"/>
                </a:solidFill>
                <a:latin typeface="Times New Roman"/>
                <a:ea typeface="Microsoft YaHei"/>
              </a:rPr>
              <a:t>• 极度稀缺导致黑市「转租中介费」高达数万美元</a:t>
            </a:r>
          </a:p>
          <a:p>
            <a:r>
              <a:rPr sz="1200" b="0">
                <a:solidFill>
                  <a:srgbClr val="2C2C2C"/>
                </a:solidFill>
                <a:latin typeface="Times New Roman"/>
                <a:ea typeface="Microsoft YaHei"/>
              </a:rPr>
              <a:t>• 排队申请廉租房需漫长等待数年甚至十数年</a:t>
            </a:r>
          </a:p>
          <a:p>
            <a:r>
              <a:rPr sz="1200" b="0">
                <a:solidFill>
                  <a:srgbClr val="2C2C2C"/>
                </a:solidFill>
                <a:latin typeface="Times New Roman"/>
                <a:ea typeface="Microsoft YaHei"/>
              </a:rPr>
              <a:t>• 新进入城市的年轻人完全无房可租</a:t>
            </a:r>
          </a:p>
        </p:txBody>
      </p:sp>
      <p:sp>
        <p:nvSpPr>
          <p:cNvPr id="24" name="Rectangle 23"/>
          <p:cNvSpPr/>
          <p:nvPr/>
        </p:nvSpPr>
        <p:spPr>
          <a:xfrm>
            <a:off x="9029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29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1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经济学家共识</a:t>
            </a:r>
          </a:p>
        </p:txBody>
      </p:sp>
      <p:sp>
        <p:nvSpPr>
          <p:cNvPr id="27" name="TextBox 26"/>
          <p:cNvSpPr txBox="1"/>
          <p:nvPr/>
        </p:nvSpPr>
        <p:spPr>
          <a:xfrm>
            <a:off x="9166860" y="2423160"/>
            <a:ext cx="2400300" cy="2697480"/>
          </a:xfrm>
          <a:prstGeom prst="rect">
            <a:avLst/>
          </a:prstGeom>
          <a:noFill/>
        </p:spPr>
        <p:txBody>
          <a:bodyPr wrap="square">
            <a:spAutoFit/>
          </a:bodyPr>
          <a:lstStyle/>
          <a:p>
            <a:r>
              <a:rPr sz="1200" b="0">
                <a:solidFill>
                  <a:srgbClr val="2C2C2C"/>
                </a:solidFill>
                <a:latin typeface="Times New Roman"/>
                <a:ea typeface="Microsoft YaHei"/>
              </a:rPr>
              <a:t>• 93%的经济学家达成一致共识：</a:t>
            </a:r>
          </a:p>
          <a:p>
            <a:r>
              <a:rPr sz="1200" b="0">
                <a:solidFill>
                  <a:srgbClr val="2C2C2C"/>
                </a:solidFill>
                <a:latin typeface="Times New Roman"/>
                <a:ea typeface="Microsoft YaHei"/>
              </a:rPr>
              <a:t>• 「除了轰炸之外，毁灭一个城市最有效的方法就是实行房租管制！」</a:t>
            </a:r>
          </a:p>
        </p:txBody>
      </p:sp>
      <p:sp>
        <p:nvSpPr>
          <p:cNvPr id="28" name="Rectangle 27"/>
          <p:cNvSpPr/>
          <p:nvPr/>
        </p:nvSpPr>
        <p:spPr>
          <a:xfrm>
            <a:off x="457200" y="5349240"/>
            <a:ext cx="11247120" cy="914400"/>
          </a:xfrm>
          <a:prstGeom prst="rect">
            <a:avLst/>
          </a:prstGeom>
          <a:solidFill>
            <a:srgbClr val="DCEDF8"/>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13248"/>
            <a:ext cx="10881360" cy="804672"/>
          </a:xfrm>
          <a:prstGeom prst="rect">
            <a:avLst/>
          </a:prstGeom>
          <a:noFill/>
        </p:spPr>
        <p:txBody>
          <a:bodyPr wrap="none">
            <a:spAutoFit/>
          </a:bodyPr>
          <a:lstStyle/>
          <a:p>
            <a:r>
              <a:rPr sz="1300" b="1">
                <a:solidFill>
                  <a:srgbClr val="1B3A5C"/>
                </a:solidFill>
                <a:latin typeface="Times New Roman"/>
                <a:ea typeface="Microsoft YaHei"/>
              </a:rPr>
              <a:t>🎯 管理经济学启示与决策启示：</a:t>
            </a:r>
          </a:p>
          <a:p>
            <a:r>
              <a:rPr sz="1200" b="0">
                <a:solidFill>
                  <a:srgbClr val="2C2C2C"/>
                </a:solidFill>
                <a:latin typeface="Times New Roman"/>
                <a:ea typeface="Microsoft YaHei"/>
              </a:rPr>
              <a:t>违背供求规律的价格管制必然受到经济规律的严厉惩罚。解决住房难题的根本出路在于增加土地供应与扩大保障房供给，而非管制价格。</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案例研讨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案例 1-2：农产品保护价与「价补分离」改革</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18</a:t>
            </a:r>
          </a:p>
        </p:txBody>
      </p:sp>
      <p:sp>
        <p:nvSpPr>
          <p:cNvPr id="9" name="Rectangle 8"/>
          <p:cNvSpPr/>
          <p:nvPr/>
        </p:nvSpPr>
        <p:spPr>
          <a:xfrm>
            <a:off x="457200" y="1325880"/>
            <a:ext cx="11247120" cy="457200"/>
          </a:xfrm>
          <a:prstGeom prst="rect">
            <a:avLst/>
          </a:prstGeom>
          <a:solidFill>
            <a:srgbClr val="EBF3FA"/>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9144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353312"/>
            <a:ext cx="10789920" cy="411480"/>
          </a:xfrm>
          <a:prstGeom prst="rect">
            <a:avLst/>
          </a:prstGeom>
          <a:noFill/>
        </p:spPr>
        <p:txBody>
          <a:bodyPr wrap="none">
            <a:spAutoFit/>
          </a:bodyPr>
          <a:lstStyle/>
          <a:p>
            <a:r>
              <a:rPr sz="1550" b="1">
                <a:solidFill>
                  <a:srgbClr val="1B3A5C"/>
                </a:solidFill>
                <a:latin typeface="Times New Roman"/>
                <a:ea typeface="Microsoft YaHei"/>
              </a:rPr>
              <a:t>📖 案例研讨：我国粮食托市收购向市场化改革的战略跨越</a:t>
            </a:r>
          </a:p>
        </p:txBody>
      </p:sp>
      <p:sp>
        <p:nvSpPr>
          <p:cNvPr id="12" name="Rectangle 11"/>
          <p:cNvSpPr/>
          <p:nvPr/>
        </p:nvSpPr>
        <p:spPr>
          <a:xfrm>
            <a:off x="457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托市收购阶段 (保护粮农)</a:t>
            </a:r>
          </a:p>
        </p:txBody>
      </p:sp>
      <p:sp>
        <p:nvSpPr>
          <p:cNvPr id="15" name="TextBox 14"/>
          <p:cNvSpPr txBox="1"/>
          <p:nvPr/>
        </p:nvSpPr>
        <p:spPr>
          <a:xfrm>
            <a:off x="594360" y="2423160"/>
            <a:ext cx="2400300" cy="2697480"/>
          </a:xfrm>
          <a:prstGeom prst="rect">
            <a:avLst/>
          </a:prstGeom>
          <a:noFill/>
        </p:spPr>
        <p:txBody>
          <a:bodyPr wrap="square">
            <a:spAutoFit/>
          </a:bodyPr>
          <a:lstStyle/>
          <a:p>
            <a:r>
              <a:rPr sz="1200" b="0">
                <a:solidFill>
                  <a:srgbClr val="2C2C2C"/>
                </a:solidFill>
                <a:latin typeface="Times New Roman"/>
                <a:ea typeface="Microsoft YaHei"/>
              </a:rPr>
              <a:t>• 实行最低收购价，国家粮库无限兜底收购</a:t>
            </a:r>
          </a:p>
          <a:p>
            <a:r>
              <a:rPr sz="1200" b="0">
                <a:solidFill>
                  <a:srgbClr val="2C2C2C"/>
                </a:solidFill>
                <a:latin typeface="Times New Roman"/>
                <a:ea typeface="Microsoft YaHei"/>
              </a:rPr>
              <a:t>• 有效保障了种粮农民收益，实现粮食产量连年增产</a:t>
            </a:r>
          </a:p>
        </p:txBody>
      </p:sp>
      <p:sp>
        <p:nvSpPr>
          <p:cNvPr id="16" name="Rectangle 15"/>
          <p:cNvSpPr/>
          <p:nvPr/>
        </p:nvSpPr>
        <p:spPr>
          <a:xfrm>
            <a:off x="3314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4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6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积压与财政挑战</a:t>
            </a:r>
          </a:p>
        </p:txBody>
      </p:sp>
      <p:sp>
        <p:nvSpPr>
          <p:cNvPr id="19" name="TextBox 18"/>
          <p:cNvSpPr txBox="1"/>
          <p:nvPr/>
        </p:nvSpPr>
        <p:spPr>
          <a:xfrm>
            <a:off x="3451860" y="2423160"/>
            <a:ext cx="2400300" cy="2697480"/>
          </a:xfrm>
          <a:prstGeom prst="rect">
            <a:avLst/>
          </a:prstGeom>
          <a:noFill/>
        </p:spPr>
        <p:txBody>
          <a:bodyPr wrap="square">
            <a:spAutoFit/>
          </a:bodyPr>
          <a:lstStyle/>
          <a:p>
            <a:r>
              <a:rPr sz="1200" b="0">
                <a:solidFill>
                  <a:srgbClr val="2C2C2C"/>
                </a:solidFill>
                <a:latin typeface="Times New Roman"/>
                <a:ea typeface="Microsoft YaHei"/>
              </a:rPr>
              <a:t>• 国内粮价显著高于国际市场，出现「天量库存、天量进口、天量补贴」三量齐增困局</a:t>
            </a:r>
          </a:p>
          <a:p>
            <a:r>
              <a:rPr sz="1200" b="0">
                <a:solidFill>
                  <a:srgbClr val="2C2C2C"/>
                </a:solidFill>
                <a:latin typeface="Times New Roman"/>
                <a:ea typeface="Microsoft YaHei"/>
              </a:rPr>
              <a:t>• 国储库库容告急，财政补贴负担沉重</a:t>
            </a:r>
          </a:p>
        </p:txBody>
      </p:sp>
      <p:sp>
        <p:nvSpPr>
          <p:cNvPr id="20" name="Rectangle 19"/>
          <p:cNvSpPr/>
          <p:nvPr/>
        </p:nvSpPr>
        <p:spPr>
          <a:xfrm>
            <a:off x="6172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价补分离改革</a:t>
            </a:r>
          </a:p>
        </p:txBody>
      </p:sp>
      <p:sp>
        <p:nvSpPr>
          <p:cNvPr id="23" name="TextBox 22"/>
          <p:cNvSpPr txBox="1"/>
          <p:nvPr/>
        </p:nvSpPr>
        <p:spPr>
          <a:xfrm>
            <a:off x="6309360" y="2423160"/>
            <a:ext cx="2400300" cy="2697480"/>
          </a:xfrm>
          <a:prstGeom prst="rect">
            <a:avLst/>
          </a:prstGeom>
          <a:noFill/>
        </p:spPr>
        <p:txBody>
          <a:bodyPr wrap="square">
            <a:spAutoFit/>
          </a:bodyPr>
          <a:lstStyle/>
          <a:p>
            <a:r>
              <a:rPr sz="1200" b="0">
                <a:solidFill>
                  <a:srgbClr val="2C2C2C"/>
                </a:solidFill>
                <a:latin typeface="Times New Roman"/>
                <a:ea typeface="Microsoft YaHei"/>
              </a:rPr>
              <a:t>• 取消玉米等品种托市收购，让粮食价格由市场供求自发形成</a:t>
            </a:r>
          </a:p>
          <a:p>
            <a:r>
              <a:rPr sz="1200" b="0">
                <a:solidFill>
                  <a:srgbClr val="2C2C2C"/>
                </a:solidFill>
                <a:latin typeface="Times New Roman"/>
                <a:ea typeface="Microsoft YaHei"/>
              </a:rPr>
              <a:t>• 对种粮农民发放直接现金生产者补贴 (目标价格补贴)</a:t>
            </a:r>
          </a:p>
        </p:txBody>
      </p:sp>
      <p:sp>
        <p:nvSpPr>
          <p:cNvPr id="24" name="Rectangle 23"/>
          <p:cNvSpPr/>
          <p:nvPr/>
        </p:nvSpPr>
        <p:spPr>
          <a:xfrm>
            <a:off x="9029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29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1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改革成效显著</a:t>
            </a:r>
          </a:p>
        </p:txBody>
      </p:sp>
      <p:sp>
        <p:nvSpPr>
          <p:cNvPr id="27" name="TextBox 26"/>
          <p:cNvSpPr txBox="1"/>
          <p:nvPr/>
        </p:nvSpPr>
        <p:spPr>
          <a:xfrm>
            <a:off x="9166860" y="2423160"/>
            <a:ext cx="2400300" cy="2697480"/>
          </a:xfrm>
          <a:prstGeom prst="rect">
            <a:avLst/>
          </a:prstGeom>
          <a:noFill/>
        </p:spPr>
        <p:txBody>
          <a:bodyPr wrap="square">
            <a:spAutoFit/>
          </a:bodyPr>
          <a:lstStyle/>
          <a:p>
            <a:r>
              <a:rPr sz="1200" b="0">
                <a:solidFill>
                  <a:srgbClr val="2C2C2C"/>
                </a:solidFill>
                <a:latin typeface="Times New Roman"/>
                <a:ea typeface="Microsoft YaHei"/>
              </a:rPr>
              <a:t>• 下游饲料与深加工企业成本大幅下降，产业链活力全面迸发</a:t>
            </a:r>
          </a:p>
          <a:p>
            <a:r>
              <a:rPr sz="1200" b="0">
                <a:solidFill>
                  <a:srgbClr val="2C2C2C"/>
                </a:solidFill>
                <a:latin typeface="Times New Roman"/>
                <a:ea typeface="Microsoft YaHei"/>
              </a:rPr>
              <a:t>• 库存平稳出清，农民收入与国家粮食安全获得双重保障</a:t>
            </a:r>
          </a:p>
        </p:txBody>
      </p:sp>
      <p:sp>
        <p:nvSpPr>
          <p:cNvPr id="28" name="Rectangle 27"/>
          <p:cNvSpPr/>
          <p:nvPr/>
        </p:nvSpPr>
        <p:spPr>
          <a:xfrm>
            <a:off x="457200" y="5349240"/>
            <a:ext cx="11247120" cy="914400"/>
          </a:xfrm>
          <a:prstGeom prst="rect">
            <a:avLst/>
          </a:prstGeom>
          <a:solidFill>
            <a:srgbClr val="DCEDF8"/>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13248"/>
            <a:ext cx="10881360" cy="804672"/>
          </a:xfrm>
          <a:prstGeom prst="rect">
            <a:avLst/>
          </a:prstGeom>
          <a:noFill/>
        </p:spPr>
        <p:txBody>
          <a:bodyPr wrap="none">
            <a:spAutoFit/>
          </a:bodyPr>
          <a:lstStyle/>
          <a:p>
            <a:r>
              <a:rPr sz="1300" b="1">
                <a:solidFill>
                  <a:srgbClr val="1B3A5C"/>
                </a:solidFill>
                <a:latin typeface="Times New Roman"/>
                <a:ea typeface="Microsoft YaHei"/>
              </a:rPr>
              <a:t>🎯 管理经济学启示与决策启示：</a:t>
            </a:r>
          </a:p>
          <a:p>
            <a:r>
              <a:rPr sz="1200" b="0">
                <a:solidFill>
                  <a:srgbClr val="2C2C2C"/>
                </a:solidFill>
                <a:latin typeface="Times New Roman"/>
                <a:ea typeface="Microsoft YaHei"/>
              </a:rPr>
              <a:t>从价格扭曲转向收入直补，是尊重市场规律与保障社会公平结合的经典改革范式。</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生活中的经济学</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春运火车票与医院专家号：短缺与黄牛现象的经济学本质</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19</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非市场定价下的供求严重失衡</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定价低于市场均衡价格</a:t>
            </a:r>
          </a:p>
          <a:p>
            <a:r>
              <a:rPr sz="1250" b="0">
                <a:solidFill>
                  <a:srgbClr val="2C2C2C"/>
                </a:solidFill>
                <a:latin typeface="Times New Roman"/>
                <a:ea typeface="Microsoft YaHei"/>
              </a:rPr>
              <a:t>  春运火车票与公立三甲医院专家号承担公益普惠属性，票价远低于春运期间或看名医的实际市场出清价。</a:t>
            </a:r>
          </a:p>
          <a:p>
            <a:r>
              <a:rPr sz="1400" b="1">
                <a:solidFill>
                  <a:srgbClr val="1B3A5C"/>
                </a:solidFill>
                <a:latin typeface="Times New Roman"/>
                <a:ea typeface="Microsoft YaHei"/>
              </a:rPr>
              <a:t>2. 必然产生的极度短缺</a:t>
            </a:r>
          </a:p>
          <a:p>
            <a:r>
              <a:rPr sz="1250" b="0">
                <a:solidFill>
                  <a:srgbClr val="2C2C2C"/>
                </a:solidFill>
                <a:latin typeface="Times New Roman"/>
                <a:ea typeface="Microsoft YaHei"/>
              </a:rPr>
              <a:t>  供给量在短期内刚性受限，而低廉票价诱发海量需求涌入，供求缺口高达数十倍！</a:t>
            </a:r>
          </a:p>
          <a:p>
            <a:r>
              <a:rPr sz="1400" b="1">
                <a:solidFill>
                  <a:srgbClr val="1B3A5C"/>
                </a:solidFill>
                <a:latin typeface="Times New Roman"/>
                <a:ea typeface="Microsoft YaHei"/>
              </a:rPr>
              <a:t>3. 交易成本转移</a:t>
            </a:r>
          </a:p>
          <a:p>
            <a:r>
              <a:rPr sz="1250" b="0">
                <a:solidFill>
                  <a:srgbClr val="2C2C2C"/>
                </a:solidFill>
                <a:latin typeface="Times New Roman"/>
                <a:ea typeface="Microsoft YaHei"/>
              </a:rPr>
              <a:t>  表面上票价便宜，但普通民众必须付出极高的时间成本（抢票脚本、通宵排队）或面临求告无门的沉重代价。</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黄牛中介的经济学机理与治理之道</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黄牛套利本质</a:t>
            </a:r>
          </a:p>
          <a:p>
            <a:r>
              <a:rPr sz="1250" b="0">
                <a:solidFill>
                  <a:srgbClr val="2C2C2C"/>
                </a:solidFill>
                <a:latin typeface="Times New Roman"/>
                <a:ea typeface="Microsoft YaHei"/>
              </a:rPr>
              <a:t>  黄牛利用技术或人脉漏洞，将法定低价票倒卖为按真实市场供求出清的高价，套取中间租金。</a:t>
            </a:r>
          </a:p>
          <a:p>
            <a:r>
              <a:rPr sz="1400" b="1">
                <a:solidFill>
                  <a:srgbClr val="2E86C1"/>
                </a:solidFill>
                <a:latin typeface="Times New Roman"/>
                <a:ea typeface="Microsoft YaHei"/>
              </a:rPr>
              <a:t>2. 治标与治本并举</a:t>
            </a:r>
          </a:p>
          <a:p>
            <a:r>
              <a:rPr sz="1250" b="0">
                <a:solidFill>
                  <a:srgbClr val="2C2C2C"/>
                </a:solidFill>
                <a:latin typeface="Times New Roman"/>
                <a:ea typeface="Microsoft YaHei"/>
              </a:rPr>
              <a:t>  • 治标：人证合一强实名制、严厉打击外挂抢票软件。
• 治本：增加有效供给（高铁八纵八横大网络扩能建设、推进分级诊疗让基层名医资源下沉）。</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核心结论：只要存在法定低价与供求短缺，黑市套利冲动就无法彻底杜绝；缓解短缺的终极密码在于持续扩大优质供给。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本章小结</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第1章 市场供求理论核心知识系统复盘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20</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需求理论</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P 上涨 Q 减少 (反向)</a:t>
            </a:r>
          </a:p>
          <a:p>
            <a:r>
              <a:rPr sz="1200" b="0">
                <a:solidFill>
                  <a:srgbClr val="2C2C2C"/>
                </a:solidFill>
                <a:latin typeface="Times New Roman"/>
                <a:ea typeface="Microsoft YaHei"/>
              </a:rPr>
              <a:t>• 替代效应与收入效应</a:t>
            </a:r>
          </a:p>
          <a:p>
            <a:r>
              <a:rPr sz="1200" b="0">
                <a:solidFill>
                  <a:srgbClr val="2C2C2C"/>
                </a:solidFill>
                <a:latin typeface="Times New Roman"/>
                <a:ea typeface="Microsoft YaHei"/>
              </a:rPr>
              <a:t>• 沿线移动 vs 整条平移</a:t>
            </a:r>
          </a:p>
          <a:p>
            <a:r>
              <a:rPr sz="1200" b="0">
                <a:solidFill>
                  <a:srgbClr val="2C2C2C"/>
                </a:solidFill>
                <a:latin typeface="Times New Roman"/>
                <a:ea typeface="Microsoft YaHei"/>
              </a:rPr>
              <a:t>• 外部收入偏好驱动</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供给理论</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P 上涨 Q 增加 (同向)</a:t>
            </a:r>
          </a:p>
          <a:p>
            <a:r>
              <a:rPr sz="1200" b="0">
                <a:solidFill>
                  <a:srgbClr val="2C2C2C"/>
                </a:solidFill>
                <a:latin typeface="Times New Roman"/>
                <a:ea typeface="Microsoft YaHei"/>
              </a:rPr>
              <a:t>• 边际成本递增制约</a:t>
            </a:r>
          </a:p>
          <a:p>
            <a:r>
              <a:rPr sz="1200" b="0">
                <a:solidFill>
                  <a:srgbClr val="2C2C2C"/>
                </a:solidFill>
                <a:latin typeface="Times New Roman"/>
                <a:ea typeface="Microsoft YaHei"/>
              </a:rPr>
              <a:t>• 技术革新推动右移</a:t>
            </a:r>
          </a:p>
          <a:p>
            <a:r>
              <a:rPr sz="1200" b="0">
                <a:solidFill>
                  <a:srgbClr val="2C2C2C"/>
                </a:solidFill>
                <a:latin typeface="Times New Roman"/>
                <a:ea typeface="Microsoft YaHei"/>
              </a:rPr>
              <a:t>• 要素成本直接影响</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供求均衡</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交点出清无过剩短缺</a:t>
            </a:r>
          </a:p>
          <a:p>
            <a:r>
              <a:rPr sz="1200" b="0">
                <a:solidFill>
                  <a:srgbClr val="2C2C2C"/>
                </a:solidFill>
                <a:latin typeface="Times New Roman"/>
                <a:ea typeface="Microsoft YaHei"/>
              </a:rPr>
              <a:t>• 价格信号自发纠偏</a:t>
            </a:r>
          </a:p>
          <a:p>
            <a:r>
              <a:rPr sz="1200" b="0">
                <a:solidFill>
                  <a:srgbClr val="2C2C2C"/>
                </a:solidFill>
                <a:latin typeface="Times New Roman"/>
                <a:ea typeface="Microsoft YaHei"/>
              </a:rPr>
              <a:t>• 供求变动四定理</a:t>
            </a:r>
          </a:p>
          <a:p>
            <a:r>
              <a:rPr sz="1200" b="0">
                <a:solidFill>
                  <a:srgbClr val="2C2C2C"/>
                </a:solidFill>
                <a:latin typeface="Times New Roman"/>
                <a:ea typeface="Microsoft YaHei"/>
              </a:rPr>
              <a:t>• 蛛网模型周期波动</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价格管制</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最高限价引发短缺黑市</a:t>
            </a:r>
          </a:p>
          <a:p>
            <a:r>
              <a:rPr sz="1200" b="0">
                <a:solidFill>
                  <a:srgbClr val="2C2C2C"/>
                </a:solidFill>
                <a:latin typeface="Times New Roman"/>
                <a:ea typeface="Microsoft YaHei"/>
              </a:rPr>
              <a:t>• 最低限价引发过剩积压</a:t>
            </a:r>
          </a:p>
          <a:p>
            <a:r>
              <a:rPr sz="1200" b="0">
                <a:solidFill>
                  <a:srgbClr val="2C2C2C"/>
                </a:solidFill>
                <a:latin typeface="Times New Roman"/>
                <a:ea typeface="Microsoft YaHei"/>
              </a:rPr>
              <a:t>• 价补分离改革启示</a:t>
            </a:r>
          </a:p>
          <a:p>
            <a:r>
              <a:rPr sz="1200" b="0">
                <a:solidFill>
                  <a:srgbClr val="2C2C2C"/>
                </a:solidFill>
                <a:latin typeface="Times New Roman"/>
                <a:ea typeface="Microsoft YaHei"/>
              </a:rPr>
              <a:t>• 尊重价格机制效率</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归纳要义：供求机制是市场经济配置资源最核心的神经中枢：顺应供求规律者兴，逆供求规律者衰。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复习与研讨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第1章 经典复习思考与考研/实战挑战题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第1章 市场供求及其运行机制</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21</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深度理论辨析题 (Seminar Questions)</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为什么需求曲线向右下方倾斜？</a:t>
            </a:r>
          </a:p>
          <a:p>
            <a:r>
              <a:rPr sz="1250" b="0">
                <a:solidFill>
                  <a:srgbClr val="2C2C2C"/>
                </a:solidFill>
                <a:latin typeface="Times New Roman"/>
                <a:ea typeface="Microsoft YaHei"/>
              </a:rPr>
              <a:t>  👉 答：由于边际效用递减规律、替代效应（高价促使转向竞品）与收入效应（高价削弱实际购买力）的共同作用，使得价格与需求量呈反向变动。</a:t>
            </a:r>
          </a:p>
          <a:p>
            <a:r>
              <a:rPr sz="1400" b="1">
                <a:solidFill>
                  <a:srgbClr val="1B3A5C"/>
                </a:solidFill>
                <a:latin typeface="Times New Roman"/>
                <a:ea typeface="Microsoft YaHei"/>
              </a:rPr>
              <a:t>2. 某商品价格下降导致其互补品需求增加，还是替代品需求增加？</a:t>
            </a:r>
          </a:p>
          <a:p>
            <a:r>
              <a:rPr sz="1250" b="0">
                <a:solidFill>
                  <a:srgbClr val="2C2C2C"/>
                </a:solidFill>
                <a:latin typeface="Times New Roman"/>
                <a:ea typeface="Microsoft YaHei"/>
              </a:rPr>
              <a:t>  👉 答：导致其「互补品」需求增加（如汽油降价带动汽车需求增加）；而其「替代品」需求将减少（如猪肉降价导致牛肉需求减少）。</a:t>
            </a:r>
          </a:p>
          <a:p>
            <a:r>
              <a:rPr sz="1400" b="1">
                <a:solidFill>
                  <a:srgbClr val="1B3A5C"/>
                </a:solidFill>
                <a:latin typeface="Times New Roman"/>
                <a:ea typeface="Microsoft YaHei"/>
              </a:rPr>
              <a:t>3. 政府对某种商品征收消费税，税收负担完全由消费者承担吗？</a:t>
            </a:r>
          </a:p>
          <a:p>
            <a:r>
              <a:rPr sz="1250" b="0">
                <a:solidFill>
                  <a:srgbClr val="2C2C2C"/>
                </a:solidFill>
                <a:latin typeface="Times New Roman"/>
                <a:ea typeface="Microsoft YaHei"/>
              </a:rPr>
              <a:t>  👉 答：不一定。税负在买卖双方之间的转嫁比例取决于供求价格弹性之比：哪一方弹性小，哪一方承担更大比例的税收。</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计算与实战应用挑战 (Applied Calculation)</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供求均衡价格与产量求解 (例 1-3)</a:t>
            </a:r>
          </a:p>
          <a:p>
            <a:r>
              <a:rPr sz="1250" b="0">
                <a:solidFill>
                  <a:srgbClr val="2C2C2C"/>
                </a:solidFill>
                <a:latin typeface="Times New Roman"/>
                <a:ea typeface="Microsoft YaHei"/>
              </a:rPr>
              <a:t>  已知需求函数 Q_d = 100 - 5P，供给函数 Q_s = -20 + 10P：
👉 令 Q_d = Q_s → 100 - 5P = -20 + 10P → 15P = 120 → 均衡价格 P0 = 8 元。
👉 代入得均衡产量 Q0 = 100 - (5×8) = 60 件。</a:t>
            </a:r>
          </a:p>
          <a:p>
            <a:r>
              <a:rPr sz="1400" b="1">
                <a:solidFill>
                  <a:srgbClr val="2E86C1"/>
                </a:solidFill>
                <a:latin typeface="Times New Roman"/>
                <a:ea typeface="Microsoft YaHei"/>
              </a:rPr>
              <a:t>2. 价格管制下的短缺测算 (例 1-4)</a:t>
            </a:r>
          </a:p>
          <a:p>
            <a:r>
              <a:rPr sz="1250" b="0">
                <a:solidFill>
                  <a:srgbClr val="2C2C2C"/>
                </a:solidFill>
                <a:latin typeface="Times New Roman"/>
                <a:ea typeface="Microsoft YaHei"/>
              </a:rPr>
              <a:t>  接上题，若政府规定最高限价 P_c = 6 元：
👉 此时需求量 Q_d = 100 - (5×6) = 70 件；
👉 此时供给量 Q_s = -20 + (10×6) = 40 件；
👉 市场短缺缺口 = 70 - 40 = 30 件！</a:t>
            </a:r>
          </a:p>
          <a:p>
            <a:r>
              <a:rPr sz="1400" b="1">
                <a:solidFill>
                  <a:srgbClr val="2E86C1"/>
                </a:solidFill>
                <a:latin typeface="Times New Roman"/>
                <a:ea typeface="Microsoft YaHei"/>
              </a:rPr>
              <a:t>3. 外部冲击下的新均衡求解 (例 1-5)</a:t>
            </a:r>
          </a:p>
          <a:p>
            <a:r>
              <a:rPr sz="1250" b="0">
                <a:solidFill>
                  <a:srgbClr val="2C2C2C"/>
                </a:solidFill>
                <a:latin typeface="Times New Roman"/>
                <a:ea typeface="Microsoft YaHei"/>
              </a:rPr>
              <a:t>  若消费者收入提高使需求函数变为 Q_d' = 130 - 5P：
👉 令 130 - 5P = -20 + 10P → 15P = 150 → 新均衡价格 P' = 10 元，新均衡产量 Q' = 80 件 (价涨量增，符合定理一！)。</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核心结论：课后实践：请同学们调查当地打车软件在早晚高峰时段的「动态加价机制」，运用供求原理分析其合理性！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