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645920" cy="438912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CH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A5C"/>
                </a:solidFill>
                <a:latin typeface="Times New Roman"/>
                <a:ea typeface="Microsoft YaHei"/>
              </a:rPr>
              <a:t>长期投资决策：资本预算与方案评价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828800" cy="45720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86C1"/>
                </a:solidFill>
                <a:latin typeface="Times New Roman"/>
                <a:ea typeface="Microsoft YaHei"/>
              </a:rPr>
              <a:t>货币时间价值、现金流量估算、贴现评价模型与互斥方案比选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0362895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3628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784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长期投资决策在企业战略资产配置中的地位与基本程序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现金流量的科学估算原则：增量现金流、机会成本、沉没成本与税后营运资本变动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货币时间价值与资本成本：复利现值/终值、加权平均资本成本 (WACC) 测算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投资方案评价的核心指标体系：净现值 (NPV)、内部报酬率 (IRR)、获利指数 (PI) 与投资回收期 (PP)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互斥方案与资本限量决策：NPV 与 IRR 冲突的解决准则、差额内部报酬率法 (ΔIRR) 与资本约束下的最优组合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《管理经济学（第7版）》核心教学课件系列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长期投资决策方法论逻辑框架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现金流估算 (第3节)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资本预算基本步骤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增量净现金流 NCF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折旧抵税效应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营运资本垫支回收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时间价值与WACC (第2/4节)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复利与年金折现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债务与股权资本成本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加权平均资本成本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风险调整贴现率 RADR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四大评价指标 (第5节)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净现值法 NPV (金标准)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内部报酬率 IRR (内生率)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获利指数 PI (相对效率)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投资回收期 PP (流动性)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方案比选与约束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互斥方案 NPV/IRR 冲突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差额分析法 ΔIRR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投资规模与寿命期差异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资本限量下背包优化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归纳要义：核心主线：立足于增量自由现金流 → 结合资金时间价值与资本成本 → 运用 NPV 黄金法则进行长周期资本配置决策。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1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长期投资决策概述与投资程序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资本预算定义 · 决策程序 · 战略资产配置 · 现金流 vs 会计利润 · 增量原则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投资概述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长期投资的概念、特征与决策基本程序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长期投资 (资本预算 Capital Budgeting) 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投资金额巨大与回收期长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动用企业数百万乃至数千亿元资本，回收期长达数年甚至数十年。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决策不可逆性 (Irreversibility)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大量资金转化为高度专用的厂房与生产线设备，一旦立项很难中途撤资。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决定企业长期核心竞争力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决定了企业未来数年的产业赛道、技术路线与战略护城河。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科学资本预算的四大标准步骤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提出投资构想与市场尽调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结合行业发展趋势与客户需求，论证技术与商业可行性。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编制增量现金流测算表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客观估算初始投资、全生命周期营业现金流及终结残值。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计算评价指标与风险敏感度分析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测算 NPV, IRR, PI，并进行最悲观/中性/最乐观情景推演。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项目实施、后评价与动态审计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跟踪项目建设进度，开展投产后实际收益与预期偏差的后评价。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核心结论：资本预算是企业重大战略的财务具象化：严谨的前期论证是防范投资灾难的第一道防线。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现金流估算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为什么投资决策使用「现金流量」而非「会计利润」？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现金流量 (Cash Flow) 作为评价基石的三大理由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紧扣货币时间价值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现金是随时可以进行再投资并赚取利息的真实购买力；会计利润采用权责发生制，账面确认收入时资金可能尚未到账。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排除会计政策人为操纵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会计利润受折旧方法（直线法/加速折旧）、存货计价与坏账计提等主观估计影响；现金流是客观的真金白银进出。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投资是全生命周期的跨期现金支出与回收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初始建设期需要真金白银垫支资本，运营期产生营业现金净流入，终结期收回残值。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净现金流量 (NCF) 的三阶段构成模型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初始现金流 (t = 0)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固定资产购置与安装调试支出 (负值)
• 垫支的营运资本增量 (ΔNWC，负值)
• 旧设备变现净收入及相关税收效应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经营期净现金流 (NCF_t, t = 1~n)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NCF_t = 营业收入 - 付现成本 - 所得税
      = 净利润 + 折旧 (Non-cash charge)
      = (收入 - 付现成本)(1 - T) + 折旧 × T (折旧抵税效应！)
(式中：T 为企业所得税率)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终结期现金流 (t = n)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固定资产最终报废清理净残值 + 初始垫支营运资本的全部回收 (均为正流入)。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核心结论：折旧虽非现金支出，但折旧具有「抵税效应（折旧 × 税率）」，能为企业带来实实在在的现金净流入！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现金流估算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折旧抵税效应 (Tax Shield) 与算例解析 (例 8-1 &amp; 8-2)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折旧抵税效应的数学推导与机理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所得税庇护所原理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折旧作为非付现费用计入会计成本，降低了企业的应纳税所得额，从而合法减少所得税现金流出。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抵税金额公式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年抵税现金流入 = 年计提折旧额 (D) × 所得税率 (T)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加速折旧法的优越性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采用双倍余额递减法或年数总和法，虽然全期总折旧额不变，但前期多抵税、后期少抵税，利用资金时间价值提升项目 NPV！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算例解析 (例 8-2)：营业净现金流测算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项目财务数据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年销售收入 100 万元，年付现变动与固定成本 60 万元，年折旧额 20 万元，所得税率 25%。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营业现金流测算 (NCF)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利润总额 = 100 - 60 - 20 = 20 万元。
• 净利润 = 20 × (1 - 25%) = 15 万元。
• 经营现金流 NCF = 净利润 15 + 折旧 20 = 35 万元！
• 或用公式：(100 - 60)×(1 - 0.25) + 20×0.25 = 30 + 5 = 35 万元！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核心结论：准确把握折旧抵税盾，是精准编制项目全周期财务现金流测算表的核心基本功。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现金流估算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资本预算现金流估算中的四大防错军规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剔除沉没成本 (Sunk Costs)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过去已经发生且无法收回的支出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如前期的可行性调研费、研发样机费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无论未来投产与否均已沉没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决策时必须坚决归零排除！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计入机会成本 (Opportunity)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项目占用企业自有闲置厂房/土地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若不投产原本可出租获得的租金收入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必须作为项目的现金流出扣除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全面体现经济学真实代价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考虑关联效应 (Erosion)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新产品上市对老产品产生挤占蚕食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新旧产品销量替代导致的利润损失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必须计入增量现金流中予以扣减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防范虚假繁荣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垫支营运资本回收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存货与应收账款占用的流动资金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初期垫支为现金流出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终结期项目终止时 100% 全额回收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属于正现金流入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归纳要义：严守增量现金流四大军规，是防止财务模型被虚假包装与严重误导的专业防线。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2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货币时间价值与加权资本成本 (WACC)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复利现值与终值 · 年金折现 PVIFA · 债务资本成本 · CAPM股权成本 · WACC公式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货币时间价值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货币时间价值计算：复利、年金与折现公式 (公式 8-1 到 8-3)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复利现值与终值模型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一次性款项复利终值 (FV)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FV_n = PV · (1 + r)^n (式中：PV 为现值，r 为期利率，n 为计息期数)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一次性款项复利现值 (PV)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PV = FV_n / (1 + r)^n = FV_n · PVIF(r, n)
(式中：PVIF 为复利现值系数，随着期限延长与贴现率升高而持续衰减)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普通年金现值与年金折现 (PVIFA)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普通年金 (Annuity, A)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在未来连续 n 期每期期末等额收付的现金流。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年金现值公式 (公式 8-3)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PV_A = A · [ 1 - (1 + r)^(-n) ] / r = A · PVIFA(r, n)
(式中：PVIFA 为年金现值系数)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永续年金现值 (Perpetuity)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 n 趋于无穷大时：PV_∞ = A / r (优先股股利或永久固定租金折现)。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核心结论：货币时间价值是金融学第一定律：今天的一元钱永远比明天的一元钱更值钱。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资本成本估算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加权平均资本成本 (WACC: 公式 8-4)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加权平均资本成本 (WACC) 的计算模型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WACC 综合计算公式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WACC = (E/V) · K_e + (D/V) · K_d · (1 - T)
(式中：E 为股权市值，D 为债务市值，V = E + D，K_e 为股权成本，K_d 为税前债务利率，T 为税率)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债务利息的税前抵扣效应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因利息支出可在税前扣除，实际债务资本成本为税后成本 K_d · (1 - T)。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资本资产定价模型 (CAPM) 估计股权成本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K_e = R_f + β · (R_m - R_f)
(式中：R_f 为无风险利率，β 为系统风险系数，R_m - R_f 为市场风险溢价)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算例解析 (例 8-5)：某企业 WACC 综合测算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资本结构与参数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企业债务占 40%，税前借贷利率 8%；股权占 60%，β=1.2，无风险利率 3%，市场溢价 6%，所得税率 25%。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测算步骤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税后债务成本 = 8% × (1 - 25%) = 6.0%
• 股权成本 K_e = 3% + 1.2 × 6% = 10.2%
• WACC = (0.4 × 6.0%) + (0.6 × 10.2%) = 2.4% + 6.12% = 8.52%！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决策含义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该企业未来一切长期投资项目的基准折现率（内部报酬率门槛）不得低于 8.52%！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核心结论：WACC 是企业资本市场的真实融资代价，构成了项目可行性评价的终极贴现率标尺。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3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四大投资决策评价指标体系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净现值法 NPV · 内部报酬率 IRR · 获利指数 PI · 回收期法 PP · 指标比选准则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投资评价指标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净现值法 (NPV) 与 内部报酬率法 (IRR)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净现值法 (Net Present Value, NPV) —— 投资评价金标准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计算公式 (公式 8-5)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NPV = ∑ [ NCF_t / (1 + r)^t ] - I_0 (t=1 到 n)
(式中：NCF_t 为第 t 期现金流，r 为资本成本，I_0 为初始投资)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决策准则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单一方案：NPV ≥ 0 则采纳；NPV &lt; 0 则拒绝。
• 互斥方案：选择 NPV 最大的方案！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经济学本质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NPV 代表采纳该投资项目后能够为企业股东创造的超额财富净增量（企业价值增量 ΔV）。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内部报酬率法 (Internal Rate of Return, IRR)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计算公式与定义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使项目全生命周期净现值恰好等于零的贴现率 (NPV = 0 时的 r*)：
∑ [ NCF_t / (1 + IRR)^t ] - I_0 = 0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决策准则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若 IRR ≥ 基准收益率 / 资本成本 r，项目可行；
• 若 IRR &lt; 资本成本 r，项目不可行。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经济学本质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反映项目自身所蕴含的真实内生年化投资回报率（无需预先设定贴现率即可直接算出项目的抗风险边界）。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核心结论：在独立方案评价中，NPV 与 IRR 结论完全一致；但在互斥方案评价中，NPV 准则始终优于 IRR 准则！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投资评价指标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获利指数 (PI) 与 投资回收期法 (PP)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获利指数 (Profitability Index, PI: 公式 8-7)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计算公式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PI = 未来现金流入现值总额 / 初始投资额 I_0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决策准则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PI ≥ 1.0 项目可行；PI &lt; 1.0 项目拒绝。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核心优势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衡量每 1 元初始投资所能带来的现值回报（资金使用相对效率）。在资本总额受限（资本限量）的独立方案排序中极具实用价值！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投资回收期法 (Payback Period, PP)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概念与公式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收回初始全部投资额所需要的年限。分为静态回收期与考虑时间价值的动态回收期。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主要优点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直观反映资金流动性与资金占用时间，对现金流紧张的中小企业极为实用。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致命理论缺陷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静态回收期完全忽视资金时间价值；
• 完全忽视了回收期之后发生的任何现金流（易误杀长期优质项目）！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核心结论：辅助指标 (PI, PP) 必须与核心指标 (NPV) 配合使用：以 NPV 定生死，以 PI 看效率，以 PP 控流动性。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投资评价指标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内部报酬率 (IRR) 内插法逼近求解全流程 (例 8-8)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插值试算法 (Trial and Error) 求解原理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寻找正负 NPV 贴现率区间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选取较低贴现率 r1 测得 NPV1 &gt; 0；选取较高贴现率 r2 测得 NPV2 &lt; 0。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线性内插公式 (公式 8-6)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IRR = r1 + [ NPV1 / (NPV1 - NPV2) ] × (r2 - r1)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精度要求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两贴现率之差 (r2 - r1) 不应超过 2%~5%，以消除非线性弯曲带来的拟合误差。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算例演练：某设备购置项目 IRR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初始投资 50 万，每年净流入 18 万 (共 4 年)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查年金现值表：PVIFA(IRR, 4) = 50 / 18 = 2.778。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试算贴现率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当 r1 = 15% 时，PVIFA = 2.8550 → NPV1 = 18×2.8550 - 50 = +1.39 万元。
• 当 r2 = 18% 时，PVIFA = 2.6901 → NPV2 = 18×2.6901 - 50 = -1.58 万元。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内插计算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IRR = 15% + [ 1.39 / (1.39 - (-1.58)) ] × (18% - 15%) = 15% + (1.39 / 2.97) × 3% = 15% + 1.40% = 16.40%！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核心结论：内插法展现了金融贴现率与净现值之间的几何对应关系，是投资经理必掌握的硬技能。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投资评价指标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四大投资决策评价指标 (NPV, IRR, PI, PP) 综合对照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净现值 (NPV)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类型：绝对金额指标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考虑时间价值：✔ 完美考虑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再投资率假设：资本成本 r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决策最高权威准则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内部报酬率 (IRR)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类型：相对比率指标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考虑时间价值：✔ 完美考虑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再投资率假设：IRR 本身 (偏高)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易受多重根或规模冲突困扰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获利指数 (PI)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类型：相对比率指标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考虑时间价值：✔ 完美考虑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反映资金相对使用效率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资本限量独立方案优选利器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回收期 (PP)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类型：时间年限指标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考虑时间价值：静态✘ / 动态✔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反映资金流动性与抗险期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无法反映回收期后现金流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归纳要义：四大指标协同联动：NPV 决定项目是否创造超额价值，PI 辅助限量排序，PP 监控流动性风险。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互斥方案比选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互斥方案中 NPV 与 IRR 冲突的解决之道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NPV 与 IRR 产生排序冲突的两大根源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投资规模差异 (初始资金规模不同)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大项目 NPV 大但 IRR 稍低；小项目 IRR 极高但绝对 NPV 较小。不能单纯按 IRR 取小舍大！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现金流产生时间与节奏差异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方案 A 前期现金流多（抗贴现率敏感），方案 B 后期现金流巨大（受贴现率波动剧烈）。在两曲线交点（费雪交叉率 Fisher Rate）两侧，NPV 与 IRR 排序相反。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再投资报酬率假设差异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NPV 法假设中间收回的现金流按企业「资本成本 r」再投资（更客观稳健）。
• IRR 法假设中间现金流能按「极高的 IRR 本身」再投资（脱离实际）。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冲突的裁决准则与差额分析法 (ΔIRR)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终极裁决铁律：以 NPV 最大为唯一最高准则！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企业的目标是实现财富绝对增量最大化，而非追求虚高的比率指标。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差额分析法 (Incremental IRR: ΔIRR)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构建差额项目 (大项目 - 小项目)，计算追加投资的差额内部报酬率 ΔIRR：
• 若 ΔIRR &gt; 资本成本 r，则追加投资合算，选择大项目；
• 若 ΔIRR &lt; 资本成本 r，则放弃追加投资，选择小项目。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寿命期不等方案的比选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采用共同年限法（最小公倍数法）或等额年金法 (EAA) 消除期限不对称干扰。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核心结论：任何比率指标（IRR、PI）都必须向绝对财富增量指标（NPV）臣服：做大企业价值，首选 NPV 最高方案。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资本限量决策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资本预算受限约束下的投资组合优化排序 (例 8-10)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资本限量 (Capital Rationing) 问题界定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现实困局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企业存在多个独立的可行方案（NPV 均大于 0），但企业当期总资本预算存在硬性上限（如总额限 1000 万元）。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决策目标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在资本预算上限约束下，挑选投资组合使得「组合总净现值 ∑NPV 最大化」！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获利指数 (PI) 排序法与背包组合决策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第一步：计算各独立方案的 PI 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PI = 未来现金流入现值 / 初始投资额。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第二步：按 PI 从大到小降序排列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优先选择 PI 最高的方案，依次装入资本预算背包，直至资金耗尽。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第三步：组合试算复核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若剩余零头资金无法满足下一个大项目，对比穷举所有可能的可行组合，锁定总 NPV 绝对最大的最优资产组合！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核心结论：获利指数 PI 是解决资本受限环境下资金分配效率最高效的罗盘。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案例研讨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案例 8-1：某大型特高压电网工程跨周期资本预算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solidFill>
            <a:srgbClr val="EBF3FA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9144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1B3A5C"/>
                </a:solidFill>
                <a:latin typeface="Times New Roman"/>
                <a:ea typeface="Microsoft YaHei"/>
              </a:rPr>
              <a:t>📖 案例研讨：某千亿级特高压输电工程资本预算与全周期现金流论证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初始论证与投资垫支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初始静态投资 240 亿元，建设期 3 年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严谨核算征地拆迁、线路铁塔设备购置与变电站土建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测算全寿命周期 30 年增量现金流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4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跨期折现与 WACC 标尺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采用国家电网 6.5% 综合加权资本成本作为基准折现率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计提 25 年直线折旧，充分考虑每年数十亿元折旧抵税盾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测算得净现值 NPV = +58 亿元，内部报酬率 IRR = 8.9%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敏感度与多情境推演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针对未来跨省送电利用小时数波动进行风险压力测试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在利用率下滑 15% 的极端悲观情景下，NPV 依然维持大于零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9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9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1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战略落地与社会效益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6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工程如期投产并提前 2 年收回全部投资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年输送清洁绿电 400 亿千瓦时，实现商业回报与双碳减排双赢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DCEDF8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13248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🎯 管理经济学启示与决策启示：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大型战略工程资本预算必须坚持「全生命周期现金流折现 + 严谨 WACC 标尺 + 极端情景压力测试」的科学决策范式。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第8章 长期投资决策全景体系复盘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现金流估算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排除沉没成本干扰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NCF = 净利 + 折旧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把握折旧抵税盾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全期收回垫支营运资本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时间价值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复利跨期贴现折现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WACC 加权资本成本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资本资产定价模型 CAPM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风险调整贴现率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核心评价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NPV &gt; 0 财富净增量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IRR = 资金保本回报率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PI = 资金使用效率比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回收期 PP 控流动性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互斥比选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NPV 与 IRR 冲突分析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再投资率稳健性检验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差额分析法 ΔIRR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以股东财富最大为准绳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归纳要义：长期投资决策是决定企业未来数年乃至数十年生死存亡的战略中枢：严谨核算现金流，牢牢把握 NPV 黄金法则。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复习与研讨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第8章 经典复习思考与考研/实战挑战题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第8章 长期投资决策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深度理论辨析题 (Seminar Questions)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为什么在企业所得税存在的情况下，计提折旧能够增加企业的净现金流量？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答：折旧是税法允许在税前扣除的非付现费用。每计提 1 元折旧，企业应纳税所得额减少 1 元，从而少缴纳企业所得税 T 元（产生折旧抵税流入 折旧×T）。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在互斥方案选择中，当 NPV 准则与 IRR 准则发生冲突时，为什么必须以 NPV 准则为准？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答：企业追求的终极目标是股东财富绝对增量的最大化（NPV），而非回报率指标的虚高；且 NPV 对中间现金流再投资报酬率设定为资本成本 r，比 IRR 设定的高内部报酬率更为客观真实。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什么是投资回收期法 (PP) 的主要缺陷？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答：静态回收期忽视了货币的时间价值；且完全忽略了回收期之后发生的任何现金流（可能错杀前期回收慢但后期产生巨额现金流的优质高科技项目）。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计算与实战应用挑战 (Applied Calculation)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净现值 NPV 与内部报酬率 IRR 求解 (例 8-7)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某项目初始投资 100 万元，未来 3 年每年净现金流入 40 万元，资本成本 r = 10%：
👉 年金现值系数 PVIFA(10%, 3) = 2.4869。
👉 现金流入现值 = 40 × 2.4869 = 99.48 万元。
👉 NPV = 99.48 - 100 = -0.52 万元 &lt; 0 (该项目不可行！)。
👉 求解 IRR：40 × PVIFA(IRR, 3) = 100 → PVIFA = 2.50 → 插值法解得 IRR ≈ 9.70% &lt; 10% 基准。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差额分析法比选互斥方案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方案 A 初始投资 50 万，每年流入 20 万 (3年)；方案 B 初始投资 100 万，每年流入 38 万 (3年)。资本成本 10%：
👉 差额项目 (B-A)：初始追加 50 万，每年增量流入 18 万。
👉 差额 PVIFA = 50 / 18 = 2.778 → 查表得 ΔIRR ≈ 4.0% &lt; 10% 资本成本！
👉 结论：追加投资不合算，应选择小方案 A！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核心结论：课后实践：请结合某大型上市公司最新发布的重大固定资产投资可行性公告，复核其 NPV 与 IRR 测算过程！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