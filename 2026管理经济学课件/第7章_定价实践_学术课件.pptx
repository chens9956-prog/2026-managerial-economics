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1645920" cy="438912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CH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3A5C"/>
                </a:solidFill>
                <a:latin typeface="Times New Roman"/>
                <a:ea typeface="Microsoft YaHei"/>
              </a:rPr>
              <a:t>定价实践：策略、模型与管理应用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1828800" cy="45720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86C1"/>
                </a:solidFill>
                <a:latin typeface="Times New Roman"/>
                <a:ea typeface="Microsoft YaHei"/>
              </a:rPr>
              <a:t>从成本加成、差别定价、多产品联合定价到现代行为定价策略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10362895" cy="2468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103628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9784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成本加成定价法 (Cost-Plus Pricing) 的实际操作、理论基础及其与价格弹性的内在统一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价格歧视 / 差别定价策略：一级、二级、三级价格歧视的实施前提与利润最大化模型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多产品协同定价：需求相关产品（互补品/替代品）定价与生产关联产品（联合产品/副产品）定价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中间产品转移定价 (Transfer Pricing)：无外部市场 vs 完全竞争外部市场下的内部最优结算价</a:t>
            </a:r>
          </a:p>
          <a:p>
            <a:r>
              <a:rPr sz="1350" b="0">
                <a:solidFill>
                  <a:srgbClr val="2C2C2C"/>
                </a:solidFill>
                <a:latin typeface="Times New Roman"/>
                <a:ea typeface="Microsoft YaHei"/>
              </a:rPr>
              <a:t>•  现代商业定价艺术：撇脂定价、渗透定价、增量定价、两部收费制、峰谷定价与捆绑定价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《管理经济学（第7版）》核心教学课件系列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企业定价实践方法论体系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成本加成定价 (第1节)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全部成本加成法实操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加成率确定公式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 = 1/(|Ep|-1)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成本加成与MR=MC统一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差别定价体系 (第4节)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价格歧视三大实施前提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一级/二级/三级歧视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MR1 = MR2 = MC 模型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细分市场弹性差别定价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多产品与转移 (第6节)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替代品互补品关联定价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吉列刀架刀片双重定价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联合产出品垂直加总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内部转移价格 Transfer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战术与心理定价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撇脂定价 vs 渗透定价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峰谷定价法 (分时电价)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两部收费制 (入门费+使用)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捆绑销售 (纯捆绑/混合)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归纳要义：核心主线：从理论 MR=MC 落地到企业商业实战；通过精准识别客户支付意愿、产品组合关联度与时间场景，实现企业收益最大化。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1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成本加成定价法与弹性优化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全部成本加成 · 加成率确定 · m 与价格弹性公式 · 优缺点评价 · 目标收益率定价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成本加成定价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成本加成定价法 (Cost-Plus) 与利润最大化统一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企业广泛采用成本加成定价的原因与实操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实务操作公式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 = 单位全部成本 (ATC) × (1 + 成本加成率 m)
或 P = 单位变动成本 (AVC) × (1 + 变动成本加成率 m')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广泛流行的三大管理原因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数据易得性：企业内部会计核算成本极其成熟，而测量精确需求曲线成本高昂。
• 简便与透明：统一定价规则便于大规模多品类商品管理与下属授权。
• 竞争隐性默契：同行采用相近加成率有助于稳定市场预期，避免恶性价格战。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最优加成率与价格弹性的数学统一 (公式 7-2)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利润最大化定价条件回顾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MR = P(1 - 1/|εp|) = MC → P = MC / [ 1 - 1/|εp| ] = MC · [ |εp| / (|εp| - 1) ]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最优成本加成率公式 (在 MC ≈ AVC 条件下)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m* = 1 / (|εp| - 1)
(需求价格弹性 |εp| 决定了企业最优加成率的大小！)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弹性与加成率对应规律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需求弹性大 (|εp|=5) → 最优加成率 m* = 1/(5-1) = 25% (薄利多销)
• 需求弹性小 (|εp|=1.5) → 最优加成率 m* = 1/(1.5-1) = 200% (厚利少销)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核心结论：科学的成本加成定价绝非拍脑袋，其加成率的背后必须深深植根于产品的需求价格弹性 (|εp|)。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成本加成定价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全部成本加成 vs 变动成本加成算例 (例 7-1)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算例背景与成本数据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某制造企业产品成本构成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年设计产能 10 万件，单位直接材料 40 元，单位直接人工 20 元，单位变动制造费用 10 元。
👉 单位变动成本 AVC = 40 + 20 + 10 = 70 元。
👉 全年固定制造与管理费用 TFC = 200 万元，分摊到每件 AFC = 20 元。
👉 单位全部成本 ATC = 70 + 20 = 90 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两种加成模式测算与对比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全部成本加成模式 (设定加成率 33.3%)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 = ATC × (1 + 33.3%) = 90 × 1.333 = 120 元。
每件实现会计毛利 30 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变动成本加成模式 (设定加成率 71.4%)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 = AVC × (1 + 71.4%) = 70 × 1.714 = 120 元。
每件实现贡献毛益 50 元（用于弥补固定成本 20 元后盈利 30 元）。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管理结论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在正常产能利用率下，两种加成方式定价完全一致；但在闲置产能接单时，变动成本加成更具决策灵活性！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核心结论：理解两种成本加成口径的转换，是财务会计与管理会计无缝对接的关键。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第1节 成本加成定价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目标投资收益率定价法 (Target Return Pricing)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目标收益率定价公式与参数核算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核心公式 (公式 7-3)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 = ATC + (目标投资回报率 ROI × 总投资额 I) / 标准产销量 Q_标准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管理设计思想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确保在达到标准设计产能时，企业能稳健收回预设的资本报酬（如 15% ROI）。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核心适用行业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公共事业公用事业、重化工大型投资项目及汽车制造工业等重资产行业。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潜在管理风险与盲目循环加价陷阱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忽视真实市场需求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若实际销量 Q 低于预期标准 Q_标准，实际平均固定成本上升。
若机械按公式继续提价，将导致销量进一步暴跌！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应对改进策略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必须配合需求弹性测试，在市场疲软时灵活下调加成率以促销量。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核心结论：目标收益率定价法提供长期资本回报底线，但在战术执行中必须与市场需求弹性灵活适配。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2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增量分析定价法与特殊竞标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增量收益与增量成本 · 闲置产能定价 · 最优报价模型 · 招投标期望利润 · 非标订单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第2节 增量分析定价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增量分析定价法实战 (例 7-2 &amp; 7-3)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增量分析定价法原理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适用场景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当企业面临淡季闲置产能、接受特殊外销订单、或开拓新细分市场时。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定价底线法则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增量价格 P_增量 &gt; 增量成本 (ΔTC / ΔQ)。只要能产生正的增量利润贡献 (Δπ &gt; 0)，即可定价接受！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关键前提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原有正常市场的销售价格与客户关系不受冲击；
• 增量业务不引发额外固定资产沉没投资。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算例解析 (例 7-2)：酒店淡季客房定价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某高星酒店成本数据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每间房完全平均成本 300 元（其中折旧与固定人工 220 元，布草水电变动成本 80 元）。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旅行团包房询价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淡季某旅行团欲包房 50 间，出价仅 150 元/间。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会计拒绝 vs 经济学决策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会计部：出价 150 低于成本 300，每间亏 150，坚决拒绝！
• 经济学决策：增量收入 150 &gt; 增量变动成本 80，每间房为酒店净赚 70 元贡献毛益！50 间房净赚 3500 元！👉 应果断接单！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核心结论：增量分析定价法打破了固定成本分摊的枷锁，让企业在淡季与闲置期释放出最大的现金流创利潜力。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3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差别定价 / 价格歧视策略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实施前提 · 一级价格歧视 · 二级价格歧视 · 三级价格歧视 · 峰谷分时定价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差别定价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一级与二级价格歧视：完全榨取与阶梯定价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一级价格歧视 (完全价格歧视 / 个性化定价)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机制与定义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企业对每位客户按其「最高支付意愿 (Reservation Price)」单独报价（如大数据千人千面、顶级艺术品拍卖）。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经济学后果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全社会消费者剩余被厂商 100% 全部榨取转化为超额利润；无谓损失为零，达到帕累托最优产出。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现实挑战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信息搜集成本极高，容易引发消费者对隐私侵犯与不公待遇的强烈抵触。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二级价格歧视 (数量折扣 / 阶梯式定价)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机制与定义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企业根据购买数量的不同设定不同价格区间（如阶梯电价、第二件半价、批发大包装）。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自我筛选机制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企业无需预先识别客户类型，让消费者根据自身消费量进行「自我筛选 (Self-selection)」。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商业价值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加速库存周转，激励大宗采购，剥夺部分消费者剩余。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核心结论：二级价格歧视巧妙利用数量阶梯让客户自主对号入座，是工业品与零售业最成熟的定价利器。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差别定价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三级价格歧视：细分市场弹性逆比定价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三级价格歧视三大实施硬性前提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市场能够有效区隔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存在明显的物理、时间或身份区隔标识（如学生证、老年证、早鸟票、地理区域划分）。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细分市场需求弹性不同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不同客群对价格敏感度存在显著差异（学生群体弹性大，商务人士弹性小）。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严格杜绝转售与套利 (No Arbitrage)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低价市场的买家无法轻易将商品倒卖到高价市场（实名认证、乘车验票）。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最优定价数学条件 (公式 7-4 &amp; 7-5)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边际收益均衡法则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MR1 = MR2 = ... = MC (在各细分市场上的边际收益必须相等，且等于总边际成本)。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弹性逆比定价法则 (Inverse Elasticity Rule)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P1 / P2 = [ 1 - 1/|εp2| ] / [ 1 - 1/|εp1| ]
👉 结论：需求弹性大的市场定低价 (|εp|大 → P低)；需求弹性小的市场定高价 (|εp|小 → P高)！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典型案例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电影院学生票 5 折（学生弹性大定低价），头等舱机票定全价（商务客弹性小定高价）。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核心结论：弹性逆比法则是三级价格歧视的核心真理：对价格敏感的客户施以恩惠，对价格麻木的客户赚取溢价。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第4节 差别定价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高峰负荷分时定价法 (Peak-Load Pricing)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高峰负荷定价的经济学原理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适用场景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产品产能具有刚性上限且无法储存的行业（电力、道路通行、民航、酒店客房）。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边际成本结构差异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• 平峰/低谷期：存在大量闲置产能，边际成本仅为运行变动成本 (SRMC)。
• 高峰期：触及产能瓶颈，新增负荷必须承担扩建新机组的长期资本容量成本 (LRMC)。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分时定价实施准则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平峰定价：P_off = SRMC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仅收取边际变动成本，刺激低谷消费，提升资产利用率。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高峰定价：P_peak = SRMC + 容量建设成本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由高峰期用电客户全额承担发电机组的扩建折旧成本！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社会效益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有效实现「削峰填谷」，避免全社会盲目过度投资昂贵冗余的备用电力与道路设施。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核心结论：高峰负荷定价通过价格信号引导错峰消费，是提升重资产基础设施利用效率的制度创新。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8F9FA"/>
          </a:solidFill>
          <a:ln w="1524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09728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86C1"/>
                </a:solidFill>
                <a:latin typeface="Times New Roman"/>
                <a:ea typeface="Microsoft YaHei"/>
              </a:rPr>
              <a:t>第 4 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  <a:latin typeface="Times New Roman"/>
                <a:ea typeface="Microsoft YaHei"/>
              </a:rPr>
              <a:t>多产品协同定价与内部转移定价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246120"/>
            <a:ext cx="164592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520440"/>
            <a:ext cx="8503920" cy="1097280"/>
          </a:xfrm>
          <a:prstGeom prst="roundRect">
            <a:avLst/>
          </a:prstGeom>
          <a:solidFill>
            <a:srgbClr val="EBF3FA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互补品定价 · 吉列剃刀刀片 · 替代品防内耗 · 联合产品加总 · 中间品转移价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217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第6节 多产品定价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需求相关产品定价：互补品与替代品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互补品定价：吉列「剃刀与刀片」商业模式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策略机理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交叉弹性 EXY &lt; 0。将基础主件（剃刀架、打印机、游戏主机）以极低价格甚至亏损出售以迅速扩大保有量；对消耗性耗材（刀片、原装墨盒、游戏光盘）制定高额垄断溢价。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商业成功关键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必须构筑技术专利或私有接口壁垒，防止第三方廉价兼容耗材侵蚀高毛利后市场。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替代品定价：产品线细分与防范内耗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策略机理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交叉弹性 EXY &gt; 0。企业旗下存在高、中、低端不同档次替代产品（如手机标准版 vs Pro 版）。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定价法则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拉大各档次产品之间的价格级差，使其精准对应不同支付能力的细分客群，防范入门低价款对旗舰款产生「产品自相残杀 (Cannibalization)」。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核心结论：多产品定价必须追求全产品线总利润最大化：对互补品放水养鱼，对替代品区隔护城河。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第6节 多产品定价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联合产品定价 (Joint Products) 与内部转移定价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生产相关：联合产品 (按固定比例同源产出)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联合生产特征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由同一种原材料一次性裂解加工产出多种产品（如石油炼化产出汽油与沥青、养牛产出牛肉与牛皮）。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联合边际收益 (MR_联合)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将各副产品的边际收益曲线进行「垂直加总 (Vertical Summation)」：MR_联合 = MR_A + MR_B。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定价法则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令 MR_联合 = MC_联合 确定最优总产出；再将各自分摊产量代入各自市场需求曲线独立确定售价！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企业内部中间品转移定价 (Transfer Pricing)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目标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使各事业部追求自身利益最大化的同时，实现全集团整体利润最大化。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无完全竞争外部市场时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转移价格必须严格等于「中间品生产部门的边际成本 (P_t = MC_中间品)」，以消除双重加价 (Double Marginalization) 效率损失！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3. 存在完全竞争外部市场时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转移价格直接采用「外部市场公允价格 (P_t = P_外部市场)」。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核心结论：转移定价是大型跨国集团消除内部摩擦、防止双重边际化扭曲的管理控制中枢。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第7节 战术与心理定价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商业战术定价：撇脂、渗透、两部收费与捆绑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撇脂定价 (Skimming)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新产品上市定极高天价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迅速回收研发巨资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逐步降价逐层收割客群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适用：独家黑科技与苹果新品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渗透定价 (Penetration)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极低价格迅速占领市场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构筑规模经济与网络效应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形成先发壁垒阻击对手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适用：互联网平台与大众快消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两部收费制 (Two-Part)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固定入门费 + 每次使用费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入门费榨取消费者剩余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使用费按边际成本定价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适用：游乐园门票、会员制超市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捆绑销售 (Bundling)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两件以上产品一口价打包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利用消费者评价负相关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大幅提升全系列总销售额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适用：Office套件、套餐门票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归纳要义：战术定价是企业商业模式变现的放大器：根据产品生命周期与用户心理特征灵活切换定价工具。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第7节 战术与心理定价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行为经济学与心理定价艺术（尾数定价、价格锚定与诱饵效应）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尾数定价法 (Odd Pricing)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以 9 或 8 结尾 (如 99 元、19.9 元)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给消费者留下「精准核算、极其便宜」的心理暗示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广泛应用于大众零售与电商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整数与声望定价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高端奢侈品采用规整整数 (如 10000 元)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彰显尊贵身份与顶级品质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避免廉价零头削弱品牌调性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价格锚定效应 (Anchoring)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展示极高「原价/划线价」作为对比锚点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让现售价显得极具折扣诚意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重塑消费者的感知价值边界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诱饵效应 (Decoy Effect)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引入明显处于劣势的「诱饵选项」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诱导消费者主动购买更高价的高利润套餐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如爆米花中桶 28 元 vs 大桶 30 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归纳要义：心理定价巧妙捕捉了消费者的认知偏差，是连接微观经济学与行为科学的商业桥梁。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案例研讨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案例 7-1：某跨国主题乐园的两部收费与衍生品经济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solidFill>
            <a:srgbClr val="EBF3FA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9144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533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1B3A5C"/>
                </a:solidFill>
                <a:latin typeface="Times New Roman"/>
                <a:ea typeface="Microsoft YaHei"/>
              </a:rPr>
              <a:t>📖 案例研讨：迪士尼乐园两部收费制与全产业链变现模式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第一部：门票入门费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收取 400~600 元入园门票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门票价格覆盖园区巨额固定设备折旧与日常维护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最大化榨取游客的第一重消费者剩余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4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4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6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第二部：园内游乐边际定价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园内绝大多数游乐项目免费不限次乘坐 (P=0)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排队机制自发平衡热门项目负荷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极大提升游客沉浸式游玩时长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第三部：餐饮与衍生品溢价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餐饮与爆米花桶制定高额加成溢价 (毛利超 70%)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玲娜贝儿等 IP 衍生玩偶限量发售获取极高溢价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全产业链二次变现盈利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9700" y="1920240"/>
            <a:ext cx="2674620" cy="3291840"/>
          </a:xfrm>
          <a:prstGeom prst="rect">
            <a:avLst/>
          </a:prstGeom>
          <a:solidFill>
            <a:srgbClr val="FEFC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9700" y="1920240"/>
            <a:ext cx="267462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1140" y="1965960"/>
            <a:ext cx="24917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商业启示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6860" y="2423160"/>
            <a:ext cx="24003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两部收费完美兼顾了重资产收回与消费刺激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IP 衍生品将游客情感转化为持续终身现金流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DCEDF8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13248"/>
            <a:ext cx="108813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🎯 管理经济学启示与决策启示：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两部收费制通过「低门槛/固定费锁定入场 + 高毛利耗材/体验二次变现」，是现代体验经济最暴利的商业模型。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第7章 定价实践核心方法体系复盘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成本加成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m* = 1/(|Ep| - 1)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弹性决定最优加成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增量分析锁定底线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目标投资收益率法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差别定价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一/二/三级价格歧视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细分市场弹性逆比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转售套利物理隔离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高峰负荷分时定价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多产品协同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剃刀与刀片放水养鱼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拉大替代品价格级差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联合产品联合边际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消除内部双重加价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1325880"/>
            <a:ext cx="26517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132588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26296" y="1508760"/>
            <a:ext cx="594360" cy="3657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965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C"/>
                </a:solidFill>
                <a:latin typeface="Times New Roman"/>
                <a:ea typeface="Microsoft YaHei"/>
              </a:rPr>
              <a:t>战术定价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26296" y="2514600"/>
            <a:ext cx="731520" cy="2743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撇脂定价回收研发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渗透定价抢占壁垒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两部收费门票经济</a:t>
            </a:r>
          </a:p>
          <a:p>
            <a:r>
              <a:rPr sz="1200" b="0">
                <a:solidFill>
                  <a:srgbClr val="2C2C2C"/>
                </a:solidFill>
                <a:latin typeface="Times New Roman"/>
                <a:ea typeface="Microsoft YaHei"/>
              </a:rPr>
              <a:t>• 捆绑定价做大总额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📌 归纳要义：定价是企业所有战略的最终变现关口：从成本导向走向价值导向，从单一价格走向精准动态差别定价。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5720" cy="68031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C1"/>
                </a:solidFill>
                <a:latin typeface="Times New Roman"/>
                <a:ea typeface="Microsoft YaHei"/>
              </a:rPr>
              <a:t>复习与研讨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5C"/>
                </a:solidFill>
                <a:latin typeface="Times New Roman"/>
                <a:ea typeface="Microsoft YaHei"/>
              </a:rPr>
              <a:t>第7章 经典复习思考与考研/实战挑战题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Times New Roman"/>
                <a:ea typeface="Microsoft YaHei"/>
              </a:rPr>
              <a:t>管理经济学（第7版） · 第7章 定价实践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Times New Roman"/>
                <a:ea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solidFill>
            <a:srgbClr val="EBF3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5C"/>
                </a:solidFill>
                <a:latin typeface="Times New Roman"/>
                <a:ea typeface="Microsoft YaHei"/>
              </a:rPr>
              <a:t>深度理论辨析题 (Seminar Questions)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1. 为什么说经验公式「成本加成定价法」与微观经济学「MR=MC 利润最大化原则」在本质上是一致的？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答：通过公式推导可知，利润最大化价格 P = MC · [ |εp| / (|εp| - 1) ]。若令成本加成率 m* = 1/(|εp| - 1)，则 P = MC(1 + m*)。这证明科学的加成率本质上正是由产品的需求价格弹性内生决定的，两者完全殊途同归！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2. 实行三级价格歧视必须具备哪些基本前提条件？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答：① 企业拥有一定的市场支配力；② 能够有效划分并识别不同需求价格弹性的细分市场；③ 能够有效防范和杜绝跨市场转售套利行为。</a:t>
            </a:r>
          </a:p>
          <a:p>
            <a:r>
              <a:rPr sz="1400" b="1">
                <a:solidFill>
                  <a:srgbClr val="1B3A5C"/>
                </a:solidFill>
                <a:latin typeface="Times New Roman"/>
                <a:ea typeface="Microsoft YaHei"/>
              </a:rPr>
              <a:t>3. 为什么大型企业内部转移定价若高于中间品边际成本，会导致集团整体总利润受损？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👉 答：这会导致「双重加价 (Double Marginalization)」谬误：下游事业部将上游的内部利润视作自身的真实成本，导致下游最终产品定价过高、销量过少，从而削弱了集团整体在终端市场的竞争力与总利润。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56692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66928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73152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716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C1"/>
                </a:solidFill>
                <a:latin typeface="Times New Roman"/>
                <a:ea typeface="Microsoft YaHei"/>
              </a:rPr>
              <a:t>计算与实战应用挑战 (Applied Calculation)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1. 最优成本加成率测算 (例 7-1)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某品牌运动鞋单位变动成本 100 元，市场调研测得其需求价格弹性 |εp| = 2.0：
👉 最优加成率 m* = 1 / (2.0 - 1) = 1.0 (即 100% 加成)！
👉 最优销售定价 P* = 100 × (1 + 1.0) = 200 元。</a:t>
            </a:r>
          </a:p>
          <a:p>
            <a:r>
              <a:rPr sz="1400" b="1">
                <a:solidFill>
                  <a:srgbClr val="2E86C1"/>
                </a:solidFill>
                <a:latin typeface="Times New Roman"/>
                <a:ea typeface="Microsoft YaHei"/>
              </a:rPr>
              <a:t>2. 三级价格歧视最优定价与销量分配 (例 7-4)</a:t>
            </a:r>
          </a:p>
          <a:p>
            <a:r>
              <a:rPr sz="1250" b="0">
                <a:solidFill>
                  <a:srgbClr val="2C2C2C"/>
                </a:solidFill>
                <a:latin typeface="Times New Roman"/>
                <a:ea typeface="Microsoft YaHei"/>
              </a:rPr>
              <a:t>  某企业在两个隔离市场销售，需求分别为 P1 = 100 - Q1，P2 = 80 - Q2，生产总成本 TC = 20(Q1 + Q2)：
👉 边际成本 MC = 20。
👉 市场 1：TR1 = 100Q1 - Q1² → MR1 = 100 - 2Q1 = 20 → Q1* = 40，P1* = 60 元。
👉 市场 2：TR2 = 80Q2 - Q2² → MR2 = 80 - 2Q2 = 20 → Q2* = 30，P2* = 50 元。
👉 结论：需求弹性较小的市场 1 索要高价 60 元，弹性较大的市场 2 索要低价 50 元，全企业总利润达峰！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DCED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3A5C"/>
                </a:solidFill>
                <a:latin typeface="Times New Roman"/>
                <a:ea typeface="Microsoft YaHei"/>
              </a:rPr>
              <a:t>💡 核心结论：课后实践：请调研某知名主题乐园（如上海迪士尼）的票价体系，分析其如何综合运用了两部收费制、三级歧视与峰谷定价！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