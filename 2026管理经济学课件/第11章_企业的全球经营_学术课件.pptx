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005840"/>
            <a:ext cx="1645920" cy="438912"/>
          </a:xfrm>
          <a:prstGeom prst="roundRect">
            <a:avLst/>
          </a:prstGeom>
          <a:solidFill>
            <a:srgbClr val="EBF3FA"/>
          </a:solidFill>
          <a:ln w="1905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B3A5C"/>
                </a:solidFill>
                <a:latin typeface="Times New Roman"/>
                <a:ea typeface="Microsoft YaHei"/>
              </a:rPr>
              <a:t>CH 11</a:t>
            </a:r>
          </a:p>
        </p:txBody>
      </p:sp>
      <p:sp>
        <p:nvSpPr>
          <p:cNvPr id="5" name="TextBox 4"/>
          <p:cNvSpPr txBox="1"/>
          <p:nvPr/>
        </p:nvSpPr>
        <p:spPr>
          <a:xfrm>
            <a:off x="914400" y="1600200"/>
            <a:ext cx="10058400" cy="1005840"/>
          </a:xfrm>
          <a:prstGeom prst="rect">
            <a:avLst/>
          </a:prstGeom>
          <a:noFill/>
        </p:spPr>
        <p:txBody>
          <a:bodyPr wrap="none">
            <a:spAutoFit/>
          </a:bodyPr>
          <a:lstStyle/>
          <a:p>
            <a:r>
              <a:rPr sz="3600" b="1">
                <a:solidFill>
                  <a:srgbClr val="1B3A5C"/>
                </a:solidFill>
                <a:latin typeface="Times New Roman"/>
                <a:ea typeface="Microsoft YaHei"/>
              </a:rPr>
              <a:t>企业的全球经营：贸易、投资与汇率风险</a:t>
            </a:r>
          </a:p>
        </p:txBody>
      </p:sp>
      <p:sp>
        <p:nvSpPr>
          <p:cNvPr id="6" name="Rectangle 5"/>
          <p:cNvSpPr/>
          <p:nvPr/>
        </p:nvSpPr>
        <p:spPr>
          <a:xfrm>
            <a:off x="914400" y="265176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88920"/>
            <a:ext cx="10058400" cy="457200"/>
          </a:xfrm>
          <a:prstGeom prst="rect">
            <a:avLst/>
          </a:prstGeom>
          <a:noFill/>
        </p:spPr>
        <p:txBody>
          <a:bodyPr wrap="none">
            <a:spAutoFit/>
          </a:bodyPr>
          <a:lstStyle/>
          <a:p>
            <a:r>
              <a:rPr sz="1700" b="1">
                <a:solidFill>
                  <a:srgbClr val="2E86C1"/>
                </a:solidFill>
                <a:latin typeface="Times New Roman"/>
                <a:ea typeface="Microsoft YaHei"/>
              </a:rPr>
              <a:t>比较优势理论、国际贸易政策、跨国直接投资与外汇风险管理</a:t>
            </a:r>
          </a:p>
        </p:txBody>
      </p:sp>
      <p:sp>
        <p:nvSpPr>
          <p:cNvPr id="8" name="Rectangle 7"/>
          <p:cNvSpPr/>
          <p:nvPr/>
        </p:nvSpPr>
        <p:spPr>
          <a:xfrm>
            <a:off x="914400" y="3474720"/>
            <a:ext cx="10362895" cy="246888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3474720"/>
            <a:ext cx="103628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703320"/>
            <a:ext cx="9784080" cy="2103120"/>
          </a:xfrm>
          <a:prstGeom prst="rect">
            <a:avLst/>
          </a:prstGeom>
          <a:noFill/>
        </p:spPr>
        <p:txBody>
          <a:bodyPr wrap="none">
            <a:spAutoFit/>
          </a:bodyPr>
          <a:lstStyle/>
          <a:p>
            <a:r>
              <a:rPr sz="1350" b="0">
                <a:solidFill>
                  <a:srgbClr val="2C2C2C"/>
                </a:solidFill>
                <a:latin typeface="Times New Roman"/>
                <a:ea typeface="Microsoft YaHei"/>
              </a:rPr>
              <a:t>•  国际贸易的理论基石：绝对优势原理与李嘉图比较优势原理 (Comparative Advantage)</a:t>
            </a:r>
          </a:p>
          <a:p>
            <a:r>
              <a:rPr sz="1350" b="0">
                <a:solidFill>
                  <a:srgbClr val="2C2C2C"/>
                </a:solidFill>
                <a:latin typeface="Times New Roman"/>
                <a:ea typeface="Microsoft YaHei"/>
              </a:rPr>
              <a:t>•  国际贸易政策工具及其经济效应：关税 (Tariffs)、进口配额 (Quotas) 与非关税壁垒的福利分析</a:t>
            </a:r>
          </a:p>
          <a:p>
            <a:r>
              <a:rPr sz="1350" b="0">
                <a:solidFill>
                  <a:srgbClr val="2C2C2C"/>
                </a:solidFill>
                <a:latin typeface="Times New Roman"/>
                <a:ea typeface="Microsoft YaHei"/>
              </a:rPr>
              <a:t>•  跨国公司与对外直接投资 (FDI)：邓宁 OLI 国际生产折衷范式（所有权、区位、内部化优势）</a:t>
            </a:r>
          </a:p>
          <a:p>
            <a:r>
              <a:rPr sz="1350" b="0">
                <a:solidFill>
                  <a:srgbClr val="2C2C2C"/>
                </a:solidFill>
                <a:latin typeface="Times New Roman"/>
                <a:ea typeface="Microsoft YaHei"/>
              </a:rPr>
              <a:t>•  汇率决定机制与外汇风险管理：交易风险、折算风险与经济风险的识别及衍生品对冲策略</a:t>
            </a:r>
          </a:p>
          <a:p>
            <a:r>
              <a:rPr sz="1350" b="0">
                <a:solidFill>
                  <a:srgbClr val="2C2C2C"/>
                </a:solidFill>
                <a:latin typeface="Times New Roman"/>
                <a:ea typeface="Microsoft YaHei"/>
              </a:rPr>
              <a:t>•  全球化经营战略演进：国际化战略、多国本土化战略、全球标准化战略与跨国协调平衡</a:t>
            </a:r>
          </a:p>
        </p:txBody>
      </p:sp>
      <p:sp>
        <p:nvSpPr>
          <p:cNvPr id="11" name="TextBox 10"/>
          <p:cNvSpPr txBox="1"/>
          <p:nvPr/>
        </p:nvSpPr>
        <p:spPr>
          <a:xfrm>
            <a:off x="914400" y="6309360"/>
            <a:ext cx="7315200" cy="320040"/>
          </a:xfrm>
          <a:prstGeom prst="rect">
            <a:avLst/>
          </a:prstGeom>
          <a:noFill/>
        </p:spPr>
        <p:txBody>
          <a:bodyPr wrap="none">
            <a:spAutoFit/>
          </a:bodyPr>
          <a:lstStyle/>
          <a:p>
            <a:r>
              <a:rPr sz="1100" b="0">
                <a:solidFill>
                  <a:srgbClr val="6B6B6B"/>
                </a:solidFill>
                <a:latin typeface="Times New Roman"/>
                <a:ea typeface="Microsoft YaHei"/>
              </a:rPr>
              <a:t>《管理经济学（第7版）》核心教学课件系列</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本章概览</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全球经营管理经济学逻辑框架</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第11章 企业的全球经营</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2</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国际贸易理论 (第1节)</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亚当·斯密绝对优势论</a:t>
            </a:r>
          </a:p>
          <a:p>
            <a:r>
              <a:rPr sz="1200" b="0">
                <a:solidFill>
                  <a:srgbClr val="2C2C2C"/>
                </a:solidFill>
                <a:latin typeface="Times New Roman"/>
                <a:ea typeface="Microsoft YaHei"/>
              </a:rPr>
              <a:t>• 李嘉图比较优势原理</a:t>
            </a:r>
          </a:p>
          <a:p>
            <a:r>
              <a:rPr sz="1200" b="0">
                <a:solidFill>
                  <a:srgbClr val="2C2C2C"/>
                </a:solidFill>
                <a:latin typeface="Times New Roman"/>
                <a:ea typeface="Microsoft YaHei"/>
              </a:rPr>
              <a:t>• 两国双产品机会成本模型</a:t>
            </a:r>
          </a:p>
          <a:p>
            <a:r>
              <a:rPr sz="1200" b="0">
                <a:solidFill>
                  <a:srgbClr val="2C2C2C"/>
                </a:solidFill>
                <a:latin typeface="Times New Roman"/>
                <a:ea typeface="Microsoft YaHei"/>
              </a:rPr>
              <a:t>• 贸易创造与双赢分工</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贸易保护壁垒 (第3节)</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关税经济福利效应</a:t>
            </a:r>
          </a:p>
          <a:p>
            <a:r>
              <a:rPr sz="1200" b="0">
                <a:solidFill>
                  <a:srgbClr val="2C2C2C"/>
                </a:solidFill>
                <a:latin typeface="Times New Roman"/>
                <a:ea typeface="Microsoft YaHei"/>
              </a:rPr>
              <a:t>• 进口配额租金流向</a:t>
            </a:r>
          </a:p>
          <a:p>
            <a:r>
              <a:rPr sz="1200" b="0">
                <a:solidFill>
                  <a:srgbClr val="2C2C2C"/>
                </a:solidFill>
                <a:latin typeface="Times New Roman"/>
                <a:ea typeface="Microsoft YaHei"/>
              </a:rPr>
              <a:t>• 非关税技术绿色壁垒</a:t>
            </a:r>
          </a:p>
          <a:p>
            <a:r>
              <a:rPr sz="1200" b="0">
                <a:solidFill>
                  <a:srgbClr val="2C2C2C"/>
                </a:solidFill>
                <a:latin typeface="Times New Roman"/>
                <a:ea typeface="Microsoft YaHei"/>
              </a:rPr>
              <a:t>• 贸易战对供应链冲击</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跨国投资 FDI (第4节)</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对外直接投资驱动力</a:t>
            </a:r>
          </a:p>
          <a:p>
            <a:r>
              <a:rPr sz="1200" b="0">
                <a:solidFill>
                  <a:srgbClr val="2C2C2C"/>
                </a:solidFill>
                <a:latin typeface="Times New Roman"/>
                <a:ea typeface="Microsoft YaHei"/>
              </a:rPr>
              <a:t>• OLI 折衷理论范式</a:t>
            </a:r>
          </a:p>
          <a:p>
            <a:r>
              <a:rPr sz="1200" b="0">
                <a:solidFill>
                  <a:srgbClr val="2C2C2C"/>
                </a:solidFill>
                <a:latin typeface="Times New Roman"/>
                <a:ea typeface="Microsoft YaHei"/>
              </a:rPr>
              <a:t>• 绿地投资 vs 跨境并购</a:t>
            </a:r>
          </a:p>
          <a:p>
            <a:r>
              <a:rPr sz="1200" b="0">
                <a:solidFill>
                  <a:srgbClr val="2C2C2C"/>
                </a:solidFill>
                <a:latin typeface="Times New Roman"/>
                <a:ea typeface="Microsoft YaHei"/>
              </a:rPr>
              <a:t>• 全球价值链分工重构</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汇率与对冲 (第2节)</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汇率波动决定机制</a:t>
            </a:r>
          </a:p>
          <a:p>
            <a:r>
              <a:rPr sz="1200" b="0">
                <a:solidFill>
                  <a:srgbClr val="2C2C2C"/>
                </a:solidFill>
                <a:latin typeface="Times New Roman"/>
                <a:ea typeface="Microsoft YaHei"/>
              </a:rPr>
              <a:t>• 三大外汇风险类型</a:t>
            </a:r>
          </a:p>
          <a:p>
            <a:r>
              <a:rPr sz="1200" b="0">
                <a:solidFill>
                  <a:srgbClr val="2C2C2C"/>
                </a:solidFill>
                <a:latin typeface="Times New Roman"/>
                <a:ea typeface="Microsoft YaHei"/>
              </a:rPr>
              <a:t>• 远期外汇与期货对冲</a:t>
            </a:r>
          </a:p>
          <a:p>
            <a:r>
              <a:rPr sz="1200" b="0">
                <a:solidFill>
                  <a:srgbClr val="2C2C2C"/>
                </a:solidFill>
                <a:latin typeface="Times New Roman"/>
                <a:ea typeface="Microsoft YaHei"/>
              </a:rPr>
              <a:t>• 全球本土化平衡策略</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归纳要义：核心主线：从基于比较优势的全球贸易分工 → 跨国直接投资 (FDI) 布局全球供应链 → 系统对冲汇率与地缘政治风险。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371600"/>
            <a:ext cx="9448495" cy="4114800"/>
          </a:xfrm>
          <a:prstGeom prst="rect">
            <a:avLst/>
          </a:prstGeom>
          <a:solidFill>
            <a:srgbClr val="F8F9FA"/>
          </a:solidFill>
          <a:ln w="1524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371600"/>
            <a:ext cx="109728" cy="41148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828800"/>
            <a:ext cx="8229600" cy="457200"/>
          </a:xfrm>
          <a:prstGeom prst="rect">
            <a:avLst/>
          </a:prstGeom>
          <a:noFill/>
        </p:spPr>
        <p:txBody>
          <a:bodyPr wrap="none">
            <a:spAutoFit/>
          </a:bodyPr>
          <a:lstStyle/>
          <a:p>
            <a:r>
              <a:rPr sz="1800" b="1">
                <a:solidFill>
                  <a:srgbClr val="2E86C1"/>
                </a:solidFill>
                <a:latin typeface="Times New Roman"/>
                <a:ea typeface="Microsoft YaHei"/>
              </a:rPr>
              <a:t>第 1 节</a:t>
            </a:r>
          </a:p>
        </p:txBody>
      </p:sp>
      <p:sp>
        <p:nvSpPr>
          <p:cNvPr id="6" name="TextBox 5"/>
          <p:cNvSpPr txBox="1"/>
          <p:nvPr/>
        </p:nvSpPr>
        <p:spPr>
          <a:xfrm>
            <a:off x="1828800" y="2331720"/>
            <a:ext cx="8229600" cy="822960"/>
          </a:xfrm>
          <a:prstGeom prst="rect">
            <a:avLst/>
          </a:prstGeom>
          <a:noFill/>
        </p:spPr>
        <p:txBody>
          <a:bodyPr wrap="none">
            <a:spAutoFit/>
          </a:bodyPr>
          <a:lstStyle/>
          <a:p>
            <a:r>
              <a:rPr sz="3200" b="1">
                <a:solidFill>
                  <a:srgbClr val="1B3A5C"/>
                </a:solidFill>
                <a:latin typeface="Times New Roman"/>
                <a:ea typeface="Microsoft YaHei"/>
              </a:rPr>
              <a:t>国际贸易理论基础：比较优势原理</a:t>
            </a:r>
          </a:p>
        </p:txBody>
      </p:sp>
      <p:sp>
        <p:nvSpPr>
          <p:cNvPr id="7" name="Rectangle 6"/>
          <p:cNvSpPr/>
          <p:nvPr/>
        </p:nvSpPr>
        <p:spPr>
          <a:xfrm>
            <a:off x="1828800" y="3246120"/>
            <a:ext cx="164592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800" y="3520440"/>
            <a:ext cx="8503920" cy="1097280"/>
          </a:xfrm>
          <a:prstGeom prst="roundRect">
            <a:avLst/>
          </a:prstGeom>
          <a:solidFill>
            <a:srgbClr val="EBF3FA"/>
          </a:solidFill>
          <a:ln w="1016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3657600"/>
            <a:ext cx="8138160" cy="822960"/>
          </a:xfrm>
          <a:prstGeom prst="rect">
            <a:avLst/>
          </a:prstGeom>
          <a:noFill/>
        </p:spPr>
        <p:txBody>
          <a:bodyPr wrap="none">
            <a:spAutoFit/>
          </a:bodyPr>
          <a:lstStyle/>
          <a:p>
            <a:r>
              <a:rPr sz="1500" b="1">
                <a:solidFill>
                  <a:srgbClr val="1B3A5C"/>
                </a:solidFill>
                <a:latin typeface="Times New Roman"/>
                <a:ea typeface="Microsoft YaHei"/>
              </a:rPr>
              <a:t>绝对优势 · 比较优势 · 机会成本比选 · 专业化分工 · 贸易利得</a:t>
            </a:r>
          </a:p>
        </p:txBody>
      </p:sp>
      <p:sp>
        <p:nvSpPr>
          <p:cNvPr id="10" name="TextBox 9"/>
          <p:cNvSpPr txBox="1"/>
          <p:nvPr/>
        </p:nvSpPr>
        <p:spPr>
          <a:xfrm>
            <a:off x="1371600" y="6217920"/>
            <a:ext cx="4572000" cy="320040"/>
          </a:xfrm>
          <a:prstGeom prst="rect">
            <a:avLst/>
          </a:prstGeom>
          <a:noFill/>
        </p:spPr>
        <p:txBody>
          <a:bodyPr wrap="none">
            <a:spAutoFit/>
          </a:bodyPr>
          <a:lstStyle/>
          <a:p>
            <a:r>
              <a:rPr sz="1000" b="0">
                <a:solidFill>
                  <a:srgbClr val="6B6B6B"/>
                </a:solidFill>
                <a:latin typeface="Times New Roman"/>
                <a:ea typeface="Microsoft YaHei"/>
              </a:rPr>
              <a:t>管理经济学（第7版） · 第11章 企业的全球经营</a:t>
            </a:r>
          </a:p>
        </p:txBody>
      </p:sp>
      <p:sp>
        <p:nvSpPr>
          <p:cNvPr id="11" name="TextBox 10"/>
          <p:cNvSpPr txBox="1"/>
          <p:nvPr/>
        </p:nvSpPr>
        <p:spPr>
          <a:xfrm>
            <a:off x="10058400" y="6217920"/>
            <a:ext cx="731520" cy="320040"/>
          </a:xfrm>
          <a:prstGeom prst="rect">
            <a:avLst/>
          </a:prstGeom>
          <a:noFill/>
        </p:spPr>
        <p:txBody>
          <a:bodyPr wrap="none">
            <a:spAutoFit/>
          </a:bodyPr>
          <a:lstStyle/>
          <a:p>
            <a:r>
              <a:rPr sz="1100" b="0">
                <a:solidFill>
                  <a:srgbClr val="6B6B6B"/>
                </a:solidFill>
                <a:latin typeface="Times New Roman"/>
                <a:ea typeface="Microsoft YaHe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第1节 国际贸易理论</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李嘉图比较优势原理 (Law of Comparative Advantage)</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第11章 企业的全球经营</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4</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比较优势原理的核心思想</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破除绝对优势的狭隘视角</a:t>
            </a:r>
          </a:p>
          <a:p>
            <a:r>
              <a:rPr sz="1250" b="0">
                <a:solidFill>
                  <a:srgbClr val="2C2C2C"/>
                </a:solidFill>
                <a:latin typeface="Times New Roman"/>
                <a:ea typeface="Microsoft YaHei"/>
              </a:rPr>
              <a:t>  哪怕一个国家在所有商品的生产技术上都处于绝对劣势（生产率全面落后），只要两国生产不同商品的机会成本不同，依然可以通过专业化分工实现互利双赢！</a:t>
            </a:r>
          </a:p>
          <a:p>
            <a:r>
              <a:rPr sz="1400" b="1">
                <a:solidFill>
                  <a:srgbClr val="1B3A5C"/>
                </a:solidFill>
                <a:latin typeface="Times New Roman"/>
                <a:ea typeface="Microsoft YaHei"/>
              </a:rPr>
              <a:t>2. 黄金分工铁律</a:t>
            </a:r>
          </a:p>
          <a:p>
            <a:r>
              <a:rPr sz="1250" b="0">
                <a:solidFill>
                  <a:srgbClr val="2C2C2C"/>
                </a:solidFill>
                <a:latin typeface="Times New Roman"/>
                <a:ea typeface="Microsoft YaHei"/>
              </a:rPr>
              <a:t>  「两利相权取其重，两劣相权取其轻」：专门生产并出口本国具有「比较优势（机会成本更低）」的产品，进口本国具有「比较劣势」的产品。</a:t>
            </a:r>
          </a:p>
          <a:p>
            <a:r>
              <a:rPr sz="1400" b="1">
                <a:solidFill>
                  <a:srgbClr val="1B3A5C"/>
                </a:solidFill>
                <a:latin typeface="Times New Roman"/>
                <a:ea typeface="Microsoft YaHei"/>
              </a:rPr>
              <a:t>3. 贸易创造的实质</a:t>
            </a:r>
          </a:p>
          <a:p>
            <a:r>
              <a:rPr sz="1250" b="0">
                <a:solidFill>
                  <a:srgbClr val="2C2C2C"/>
                </a:solidFill>
                <a:latin typeface="Times New Roman"/>
                <a:ea typeface="Microsoft YaHei"/>
              </a:rPr>
              <a:t>  全球资源被配置到生产效率相对最高的地方，全人类总产出与消费可能性曲线 (CPC) 显著突破本土生产可能性边界 (PPC)！</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典型经典算例推演 (葡萄酒 vs 毛呢)</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生产 1 单位产品所需劳动工时</a:t>
            </a:r>
          </a:p>
          <a:p>
            <a:r>
              <a:rPr sz="1250" b="0">
                <a:solidFill>
                  <a:srgbClr val="2C2C2C"/>
                </a:solidFill>
                <a:latin typeface="Times New Roman"/>
                <a:ea typeface="Microsoft YaHei"/>
              </a:rPr>
              <a:t>  • 葡萄牙：葡萄酒 80 工时，毛呢 90 工时（两项皆有绝对优势！）
• 英国：葡萄酒 120 工时，毛呢 100 工时（两项皆处于绝对劣势）</a:t>
            </a:r>
          </a:p>
          <a:p>
            <a:r>
              <a:rPr sz="1400" b="1">
                <a:solidFill>
                  <a:srgbClr val="2E86C1"/>
                </a:solidFill>
                <a:latin typeface="Times New Roman"/>
                <a:ea typeface="Microsoft YaHei"/>
              </a:rPr>
              <a:t>2. 比较机会成本</a:t>
            </a:r>
          </a:p>
          <a:p>
            <a:r>
              <a:rPr sz="1250" b="0">
                <a:solidFill>
                  <a:srgbClr val="2C2C2C"/>
                </a:solidFill>
                <a:latin typeface="Times New Roman"/>
                <a:ea typeface="Microsoft YaHei"/>
              </a:rPr>
              <a:t>  • 葡萄牙生产 1 葡萄酒放弃 80/90 = 0.89 毛呢（成本低，具比较优势！）
• 英国生产 1 毛呢放弃 100/120 = 0.83 葡萄酒（生产毛呢成本更低！）</a:t>
            </a:r>
          </a:p>
          <a:p>
            <a:r>
              <a:rPr sz="1400" b="1">
                <a:solidFill>
                  <a:srgbClr val="2E86C1"/>
                </a:solidFill>
                <a:latin typeface="Times New Roman"/>
                <a:ea typeface="Microsoft YaHei"/>
              </a:rPr>
              <a:t>3. 分工结果</a:t>
            </a:r>
          </a:p>
          <a:p>
            <a:r>
              <a:rPr sz="1250" b="0">
                <a:solidFill>
                  <a:srgbClr val="2C2C2C"/>
                </a:solidFill>
                <a:latin typeface="Times New Roman"/>
                <a:ea typeface="Microsoft YaHei"/>
              </a:rPr>
              <a:t>  葡萄牙全力专产葡萄酒，英国全力专产毛呢；贸易互换后，两国的酒和布消费量均大幅超越封闭自给自足状态！</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核心结论：比较优势是经济学最深刻的真理之一：国际贸易绝非零和博弈，而是做大全球蛋糕的正和共赢。</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第1节 国际贸易理论</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赫克歇尔-俄林 (H-O) 要素禀赋理论与现代全球价值链</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第11章 企业的全球经营</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5</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H-O 要素禀赋理论</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一国应出口密集使用其丰裕要素的产品</a:t>
            </a:r>
          </a:p>
          <a:p>
            <a:r>
              <a:rPr sz="1200" b="0">
                <a:solidFill>
                  <a:srgbClr val="2C2C2C"/>
                </a:solidFill>
                <a:latin typeface="Times New Roman"/>
                <a:ea typeface="Microsoft YaHei"/>
              </a:rPr>
              <a:t>• 劳动力充裕国出口劳动密集型产品</a:t>
            </a:r>
          </a:p>
          <a:p>
            <a:r>
              <a:rPr sz="1200" b="0">
                <a:solidFill>
                  <a:srgbClr val="2C2C2C"/>
                </a:solidFill>
                <a:latin typeface="Times New Roman"/>
                <a:ea typeface="Microsoft YaHei"/>
              </a:rPr>
              <a:t>• 资本充裕国出口资本密集型产品</a:t>
            </a:r>
          </a:p>
          <a:p>
            <a:r>
              <a:rPr sz="1200" b="0">
                <a:solidFill>
                  <a:srgbClr val="2C2C2C"/>
                </a:solidFill>
                <a:latin typeface="Times New Roman"/>
                <a:ea typeface="Microsoft YaHei"/>
              </a:rPr>
              <a:t>• 解释了南北贸易格局</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列昂惕夫之谜 (Paradox)</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美国资本极其丰裕但出口劳动密集品</a:t>
            </a:r>
          </a:p>
          <a:p>
            <a:r>
              <a:rPr sz="1200" b="0">
                <a:solidFill>
                  <a:srgbClr val="2C2C2C"/>
                </a:solidFill>
                <a:latin typeface="Times New Roman"/>
                <a:ea typeface="Microsoft YaHei"/>
              </a:rPr>
              <a:t>• 引发对人力资本与技术创新的重视</a:t>
            </a:r>
          </a:p>
          <a:p>
            <a:r>
              <a:rPr sz="1200" b="0">
                <a:solidFill>
                  <a:srgbClr val="2C2C2C"/>
                </a:solidFill>
                <a:latin typeface="Times New Roman"/>
                <a:ea typeface="Microsoft YaHei"/>
              </a:rPr>
              <a:t>• 催生现代新贸易理论</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全球价值链分工 (GVC)</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微笑曲线理论：研发与品牌附加值最高</a:t>
            </a:r>
          </a:p>
          <a:p>
            <a:r>
              <a:rPr sz="1200" b="0">
                <a:solidFill>
                  <a:srgbClr val="2C2C2C"/>
                </a:solidFill>
                <a:latin typeface="Times New Roman"/>
                <a:ea typeface="Microsoft YaHei"/>
              </a:rPr>
              <a:t>• 制造加工组装附加值较低</a:t>
            </a:r>
          </a:p>
          <a:p>
            <a:r>
              <a:rPr sz="1200" b="0">
                <a:solidFill>
                  <a:srgbClr val="2C2C2C"/>
                </a:solidFill>
                <a:latin typeface="Times New Roman"/>
                <a:ea typeface="Microsoft YaHei"/>
              </a:rPr>
              <a:t>• 跨国公司主导的工序级全球离岸外包</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中国制造业升级</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从代工组装 (OEM) 走向自主设计制造 (ODM/OBM)</a:t>
            </a:r>
          </a:p>
          <a:p>
            <a:r>
              <a:rPr sz="1200" b="0">
                <a:solidFill>
                  <a:srgbClr val="2C2C2C"/>
                </a:solidFill>
                <a:latin typeface="Times New Roman"/>
                <a:ea typeface="Microsoft YaHei"/>
              </a:rPr>
              <a:t>• 向全球价值链两端研发与高端品牌跃迁</a:t>
            </a:r>
          </a:p>
          <a:p>
            <a:r>
              <a:rPr sz="1200" b="0">
                <a:solidFill>
                  <a:srgbClr val="2C2C2C"/>
                </a:solidFill>
                <a:latin typeface="Times New Roman"/>
                <a:ea typeface="Microsoft YaHei"/>
              </a:rPr>
              <a:t>• 打造新质生产力出海竞争力</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归纳要义：要素禀赋决定了比较优势的初始起点，而持续的技术创新是企业在全球价值链攀升的决定性阶梯。</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371600"/>
            <a:ext cx="9448495" cy="4114800"/>
          </a:xfrm>
          <a:prstGeom prst="rect">
            <a:avLst/>
          </a:prstGeom>
          <a:solidFill>
            <a:srgbClr val="F8F9FA"/>
          </a:solidFill>
          <a:ln w="1524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371600"/>
            <a:ext cx="109728" cy="41148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828800"/>
            <a:ext cx="8229600" cy="457200"/>
          </a:xfrm>
          <a:prstGeom prst="rect">
            <a:avLst/>
          </a:prstGeom>
          <a:noFill/>
        </p:spPr>
        <p:txBody>
          <a:bodyPr wrap="none">
            <a:spAutoFit/>
          </a:bodyPr>
          <a:lstStyle/>
          <a:p>
            <a:r>
              <a:rPr sz="1800" b="1">
                <a:solidFill>
                  <a:srgbClr val="2E86C1"/>
                </a:solidFill>
                <a:latin typeface="Times New Roman"/>
                <a:ea typeface="Microsoft YaHei"/>
              </a:rPr>
              <a:t>第 2 节</a:t>
            </a:r>
          </a:p>
        </p:txBody>
      </p:sp>
      <p:sp>
        <p:nvSpPr>
          <p:cNvPr id="6" name="TextBox 5"/>
          <p:cNvSpPr txBox="1"/>
          <p:nvPr/>
        </p:nvSpPr>
        <p:spPr>
          <a:xfrm>
            <a:off x="1828800" y="2331720"/>
            <a:ext cx="8229600" cy="822960"/>
          </a:xfrm>
          <a:prstGeom prst="rect">
            <a:avLst/>
          </a:prstGeom>
          <a:noFill/>
        </p:spPr>
        <p:txBody>
          <a:bodyPr wrap="none">
            <a:spAutoFit/>
          </a:bodyPr>
          <a:lstStyle/>
          <a:p>
            <a:r>
              <a:rPr sz="3200" b="1">
                <a:solidFill>
                  <a:srgbClr val="1B3A5C"/>
                </a:solidFill>
                <a:latin typeface="Times New Roman"/>
                <a:ea typeface="Microsoft YaHei"/>
              </a:rPr>
              <a:t>国际贸易政策与关税福利分析</a:t>
            </a:r>
          </a:p>
        </p:txBody>
      </p:sp>
      <p:sp>
        <p:nvSpPr>
          <p:cNvPr id="7" name="Rectangle 6"/>
          <p:cNvSpPr/>
          <p:nvPr/>
        </p:nvSpPr>
        <p:spPr>
          <a:xfrm>
            <a:off x="1828800" y="3246120"/>
            <a:ext cx="164592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800" y="3520440"/>
            <a:ext cx="8503920" cy="1097280"/>
          </a:xfrm>
          <a:prstGeom prst="roundRect">
            <a:avLst/>
          </a:prstGeom>
          <a:solidFill>
            <a:srgbClr val="EBF3FA"/>
          </a:solidFill>
          <a:ln w="1016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3657600"/>
            <a:ext cx="8138160" cy="822960"/>
          </a:xfrm>
          <a:prstGeom prst="rect">
            <a:avLst/>
          </a:prstGeom>
          <a:noFill/>
        </p:spPr>
        <p:txBody>
          <a:bodyPr wrap="none">
            <a:spAutoFit/>
          </a:bodyPr>
          <a:lstStyle/>
          <a:p>
            <a:r>
              <a:rPr sz="1500" b="1">
                <a:solidFill>
                  <a:srgbClr val="1B3A5C"/>
                </a:solidFill>
                <a:latin typeface="Times New Roman"/>
                <a:ea typeface="Microsoft YaHei"/>
              </a:rPr>
              <a:t>自由贸易 · 关税经济效应 · 配额与租金 · 消费者损失 · 保护主义冲击</a:t>
            </a:r>
          </a:p>
        </p:txBody>
      </p:sp>
      <p:sp>
        <p:nvSpPr>
          <p:cNvPr id="10" name="TextBox 9"/>
          <p:cNvSpPr txBox="1"/>
          <p:nvPr/>
        </p:nvSpPr>
        <p:spPr>
          <a:xfrm>
            <a:off x="1371600" y="6217920"/>
            <a:ext cx="4572000" cy="320040"/>
          </a:xfrm>
          <a:prstGeom prst="rect">
            <a:avLst/>
          </a:prstGeom>
          <a:noFill/>
        </p:spPr>
        <p:txBody>
          <a:bodyPr wrap="none">
            <a:spAutoFit/>
          </a:bodyPr>
          <a:lstStyle/>
          <a:p>
            <a:r>
              <a:rPr sz="1000" b="0">
                <a:solidFill>
                  <a:srgbClr val="6B6B6B"/>
                </a:solidFill>
                <a:latin typeface="Times New Roman"/>
                <a:ea typeface="Microsoft YaHei"/>
              </a:rPr>
              <a:t>管理经济学（第7版） · 第11章 企业的全球经营</a:t>
            </a:r>
          </a:p>
        </p:txBody>
      </p:sp>
      <p:sp>
        <p:nvSpPr>
          <p:cNvPr id="11" name="TextBox 10"/>
          <p:cNvSpPr txBox="1"/>
          <p:nvPr/>
        </p:nvSpPr>
        <p:spPr>
          <a:xfrm>
            <a:off x="10058400" y="6217920"/>
            <a:ext cx="731520" cy="320040"/>
          </a:xfrm>
          <a:prstGeom prst="rect">
            <a:avLst/>
          </a:prstGeom>
          <a:noFill/>
        </p:spPr>
        <p:txBody>
          <a:bodyPr wrap="none">
            <a:spAutoFit/>
          </a:bodyPr>
          <a:lstStyle/>
          <a:p>
            <a:r>
              <a:rPr sz="1100" b="0">
                <a:solidFill>
                  <a:srgbClr val="6B6B6B"/>
                </a:solidFill>
                <a:latin typeface="Times New Roman"/>
                <a:ea typeface="Microsoft YaHe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第3节 贸易政策分析</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关税 (Tariff) 与进口配额 (Quota) 的经济福利效应</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第11章 企业的全球经营</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7</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进口关税的福利分配效应 (图 11-1)</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价格上涨与国内供给扩张</a:t>
            </a:r>
          </a:p>
          <a:p>
            <a:r>
              <a:rPr sz="1250" b="0">
                <a:solidFill>
                  <a:srgbClr val="2C2C2C"/>
                </a:solidFill>
                <a:latin typeface="Times New Roman"/>
                <a:ea typeface="Microsoft YaHei"/>
              </a:rPr>
              <a:t>  征收关税使国内商品价格从国际价格 P_w 涨至 P_w + t，刺激国内低效生产厂商扩产 (Q1 增至 Q2)。</a:t>
            </a:r>
          </a:p>
          <a:p>
            <a:r>
              <a:rPr sz="1400" b="1">
                <a:solidFill>
                  <a:srgbClr val="1B3A5C"/>
                </a:solidFill>
                <a:latin typeface="Times New Roman"/>
                <a:ea typeface="Microsoft YaHei"/>
              </a:rPr>
              <a:t>2. 消费者剩余被大幅剥夺 (面积 a+b+c+d)</a:t>
            </a:r>
          </a:p>
          <a:p>
            <a:r>
              <a:rPr sz="1250" b="0">
                <a:solidFill>
                  <a:srgbClr val="2C2C2C"/>
                </a:solidFill>
                <a:latin typeface="Times New Roman"/>
                <a:ea typeface="Microsoft YaHei"/>
              </a:rPr>
              <a:t>  • a 转移给国内受保护的生产者；
• c 转化为政府关税财政收入；
• b 和 d 为纯粹的社会无谓损失 (Deadweight Loss, DWL)！</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进口配额 vs 关税的比较</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刚性数量限制</a:t>
            </a:r>
          </a:p>
          <a:p>
            <a:r>
              <a:rPr sz="1250" b="0">
                <a:solidFill>
                  <a:srgbClr val="2C2C2C"/>
                </a:solidFill>
                <a:latin typeface="Times New Roman"/>
                <a:ea typeface="Microsoft YaHei"/>
              </a:rPr>
              <a:t>  配额直接锁死进口数量上限，在需求激增时会导致国内价格无限飙升，比从价关税更具破坏性。</a:t>
            </a:r>
          </a:p>
          <a:p>
            <a:r>
              <a:rPr sz="1400" b="1">
                <a:solidFill>
                  <a:srgbClr val="2E86C1"/>
                </a:solidFill>
                <a:latin typeface="Times New Roman"/>
                <a:ea typeface="Microsoft YaHei"/>
              </a:rPr>
              <a:t>2. 配额租金归属 (Quota Rents)</a:t>
            </a:r>
          </a:p>
          <a:p>
            <a:r>
              <a:rPr sz="1250" b="0">
                <a:solidFill>
                  <a:srgbClr val="2C2C2C"/>
                </a:solidFill>
                <a:latin typeface="Times New Roman"/>
                <a:ea typeface="Microsoft YaHei"/>
              </a:rPr>
              <a:t>  若配额免费发放给进口商，巨额暴利租金落入受特许权商贩腰包；若政府公开竞价拍卖，租金转化为财政收入。</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核心结论：贸易保护主义在保护少数本土落后产业的同时，以牺牲广大消费者福利与全社会效率为沉重代价。</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第3节 贸易政策分析</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绿色贸易壁垒与欧盟碳边境调节机制 (CBAM)</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第11章 企业的全球经营</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8</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技术性贸易壁垒 (TBT)</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以技术标准、认证许可为由限制进口</a:t>
            </a:r>
          </a:p>
          <a:p>
            <a:r>
              <a:rPr sz="1200" b="0">
                <a:solidFill>
                  <a:srgbClr val="2C2C2C"/>
                </a:solidFill>
                <a:latin typeface="Times New Roman"/>
                <a:ea typeface="Microsoft YaHei"/>
              </a:rPr>
              <a:t>• 增加发展中国家出口企业合规认证成本</a:t>
            </a:r>
          </a:p>
          <a:p>
            <a:r>
              <a:rPr sz="1200" b="0">
                <a:solidFill>
                  <a:srgbClr val="2C2C2C"/>
                </a:solidFill>
                <a:latin typeface="Times New Roman"/>
                <a:ea typeface="Microsoft YaHei"/>
              </a:rPr>
              <a:t>• 隐蔽性极强的现代保护工具</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欧盟碳关税 (CBAM)</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对钢铁、铝、化肥、电力等高碳进口征税</a:t>
            </a:r>
          </a:p>
          <a:p>
            <a:r>
              <a:rPr sz="1200" b="0">
                <a:solidFill>
                  <a:srgbClr val="2C2C2C"/>
                </a:solidFill>
                <a:latin typeface="Times New Roman"/>
                <a:ea typeface="Microsoft YaHei"/>
              </a:rPr>
              <a:t>• 要求进口商购买 CBAM 碳排放凭证</a:t>
            </a:r>
          </a:p>
          <a:p>
            <a:r>
              <a:rPr sz="1200" b="0">
                <a:solidFill>
                  <a:srgbClr val="2C2C2C"/>
                </a:solidFill>
                <a:latin typeface="Times New Roman"/>
                <a:ea typeface="Microsoft YaHei"/>
              </a:rPr>
              <a:t>• 消除所谓「碳泄漏 (Carbon Leakage)</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中国企业应对战略</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加快工厂屋顶光伏与绿电直购替代</a:t>
            </a:r>
          </a:p>
          <a:p>
            <a:r>
              <a:rPr sz="1200" b="0">
                <a:solidFill>
                  <a:srgbClr val="2C2C2C"/>
                </a:solidFill>
                <a:latin typeface="Times New Roman"/>
                <a:ea typeface="Microsoft YaHei"/>
              </a:rPr>
              <a:t>• 推进全产业链产品碳足迹 (LCA) 核算认证</a:t>
            </a:r>
          </a:p>
          <a:p>
            <a:r>
              <a:rPr sz="1200" b="0">
                <a:solidFill>
                  <a:srgbClr val="2C2C2C"/>
                </a:solidFill>
                <a:latin typeface="Times New Roman"/>
                <a:ea typeface="Microsoft YaHei"/>
              </a:rPr>
              <a:t>• 向高附加值低碳绿色产品转型</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全球贸易规则重构</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从传统的关税壁垒走向绿色与数智标准壁垒</a:t>
            </a:r>
          </a:p>
          <a:p>
            <a:r>
              <a:rPr sz="1200" b="0">
                <a:solidFill>
                  <a:srgbClr val="2C2C2C"/>
                </a:solidFill>
                <a:latin typeface="Times New Roman"/>
                <a:ea typeface="Microsoft YaHei"/>
              </a:rPr>
              <a:t>• ESG 成为企业全球经营的必备通行证</a:t>
            </a:r>
          </a:p>
          <a:p>
            <a:r>
              <a:rPr sz="1200" b="0">
                <a:solidFill>
                  <a:srgbClr val="2C2C2C"/>
                </a:solidFill>
                <a:latin typeface="Times New Roman"/>
                <a:ea typeface="Microsoft YaHei"/>
              </a:rPr>
              <a:t>• 深度参与国际绿色标准制定</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归纳要义：绿色与低碳标准已经重塑全球贸易规则，企业必须将脱碳能力转化为核心出海竞争力。</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371600"/>
            <a:ext cx="9448495" cy="4114800"/>
          </a:xfrm>
          <a:prstGeom prst="rect">
            <a:avLst/>
          </a:prstGeom>
          <a:solidFill>
            <a:srgbClr val="F8F9FA"/>
          </a:solidFill>
          <a:ln w="1524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371600"/>
            <a:ext cx="109728" cy="41148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828800"/>
            <a:ext cx="8229600" cy="457200"/>
          </a:xfrm>
          <a:prstGeom prst="rect">
            <a:avLst/>
          </a:prstGeom>
          <a:noFill/>
        </p:spPr>
        <p:txBody>
          <a:bodyPr wrap="none">
            <a:spAutoFit/>
          </a:bodyPr>
          <a:lstStyle/>
          <a:p>
            <a:r>
              <a:rPr sz="1800" b="1">
                <a:solidFill>
                  <a:srgbClr val="2E86C1"/>
                </a:solidFill>
                <a:latin typeface="Times New Roman"/>
                <a:ea typeface="Microsoft YaHei"/>
              </a:rPr>
              <a:t>第 3 节</a:t>
            </a:r>
          </a:p>
        </p:txBody>
      </p:sp>
      <p:sp>
        <p:nvSpPr>
          <p:cNvPr id="6" name="TextBox 5"/>
          <p:cNvSpPr txBox="1"/>
          <p:nvPr/>
        </p:nvSpPr>
        <p:spPr>
          <a:xfrm>
            <a:off x="1828800" y="2331720"/>
            <a:ext cx="8229600" cy="822960"/>
          </a:xfrm>
          <a:prstGeom prst="rect">
            <a:avLst/>
          </a:prstGeom>
          <a:noFill/>
        </p:spPr>
        <p:txBody>
          <a:bodyPr wrap="none">
            <a:spAutoFit/>
          </a:bodyPr>
          <a:lstStyle/>
          <a:p>
            <a:r>
              <a:rPr sz="3200" b="1">
                <a:solidFill>
                  <a:srgbClr val="1B3A5C"/>
                </a:solidFill>
                <a:latin typeface="Times New Roman"/>
                <a:ea typeface="Microsoft YaHei"/>
              </a:rPr>
              <a:t>跨国公司对外直接投资 (FDI) 与 OLI 范式</a:t>
            </a:r>
          </a:p>
        </p:txBody>
      </p:sp>
      <p:sp>
        <p:nvSpPr>
          <p:cNvPr id="7" name="Rectangle 6"/>
          <p:cNvSpPr/>
          <p:nvPr/>
        </p:nvSpPr>
        <p:spPr>
          <a:xfrm>
            <a:off x="1828800" y="3246120"/>
            <a:ext cx="164592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800" y="3520440"/>
            <a:ext cx="8503920" cy="1097280"/>
          </a:xfrm>
          <a:prstGeom prst="roundRect">
            <a:avLst/>
          </a:prstGeom>
          <a:solidFill>
            <a:srgbClr val="EBF3FA"/>
          </a:solidFill>
          <a:ln w="1016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3657600"/>
            <a:ext cx="8138160" cy="822960"/>
          </a:xfrm>
          <a:prstGeom prst="rect">
            <a:avLst/>
          </a:prstGeom>
          <a:noFill/>
        </p:spPr>
        <p:txBody>
          <a:bodyPr wrap="none">
            <a:spAutoFit/>
          </a:bodyPr>
          <a:lstStyle/>
          <a:p>
            <a:r>
              <a:rPr sz="1500" b="1">
                <a:solidFill>
                  <a:srgbClr val="1B3A5C"/>
                </a:solidFill>
                <a:latin typeface="Times New Roman"/>
                <a:ea typeface="Microsoft YaHei"/>
              </a:rPr>
              <a:t>FDI 动因 · 所有权优势 · 区位优势 · 内部化优势 · 进入模式</a:t>
            </a:r>
          </a:p>
        </p:txBody>
      </p:sp>
      <p:sp>
        <p:nvSpPr>
          <p:cNvPr id="10" name="TextBox 9"/>
          <p:cNvSpPr txBox="1"/>
          <p:nvPr/>
        </p:nvSpPr>
        <p:spPr>
          <a:xfrm>
            <a:off x="1371600" y="6217920"/>
            <a:ext cx="4572000" cy="320040"/>
          </a:xfrm>
          <a:prstGeom prst="rect">
            <a:avLst/>
          </a:prstGeom>
          <a:noFill/>
        </p:spPr>
        <p:txBody>
          <a:bodyPr wrap="none">
            <a:spAutoFit/>
          </a:bodyPr>
          <a:lstStyle/>
          <a:p>
            <a:r>
              <a:rPr sz="1000" b="0">
                <a:solidFill>
                  <a:srgbClr val="6B6B6B"/>
                </a:solidFill>
                <a:latin typeface="Times New Roman"/>
                <a:ea typeface="Microsoft YaHei"/>
              </a:rPr>
              <a:t>管理经济学（第7版） · 第11章 企业的全球经营</a:t>
            </a:r>
          </a:p>
        </p:txBody>
      </p:sp>
      <p:sp>
        <p:nvSpPr>
          <p:cNvPr id="11" name="TextBox 10"/>
          <p:cNvSpPr txBox="1"/>
          <p:nvPr/>
        </p:nvSpPr>
        <p:spPr>
          <a:xfrm>
            <a:off x="10058400" y="6217920"/>
            <a:ext cx="731520" cy="320040"/>
          </a:xfrm>
          <a:prstGeom prst="rect">
            <a:avLst/>
          </a:prstGeom>
          <a:noFill/>
        </p:spPr>
        <p:txBody>
          <a:bodyPr wrap="none">
            <a:spAutoFit/>
          </a:bodyPr>
          <a:lstStyle/>
          <a:p>
            <a:r>
              <a:rPr sz="1100" b="0">
                <a:solidFill>
                  <a:srgbClr val="6B6B6B"/>
                </a:solidFill>
                <a:latin typeface="Times New Roman"/>
                <a:ea typeface="Microsoft YaHe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第4节 跨国直接投资</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邓宁 OLI 国际生产折衷范式 (Eclectic Paradigm)</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第11章 企业的全球经营</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10</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O: 所有权优势 (Ownership)</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企业独有的核心资产</a:t>
            </a:r>
          </a:p>
          <a:p>
            <a:r>
              <a:rPr sz="1200" b="0">
                <a:solidFill>
                  <a:srgbClr val="2C2C2C"/>
                </a:solidFill>
                <a:latin typeface="Times New Roman"/>
                <a:ea typeface="Microsoft YaHei"/>
              </a:rPr>
              <a:t>• 专利技术、专有配方、知名品牌、规模管理经验</a:t>
            </a:r>
          </a:p>
          <a:p>
            <a:r>
              <a:rPr sz="1200" b="0">
                <a:solidFill>
                  <a:srgbClr val="2C2C2C"/>
                </a:solidFill>
                <a:latin typeface="Times New Roman"/>
                <a:ea typeface="Microsoft YaHei"/>
              </a:rPr>
              <a:t>• 能够克服跨国经营在东道国的「外来者劣势 (Liability of Foreignness)</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L: 区位优势 (Location)</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东道国不可移动的区位禀赋</a:t>
            </a:r>
          </a:p>
          <a:p>
            <a:r>
              <a:rPr sz="1200" b="0">
                <a:solidFill>
                  <a:srgbClr val="2C2C2C"/>
                </a:solidFill>
                <a:latin typeface="Times New Roman"/>
                <a:ea typeface="Microsoft YaHei"/>
              </a:rPr>
              <a:t>• 低廉丰裕的劳动力/矿产原材料</a:t>
            </a:r>
          </a:p>
          <a:p>
            <a:r>
              <a:rPr sz="1200" b="0">
                <a:solidFill>
                  <a:srgbClr val="2C2C2C"/>
                </a:solidFill>
                <a:latin typeface="Times New Roman"/>
                <a:ea typeface="Microsoft YaHei"/>
              </a:rPr>
              <a:t>• 巨大的本土市场消费潜力</a:t>
            </a:r>
          </a:p>
          <a:p>
            <a:r>
              <a:rPr sz="1200" b="0">
                <a:solidFill>
                  <a:srgbClr val="2C2C2C"/>
                </a:solidFill>
                <a:latin typeface="Times New Roman"/>
                <a:ea typeface="Microsoft YaHei"/>
              </a:rPr>
              <a:t>• 规避东道国高额进口关税壁垒</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I: 内部化优势 (Internalization)</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防止核心技术与品牌机密外泄</a:t>
            </a:r>
          </a:p>
          <a:p>
            <a:r>
              <a:rPr sz="1200" b="0">
                <a:solidFill>
                  <a:srgbClr val="2C2C2C"/>
                </a:solidFill>
                <a:latin typeface="Times New Roman"/>
                <a:ea typeface="Microsoft YaHei"/>
              </a:rPr>
              <a:t>• 克服外部技术授权与跨国代理的高昂交易成本</a:t>
            </a:r>
          </a:p>
          <a:p>
            <a:r>
              <a:rPr sz="1200" b="0">
                <a:solidFill>
                  <a:srgbClr val="2C2C2C"/>
                </a:solidFill>
                <a:latin typeface="Times New Roman"/>
                <a:ea typeface="Microsoft YaHei"/>
              </a:rPr>
              <a:t>• 通过在企业内部纵向一体化组织生产，确保供应链质量稳定</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跨国战略决策矩阵</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仅有 O 优势 → 采用技术许可授权 (Licensing)</a:t>
            </a:r>
          </a:p>
          <a:p>
            <a:r>
              <a:rPr sz="1200" b="0">
                <a:solidFill>
                  <a:srgbClr val="2C2C2C"/>
                </a:solidFill>
                <a:latin typeface="Times New Roman"/>
                <a:ea typeface="Microsoft YaHei"/>
              </a:rPr>
              <a:t>• 具备 O + I 优势 → 采用本土生产出口贸易 (Export)</a:t>
            </a:r>
          </a:p>
          <a:p>
            <a:r>
              <a:rPr sz="1200" b="0">
                <a:solidFill>
                  <a:srgbClr val="2C2C2C"/>
                </a:solidFill>
                <a:latin typeface="Times New Roman"/>
                <a:ea typeface="Microsoft YaHei"/>
              </a:rPr>
              <a:t>• 同时具备 O + L + I 三重优势 → 果断实施对外直接投资 (FDI)！</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归纳要义：OLI 范式完美解答了跨国公司「为什么跨国、去哪里投资、以何种形式投资」的终极战略命题。</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第4节 跨国直接投资</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跨国直接投资进入模式选择：绿地投资 vs 跨境并购</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第11章 企业的全球经营</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11</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绿地投资 (Greenfield Investment: 新建投资)</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概念定义</a:t>
            </a:r>
          </a:p>
          <a:p>
            <a:r>
              <a:rPr sz="1250" b="0">
                <a:solidFill>
                  <a:srgbClr val="2C2C2C"/>
                </a:solidFill>
                <a:latin typeface="Times New Roman"/>
                <a:ea typeface="Microsoft YaHei"/>
              </a:rPr>
              <a:t>  跨国公司在东道国从零开始购买土地、新建厂房与搭建供应链团队。</a:t>
            </a:r>
          </a:p>
          <a:p>
            <a:r>
              <a:rPr sz="1400" b="1">
                <a:solidFill>
                  <a:srgbClr val="1B3A5C"/>
                </a:solidFill>
                <a:latin typeface="Times New Roman"/>
                <a:ea typeface="Microsoft YaHei"/>
              </a:rPr>
              <a:t>2. 核心优势</a:t>
            </a:r>
          </a:p>
          <a:p>
            <a:r>
              <a:rPr sz="1250" b="0">
                <a:solidFill>
                  <a:srgbClr val="2C2C2C"/>
                </a:solidFill>
                <a:latin typeface="Times New Roman"/>
                <a:ea typeface="Microsoft YaHei"/>
              </a:rPr>
              <a:t>  • 厂房设备完全按最先进标准定制设计；
• 企业文化与管理制度完全自主掌控，无历史包袱。</a:t>
            </a:r>
          </a:p>
          <a:p>
            <a:r>
              <a:rPr sz="1400" b="1">
                <a:solidFill>
                  <a:srgbClr val="1B3A5C"/>
                </a:solidFill>
                <a:latin typeface="Times New Roman"/>
                <a:ea typeface="Microsoft YaHei"/>
              </a:rPr>
              <a:t>3. 核心劣势</a:t>
            </a:r>
          </a:p>
          <a:p>
            <a:r>
              <a:rPr sz="1250" b="0">
                <a:solidFill>
                  <a:srgbClr val="2C2C2C"/>
                </a:solidFill>
                <a:latin typeface="Times New Roman"/>
                <a:ea typeface="Microsoft YaHei"/>
              </a:rPr>
              <a:t>  建设周期长、前期沉淀资金大、建立客户渠道与本地品牌知名度缓慢。</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跨境并购 (Cross-Border Mergers &amp; Acquisitions)</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概念定义</a:t>
            </a:r>
          </a:p>
          <a:p>
            <a:r>
              <a:rPr sz="1250" b="0">
                <a:solidFill>
                  <a:srgbClr val="2C2C2C"/>
                </a:solidFill>
                <a:latin typeface="Times New Roman"/>
                <a:ea typeface="Microsoft YaHei"/>
              </a:rPr>
              <a:t>  出资收购东道国本土已有成熟企业股权或资产。</a:t>
            </a:r>
          </a:p>
          <a:p>
            <a:r>
              <a:rPr sz="1400" b="1">
                <a:solidFill>
                  <a:srgbClr val="2E86C1"/>
                </a:solidFill>
                <a:latin typeface="Times New Roman"/>
                <a:ea typeface="Microsoft YaHei"/>
              </a:rPr>
              <a:t>2. 核心优势</a:t>
            </a:r>
          </a:p>
          <a:p>
            <a:r>
              <a:rPr sz="1250" b="0">
                <a:solidFill>
                  <a:srgbClr val="2C2C2C"/>
                </a:solidFill>
                <a:latin typeface="Times New Roman"/>
                <a:ea typeface="Microsoft YaHei"/>
              </a:rPr>
              <a:t>  • 迅速获取现成的生产线、本地销售渠道与成熟客户群；
• 迅速消灭当地潜在竞争对手。</a:t>
            </a:r>
          </a:p>
          <a:p>
            <a:r>
              <a:rPr sz="1400" b="1">
                <a:solidFill>
                  <a:srgbClr val="2E86C1"/>
                </a:solidFill>
                <a:latin typeface="Times New Roman"/>
                <a:ea typeface="Microsoft YaHei"/>
              </a:rPr>
              <a:t>3. 核心风险与挑战</a:t>
            </a:r>
          </a:p>
          <a:p>
            <a:r>
              <a:rPr sz="1250" b="0">
                <a:solidFill>
                  <a:srgbClr val="2C2C2C"/>
                </a:solidFill>
                <a:latin typeface="Times New Roman"/>
                <a:ea typeface="Microsoft YaHei"/>
              </a:rPr>
              <a:t>  跨文化整合难度极大、可能背负隐性债务及东道国反垄断安全审查。</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核心结论：进入模式选择取决于企业对出海速度、资产专用性与文化整合能力的综合权衡。</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371600"/>
            <a:ext cx="9448495" cy="4114800"/>
          </a:xfrm>
          <a:prstGeom prst="rect">
            <a:avLst/>
          </a:prstGeom>
          <a:solidFill>
            <a:srgbClr val="F8F9FA"/>
          </a:solidFill>
          <a:ln w="1524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371600"/>
            <a:ext cx="109728" cy="41148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828800"/>
            <a:ext cx="8229600" cy="457200"/>
          </a:xfrm>
          <a:prstGeom prst="rect">
            <a:avLst/>
          </a:prstGeom>
          <a:noFill/>
        </p:spPr>
        <p:txBody>
          <a:bodyPr wrap="none">
            <a:spAutoFit/>
          </a:bodyPr>
          <a:lstStyle/>
          <a:p>
            <a:r>
              <a:rPr sz="1800" b="1">
                <a:solidFill>
                  <a:srgbClr val="2E86C1"/>
                </a:solidFill>
                <a:latin typeface="Times New Roman"/>
                <a:ea typeface="Microsoft YaHei"/>
              </a:rPr>
              <a:t>第 4 节</a:t>
            </a:r>
          </a:p>
        </p:txBody>
      </p:sp>
      <p:sp>
        <p:nvSpPr>
          <p:cNvPr id="6" name="TextBox 5"/>
          <p:cNvSpPr txBox="1"/>
          <p:nvPr/>
        </p:nvSpPr>
        <p:spPr>
          <a:xfrm>
            <a:off x="1828800" y="2331720"/>
            <a:ext cx="8229600" cy="822960"/>
          </a:xfrm>
          <a:prstGeom prst="rect">
            <a:avLst/>
          </a:prstGeom>
          <a:noFill/>
        </p:spPr>
        <p:txBody>
          <a:bodyPr wrap="none">
            <a:spAutoFit/>
          </a:bodyPr>
          <a:lstStyle/>
          <a:p>
            <a:r>
              <a:rPr sz="3200" b="1">
                <a:solidFill>
                  <a:srgbClr val="1B3A5C"/>
                </a:solidFill>
                <a:latin typeface="Times New Roman"/>
                <a:ea typeface="Microsoft YaHei"/>
              </a:rPr>
              <a:t>企业外汇风险管理与全球化战略</a:t>
            </a:r>
          </a:p>
        </p:txBody>
      </p:sp>
      <p:sp>
        <p:nvSpPr>
          <p:cNvPr id="7" name="Rectangle 6"/>
          <p:cNvSpPr/>
          <p:nvPr/>
        </p:nvSpPr>
        <p:spPr>
          <a:xfrm>
            <a:off x="1828800" y="3246120"/>
            <a:ext cx="164592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800" y="3520440"/>
            <a:ext cx="8503920" cy="1097280"/>
          </a:xfrm>
          <a:prstGeom prst="roundRect">
            <a:avLst/>
          </a:prstGeom>
          <a:solidFill>
            <a:srgbClr val="EBF3FA"/>
          </a:solidFill>
          <a:ln w="1016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3657600"/>
            <a:ext cx="8138160" cy="822960"/>
          </a:xfrm>
          <a:prstGeom prst="rect">
            <a:avLst/>
          </a:prstGeom>
          <a:noFill/>
        </p:spPr>
        <p:txBody>
          <a:bodyPr wrap="none">
            <a:spAutoFit/>
          </a:bodyPr>
          <a:lstStyle/>
          <a:p>
            <a:r>
              <a:rPr sz="1500" b="1">
                <a:solidFill>
                  <a:srgbClr val="1B3A5C"/>
                </a:solidFill>
                <a:latin typeface="Times New Roman"/>
                <a:ea typeface="Microsoft YaHei"/>
              </a:rPr>
              <a:t>交易风险 · 折算风险 · 经济风险 · 远期外汇对冲 · 全球本土化</a:t>
            </a:r>
          </a:p>
        </p:txBody>
      </p:sp>
      <p:sp>
        <p:nvSpPr>
          <p:cNvPr id="10" name="TextBox 9"/>
          <p:cNvSpPr txBox="1"/>
          <p:nvPr/>
        </p:nvSpPr>
        <p:spPr>
          <a:xfrm>
            <a:off x="1371600" y="6217920"/>
            <a:ext cx="4572000" cy="320040"/>
          </a:xfrm>
          <a:prstGeom prst="rect">
            <a:avLst/>
          </a:prstGeom>
          <a:noFill/>
        </p:spPr>
        <p:txBody>
          <a:bodyPr wrap="none">
            <a:spAutoFit/>
          </a:bodyPr>
          <a:lstStyle/>
          <a:p>
            <a:r>
              <a:rPr sz="1000" b="0">
                <a:solidFill>
                  <a:srgbClr val="6B6B6B"/>
                </a:solidFill>
                <a:latin typeface="Times New Roman"/>
                <a:ea typeface="Microsoft YaHei"/>
              </a:rPr>
              <a:t>管理经济学（第7版） · 第11章 企业的全球经营</a:t>
            </a:r>
          </a:p>
        </p:txBody>
      </p:sp>
      <p:sp>
        <p:nvSpPr>
          <p:cNvPr id="11" name="TextBox 10"/>
          <p:cNvSpPr txBox="1"/>
          <p:nvPr/>
        </p:nvSpPr>
        <p:spPr>
          <a:xfrm>
            <a:off x="10058400" y="6217920"/>
            <a:ext cx="731520" cy="320040"/>
          </a:xfrm>
          <a:prstGeom prst="rect">
            <a:avLst/>
          </a:prstGeom>
          <a:noFill/>
        </p:spPr>
        <p:txBody>
          <a:bodyPr wrap="none">
            <a:spAutoFit/>
          </a:bodyPr>
          <a:lstStyle/>
          <a:p>
            <a:r>
              <a:rPr sz="1100" b="0">
                <a:solidFill>
                  <a:srgbClr val="6B6B6B"/>
                </a:solidFill>
                <a:latin typeface="Times New Roman"/>
                <a:ea typeface="Microsoft YaHe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第2节 外汇风险管理</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企业面临的三大外汇风险与金融对冲工具</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第11章 企业的全球经营</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13</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跨国企业面临的三类外汇风险暴露</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交易风险 (Transaction Exposure)</a:t>
            </a:r>
          </a:p>
          <a:p>
            <a:r>
              <a:rPr sz="1250" b="0">
                <a:solidFill>
                  <a:srgbClr val="2C2C2C"/>
                </a:solidFill>
                <a:latin typeface="Times New Roman"/>
                <a:ea typeface="Microsoft YaHei"/>
              </a:rPr>
              <a:t>  在外币计价的进出口合同签约至实际结汇收款之间，因汇率波动导致本币实际收付额受损的风险。</a:t>
            </a:r>
          </a:p>
          <a:p>
            <a:r>
              <a:rPr sz="1400" b="1">
                <a:solidFill>
                  <a:srgbClr val="1B3A5C"/>
                </a:solidFill>
                <a:latin typeface="Times New Roman"/>
                <a:ea typeface="Microsoft YaHei"/>
              </a:rPr>
              <a:t>2. 折算风险 / 会计风险 (Translation Exposure)</a:t>
            </a:r>
          </a:p>
          <a:p>
            <a:r>
              <a:rPr sz="1250" b="0">
                <a:solidFill>
                  <a:srgbClr val="2C2C2C"/>
                </a:solidFill>
                <a:latin typeface="Times New Roman"/>
                <a:ea typeface="Microsoft YaHei"/>
              </a:rPr>
              <a:t>  母公司在合并海外子公司以外币计价的资产负债表时，因期末汇率变动产生的账面汇兑损失。</a:t>
            </a:r>
          </a:p>
          <a:p>
            <a:r>
              <a:rPr sz="1400" b="1">
                <a:solidFill>
                  <a:srgbClr val="1B3A5C"/>
                </a:solidFill>
                <a:latin typeface="Times New Roman"/>
                <a:ea typeface="Microsoft YaHei"/>
              </a:rPr>
              <a:t>3. 经济风险 / 经营风险 (Economic Exposure)</a:t>
            </a:r>
          </a:p>
          <a:p>
            <a:r>
              <a:rPr sz="1250" b="0">
                <a:solidFill>
                  <a:srgbClr val="2C2C2C"/>
                </a:solidFill>
                <a:latin typeface="Times New Roman"/>
                <a:ea typeface="Microsoft YaHei"/>
              </a:rPr>
              <a:t>  意外的汇率长期波动通过改变企业在全球的相对成本竞争力与定价空间，对未来长期现金流现值产生的深远冲击。</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企业外汇风险的金融与经营对冲策略</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远期外汇合约锁定 (Forward Contracts)</a:t>
            </a:r>
          </a:p>
          <a:p>
            <a:r>
              <a:rPr sz="1250" b="0">
                <a:solidFill>
                  <a:srgbClr val="2C2C2C"/>
                </a:solidFill>
                <a:latin typeface="Times New Roman"/>
                <a:ea typeface="Microsoft YaHei"/>
              </a:rPr>
              <a:t>  在签约时与银行锁定未来的结售汇汇率，彻底消除交易风险。</a:t>
            </a:r>
          </a:p>
          <a:p>
            <a:r>
              <a:rPr sz="1400" b="1">
                <a:solidFill>
                  <a:srgbClr val="2E86C1"/>
                </a:solidFill>
                <a:latin typeface="Times New Roman"/>
                <a:ea typeface="Microsoft YaHei"/>
              </a:rPr>
              <a:t>2. 外汇期货与期权对冲 (Options)</a:t>
            </a:r>
          </a:p>
          <a:p>
            <a:r>
              <a:rPr sz="1250" b="0">
                <a:solidFill>
                  <a:srgbClr val="2C2C2C"/>
                </a:solidFill>
                <a:latin typeface="Times New Roman"/>
                <a:ea typeface="Microsoft YaHei"/>
              </a:rPr>
              <a:t>  购买外汇看跌/看涨期权，在锁定汇率下限的同时保留汇率有利变动时的潜在收益。</a:t>
            </a:r>
          </a:p>
          <a:p>
            <a:r>
              <a:rPr sz="1400" b="1">
                <a:solidFill>
                  <a:srgbClr val="2E86C1"/>
                </a:solidFill>
                <a:latin typeface="Times New Roman"/>
                <a:ea typeface="Microsoft YaHei"/>
              </a:rPr>
              <a:t>3. 跨国经营自然对冲 (Natural Hedging)</a:t>
            </a:r>
          </a:p>
          <a:p>
            <a:r>
              <a:rPr sz="1250" b="0">
                <a:solidFill>
                  <a:srgbClr val="2C2C2C"/>
                </a:solidFill>
                <a:latin typeface="Times New Roman"/>
                <a:ea typeface="Microsoft YaHei"/>
              </a:rPr>
              <a:t>  在全球范围内实现「收入币种与成本币种相匹配」（如用美元收入直接支付海外美元原材料与利息支出），从源头消除汇率风险暴露。</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核心结论：外汇风险管理的核心不是去投机赌博汇率走势，而是通过金融工具将不确定性锁定，护航实业稳健出海。</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第2节 外汇风险管理</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远期外汇与外汇期权套期保值实操算例 (例 11-1 &amp; 11-2)</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第11章 企业的全球经营</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14</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算例一：远期外汇合约锁定结算价</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业务背景</a:t>
            </a:r>
          </a:p>
          <a:p>
            <a:r>
              <a:rPr sz="1250" b="0">
                <a:solidFill>
                  <a:srgbClr val="2C2C2C"/>
                </a:solidFill>
                <a:latin typeface="Times New Roman"/>
                <a:ea typeface="Microsoft YaHei"/>
              </a:rPr>
              <a:t>  中国某光伏组件企业与德国客户签订 1000 万欧元出口合同，6 个月后交货收款。即期汇率 1 欧元 = 7.80 人民币。</a:t>
            </a:r>
          </a:p>
          <a:p>
            <a:r>
              <a:rPr sz="1400" b="1">
                <a:solidFill>
                  <a:srgbClr val="1B3A5C"/>
                </a:solidFill>
                <a:latin typeface="Times New Roman"/>
                <a:ea typeface="Microsoft YaHei"/>
              </a:rPr>
              <a:t>2. 汇率贬值担忧</a:t>
            </a:r>
          </a:p>
          <a:p>
            <a:r>
              <a:rPr sz="1250" b="0">
                <a:solidFill>
                  <a:srgbClr val="2C2C2C"/>
                </a:solidFill>
                <a:latin typeface="Times New Roman"/>
                <a:ea typeface="Microsoft YaHei"/>
              </a:rPr>
              <a:t>  企业担心 6 个月后欧元贬值至 7.50，将损失 300 万元人民币。</a:t>
            </a:r>
          </a:p>
          <a:p>
            <a:r>
              <a:rPr sz="1400" b="1">
                <a:solidFill>
                  <a:srgbClr val="1B3A5C"/>
                </a:solidFill>
                <a:latin typeface="Times New Roman"/>
                <a:ea typeface="Microsoft YaHei"/>
              </a:rPr>
              <a:t>3. 远期锁定决策</a:t>
            </a:r>
          </a:p>
          <a:p>
            <a:r>
              <a:rPr sz="1250" b="0">
                <a:solidFill>
                  <a:srgbClr val="2C2C2C"/>
                </a:solidFill>
                <a:latin typeface="Times New Roman"/>
                <a:ea typeface="Microsoft YaHei"/>
              </a:rPr>
              <a:t>  与银行签订 6 个月远期售汇协议，锁定汇率 1 欧元 = 7.76 人民币。
👉 到期确定性收回 7760 万元人民币，彻底规避汇率风险！</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算例二：外汇看跌期权非对称保护</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操作方案</a:t>
            </a:r>
          </a:p>
          <a:p>
            <a:r>
              <a:rPr sz="1250" b="0">
                <a:solidFill>
                  <a:srgbClr val="2C2C2C"/>
                </a:solidFill>
                <a:latin typeface="Times New Roman"/>
                <a:ea typeface="Microsoft YaHei"/>
              </a:rPr>
              <a:t>  企业支付 20 万元期权费，购买执行价为 1 欧元 = 7.75 人民币的看跌期权。</a:t>
            </a:r>
          </a:p>
          <a:p>
            <a:r>
              <a:rPr sz="1400" b="1">
                <a:solidFill>
                  <a:srgbClr val="2E86C1"/>
                </a:solidFill>
                <a:latin typeface="Times New Roman"/>
                <a:ea typeface="Microsoft YaHei"/>
              </a:rPr>
              <a:t>2. 情景 A (欧元暴跌至 7.40)</a:t>
            </a:r>
          </a:p>
          <a:p>
            <a:r>
              <a:rPr sz="1250" b="0">
                <a:solidFill>
                  <a:srgbClr val="2C2C2C"/>
                </a:solidFill>
                <a:latin typeface="Times New Roman"/>
                <a:ea typeface="Microsoft YaHei"/>
              </a:rPr>
              <a:t>  执行期权，按 7.75 结汇，锁定保底收益！</a:t>
            </a:r>
          </a:p>
          <a:p>
            <a:r>
              <a:rPr sz="1400" b="1">
                <a:solidFill>
                  <a:srgbClr val="2E86C1"/>
                </a:solidFill>
                <a:latin typeface="Times New Roman"/>
                <a:ea typeface="Microsoft YaHei"/>
              </a:rPr>
              <a:t>3. 情景 B (欧元大涨至 8.10)</a:t>
            </a:r>
          </a:p>
          <a:p>
            <a:r>
              <a:rPr sz="1250" b="0">
                <a:solidFill>
                  <a:srgbClr val="2C2C2C"/>
                </a:solidFill>
                <a:latin typeface="Times New Roman"/>
                <a:ea typeface="Microsoft YaHei"/>
              </a:rPr>
              <a:t>  放弃期权，在即期市场按 8.10 结汇，净多赚 300 多万！</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核心结论：结合远期与期权工具，跨国企业能够根据自身风险承受力构建弹性汇率防御网。</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第2节 外汇风险管理</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购买力平价理论 (PPP) 与巨无霸汉堡指数 (Big Mac Index)</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第11章 企业的全球经营</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15</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购买力平价理论 (Purchasing Power Parity, PPP)</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一价定律 (Law of One Price)</a:t>
            </a:r>
          </a:p>
          <a:p>
            <a:r>
              <a:rPr sz="1250" b="0">
                <a:solidFill>
                  <a:srgbClr val="2C2C2C"/>
                </a:solidFill>
                <a:latin typeface="Times New Roman"/>
                <a:ea typeface="Microsoft YaHei"/>
              </a:rPr>
              <a:t>  在无摩擦自由贸易条件下，同一种可贸易商品在不同国家按汇率折算后的价格应当相等。</a:t>
            </a:r>
          </a:p>
          <a:p>
            <a:r>
              <a:rPr sz="1400" b="1">
                <a:solidFill>
                  <a:srgbClr val="1B3A5C"/>
                </a:solidFill>
                <a:latin typeface="Times New Roman"/>
                <a:ea typeface="Microsoft YaHei"/>
              </a:rPr>
              <a:t>2. 绝对 PPP 汇率决定模型</a:t>
            </a:r>
          </a:p>
          <a:p>
            <a:r>
              <a:rPr sz="1250" b="0">
                <a:solidFill>
                  <a:srgbClr val="2C2C2C"/>
                </a:solidFill>
                <a:latin typeface="Times New Roman"/>
                <a:ea typeface="Microsoft YaHei"/>
              </a:rPr>
              <a:t>  理论汇率 e = P_本国 / P_外国 (由两国综合物价水平之比决定)。</a:t>
            </a:r>
          </a:p>
          <a:p>
            <a:r>
              <a:rPr sz="1400" b="1">
                <a:solidFill>
                  <a:srgbClr val="1B3A5C"/>
                </a:solidFill>
                <a:latin typeface="Times New Roman"/>
                <a:ea typeface="Microsoft YaHei"/>
              </a:rPr>
              <a:t>3. 相对 PPP 动态调整</a:t>
            </a:r>
          </a:p>
          <a:p>
            <a:r>
              <a:rPr sz="1250" b="0">
                <a:solidFill>
                  <a:srgbClr val="2C2C2C"/>
                </a:solidFill>
                <a:latin typeface="Times New Roman"/>
                <a:ea typeface="Microsoft YaHei"/>
              </a:rPr>
              <a:t>  汇率变动百分比应当等于两国通货膨胀率之差 (Δe/e ≈ π_本国 - π_外国)。</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经济学人「巨无霸汉堡指数」实践</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指数原理</a:t>
            </a:r>
          </a:p>
          <a:p>
            <a:r>
              <a:rPr sz="1250" b="0">
                <a:solidFill>
                  <a:srgbClr val="2C2C2C"/>
                </a:solidFill>
                <a:latin typeface="Times New Roman"/>
                <a:ea typeface="Microsoft YaHei"/>
              </a:rPr>
              <a:t>  巨无霸汉堡在全球配方高度标准化，通过比较各国巨无霸本币售价与美国售价折算，快速判断各国货币汇率是被高估还是低估。</a:t>
            </a:r>
          </a:p>
          <a:p>
            <a:r>
              <a:rPr sz="1400" b="1">
                <a:solidFill>
                  <a:srgbClr val="2E86C1"/>
                </a:solidFill>
                <a:latin typeface="Times New Roman"/>
                <a:ea typeface="Microsoft YaHei"/>
              </a:rPr>
              <a:t>2. 现实偏差原因</a:t>
            </a:r>
          </a:p>
          <a:p>
            <a:r>
              <a:rPr sz="1250" b="0">
                <a:solidFill>
                  <a:srgbClr val="2C2C2C"/>
                </a:solidFill>
                <a:latin typeface="Times New Roman"/>
                <a:ea typeface="Microsoft YaHei"/>
              </a:rPr>
              <a:t>  受不可贸易品（店铺租金、人工成本）、税收差异与本地关税影响。</a:t>
            </a:r>
          </a:p>
          <a:p>
            <a:r>
              <a:rPr sz="1400" b="1">
                <a:solidFill>
                  <a:srgbClr val="2E86C1"/>
                </a:solidFill>
                <a:latin typeface="Times New Roman"/>
                <a:ea typeface="Microsoft YaHei"/>
              </a:rPr>
              <a:t>3. 战略指导意义</a:t>
            </a:r>
          </a:p>
          <a:p>
            <a:r>
              <a:rPr sz="1250" b="0">
                <a:solidFill>
                  <a:srgbClr val="2C2C2C"/>
                </a:solidFill>
                <a:latin typeface="Times New Roman"/>
                <a:ea typeface="Microsoft YaHei"/>
              </a:rPr>
              <a:t>  为跨国企业评估海外投资生产基地的真实劳动力与运营成本洼地提供直观参考。</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核心结论：购买力平价理论揭示了汇率波动的长期基本面锚点，是全球宏观资产配置的指南针。</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第4节 全球战略演进</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全球化战略选择：从出口贸易到全球本土化 (Glocalization)</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第11章 企业的全球经营</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16</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国际化战略 (International)</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以母国市场为核心母体</a:t>
            </a:r>
          </a:p>
          <a:p>
            <a:r>
              <a:rPr sz="1200" b="0">
                <a:solidFill>
                  <a:srgbClr val="2C2C2C"/>
                </a:solidFill>
                <a:latin typeface="Times New Roman"/>
                <a:ea typeface="Microsoft YaHei"/>
              </a:rPr>
              <a:t>• 将本土成熟产品原封不动出口海外</a:t>
            </a:r>
          </a:p>
          <a:p>
            <a:r>
              <a:rPr sz="1200" b="0">
                <a:solidFill>
                  <a:srgbClr val="2C2C2C"/>
                </a:solidFill>
                <a:latin typeface="Times New Roman"/>
                <a:ea typeface="Microsoft YaHei"/>
              </a:rPr>
              <a:t>• 海外机构仅作为销售办事处</a:t>
            </a:r>
          </a:p>
          <a:p>
            <a:r>
              <a:rPr sz="1200" b="0">
                <a:solidFill>
                  <a:srgbClr val="2C2C2C"/>
                </a:solidFill>
                <a:latin typeface="Times New Roman"/>
                <a:ea typeface="Microsoft YaHei"/>
              </a:rPr>
              <a:t>• 适应全球化起步初期阶段</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多国本土化战略 (Multidomestic)</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高度下放自主权给海外子公司</a:t>
            </a:r>
          </a:p>
          <a:p>
            <a:r>
              <a:rPr sz="1200" b="0">
                <a:solidFill>
                  <a:srgbClr val="2C2C2C"/>
                </a:solidFill>
                <a:latin typeface="Times New Roman"/>
                <a:ea typeface="Microsoft YaHei"/>
              </a:rPr>
              <a:t>• 针对各国差异化偏好定制产品</a:t>
            </a:r>
          </a:p>
          <a:p>
            <a:r>
              <a:rPr sz="1200" b="0">
                <a:solidFill>
                  <a:srgbClr val="2C2C2C"/>
                </a:solidFill>
                <a:latin typeface="Times New Roman"/>
                <a:ea typeface="Microsoft YaHei"/>
              </a:rPr>
              <a:t>• 响应本土需求灵敏但规模成本较高</a:t>
            </a:r>
          </a:p>
          <a:p>
            <a:r>
              <a:rPr sz="1200" b="0">
                <a:solidFill>
                  <a:srgbClr val="2C2C2C"/>
                </a:solidFill>
                <a:latin typeface="Times New Roman"/>
                <a:ea typeface="Microsoft YaHei"/>
              </a:rPr>
              <a:t>• 典型：跨国快消食品日化</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全球标准化战略 (Global)</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将全球视为单一高度同质市场</a:t>
            </a:r>
          </a:p>
          <a:p>
            <a:r>
              <a:rPr sz="1200" b="0">
                <a:solidFill>
                  <a:srgbClr val="2C2C2C"/>
                </a:solidFill>
                <a:latin typeface="Times New Roman"/>
                <a:ea typeface="Microsoft YaHei"/>
              </a:rPr>
              <a:t>• 在全球布局超大规模生产基地</a:t>
            </a:r>
          </a:p>
          <a:p>
            <a:r>
              <a:rPr sz="1200" b="0">
                <a:solidFill>
                  <a:srgbClr val="2C2C2C"/>
                </a:solidFill>
                <a:latin typeface="Times New Roman"/>
                <a:ea typeface="Microsoft YaHei"/>
              </a:rPr>
              <a:t>• 追求极致规模经济与成本领先</a:t>
            </a:r>
          </a:p>
          <a:p>
            <a:r>
              <a:rPr sz="1200" b="0">
                <a:solidFill>
                  <a:srgbClr val="2C2C2C"/>
                </a:solidFill>
                <a:latin typeface="Times New Roman"/>
                <a:ea typeface="Microsoft YaHei"/>
              </a:rPr>
              <a:t>• 典型：半导体芯片、标准工业品</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跨国统筹战略 (Transnational)</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兼顾「全球规模效率」与「本土敏捷响应」</a:t>
            </a:r>
          </a:p>
          <a:p>
            <a:r>
              <a:rPr sz="1200" b="0">
                <a:solidFill>
                  <a:srgbClr val="2C2C2C"/>
                </a:solidFill>
                <a:latin typeface="Times New Roman"/>
                <a:ea typeface="Microsoft YaHei"/>
              </a:rPr>
              <a:t>• 全球研发协同 + 本地制造定制</a:t>
            </a:r>
          </a:p>
          <a:p>
            <a:r>
              <a:rPr sz="1200" b="0">
                <a:solidFill>
                  <a:srgbClr val="2C2C2C"/>
                </a:solidFill>
                <a:latin typeface="Times New Roman"/>
                <a:ea typeface="Microsoft YaHei"/>
              </a:rPr>
              <a:t>• 构建敏捷韧性的全球化网状组织</a:t>
            </a:r>
          </a:p>
          <a:p>
            <a:r>
              <a:rPr sz="1200" b="0">
                <a:solidFill>
                  <a:srgbClr val="2C2C2C"/>
                </a:solidFill>
                <a:latin typeface="Times New Roman"/>
                <a:ea typeface="Microsoft YaHei"/>
              </a:rPr>
              <a:t>• 现代跨国巨头的终极演进形态</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归纳要义：在全球地缘政治与保护主义抬头的新常态下，中国企业出海必须坚持「全球视野、本土深耕、合规先行、韧性为王」。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第4节 全球经营合规</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跨国经营地缘政治风险评估与合规出海指南</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第11章 企业的全球经营</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17</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地缘政治与外资审查</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东道国外资安全审查 (CFIUS 等)</a:t>
            </a:r>
          </a:p>
          <a:p>
            <a:r>
              <a:rPr sz="1200" b="0">
                <a:solidFill>
                  <a:srgbClr val="2C2C2C"/>
                </a:solidFill>
                <a:latin typeface="Times New Roman"/>
                <a:ea typeface="Microsoft YaHei"/>
              </a:rPr>
              <a:t>• 防范关键基础设施投资被无理否决</a:t>
            </a:r>
          </a:p>
          <a:p>
            <a:r>
              <a:rPr sz="1200" b="0">
                <a:solidFill>
                  <a:srgbClr val="2C2C2C"/>
                </a:solidFill>
                <a:latin typeface="Times New Roman"/>
                <a:ea typeface="Microsoft YaHei"/>
              </a:rPr>
              <a:t>• 采取合资参股与本地合作共赢模式</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法律与数据跨境合规</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严格遵守欧盟 GDPR 等数据隐私法案</a:t>
            </a:r>
          </a:p>
          <a:p>
            <a:r>
              <a:rPr sz="1200" b="0">
                <a:solidFill>
                  <a:srgbClr val="2C2C2C"/>
                </a:solidFill>
                <a:latin typeface="Times New Roman"/>
                <a:ea typeface="Microsoft YaHei"/>
              </a:rPr>
              <a:t>• 海外用户数据本地化存储与合规出境</a:t>
            </a:r>
          </a:p>
          <a:p>
            <a:r>
              <a:rPr sz="1200" b="0">
                <a:solidFill>
                  <a:srgbClr val="2C2C2C"/>
                </a:solidFill>
                <a:latin typeface="Times New Roman"/>
                <a:ea typeface="Microsoft YaHei"/>
              </a:rPr>
              <a:t>• 聘请当地顶级律师事务所合规把关</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本地化雇佣与劳工关系</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尊重东道国工会协商机制与休假法</a:t>
            </a:r>
          </a:p>
          <a:p>
            <a:r>
              <a:rPr sz="1200" b="0">
                <a:solidFill>
                  <a:srgbClr val="2C2C2C"/>
                </a:solidFill>
                <a:latin typeface="Times New Roman"/>
                <a:ea typeface="Microsoft YaHei"/>
              </a:rPr>
              <a:t>• 核心管理团队积极推行本地化雇佣</a:t>
            </a:r>
          </a:p>
          <a:p>
            <a:r>
              <a:rPr sz="1200" b="0">
                <a:solidFill>
                  <a:srgbClr val="2C2C2C"/>
                </a:solidFill>
                <a:latin typeface="Times New Roman"/>
                <a:ea typeface="Microsoft YaHei"/>
              </a:rPr>
              <a:t>• 深度融入当地社区与文化认同</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知识产权全球防御</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在主要目标市场提前做好专利与商标布局</a:t>
            </a:r>
          </a:p>
          <a:p>
            <a:r>
              <a:rPr sz="1200" b="0">
                <a:solidFill>
                  <a:srgbClr val="2C2C2C"/>
                </a:solidFill>
                <a:latin typeface="Times New Roman"/>
                <a:ea typeface="Microsoft YaHei"/>
              </a:rPr>
              <a:t>• 防范海外同行发起 337 调查与恶意诉讼</a:t>
            </a:r>
          </a:p>
          <a:p>
            <a:r>
              <a:rPr sz="1200" b="0">
                <a:solidFill>
                  <a:srgbClr val="2C2C2C"/>
                </a:solidFill>
                <a:latin typeface="Times New Roman"/>
                <a:ea typeface="Microsoft YaHei"/>
              </a:rPr>
              <a:t>• 构建全球知识产权专利护城河</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归纳要义：合规是企业全球化经营的生命线：坚持底线思维与本土深耕，方能行稳致远。</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案例研讨</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案例 11-1：某中国新能源车企出海匈牙利建厂的 OLI 优势分析</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第11章 企业的全球经营</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18</a:t>
            </a:r>
          </a:p>
        </p:txBody>
      </p:sp>
      <p:sp>
        <p:nvSpPr>
          <p:cNvPr id="9" name="Rectangle 8"/>
          <p:cNvSpPr/>
          <p:nvPr/>
        </p:nvSpPr>
        <p:spPr>
          <a:xfrm>
            <a:off x="457200" y="1325880"/>
            <a:ext cx="11247120" cy="457200"/>
          </a:xfrm>
          <a:prstGeom prst="rect">
            <a:avLst/>
          </a:prstGeom>
          <a:solidFill>
            <a:srgbClr val="EBF3FA"/>
          </a:solidFill>
          <a:ln w="1524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9144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353312"/>
            <a:ext cx="10789920" cy="411480"/>
          </a:xfrm>
          <a:prstGeom prst="rect">
            <a:avLst/>
          </a:prstGeom>
          <a:noFill/>
        </p:spPr>
        <p:txBody>
          <a:bodyPr wrap="none">
            <a:spAutoFit/>
          </a:bodyPr>
          <a:lstStyle/>
          <a:p>
            <a:r>
              <a:rPr sz="1550" b="1">
                <a:solidFill>
                  <a:srgbClr val="1B3A5C"/>
                </a:solidFill>
                <a:latin typeface="Times New Roman"/>
                <a:ea typeface="Microsoft YaHei"/>
              </a:rPr>
              <a:t>📖 案例研讨：比亚迪欧洲乘用车匈牙利整车制造基地投资决策</a:t>
            </a:r>
          </a:p>
        </p:txBody>
      </p:sp>
      <p:sp>
        <p:nvSpPr>
          <p:cNvPr id="12" name="Rectangle 11"/>
          <p:cNvSpPr/>
          <p:nvPr/>
        </p:nvSpPr>
        <p:spPr>
          <a:xfrm>
            <a:off x="4572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所有权优势 (O)</a:t>
            </a:r>
          </a:p>
        </p:txBody>
      </p:sp>
      <p:sp>
        <p:nvSpPr>
          <p:cNvPr id="15" name="TextBox 14"/>
          <p:cNvSpPr txBox="1"/>
          <p:nvPr/>
        </p:nvSpPr>
        <p:spPr>
          <a:xfrm>
            <a:off x="594360" y="2423160"/>
            <a:ext cx="2400300" cy="2697480"/>
          </a:xfrm>
          <a:prstGeom prst="rect">
            <a:avLst/>
          </a:prstGeom>
          <a:noFill/>
        </p:spPr>
        <p:txBody>
          <a:bodyPr wrap="square">
            <a:spAutoFit/>
          </a:bodyPr>
          <a:lstStyle/>
          <a:p>
            <a:r>
              <a:rPr sz="1200" b="0">
                <a:solidFill>
                  <a:srgbClr val="2C2C2C"/>
                </a:solidFill>
                <a:latin typeface="Times New Roman"/>
                <a:ea typeface="Microsoft YaHei"/>
              </a:rPr>
              <a:t>• 拥有刀片电池、CTB 电池车身一体化与 DM-i 混动自主核心专利</a:t>
            </a:r>
          </a:p>
          <a:p>
            <a:r>
              <a:rPr sz="1200" b="0">
                <a:solidFill>
                  <a:srgbClr val="2C2C2C"/>
                </a:solidFill>
                <a:latin typeface="Times New Roman"/>
                <a:ea typeface="Microsoft YaHei"/>
              </a:rPr>
              <a:t>• 极高的三电集成度与供应链垂直整合成本优势</a:t>
            </a:r>
          </a:p>
        </p:txBody>
      </p:sp>
      <p:sp>
        <p:nvSpPr>
          <p:cNvPr id="16" name="Rectangle 15"/>
          <p:cNvSpPr/>
          <p:nvPr/>
        </p:nvSpPr>
        <p:spPr>
          <a:xfrm>
            <a:off x="33147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147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061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区位优势 (L)</a:t>
            </a:r>
          </a:p>
        </p:txBody>
      </p:sp>
      <p:sp>
        <p:nvSpPr>
          <p:cNvPr id="19" name="TextBox 18"/>
          <p:cNvSpPr txBox="1"/>
          <p:nvPr/>
        </p:nvSpPr>
        <p:spPr>
          <a:xfrm>
            <a:off x="3451860" y="2423160"/>
            <a:ext cx="2400300" cy="2697480"/>
          </a:xfrm>
          <a:prstGeom prst="rect">
            <a:avLst/>
          </a:prstGeom>
          <a:noFill/>
        </p:spPr>
        <p:txBody>
          <a:bodyPr wrap="square">
            <a:spAutoFit/>
          </a:bodyPr>
          <a:lstStyle/>
          <a:p>
            <a:r>
              <a:rPr sz="1200" b="0">
                <a:solidFill>
                  <a:srgbClr val="2C2C2C"/>
                </a:solidFill>
                <a:latin typeface="Times New Roman"/>
                <a:ea typeface="Microsoft YaHei"/>
              </a:rPr>
              <a:t>• 匈牙利位于欧洲中心枢纽，汽车工业配套底蕴深厚，物流辐射全欧</a:t>
            </a:r>
          </a:p>
          <a:p>
            <a:r>
              <a:rPr sz="1200" b="0">
                <a:solidFill>
                  <a:srgbClr val="2C2C2C"/>
                </a:solidFill>
                <a:latin typeface="Times New Roman"/>
                <a:ea typeface="Microsoft YaHei"/>
              </a:rPr>
              <a:t>• 规避欧盟对华纯电动汽车反补贴高额关税壁垒</a:t>
            </a:r>
          </a:p>
        </p:txBody>
      </p:sp>
      <p:sp>
        <p:nvSpPr>
          <p:cNvPr id="20" name="Rectangle 19"/>
          <p:cNvSpPr/>
          <p:nvPr/>
        </p:nvSpPr>
        <p:spPr>
          <a:xfrm>
            <a:off x="61722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内部化优势 (I)</a:t>
            </a:r>
          </a:p>
        </p:txBody>
      </p:sp>
      <p:sp>
        <p:nvSpPr>
          <p:cNvPr id="23" name="TextBox 22"/>
          <p:cNvSpPr txBox="1"/>
          <p:nvPr/>
        </p:nvSpPr>
        <p:spPr>
          <a:xfrm>
            <a:off x="6309360" y="2423160"/>
            <a:ext cx="2400300" cy="2697480"/>
          </a:xfrm>
          <a:prstGeom prst="rect">
            <a:avLst/>
          </a:prstGeom>
          <a:noFill/>
        </p:spPr>
        <p:txBody>
          <a:bodyPr wrap="square">
            <a:spAutoFit/>
          </a:bodyPr>
          <a:lstStyle/>
          <a:p>
            <a:r>
              <a:rPr sz="1200" b="0">
                <a:solidFill>
                  <a:srgbClr val="2C2C2C"/>
                </a:solidFill>
                <a:latin typeface="Times New Roman"/>
                <a:ea typeface="Microsoft YaHei"/>
              </a:rPr>
              <a:t>• 自建整车工厂而非技术授权欧洲代工，严密保护核心电驱机密</a:t>
            </a:r>
          </a:p>
          <a:p>
            <a:r>
              <a:rPr sz="1200" b="0">
                <a:solidFill>
                  <a:srgbClr val="2C2C2C"/>
                </a:solidFill>
                <a:latin typeface="Times New Roman"/>
                <a:ea typeface="Microsoft YaHei"/>
              </a:rPr>
              <a:t>• 直接掌控欧洲本地化生产质量与品牌售后网络</a:t>
            </a:r>
          </a:p>
        </p:txBody>
      </p:sp>
      <p:sp>
        <p:nvSpPr>
          <p:cNvPr id="24" name="Rectangle 23"/>
          <p:cNvSpPr/>
          <p:nvPr/>
        </p:nvSpPr>
        <p:spPr>
          <a:xfrm>
            <a:off x="90297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297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211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战略成果</a:t>
            </a:r>
          </a:p>
        </p:txBody>
      </p:sp>
      <p:sp>
        <p:nvSpPr>
          <p:cNvPr id="27" name="TextBox 26"/>
          <p:cNvSpPr txBox="1"/>
          <p:nvPr/>
        </p:nvSpPr>
        <p:spPr>
          <a:xfrm>
            <a:off x="9166860" y="2423160"/>
            <a:ext cx="2400300" cy="2697480"/>
          </a:xfrm>
          <a:prstGeom prst="rect">
            <a:avLst/>
          </a:prstGeom>
          <a:noFill/>
        </p:spPr>
        <p:txBody>
          <a:bodyPr wrap="square">
            <a:spAutoFit/>
          </a:bodyPr>
          <a:lstStyle/>
          <a:p>
            <a:r>
              <a:rPr sz="1200" b="0">
                <a:solidFill>
                  <a:srgbClr val="2C2C2C"/>
                </a:solidFill>
                <a:latin typeface="Times New Roman"/>
                <a:ea typeface="Microsoft YaHei"/>
              </a:rPr>
              <a:t>• 成为首家在欧盟本土拥有完整整车制造能力的中国新能源汽车巨头</a:t>
            </a:r>
          </a:p>
          <a:p>
            <a:r>
              <a:rPr sz="1200" b="0">
                <a:solidFill>
                  <a:srgbClr val="2C2C2C"/>
                </a:solidFill>
                <a:latin typeface="Times New Roman"/>
                <a:ea typeface="Microsoft YaHei"/>
              </a:rPr>
              <a:t>• 深度融入欧洲本地绿色出行生态</a:t>
            </a:r>
          </a:p>
        </p:txBody>
      </p:sp>
      <p:sp>
        <p:nvSpPr>
          <p:cNvPr id="28" name="Rectangle 27"/>
          <p:cNvSpPr/>
          <p:nvPr/>
        </p:nvSpPr>
        <p:spPr>
          <a:xfrm>
            <a:off x="457200" y="5349240"/>
            <a:ext cx="11247120" cy="914400"/>
          </a:xfrm>
          <a:prstGeom prst="rect">
            <a:avLst/>
          </a:prstGeom>
          <a:solidFill>
            <a:srgbClr val="DCEDF8"/>
          </a:solidFill>
          <a:ln w="1524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413248"/>
            <a:ext cx="10881360" cy="804672"/>
          </a:xfrm>
          <a:prstGeom prst="rect">
            <a:avLst/>
          </a:prstGeom>
          <a:noFill/>
        </p:spPr>
        <p:txBody>
          <a:bodyPr wrap="none">
            <a:spAutoFit/>
          </a:bodyPr>
          <a:lstStyle/>
          <a:p>
            <a:r>
              <a:rPr sz="1300" b="1">
                <a:solidFill>
                  <a:srgbClr val="1B3A5C"/>
                </a:solidFill>
                <a:latin typeface="Times New Roman"/>
                <a:ea typeface="Microsoft YaHei"/>
              </a:rPr>
              <a:t>🎯 管理经济学启示与决策启示：</a:t>
            </a:r>
          </a:p>
          <a:p>
            <a:r>
              <a:rPr sz="1200" b="0">
                <a:solidFill>
                  <a:srgbClr val="2C2C2C"/>
                </a:solidFill>
                <a:latin typeface="Times New Roman"/>
                <a:ea typeface="Microsoft YaHei"/>
              </a:rPr>
              <a:t>中国高端制造业出海已经从传统的「单向产品贸易出口」，全面跃升为「基于 OLI 优势的全球本土化深度投资布局」。</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本章小结</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第11章 企业的全球经营核心复盘</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第11章 企业的全球经营</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19</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贸易基础</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李嘉图比较优势原理</a:t>
            </a:r>
          </a:p>
          <a:p>
            <a:r>
              <a:rPr sz="1200" b="0">
                <a:solidFill>
                  <a:srgbClr val="2C2C2C"/>
                </a:solidFill>
                <a:latin typeface="Times New Roman"/>
                <a:ea typeface="Microsoft YaHei"/>
              </a:rPr>
              <a:t>• 机会成本决定专业化分工</a:t>
            </a:r>
          </a:p>
          <a:p>
            <a:r>
              <a:rPr sz="1200" b="0">
                <a:solidFill>
                  <a:srgbClr val="2C2C2C"/>
                </a:solidFill>
                <a:latin typeface="Times New Roman"/>
                <a:ea typeface="Microsoft YaHei"/>
              </a:rPr>
              <a:t>• 贸易自由化做大全球蛋糕</a:t>
            </a:r>
          </a:p>
          <a:p>
            <a:r>
              <a:rPr sz="1200" b="0">
                <a:solidFill>
                  <a:srgbClr val="2C2C2C"/>
                </a:solidFill>
                <a:latin typeface="Times New Roman"/>
                <a:ea typeface="Microsoft YaHei"/>
              </a:rPr>
              <a:t>• 关税壁垒带来福利净损失</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直接投资</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邓宁 OLI 国际生产折衷</a:t>
            </a:r>
          </a:p>
          <a:p>
            <a:r>
              <a:rPr sz="1200" b="0">
                <a:solidFill>
                  <a:srgbClr val="2C2C2C"/>
                </a:solidFill>
                <a:latin typeface="Times New Roman"/>
                <a:ea typeface="Microsoft YaHei"/>
              </a:rPr>
              <a:t>• 所有权/区位/内部化协同</a:t>
            </a:r>
          </a:p>
          <a:p>
            <a:r>
              <a:rPr sz="1200" b="0">
                <a:solidFill>
                  <a:srgbClr val="2C2C2C"/>
                </a:solidFill>
                <a:latin typeface="Times New Roman"/>
                <a:ea typeface="Microsoft YaHei"/>
              </a:rPr>
              <a:t>• 规避贸易壁垒融入东道国</a:t>
            </a:r>
          </a:p>
          <a:p>
            <a:r>
              <a:rPr sz="1200" b="0">
                <a:solidFill>
                  <a:srgbClr val="2C2C2C"/>
                </a:solidFill>
                <a:latin typeface="Times New Roman"/>
                <a:ea typeface="Microsoft YaHei"/>
              </a:rPr>
              <a:t>• 全球价值链优化配置</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汇率对冲</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交易/折算/经济三大风险</a:t>
            </a:r>
          </a:p>
          <a:p>
            <a:r>
              <a:rPr sz="1200" b="0">
                <a:solidFill>
                  <a:srgbClr val="2C2C2C"/>
                </a:solidFill>
                <a:latin typeface="Times New Roman"/>
                <a:ea typeface="Microsoft YaHei"/>
              </a:rPr>
              <a:t>• 远期与期权金融衍生品锁定</a:t>
            </a:r>
          </a:p>
          <a:p>
            <a:r>
              <a:rPr sz="1200" b="0">
                <a:solidFill>
                  <a:srgbClr val="2C2C2C"/>
                </a:solidFill>
                <a:latin typeface="Times New Roman"/>
                <a:ea typeface="Microsoft YaHei"/>
              </a:rPr>
              <a:t>• 自然对冲实现币种匹配</a:t>
            </a:r>
          </a:p>
          <a:p>
            <a:r>
              <a:rPr sz="1200" b="0">
                <a:solidFill>
                  <a:srgbClr val="2C2C2C"/>
                </a:solidFill>
                <a:latin typeface="Times New Roman"/>
                <a:ea typeface="Microsoft YaHei"/>
              </a:rPr>
              <a:t>• 保障跨境现金流安全</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出海战略</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从单向出口走向跨国经营</a:t>
            </a:r>
          </a:p>
          <a:p>
            <a:r>
              <a:rPr sz="1200" b="0">
                <a:solidFill>
                  <a:srgbClr val="2C2C2C"/>
                </a:solidFill>
                <a:latin typeface="Times New Roman"/>
                <a:ea typeface="Microsoft YaHei"/>
              </a:rPr>
              <a:t>• 全球规模与本地响应平衡</a:t>
            </a:r>
          </a:p>
          <a:p>
            <a:r>
              <a:rPr sz="1200" b="0">
                <a:solidFill>
                  <a:srgbClr val="2C2C2C"/>
                </a:solidFill>
                <a:latin typeface="Times New Roman"/>
                <a:ea typeface="Microsoft YaHei"/>
              </a:rPr>
              <a:t>• 合规运营与跨文化融合</a:t>
            </a:r>
          </a:p>
          <a:p>
            <a:r>
              <a:rPr sz="1200" b="0">
                <a:solidFill>
                  <a:srgbClr val="2C2C2C"/>
                </a:solidFill>
                <a:latin typeface="Times New Roman"/>
                <a:ea typeface="Microsoft YaHei"/>
              </a:rPr>
              <a:t>• 打造世界一流跨国企业</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归纳要义：企业的全球化经营是管理经济学各篇章理论在国际舞台上的最高集成：以全球资源为己所用，为全人类创造持久价值。</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复习与研讨</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第11章 经典复习思考与考研/实战挑战题</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第11章 企业的全球经营</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20</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深度理论辨析题 (Seminar Questions)</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为什么说即便一个国家在所有产业的技术上都处于绝对劣势，它依然能从国际贸易中获利？</a:t>
            </a:r>
          </a:p>
          <a:p>
            <a:r>
              <a:rPr sz="1250" b="0">
                <a:solidFill>
                  <a:srgbClr val="2C2C2C"/>
                </a:solidFill>
                <a:latin typeface="Times New Roman"/>
                <a:ea typeface="Microsoft YaHei"/>
              </a:rPr>
              <a:t>  👉 答：因为国际贸易的决定性基础是李嘉图「比较优势」而非绝对优势。只要该国专注于生产自身国内机会成本相对较低的产品，通过国际交换即可突破本国生产可能性边界，享受更高福利。</a:t>
            </a:r>
          </a:p>
          <a:p>
            <a:r>
              <a:rPr sz="1400" b="1">
                <a:solidFill>
                  <a:srgbClr val="1B3A5C"/>
                </a:solidFill>
                <a:latin typeface="Times New Roman"/>
                <a:ea typeface="Microsoft YaHei"/>
              </a:rPr>
              <a:t>2. 什么是跨国直接投资 (FDI) 中的「内部化优势」？</a:t>
            </a:r>
          </a:p>
          <a:p>
            <a:r>
              <a:rPr sz="1250" b="0">
                <a:solidFill>
                  <a:srgbClr val="2C2C2C"/>
                </a:solidFill>
                <a:latin typeface="Times New Roman"/>
                <a:ea typeface="Microsoft YaHei"/>
              </a:rPr>
              <a:t>  👉 答：内部化优势是指企业为了克服外部国际市场在技术转让、专利授权和品牌许可中高昂的交易成本与泄密风险，选择在跨国公司内部统一组织生产与分销的制度性优势。</a:t>
            </a:r>
          </a:p>
          <a:p>
            <a:r>
              <a:rPr sz="1400" b="1">
                <a:solidFill>
                  <a:srgbClr val="1B3A5C"/>
                </a:solidFill>
                <a:latin typeface="Times New Roman"/>
                <a:ea typeface="Microsoft YaHei"/>
              </a:rPr>
              <a:t>3. 什么是外汇的「经济风险 (Economic Exposure)」？它与单纯的「交易风险」有何区别？</a:t>
            </a:r>
          </a:p>
          <a:p>
            <a:r>
              <a:rPr sz="1250" b="0">
                <a:solidFill>
                  <a:srgbClr val="2C2C2C"/>
                </a:solidFill>
                <a:latin typeface="Times New Roman"/>
                <a:ea typeface="Microsoft YaHei"/>
              </a:rPr>
              <a:t>  👉 答：交易风险是短期已签约合同的汇兑结算损益；而经济风险是未预料到的长期汇率持续变动对企业在全球的长期成本竞争力、市场定价权与未来预期总现金流折现现值的深远冲击。</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计算与实战应用挑战 (Applied Calculation)</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比较优势与贸易利得计算</a:t>
            </a:r>
          </a:p>
          <a:p>
            <a:r>
              <a:rPr sz="1250" b="0">
                <a:solidFill>
                  <a:srgbClr val="2C2C2C"/>
                </a:solidFill>
                <a:latin typeface="Times New Roman"/>
                <a:ea typeface="Microsoft YaHei"/>
              </a:rPr>
              <a:t>  甲国生产 1 电脑需 10 工时，1 衣服需 5 工时；乙国生产 1 电脑需 40 工时，1 衣服需 10 工时：
👉 甲国生产 1 电脑放弃 2 衣服 (10/5)；乙国生产 1 电脑放弃 4 衣服 (40/10)。
👉 甲国在电脑上具比较优势 (机会成本 2 &lt; 4)；乙国在衣服上具比较优势 (0.25 &lt; 0.5)。
👉 分工方案：甲国专产电脑，乙国专产衣服；在 1电脑换 3衣服 的比率下贸易，两国皆实现福利跃升！</a:t>
            </a:r>
          </a:p>
          <a:p>
            <a:r>
              <a:rPr sz="1400" b="1">
                <a:solidFill>
                  <a:srgbClr val="2E86C1"/>
                </a:solidFill>
                <a:latin typeface="Times New Roman"/>
                <a:ea typeface="Microsoft YaHei"/>
              </a:rPr>
              <a:t>2. 远期外汇套期保值测算</a:t>
            </a:r>
          </a:p>
          <a:p>
            <a:r>
              <a:rPr sz="1250" b="0">
                <a:solidFill>
                  <a:srgbClr val="2C2C2C"/>
                </a:solidFill>
                <a:latin typeface="Times New Roman"/>
                <a:ea typeface="Microsoft YaHei"/>
              </a:rPr>
              <a:t>  中国某出口企业 3 个月后将收到 100 万美元货款。即期汇率 1美元=7.20人民币。企业担心人民币升值，与银行签订 3 个月远期合约锁定汇率 1美元=7.18人民币：
👉 锁定到期确定性人民币收入 = 100万 × 7.18 = 718 万元。
👉 彻底消除了汇率波动不确定性，锁定了出口制造业务的合理利润率！</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核心结论：课后实践：请选取一家积极出海的中国跨国企业（如比亚迪、美的或宁德时代），运用 OLI 范式分析其海外建厂决策！</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