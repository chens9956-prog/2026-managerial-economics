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005840"/>
            <a:ext cx="1645920" cy="438912"/>
          </a:xfrm>
          <a:prstGeom prst="roundRect">
            <a:avLst/>
          </a:prstGeom>
          <a:solidFill>
            <a:srgbClr val="EBF3FA"/>
          </a:solidFill>
          <a:ln w="1905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B3A5C"/>
                </a:solidFill>
                <a:latin typeface="Times New Roman"/>
                <a:ea typeface="Microsoft YaHei"/>
              </a:rPr>
              <a:t>CH 09</a:t>
            </a:r>
          </a:p>
        </p:txBody>
      </p:sp>
      <p:sp>
        <p:nvSpPr>
          <p:cNvPr id="5" name="TextBox 4"/>
          <p:cNvSpPr txBox="1"/>
          <p:nvPr/>
        </p:nvSpPr>
        <p:spPr>
          <a:xfrm>
            <a:off x="914400" y="1600200"/>
            <a:ext cx="10058400" cy="1005840"/>
          </a:xfrm>
          <a:prstGeom prst="rect">
            <a:avLst/>
          </a:prstGeom>
          <a:noFill/>
        </p:spPr>
        <p:txBody>
          <a:bodyPr wrap="none">
            <a:spAutoFit/>
          </a:bodyPr>
          <a:lstStyle/>
          <a:p>
            <a:r>
              <a:rPr sz="3600" b="1">
                <a:solidFill>
                  <a:srgbClr val="1B3A5C"/>
                </a:solidFill>
                <a:latin typeface="Times New Roman"/>
                <a:ea typeface="Microsoft YaHei"/>
              </a:rPr>
              <a:t>企业决策中的风险分析：度量、决策树与防范</a:t>
            </a:r>
          </a:p>
        </p:txBody>
      </p:sp>
      <p:sp>
        <p:nvSpPr>
          <p:cNvPr id="6" name="Rectangle 5"/>
          <p:cNvSpPr/>
          <p:nvPr/>
        </p:nvSpPr>
        <p:spPr>
          <a:xfrm>
            <a:off x="914400" y="2651760"/>
            <a:ext cx="18288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788920"/>
            <a:ext cx="10058400" cy="457200"/>
          </a:xfrm>
          <a:prstGeom prst="rect">
            <a:avLst/>
          </a:prstGeom>
          <a:noFill/>
        </p:spPr>
        <p:txBody>
          <a:bodyPr wrap="none">
            <a:spAutoFit/>
          </a:bodyPr>
          <a:lstStyle/>
          <a:p>
            <a:r>
              <a:rPr sz="1700" b="1">
                <a:solidFill>
                  <a:srgbClr val="2E86C1"/>
                </a:solidFill>
                <a:latin typeface="Times New Roman"/>
                <a:ea typeface="Microsoft YaHei"/>
              </a:rPr>
              <a:t>从确定性世界走向不确定性、概率期望、效用理论与风险规避策略</a:t>
            </a:r>
          </a:p>
        </p:txBody>
      </p:sp>
      <p:sp>
        <p:nvSpPr>
          <p:cNvPr id="8" name="Rectangle 7"/>
          <p:cNvSpPr/>
          <p:nvPr/>
        </p:nvSpPr>
        <p:spPr>
          <a:xfrm>
            <a:off x="914400" y="3474720"/>
            <a:ext cx="10362895" cy="246888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3474720"/>
            <a:ext cx="103628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3703320"/>
            <a:ext cx="9784080" cy="2103120"/>
          </a:xfrm>
          <a:prstGeom prst="rect">
            <a:avLst/>
          </a:prstGeom>
          <a:noFill/>
        </p:spPr>
        <p:txBody>
          <a:bodyPr wrap="none">
            <a:spAutoFit/>
          </a:bodyPr>
          <a:lstStyle/>
          <a:p>
            <a:r>
              <a:rPr sz="1350" b="0">
                <a:solidFill>
                  <a:srgbClr val="2C2C2C"/>
                </a:solidFill>
                <a:latin typeface="Times New Roman"/>
                <a:ea typeface="Microsoft YaHei"/>
              </a:rPr>
              <a:t>•  确定条件、风险条件与不确定条件下的决策分类与环境界定</a:t>
            </a:r>
          </a:p>
          <a:p>
            <a:r>
              <a:rPr sz="1350" b="0">
                <a:solidFill>
                  <a:srgbClr val="2C2C2C"/>
                </a:solidFill>
                <a:latin typeface="Times New Roman"/>
                <a:ea typeface="Microsoft YaHei"/>
              </a:rPr>
              <a:t>•  风险的量化度量工具：概率分布、期望值 (EV)、方差、标准差 (σ) 与变异系数 (CV)</a:t>
            </a:r>
          </a:p>
          <a:p>
            <a:r>
              <a:rPr sz="1350" b="0">
                <a:solidFill>
                  <a:srgbClr val="2C2C2C"/>
                </a:solidFill>
                <a:latin typeface="Times New Roman"/>
                <a:ea typeface="Microsoft YaHei"/>
              </a:rPr>
              <a:t>•  风险条件下的决策方法：最大期望收益准则、决策树分析法 (Decision Trees) 与贝叶斯后验概率更新</a:t>
            </a:r>
          </a:p>
          <a:p>
            <a:r>
              <a:rPr sz="1350" b="0">
                <a:solidFill>
                  <a:srgbClr val="2C2C2C"/>
                </a:solidFill>
                <a:latin typeface="Times New Roman"/>
                <a:ea typeface="Microsoft YaHei"/>
              </a:rPr>
              <a:t>•  决策者的风险态度与期望效用理论：风险规避、风险中性与风险偏好的效用函数曲线</a:t>
            </a:r>
          </a:p>
          <a:p>
            <a:r>
              <a:rPr sz="1350" b="0">
                <a:solidFill>
                  <a:srgbClr val="2C2C2C"/>
                </a:solidFill>
                <a:latin typeface="Times New Roman"/>
                <a:ea typeface="Microsoft YaHei"/>
              </a:rPr>
              <a:t>•  不确定条件下的决策准则与企业风险防范机制：悲观准则、乐观准则、最小遗憾准则、资产多元化与保险对冲</a:t>
            </a:r>
          </a:p>
        </p:txBody>
      </p:sp>
      <p:sp>
        <p:nvSpPr>
          <p:cNvPr id="11" name="TextBox 10"/>
          <p:cNvSpPr txBox="1"/>
          <p:nvPr/>
        </p:nvSpPr>
        <p:spPr>
          <a:xfrm>
            <a:off x="914400" y="6309360"/>
            <a:ext cx="7315200" cy="320040"/>
          </a:xfrm>
          <a:prstGeom prst="rect">
            <a:avLst/>
          </a:prstGeom>
          <a:noFill/>
        </p:spPr>
        <p:txBody>
          <a:bodyPr wrap="none">
            <a:spAutoFit/>
          </a:bodyPr>
          <a:lstStyle/>
          <a:p>
            <a:r>
              <a:rPr sz="1100" b="0">
                <a:solidFill>
                  <a:srgbClr val="6B6B6B"/>
                </a:solidFill>
                <a:latin typeface="Times New Roman"/>
                <a:ea typeface="Microsoft YaHei"/>
              </a:rPr>
              <a:t>《管理经济学（第7版）》核心教学课件系列</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本章概览</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企业风险分析方法论逻辑框架</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第9章 企业决策中的风险分析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2</a:t>
            </a:r>
          </a:p>
        </p:txBody>
      </p:sp>
      <p:sp>
        <p:nvSpPr>
          <p:cNvPr id="9" name="Rectangle 8"/>
          <p:cNvSpPr/>
          <p:nvPr/>
        </p:nvSpPr>
        <p:spPr>
          <a:xfrm>
            <a:off x="457200"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01</a:t>
            </a:r>
          </a:p>
        </p:txBody>
      </p:sp>
      <p:sp>
        <p:nvSpPr>
          <p:cNvPr id="12" name="TextBox 11"/>
          <p:cNvSpPr txBox="1"/>
          <p:nvPr/>
        </p:nvSpPr>
        <p:spPr>
          <a:xfrm>
            <a:off x="640080" y="1965960"/>
            <a:ext cx="2286000" cy="502920"/>
          </a:xfrm>
          <a:prstGeom prst="rect">
            <a:avLst/>
          </a:prstGeom>
          <a:noFill/>
        </p:spPr>
        <p:txBody>
          <a:bodyPr wrap="none">
            <a:spAutoFit/>
          </a:bodyPr>
          <a:lstStyle/>
          <a:p>
            <a:r>
              <a:rPr sz="1500" b="1">
                <a:solidFill>
                  <a:srgbClr val="1B3A5C"/>
                </a:solidFill>
                <a:latin typeface="Times New Roman"/>
                <a:ea typeface="Microsoft YaHei"/>
              </a:rPr>
              <a:t>决策环境分类</a:t>
            </a:r>
          </a:p>
        </p:txBody>
      </p:sp>
      <p:sp>
        <p:nvSpPr>
          <p:cNvPr id="13" name="Rectangle 12"/>
          <p:cNvSpPr/>
          <p:nvPr/>
        </p:nvSpPr>
        <p:spPr>
          <a:xfrm>
            <a:off x="640080"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51760"/>
            <a:ext cx="2286000" cy="2560320"/>
          </a:xfrm>
          <a:prstGeom prst="rect">
            <a:avLst/>
          </a:prstGeom>
          <a:noFill/>
        </p:spPr>
        <p:txBody>
          <a:bodyPr wrap="square">
            <a:spAutoFit/>
          </a:bodyPr>
          <a:lstStyle/>
          <a:p>
            <a:r>
              <a:rPr sz="1200" b="0">
                <a:solidFill>
                  <a:srgbClr val="2C2C2C"/>
                </a:solidFill>
                <a:latin typeface="Times New Roman"/>
                <a:ea typeface="Microsoft YaHei"/>
              </a:rPr>
              <a:t>• 确定条件决策 (1种结果)</a:t>
            </a:r>
          </a:p>
          <a:p>
            <a:r>
              <a:rPr sz="1200" b="0">
                <a:solidFill>
                  <a:srgbClr val="2C2C2C"/>
                </a:solidFill>
                <a:latin typeface="Times New Roman"/>
                <a:ea typeface="Microsoft YaHei"/>
              </a:rPr>
              <a:t>• 风险条件决策 (已知概率)</a:t>
            </a:r>
          </a:p>
          <a:p>
            <a:r>
              <a:rPr sz="1200" b="0">
                <a:solidFill>
                  <a:srgbClr val="2C2C2C"/>
                </a:solidFill>
                <a:latin typeface="Times New Roman"/>
                <a:ea typeface="Microsoft YaHei"/>
              </a:rPr>
              <a:t>• 不确定条件 (未知概率)</a:t>
            </a:r>
          </a:p>
          <a:p>
            <a:r>
              <a:rPr sz="1200" b="0">
                <a:solidFill>
                  <a:srgbClr val="2C2C2C"/>
                </a:solidFill>
                <a:latin typeface="Times New Roman"/>
                <a:ea typeface="Microsoft YaHei"/>
              </a:rPr>
              <a:t>• 黑天鹅与灰犀牛识别</a:t>
            </a:r>
          </a:p>
        </p:txBody>
      </p:sp>
      <p:sp>
        <p:nvSpPr>
          <p:cNvPr id="15" name="Rectangle 14"/>
          <p:cNvSpPr/>
          <p:nvPr/>
        </p:nvSpPr>
        <p:spPr>
          <a:xfrm>
            <a:off x="3319272"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02152"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02</a:t>
            </a:r>
          </a:p>
        </p:txBody>
      </p:sp>
      <p:sp>
        <p:nvSpPr>
          <p:cNvPr id="18" name="TextBox 17"/>
          <p:cNvSpPr txBox="1"/>
          <p:nvPr/>
        </p:nvSpPr>
        <p:spPr>
          <a:xfrm>
            <a:off x="3502152" y="1965960"/>
            <a:ext cx="2286000" cy="502920"/>
          </a:xfrm>
          <a:prstGeom prst="rect">
            <a:avLst/>
          </a:prstGeom>
          <a:noFill/>
        </p:spPr>
        <p:txBody>
          <a:bodyPr wrap="none">
            <a:spAutoFit/>
          </a:bodyPr>
          <a:lstStyle/>
          <a:p>
            <a:r>
              <a:rPr sz="1500" b="1">
                <a:solidFill>
                  <a:srgbClr val="1B3A5C"/>
                </a:solidFill>
                <a:latin typeface="Times New Roman"/>
                <a:ea typeface="Microsoft YaHei"/>
              </a:rPr>
              <a:t>风险量化工具 (第1节)</a:t>
            </a:r>
          </a:p>
        </p:txBody>
      </p:sp>
      <p:sp>
        <p:nvSpPr>
          <p:cNvPr id="19" name="Rectangle 18"/>
          <p:cNvSpPr/>
          <p:nvPr/>
        </p:nvSpPr>
        <p:spPr>
          <a:xfrm>
            <a:off x="3502152"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2651760"/>
            <a:ext cx="2286000" cy="2560320"/>
          </a:xfrm>
          <a:prstGeom prst="rect">
            <a:avLst/>
          </a:prstGeom>
          <a:noFill/>
        </p:spPr>
        <p:txBody>
          <a:bodyPr wrap="square">
            <a:spAutoFit/>
          </a:bodyPr>
          <a:lstStyle/>
          <a:p>
            <a:r>
              <a:rPr sz="1200" b="0">
                <a:solidFill>
                  <a:srgbClr val="2C2C2C"/>
                </a:solidFill>
                <a:latin typeface="Times New Roman"/>
                <a:ea typeface="Microsoft YaHei"/>
              </a:rPr>
              <a:t>• 数学期望值 (EV)</a:t>
            </a:r>
          </a:p>
          <a:p>
            <a:r>
              <a:rPr sz="1200" b="0">
                <a:solidFill>
                  <a:srgbClr val="2C2C2C"/>
                </a:solidFill>
                <a:latin typeface="Times New Roman"/>
                <a:ea typeface="Microsoft YaHei"/>
              </a:rPr>
              <a:t>• 离散度方差与标准差 σ</a:t>
            </a:r>
          </a:p>
          <a:p>
            <a:r>
              <a:rPr sz="1200" b="0">
                <a:solidFill>
                  <a:srgbClr val="2C2C2C"/>
                </a:solidFill>
                <a:latin typeface="Times New Roman"/>
                <a:ea typeface="Microsoft YaHei"/>
              </a:rPr>
              <a:t>• 相对风险变异系数 CV</a:t>
            </a:r>
          </a:p>
          <a:p>
            <a:r>
              <a:rPr sz="1200" b="0">
                <a:solidFill>
                  <a:srgbClr val="2C2C2C"/>
                </a:solidFill>
                <a:latin typeface="Times New Roman"/>
                <a:ea typeface="Microsoft YaHei"/>
              </a:rPr>
              <a:t>• 风险与收益权衡</a:t>
            </a:r>
          </a:p>
        </p:txBody>
      </p:sp>
      <p:sp>
        <p:nvSpPr>
          <p:cNvPr id="21" name="Rectangle 20"/>
          <p:cNvSpPr/>
          <p:nvPr/>
        </p:nvSpPr>
        <p:spPr>
          <a:xfrm>
            <a:off x="6181344"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1344"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64224"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03</a:t>
            </a:r>
          </a:p>
        </p:txBody>
      </p:sp>
      <p:sp>
        <p:nvSpPr>
          <p:cNvPr id="24" name="TextBox 23"/>
          <p:cNvSpPr txBox="1"/>
          <p:nvPr/>
        </p:nvSpPr>
        <p:spPr>
          <a:xfrm>
            <a:off x="6364224" y="1965960"/>
            <a:ext cx="2286000" cy="502920"/>
          </a:xfrm>
          <a:prstGeom prst="rect">
            <a:avLst/>
          </a:prstGeom>
          <a:noFill/>
        </p:spPr>
        <p:txBody>
          <a:bodyPr wrap="none">
            <a:spAutoFit/>
          </a:bodyPr>
          <a:lstStyle/>
          <a:p>
            <a:r>
              <a:rPr sz="1500" b="1">
                <a:solidFill>
                  <a:srgbClr val="1B3A5C"/>
                </a:solidFill>
                <a:latin typeface="Times New Roman"/>
                <a:ea typeface="Microsoft YaHei"/>
              </a:rPr>
              <a:t>决策树与效用 (第2-3节)</a:t>
            </a:r>
          </a:p>
        </p:txBody>
      </p:sp>
      <p:sp>
        <p:nvSpPr>
          <p:cNvPr id="25" name="Rectangle 24"/>
          <p:cNvSpPr/>
          <p:nvPr/>
        </p:nvSpPr>
        <p:spPr>
          <a:xfrm>
            <a:off x="6364224"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2651760"/>
            <a:ext cx="2286000" cy="2560320"/>
          </a:xfrm>
          <a:prstGeom prst="rect">
            <a:avLst/>
          </a:prstGeom>
          <a:noFill/>
        </p:spPr>
        <p:txBody>
          <a:bodyPr wrap="square">
            <a:spAutoFit/>
          </a:bodyPr>
          <a:lstStyle/>
          <a:p>
            <a:r>
              <a:rPr sz="1200" b="0">
                <a:solidFill>
                  <a:srgbClr val="2C2C2C"/>
                </a:solidFill>
                <a:latin typeface="Times New Roman"/>
                <a:ea typeface="Microsoft YaHei"/>
              </a:rPr>
              <a:t>• 决策节点与状态节点</a:t>
            </a:r>
          </a:p>
          <a:p>
            <a:r>
              <a:rPr sz="1200" b="0">
                <a:solidFill>
                  <a:srgbClr val="2C2C2C"/>
                </a:solidFill>
                <a:latin typeface="Times New Roman"/>
                <a:ea typeface="Microsoft YaHei"/>
              </a:rPr>
              <a:t>• 折现期望值逆向回溯</a:t>
            </a:r>
          </a:p>
          <a:p>
            <a:r>
              <a:rPr sz="1200" b="0">
                <a:solidFill>
                  <a:srgbClr val="2C2C2C"/>
                </a:solidFill>
                <a:latin typeface="Times New Roman"/>
                <a:ea typeface="Microsoft YaHei"/>
              </a:rPr>
              <a:t>• 风险规避效用凹函数</a:t>
            </a:r>
          </a:p>
          <a:p>
            <a:r>
              <a:rPr sz="1200" b="0">
                <a:solidFill>
                  <a:srgbClr val="2C2C2C"/>
                </a:solidFill>
                <a:latin typeface="Times New Roman"/>
                <a:ea typeface="Microsoft YaHei"/>
              </a:rPr>
              <a:t>• 确定性等值与风险溢价</a:t>
            </a:r>
          </a:p>
        </p:txBody>
      </p:sp>
      <p:sp>
        <p:nvSpPr>
          <p:cNvPr id="27" name="Rectangle 26"/>
          <p:cNvSpPr/>
          <p:nvPr/>
        </p:nvSpPr>
        <p:spPr>
          <a:xfrm>
            <a:off x="9043416"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43416"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226296"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04</a:t>
            </a:r>
          </a:p>
        </p:txBody>
      </p:sp>
      <p:sp>
        <p:nvSpPr>
          <p:cNvPr id="30" name="TextBox 29"/>
          <p:cNvSpPr txBox="1"/>
          <p:nvPr/>
        </p:nvSpPr>
        <p:spPr>
          <a:xfrm>
            <a:off x="9226296" y="1965960"/>
            <a:ext cx="2286000" cy="502920"/>
          </a:xfrm>
          <a:prstGeom prst="rect">
            <a:avLst/>
          </a:prstGeom>
          <a:noFill/>
        </p:spPr>
        <p:txBody>
          <a:bodyPr wrap="none">
            <a:spAutoFit/>
          </a:bodyPr>
          <a:lstStyle/>
          <a:p>
            <a:r>
              <a:rPr sz="1500" b="1">
                <a:solidFill>
                  <a:srgbClr val="1B3A5C"/>
                </a:solidFill>
                <a:latin typeface="Times New Roman"/>
                <a:ea typeface="Microsoft YaHei"/>
              </a:rPr>
              <a:t>风险控制与对冲 (第4节)</a:t>
            </a:r>
          </a:p>
        </p:txBody>
      </p:sp>
      <p:sp>
        <p:nvSpPr>
          <p:cNvPr id="31" name="Rectangle 30"/>
          <p:cNvSpPr/>
          <p:nvPr/>
        </p:nvSpPr>
        <p:spPr>
          <a:xfrm>
            <a:off x="9226296"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26296" y="2651760"/>
            <a:ext cx="2286000" cy="2560320"/>
          </a:xfrm>
          <a:prstGeom prst="rect">
            <a:avLst/>
          </a:prstGeom>
          <a:noFill/>
        </p:spPr>
        <p:txBody>
          <a:bodyPr wrap="square">
            <a:spAutoFit/>
          </a:bodyPr>
          <a:lstStyle/>
          <a:p>
            <a:r>
              <a:rPr sz="1200" b="0">
                <a:solidFill>
                  <a:srgbClr val="2C2C2C"/>
                </a:solidFill>
                <a:latin typeface="Times New Roman"/>
                <a:ea typeface="Microsoft YaHei"/>
              </a:rPr>
              <a:t>• 小中取大 (Max-Min) 悲观准则</a:t>
            </a:r>
          </a:p>
          <a:p>
            <a:r>
              <a:rPr sz="1200" b="0">
                <a:solidFill>
                  <a:srgbClr val="2C2C2C"/>
                </a:solidFill>
                <a:latin typeface="Times New Roman"/>
                <a:ea typeface="Microsoft YaHei"/>
              </a:rPr>
              <a:t>• 大中取大 (Max-Max) 乐观准则</a:t>
            </a:r>
          </a:p>
          <a:p>
            <a:r>
              <a:rPr sz="1200" b="0">
                <a:solidFill>
                  <a:srgbClr val="2C2C2C"/>
                </a:solidFill>
                <a:latin typeface="Times New Roman"/>
                <a:ea typeface="Microsoft YaHei"/>
              </a:rPr>
              <a:t>• 最小最大遗憾准则</a:t>
            </a:r>
          </a:p>
          <a:p>
            <a:r>
              <a:rPr sz="1200" b="0">
                <a:solidFill>
                  <a:srgbClr val="2C2C2C"/>
                </a:solidFill>
                <a:latin typeface="Times New Roman"/>
                <a:ea typeface="Microsoft YaHei"/>
              </a:rPr>
              <a:t>• 资产组合分散化与保险</a:t>
            </a:r>
          </a:p>
        </p:txBody>
      </p:sp>
      <p:sp>
        <p:nvSpPr>
          <p:cNvPr id="33" name="Rectangle 32"/>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归纳要义：核心主线：如何量化衡量未知风险 → 如何运用期望值与决策树进行多阶段抉择 → 如何根据企业风险偏好构建全方位风险护城河。</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371600"/>
            <a:ext cx="9448495" cy="4114800"/>
          </a:xfrm>
          <a:prstGeom prst="rect">
            <a:avLst/>
          </a:prstGeom>
          <a:solidFill>
            <a:srgbClr val="F8F9FA"/>
          </a:solidFill>
          <a:ln w="1524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371600"/>
            <a:ext cx="109728" cy="41148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1828800"/>
            <a:ext cx="8229600" cy="457200"/>
          </a:xfrm>
          <a:prstGeom prst="rect">
            <a:avLst/>
          </a:prstGeom>
          <a:noFill/>
        </p:spPr>
        <p:txBody>
          <a:bodyPr wrap="none">
            <a:spAutoFit/>
          </a:bodyPr>
          <a:lstStyle/>
          <a:p>
            <a:r>
              <a:rPr sz="1800" b="1">
                <a:solidFill>
                  <a:srgbClr val="2E86C1"/>
                </a:solidFill>
                <a:latin typeface="Times New Roman"/>
                <a:ea typeface="Microsoft YaHei"/>
              </a:rPr>
              <a:t>第 1 节</a:t>
            </a:r>
          </a:p>
        </p:txBody>
      </p:sp>
      <p:sp>
        <p:nvSpPr>
          <p:cNvPr id="6" name="TextBox 5"/>
          <p:cNvSpPr txBox="1"/>
          <p:nvPr/>
        </p:nvSpPr>
        <p:spPr>
          <a:xfrm>
            <a:off x="1828800" y="2331720"/>
            <a:ext cx="8229600" cy="822960"/>
          </a:xfrm>
          <a:prstGeom prst="rect">
            <a:avLst/>
          </a:prstGeom>
          <a:noFill/>
        </p:spPr>
        <p:txBody>
          <a:bodyPr wrap="none">
            <a:spAutoFit/>
          </a:bodyPr>
          <a:lstStyle/>
          <a:p>
            <a:r>
              <a:rPr sz="3200" b="1">
                <a:solidFill>
                  <a:srgbClr val="1B3A5C"/>
                </a:solidFill>
                <a:latin typeface="Times New Roman"/>
                <a:ea typeface="Microsoft YaHei"/>
              </a:rPr>
              <a:t>风险与不确定性的概念与量化度量</a:t>
            </a:r>
          </a:p>
        </p:txBody>
      </p:sp>
      <p:sp>
        <p:nvSpPr>
          <p:cNvPr id="7" name="Rectangle 6"/>
          <p:cNvSpPr/>
          <p:nvPr/>
        </p:nvSpPr>
        <p:spPr>
          <a:xfrm>
            <a:off x="1828800" y="3246120"/>
            <a:ext cx="164592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28800" y="3520440"/>
            <a:ext cx="8503920" cy="1097280"/>
          </a:xfrm>
          <a:prstGeom prst="roundRect">
            <a:avLst/>
          </a:prstGeom>
          <a:solidFill>
            <a:srgbClr val="EBF3FA"/>
          </a:solidFill>
          <a:ln w="1016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3657600"/>
            <a:ext cx="8138160" cy="822960"/>
          </a:xfrm>
          <a:prstGeom prst="rect">
            <a:avLst/>
          </a:prstGeom>
          <a:noFill/>
        </p:spPr>
        <p:txBody>
          <a:bodyPr wrap="none">
            <a:spAutoFit/>
          </a:bodyPr>
          <a:lstStyle/>
          <a:p>
            <a:r>
              <a:rPr sz="1500" b="1">
                <a:solidFill>
                  <a:srgbClr val="1B3A5C"/>
                </a:solidFill>
                <a:latin typeface="Times New Roman"/>
                <a:ea typeface="Microsoft YaHei"/>
              </a:rPr>
              <a:t>环境分类 · 期望值 EV · 标准差 σ · 变异系数 CV · 相对风险度量</a:t>
            </a:r>
          </a:p>
        </p:txBody>
      </p:sp>
      <p:sp>
        <p:nvSpPr>
          <p:cNvPr id="10" name="TextBox 9"/>
          <p:cNvSpPr txBox="1"/>
          <p:nvPr/>
        </p:nvSpPr>
        <p:spPr>
          <a:xfrm>
            <a:off x="1371600" y="6217920"/>
            <a:ext cx="4572000" cy="320040"/>
          </a:xfrm>
          <a:prstGeom prst="rect">
            <a:avLst/>
          </a:prstGeom>
          <a:noFill/>
        </p:spPr>
        <p:txBody>
          <a:bodyPr wrap="none">
            <a:spAutoFit/>
          </a:bodyPr>
          <a:lstStyle/>
          <a:p>
            <a:r>
              <a:rPr sz="1000" b="0">
                <a:solidFill>
                  <a:srgbClr val="6B6B6B"/>
                </a:solidFill>
                <a:latin typeface="Times New Roman"/>
                <a:ea typeface="Microsoft YaHei"/>
              </a:rPr>
              <a:t>管理经济学（第7版） · 第9章 企业决策中的风险分析</a:t>
            </a:r>
          </a:p>
        </p:txBody>
      </p:sp>
      <p:sp>
        <p:nvSpPr>
          <p:cNvPr id="11" name="TextBox 10"/>
          <p:cNvSpPr txBox="1"/>
          <p:nvPr/>
        </p:nvSpPr>
        <p:spPr>
          <a:xfrm>
            <a:off x="10058400" y="6217920"/>
            <a:ext cx="731520" cy="320040"/>
          </a:xfrm>
          <a:prstGeom prst="rect">
            <a:avLst/>
          </a:prstGeom>
          <a:noFill/>
        </p:spPr>
        <p:txBody>
          <a:bodyPr wrap="none">
            <a:spAutoFit/>
          </a:bodyPr>
          <a:lstStyle/>
          <a:p>
            <a:r>
              <a:rPr sz="1100" b="0">
                <a:solidFill>
                  <a:srgbClr val="6B6B6B"/>
                </a:solidFill>
                <a:latin typeface="Times New Roman"/>
                <a:ea typeface="Microsoft YaHe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第1节 风险量化度量</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期望值(EV)、标准差(σ)与变异系数(CV)</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第9章 企业决策中的风险分析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4</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期望收益值 (Expected Value, EV)</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数学计算公式</a:t>
            </a:r>
          </a:p>
          <a:p>
            <a:r>
              <a:rPr sz="1250" b="0">
                <a:solidFill>
                  <a:srgbClr val="2C2C2C"/>
                </a:solidFill>
                <a:latin typeface="Times New Roman"/>
                <a:ea typeface="Microsoft YaHei"/>
              </a:rPr>
              <a:t>  EV = ∑ [ P_i · X_i ] (i=1 到 n)
(式中：P_i 为第 i 种自然状态出现的客观概率，X_i 为对应收益值)</a:t>
            </a:r>
          </a:p>
          <a:p>
            <a:r>
              <a:rPr sz="1400" b="1">
                <a:solidFill>
                  <a:srgbClr val="1B3A5C"/>
                </a:solidFill>
                <a:latin typeface="Times New Roman"/>
                <a:ea typeface="Microsoft YaHei"/>
              </a:rPr>
              <a:t>2. 经济学含义</a:t>
            </a:r>
          </a:p>
          <a:p>
            <a:r>
              <a:rPr sz="1250" b="0">
                <a:solidFill>
                  <a:srgbClr val="2C2C2C"/>
                </a:solidFill>
                <a:latin typeface="Times New Roman"/>
                <a:ea typeface="Microsoft YaHei"/>
              </a:rPr>
              <a:t>  在大量反复试验与长期经营中，该决策方案所能够获得的加权平均预期回报。</a:t>
            </a:r>
          </a:p>
          <a:p>
            <a:r>
              <a:rPr sz="1400" b="1">
                <a:solidFill>
                  <a:srgbClr val="1B3A5C"/>
                </a:solidFill>
                <a:latin typeface="Times New Roman"/>
                <a:ea typeface="Microsoft YaHei"/>
              </a:rPr>
              <a:t>3. 单一使用期望值的缺陷</a:t>
            </a:r>
          </a:p>
          <a:p>
            <a:r>
              <a:rPr sz="1250" b="0">
                <a:solidFill>
                  <a:srgbClr val="2C2C2C"/>
                </a:solidFill>
                <a:latin typeface="Times New Roman"/>
                <a:ea typeface="Microsoft YaHei"/>
              </a:rPr>
              <a:t>  两个方案 EV 完全相同，但一个可能稳赚 100 万，另一个可能 50% 赚 200 万、50% 亏损为 0；两者的风险程度天壤之别！</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标准差 (σ) 与 变异系数 (CV)</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标准差 (绝对风险度量)</a:t>
            </a:r>
          </a:p>
          <a:p>
            <a:r>
              <a:rPr sz="1250" b="0">
                <a:solidFill>
                  <a:srgbClr val="2C2C2C"/>
                </a:solidFill>
                <a:latin typeface="Times New Roman"/>
                <a:ea typeface="Microsoft YaHei"/>
              </a:rPr>
              <a:t>  σ = √ [ ∑ P_i · (X_i - EV)² ]
衡量实际结果偏离期望收益的波动离散程度。σ 越大，绝对风险越高。</a:t>
            </a:r>
          </a:p>
          <a:p>
            <a:r>
              <a:rPr sz="1400" b="1">
                <a:solidFill>
                  <a:srgbClr val="2E86C1"/>
                </a:solidFill>
                <a:latin typeface="Times New Roman"/>
                <a:ea typeface="Microsoft YaHei"/>
              </a:rPr>
              <a:t>2. 变异系数 (相对风险度量: 公式 9-3)</a:t>
            </a:r>
          </a:p>
          <a:p>
            <a:r>
              <a:rPr sz="1250" b="0">
                <a:solidFill>
                  <a:srgbClr val="2C2C2C"/>
                </a:solidFill>
                <a:latin typeface="Times New Roman"/>
                <a:ea typeface="Microsoft YaHei"/>
              </a:rPr>
              <a:t>  CV = σ / EV (标准差除以期望值)
衡量每获取 1 单位期望收益所必须承担的风险大小。</a:t>
            </a:r>
          </a:p>
          <a:p>
            <a:r>
              <a:rPr sz="1400" b="1">
                <a:solidFill>
                  <a:srgbClr val="2E86C1"/>
                </a:solidFill>
                <a:latin typeface="Times New Roman"/>
                <a:ea typeface="Microsoft YaHei"/>
              </a:rPr>
              <a:t>3. 决策准则</a:t>
            </a:r>
          </a:p>
          <a:p>
            <a:r>
              <a:rPr sz="1250" b="0">
                <a:solidFill>
                  <a:srgbClr val="2C2C2C"/>
                </a:solidFill>
                <a:latin typeface="Times New Roman"/>
                <a:ea typeface="Microsoft YaHei"/>
              </a:rPr>
              <a:t>  • 当两方案 EV 相同时，选择标准差 σ 较小者（风险小）。
• 当两方案 EV 和 σ 均不相同时，必须以变异系数 CV 较小者为优！</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核心结论：评估投资方案绝不能只盯预期收益，必须坚持「收益看期望值 (EV)，风险看变异系数 (CV)」的统一法则。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第1节 风险量化度量</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风险方案量化度量综合算例 (例 9-1 &amp; 9-2)</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第9章 企业决策中的风险分析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5</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算例解析 (例 9-1)：期望值与标准差求解</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方案 A 与 方案 B 参数</a:t>
            </a:r>
          </a:p>
          <a:p>
            <a:r>
              <a:rPr sz="1250" b="0">
                <a:solidFill>
                  <a:srgbClr val="2C2C2C"/>
                </a:solidFill>
                <a:latin typeface="Times New Roman"/>
                <a:ea typeface="Microsoft YaHei"/>
              </a:rPr>
              <a:t>  • 方案 A：繁荣(0.5)得 100万，萧条(0.5)得 20万。
• 方案 B：繁荣(0.5)得 150万，萧条(0.5)亏 -30万。</a:t>
            </a:r>
          </a:p>
          <a:p>
            <a:r>
              <a:rPr sz="1400" b="1">
                <a:solidFill>
                  <a:srgbClr val="1B3A5C"/>
                </a:solidFill>
                <a:latin typeface="Times New Roman"/>
                <a:ea typeface="Microsoft YaHei"/>
              </a:rPr>
              <a:t>2. 期望值核算</a:t>
            </a:r>
          </a:p>
          <a:p>
            <a:r>
              <a:rPr sz="1250" b="0">
                <a:solidFill>
                  <a:srgbClr val="2C2C2C"/>
                </a:solidFill>
                <a:latin typeface="Times New Roman"/>
                <a:ea typeface="Microsoft YaHei"/>
              </a:rPr>
              <a:t>  • EV_A = 0.5(100) + 0.5(20) = 60 万元。
• EV_B = 0.5(150) + 0.5(-30) = 60 万元。</a:t>
            </a:r>
          </a:p>
          <a:p>
            <a:r>
              <a:rPr sz="1400" b="1">
                <a:solidFill>
                  <a:srgbClr val="1B3A5C"/>
                </a:solidFill>
                <a:latin typeface="Times New Roman"/>
                <a:ea typeface="Microsoft YaHei"/>
              </a:rPr>
              <a:t>3. 标准差核算</a:t>
            </a:r>
          </a:p>
          <a:p>
            <a:r>
              <a:rPr sz="1250" b="0">
                <a:solidFill>
                  <a:srgbClr val="2C2C2C"/>
                </a:solidFill>
                <a:latin typeface="Times New Roman"/>
                <a:ea typeface="Microsoft YaHei"/>
              </a:rPr>
              <a:t>  • σ_A = √[ 0.5(100-60)² + 0.5(20-60)² ] = √[ 800 + 800 ] = 40 万元。
• σ_B = √[ 0.5(150-60)² + 0.5(-30-60)² ] = √[ 4050 + 4050 ] = 90 万元！
👉 裁决：期望值相同，σ_A &lt; σ_B，方案 A 显著优于方案 B！</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变异系数 CV 相对比较 (例 9-2)</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方案 C 参数</a:t>
            </a:r>
          </a:p>
          <a:p>
            <a:r>
              <a:rPr sz="1250" b="0">
                <a:solidFill>
                  <a:srgbClr val="2C2C2C"/>
                </a:solidFill>
                <a:latin typeface="Times New Roman"/>
                <a:ea typeface="Microsoft YaHei"/>
              </a:rPr>
              <a:t>  方案 C：期望收益 EV_C = 200 万元，标准差 σ_C = 60 万元。</a:t>
            </a:r>
          </a:p>
          <a:p>
            <a:r>
              <a:rPr sz="1400" b="1">
                <a:solidFill>
                  <a:srgbClr val="2E86C1"/>
                </a:solidFill>
                <a:latin typeface="Times New Roman"/>
                <a:ea typeface="Microsoft YaHei"/>
              </a:rPr>
              <a:t>2. 比较方案 A 与 方案 C</a:t>
            </a:r>
          </a:p>
          <a:p>
            <a:r>
              <a:rPr sz="1250" b="0">
                <a:solidFill>
                  <a:srgbClr val="2C2C2C"/>
                </a:solidFill>
                <a:latin typeface="Times New Roman"/>
                <a:ea typeface="Microsoft YaHei"/>
              </a:rPr>
              <a:t>  • 方案 A 变异系数 CV_A = 40 / 60 = 0.67
• 方案 C 变异系数 CV_C = 60 / 200 = 0.30！</a:t>
            </a:r>
          </a:p>
          <a:p>
            <a:r>
              <a:rPr sz="1400" b="1">
                <a:solidFill>
                  <a:srgbClr val="2E86C1"/>
                </a:solidFill>
                <a:latin typeface="Times New Roman"/>
                <a:ea typeface="Microsoft YaHei"/>
              </a:rPr>
              <a:t>3. 决策裁决</a:t>
            </a:r>
          </a:p>
          <a:p>
            <a:r>
              <a:rPr sz="1250" b="0">
                <a:solidFill>
                  <a:srgbClr val="2C2C2C"/>
                </a:solidFill>
                <a:latin typeface="Times New Roman"/>
                <a:ea typeface="Microsoft YaHei"/>
              </a:rPr>
              <a:t>  虽然方案 C 的绝对波动 (60万) 大于方案 A (40万)，但方案 C 的相对风险 (0.30) 远低于方案 A (0.67)！方案 C 性价比最高！</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核心结论：变异系数能够消除规模量纲差异，是跨行业、跨体量项目风险对比的黄金量化尺。</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第1节 风险量化度量</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正态分布置信区间与在险价值 (Value at Risk, VaR)</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第9章 企业决策中的风险分析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6</a:t>
            </a:r>
          </a:p>
        </p:txBody>
      </p:sp>
      <p:sp>
        <p:nvSpPr>
          <p:cNvPr id="9" name="Rectangle 8"/>
          <p:cNvSpPr/>
          <p:nvPr/>
        </p:nvSpPr>
        <p:spPr>
          <a:xfrm>
            <a:off x="457200"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01</a:t>
            </a:r>
          </a:p>
        </p:txBody>
      </p:sp>
      <p:sp>
        <p:nvSpPr>
          <p:cNvPr id="12" name="TextBox 11"/>
          <p:cNvSpPr txBox="1"/>
          <p:nvPr/>
        </p:nvSpPr>
        <p:spPr>
          <a:xfrm>
            <a:off x="640080" y="1965960"/>
            <a:ext cx="2286000" cy="502920"/>
          </a:xfrm>
          <a:prstGeom prst="rect">
            <a:avLst/>
          </a:prstGeom>
          <a:noFill/>
        </p:spPr>
        <p:txBody>
          <a:bodyPr wrap="none">
            <a:spAutoFit/>
          </a:bodyPr>
          <a:lstStyle/>
          <a:p>
            <a:r>
              <a:rPr sz="1500" b="1">
                <a:solidFill>
                  <a:srgbClr val="1B3A5C"/>
                </a:solidFill>
                <a:latin typeface="Times New Roman"/>
                <a:ea typeface="Microsoft YaHei"/>
              </a:rPr>
              <a:t>正态分布假设</a:t>
            </a:r>
          </a:p>
        </p:txBody>
      </p:sp>
      <p:sp>
        <p:nvSpPr>
          <p:cNvPr id="13" name="Rectangle 12"/>
          <p:cNvSpPr/>
          <p:nvPr/>
        </p:nvSpPr>
        <p:spPr>
          <a:xfrm>
            <a:off x="640080"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51760"/>
            <a:ext cx="2286000" cy="2560320"/>
          </a:xfrm>
          <a:prstGeom prst="rect">
            <a:avLst/>
          </a:prstGeom>
          <a:noFill/>
        </p:spPr>
        <p:txBody>
          <a:bodyPr wrap="square">
            <a:spAutoFit/>
          </a:bodyPr>
          <a:lstStyle/>
          <a:p>
            <a:r>
              <a:rPr sz="1200" b="0">
                <a:solidFill>
                  <a:srgbClr val="2C2C2C"/>
                </a:solidFill>
                <a:latin typeface="Times New Roman"/>
                <a:ea typeface="Microsoft YaHei"/>
              </a:rPr>
              <a:t>• 收益率服从钟形对称曲线</a:t>
            </a:r>
          </a:p>
          <a:p>
            <a:r>
              <a:rPr sz="1200" b="0">
                <a:solidFill>
                  <a:srgbClr val="2C2C2C"/>
                </a:solidFill>
                <a:latin typeface="Times New Roman"/>
                <a:ea typeface="Microsoft YaHei"/>
              </a:rPr>
              <a:t>• 68.26% 概率落入 [EV-σ, EV+σ]</a:t>
            </a:r>
          </a:p>
          <a:p>
            <a:r>
              <a:rPr sz="1200" b="0">
                <a:solidFill>
                  <a:srgbClr val="2C2C2C"/>
                </a:solidFill>
                <a:latin typeface="Times New Roman"/>
                <a:ea typeface="Microsoft YaHei"/>
              </a:rPr>
              <a:t>• 95.44% 概率落入 [EV-2σ, EV+2σ]</a:t>
            </a:r>
          </a:p>
          <a:p>
            <a:r>
              <a:rPr sz="1200" b="0">
                <a:solidFill>
                  <a:srgbClr val="2C2C2C"/>
                </a:solidFill>
                <a:latin typeface="Times New Roman"/>
                <a:ea typeface="Microsoft YaHei"/>
              </a:rPr>
              <a:t>• 99.74% 概率落入 [EV-3σ, EV+3σ]</a:t>
            </a:r>
          </a:p>
        </p:txBody>
      </p:sp>
      <p:sp>
        <p:nvSpPr>
          <p:cNvPr id="15" name="Rectangle 14"/>
          <p:cNvSpPr/>
          <p:nvPr/>
        </p:nvSpPr>
        <p:spPr>
          <a:xfrm>
            <a:off x="3319272"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02152"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02</a:t>
            </a:r>
          </a:p>
        </p:txBody>
      </p:sp>
      <p:sp>
        <p:nvSpPr>
          <p:cNvPr id="18" name="TextBox 17"/>
          <p:cNvSpPr txBox="1"/>
          <p:nvPr/>
        </p:nvSpPr>
        <p:spPr>
          <a:xfrm>
            <a:off x="3502152" y="1965960"/>
            <a:ext cx="2286000" cy="502920"/>
          </a:xfrm>
          <a:prstGeom prst="rect">
            <a:avLst/>
          </a:prstGeom>
          <a:noFill/>
        </p:spPr>
        <p:txBody>
          <a:bodyPr wrap="none">
            <a:spAutoFit/>
          </a:bodyPr>
          <a:lstStyle/>
          <a:p>
            <a:r>
              <a:rPr sz="1500" b="1">
                <a:solidFill>
                  <a:srgbClr val="1B3A5C"/>
                </a:solidFill>
                <a:latin typeface="Times New Roman"/>
                <a:ea typeface="Microsoft YaHei"/>
              </a:rPr>
              <a:t>在险价值 (VaR)</a:t>
            </a:r>
          </a:p>
        </p:txBody>
      </p:sp>
      <p:sp>
        <p:nvSpPr>
          <p:cNvPr id="19" name="Rectangle 18"/>
          <p:cNvSpPr/>
          <p:nvPr/>
        </p:nvSpPr>
        <p:spPr>
          <a:xfrm>
            <a:off x="3502152"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2651760"/>
            <a:ext cx="2286000" cy="2560320"/>
          </a:xfrm>
          <a:prstGeom prst="rect">
            <a:avLst/>
          </a:prstGeom>
          <a:noFill/>
        </p:spPr>
        <p:txBody>
          <a:bodyPr wrap="square">
            <a:spAutoFit/>
          </a:bodyPr>
          <a:lstStyle/>
          <a:p>
            <a:r>
              <a:rPr sz="1200" b="0">
                <a:solidFill>
                  <a:srgbClr val="2C2C2C"/>
                </a:solidFill>
                <a:latin typeface="Times New Roman"/>
                <a:ea typeface="Microsoft YaHei"/>
              </a:rPr>
              <a:t>• 在特定置信水平 (如 95% 或 99%) 下</a:t>
            </a:r>
          </a:p>
          <a:p>
            <a:r>
              <a:rPr sz="1200" b="0">
                <a:solidFill>
                  <a:srgbClr val="2C2C2C"/>
                </a:solidFill>
                <a:latin typeface="Times New Roman"/>
                <a:ea typeface="Microsoft YaHei"/>
              </a:rPr>
              <a:t>• 未来特定持有期内可能遭受的最大预期损失金额</a:t>
            </a:r>
          </a:p>
          <a:p>
            <a:r>
              <a:rPr sz="1200" b="0">
                <a:solidFill>
                  <a:srgbClr val="2C2C2C"/>
                </a:solidFill>
                <a:latin typeface="Times New Roman"/>
                <a:ea typeface="Microsoft YaHei"/>
              </a:rPr>
              <a:t>• 金融机构风控与资本金计提核心指标</a:t>
            </a:r>
          </a:p>
        </p:txBody>
      </p:sp>
      <p:sp>
        <p:nvSpPr>
          <p:cNvPr id="21" name="Rectangle 20"/>
          <p:cNvSpPr/>
          <p:nvPr/>
        </p:nvSpPr>
        <p:spPr>
          <a:xfrm>
            <a:off x="6181344"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1344"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64224"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03</a:t>
            </a:r>
          </a:p>
        </p:txBody>
      </p:sp>
      <p:sp>
        <p:nvSpPr>
          <p:cNvPr id="24" name="TextBox 23"/>
          <p:cNvSpPr txBox="1"/>
          <p:nvPr/>
        </p:nvSpPr>
        <p:spPr>
          <a:xfrm>
            <a:off x="6364224" y="1965960"/>
            <a:ext cx="2286000" cy="502920"/>
          </a:xfrm>
          <a:prstGeom prst="rect">
            <a:avLst/>
          </a:prstGeom>
          <a:noFill/>
        </p:spPr>
        <p:txBody>
          <a:bodyPr wrap="none">
            <a:spAutoFit/>
          </a:bodyPr>
          <a:lstStyle/>
          <a:p>
            <a:r>
              <a:rPr sz="1500" b="1">
                <a:solidFill>
                  <a:srgbClr val="1B3A5C"/>
                </a:solidFill>
                <a:latin typeface="Times New Roman"/>
                <a:ea typeface="Microsoft YaHei"/>
              </a:rPr>
              <a:t>肥尾风险 (Fat Tail)</a:t>
            </a:r>
          </a:p>
        </p:txBody>
      </p:sp>
      <p:sp>
        <p:nvSpPr>
          <p:cNvPr id="25" name="Rectangle 24"/>
          <p:cNvSpPr/>
          <p:nvPr/>
        </p:nvSpPr>
        <p:spPr>
          <a:xfrm>
            <a:off x="6364224"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2651760"/>
            <a:ext cx="2286000" cy="2560320"/>
          </a:xfrm>
          <a:prstGeom prst="rect">
            <a:avLst/>
          </a:prstGeom>
          <a:noFill/>
        </p:spPr>
        <p:txBody>
          <a:bodyPr wrap="square">
            <a:spAutoFit/>
          </a:bodyPr>
          <a:lstStyle/>
          <a:p>
            <a:r>
              <a:rPr sz="1200" b="0">
                <a:solidFill>
                  <a:srgbClr val="2C2C2C"/>
                </a:solidFill>
                <a:latin typeface="Times New Roman"/>
                <a:ea typeface="Microsoft YaHei"/>
              </a:rPr>
              <a:t>• 金融极端危机发生概率远超正态分布假设</a:t>
            </a:r>
          </a:p>
          <a:p>
            <a:r>
              <a:rPr sz="1200" b="0">
                <a:solidFill>
                  <a:srgbClr val="2C2C2C"/>
                </a:solidFill>
                <a:latin typeface="Times New Roman"/>
                <a:ea typeface="Microsoft YaHei"/>
              </a:rPr>
              <a:t>• 黑天鹅事件 (如 2008 次贷危机)</a:t>
            </a:r>
          </a:p>
          <a:p>
            <a:r>
              <a:rPr sz="1200" b="0">
                <a:solidFill>
                  <a:srgbClr val="2C2C2C"/>
                </a:solidFill>
                <a:latin typeface="Times New Roman"/>
                <a:ea typeface="Microsoft YaHei"/>
              </a:rPr>
              <a:t>• 必须配合极端情景压力测试</a:t>
            </a:r>
          </a:p>
        </p:txBody>
      </p:sp>
      <p:sp>
        <p:nvSpPr>
          <p:cNvPr id="27" name="Rectangle 26"/>
          <p:cNvSpPr/>
          <p:nvPr/>
        </p:nvSpPr>
        <p:spPr>
          <a:xfrm>
            <a:off x="9043416"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43416"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226296"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04</a:t>
            </a:r>
          </a:p>
        </p:txBody>
      </p:sp>
      <p:sp>
        <p:nvSpPr>
          <p:cNvPr id="30" name="TextBox 29"/>
          <p:cNvSpPr txBox="1"/>
          <p:nvPr/>
        </p:nvSpPr>
        <p:spPr>
          <a:xfrm>
            <a:off x="9226296" y="1965960"/>
            <a:ext cx="2286000" cy="502920"/>
          </a:xfrm>
          <a:prstGeom prst="rect">
            <a:avLst/>
          </a:prstGeom>
          <a:noFill/>
        </p:spPr>
        <p:txBody>
          <a:bodyPr wrap="none">
            <a:spAutoFit/>
          </a:bodyPr>
          <a:lstStyle/>
          <a:p>
            <a:r>
              <a:rPr sz="1500" b="1">
                <a:solidFill>
                  <a:srgbClr val="1B3A5C"/>
                </a:solidFill>
                <a:latin typeface="Times New Roman"/>
                <a:ea typeface="Microsoft YaHei"/>
              </a:rPr>
              <a:t>企业风控启示</a:t>
            </a:r>
          </a:p>
        </p:txBody>
      </p:sp>
      <p:sp>
        <p:nvSpPr>
          <p:cNvPr id="31" name="Rectangle 30"/>
          <p:cNvSpPr/>
          <p:nvPr/>
        </p:nvSpPr>
        <p:spPr>
          <a:xfrm>
            <a:off x="9226296"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26296" y="2651760"/>
            <a:ext cx="2286000" cy="2560320"/>
          </a:xfrm>
          <a:prstGeom prst="rect">
            <a:avLst/>
          </a:prstGeom>
          <a:noFill/>
        </p:spPr>
        <p:txBody>
          <a:bodyPr wrap="square">
            <a:spAutoFit/>
          </a:bodyPr>
          <a:lstStyle/>
          <a:p>
            <a:r>
              <a:rPr sz="1200" b="0">
                <a:solidFill>
                  <a:srgbClr val="2C2C2C"/>
                </a:solidFill>
                <a:latin typeface="Times New Roman"/>
                <a:ea typeface="Microsoft YaHei"/>
              </a:rPr>
              <a:t>• 设定止损红线与流动性安全垫</a:t>
            </a:r>
          </a:p>
          <a:p>
            <a:r>
              <a:rPr sz="1200" b="0">
                <a:solidFill>
                  <a:srgbClr val="2C2C2C"/>
                </a:solidFill>
                <a:latin typeface="Times New Roman"/>
                <a:ea typeface="Microsoft YaHei"/>
              </a:rPr>
              <a:t>• 防止单一极端事件导致企业资金链断裂</a:t>
            </a:r>
          </a:p>
          <a:p>
            <a:r>
              <a:rPr sz="1200" b="0">
                <a:solidFill>
                  <a:srgbClr val="2C2C2C"/>
                </a:solidFill>
                <a:latin typeface="Times New Roman"/>
                <a:ea typeface="Microsoft YaHei"/>
              </a:rPr>
              <a:t>• 构筑反脆弱资产结构</a:t>
            </a:r>
          </a:p>
        </p:txBody>
      </p:sp>
      <p:sp>
        <p:nvSpPr>
          <p:cNvPr id="33" name="Rectangle 32"/>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归纳要义：结合 VaR 与极端压力测试，能够为高管层守住不发生系统性经营危机的终极底线。</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371600"/>
            <a:ext cx="9448495" cy="4114800"/>
          </a:xfrm>
          <a:prstGeom prst="rect">
            <a:avLst/>
          </a:prstGeom>
          <a:solidFill>
            <a:srgbClr val="F8F9FA"/>
          </a:solidFill>
          <a:ln w="1524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371600"/>
            <a:ext cx="109728" cy="41148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1828800"/>
            <a:ext cx="8229600" cy="457200"/>
          </a:xfrm>
          <a:prstGeom prst="rect">
            <a:avLst/>
          </a:prstGeom>
          <a:noFill/>
        </p:spPr>
        <p:txBody>
          <a:bodyPr wrap="none">
            <a:spAutoFit/>
          </a:bodyPr>
          <a:lstStyle/>
          <a:p>
            <a:r>
              <a:rPr sz="1800" b="1">
                <a:solidFill>
                  <a:srgbClr val="2E86C1"/>
                </a:solidFill>
                <a:latin typeface="Times New Roman"/>
                <a:ea typeface="Microsoft YaHei"/>
              </a:rPr>
              <a:t>第 2 节</a:t>
            </a:r>
          </a:p>
        </p:txBody>
      </p:sp>
      <p:sp>
        <p:nvSpPr>
          <p:cNvPr id="6" name="TextBox 5"/>
          <p:cNvSpPr txBox="1"/>
          <p:nvPr/>
        </p:nvSpPr>
        <p:spPr>
          <a:xfrm>
            <a:off x="1828800" y="2331720"/>
            <a:ext cx="8229600" cy="822960"/>
          </a:xfrm>
          <a:prstGeom prst="rect">
            <a:avLst/>
          </a:prstGeom>
          <a:noFill/>
        </p:spPr>
        <p:txBody>
          <a:bodyPr wrap="none">
            <a:spAutoFit/>
          </a:bodyPr>
          <a:lstStyle/>
          <a:p>
            <a:r>
              <a:rPr sz="3200" b="1">
                <a:solidFill>
                  <a:srgbClr val="1B3A5C"/>
                </a:solidFill>
                <a:latin typeface="Times New Roman"/>
                <a:ea typeface="Microsoft YaHei"/>
              </a:rPr>
              <a:t>决策树分析法与多阶段风险决策</a:t>
            </a:r>
          </a:p>
        </p:txBody>
      </p:sp>
      <p:sp>
        <p:nvSpPr>
          <p:cNvPr id="7" name="Rectangle 6"/>
          <p:cNvSpPr/>
          <p:nvPr/>
        </p:nvSpPr>
        <p:spPr>
          <a:xfrm>
            <a:off x="1828800" y="3246120"/>
            <a:ext cx="164592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28800" y="3520440"/>
            <a:ext cx="8503920" cy="1097280"/>
          </a:xfrm>
          <a:prstGeom prst="roundRect">
            <a:avLst/>
          </a:prstGeom>
          <a:solidFill>
            <a:srgbClr val="EBF3FA"/>
          </a:solidFill>
          <a:ln w="1016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3657600"/>
            <a:ext cx="8138160" cy="822960"/>
          </a:xfrm>
          <a:prstGeom prst="rect">
            <a:avLst/>
          </a:prstGeom>
          <a:noFill/>
        </p:spPr>
        <p:txBody>
          <a:bodyPr wrap="none">
            <a:spAutoFit/>
          </a:bodyPr>
          <a:lstStyle/>
          <a:p>
            <a:r>
              <a:rPr sz="1500" b="1">
                <a:solidFill>
                  <a:srgbClr val="1B3A5C"/>
                </a:solidFill>
                <a:latin typeface="Times New Roman"/>
                <a:ea typeface="Microsoft YaHei"/>
              </a:rPr>
              <a:t>决策节点 · 状态节点 · 收益枝 · 逆向回溯剪枝 · 贝叶斯信息价值</a:t>
            </a:r>
          </a:p>
        </p:txBody>
      </p:sp>
      <p:sp>
        <p:nvSpPr>
          <p:cNvPr id="10" name="TextBox 9"/>
          <p:cNvSpPr txBox="1"/>
          <p:nvPr/>
        </p:nvSpPr>
        <p:spPr>
          <a:xfrm>
            <a:off x="1371600" y="6217920"/>
            <a:ext cx="4572000" cy="320040"/>
          </a:xfrm>
          <a:prstGeom prst="rect">
            <a:avLst/>
          </a:prstGeom>
          <a:noFill/>
        </p:spPr>
        <p:txBody>
          <a:bodyPr wrap="none">
            <a:spAutoFit/>
          </a:bodyPr>
          <a:lstStyle/>
          <a:p>
            <a:r>
              <a:rPr sz="1000" b="0">
                <a:solidFill>
                  <a:srgbClr val="6B6B6B"/>
                </a:solidFill>
                <a:latin typeface="Times New Roman"/>
                <a:ea typeface="Microsoft YaHei"/>
              </a:rPr>
              <a:t>管理经济学（第7版） · 第9章 企业决策中的风险分析</a:t>
            </a:r>
          </a:p>
        </p:txBody>
      </p:sp>
      <p:sp>
        <p:nvSpPr>
          <p:cNvPr id="11" name="TextBox 10"/>
          <p:cNvSpPr txBox="1"/>
          <p:nvPr/>
        </p:nvSpPr>
        <p:spPr>
          <a:xfrm>
            <a:off x="10058400" y="6217920"/>
            <a:ext cx="731520" cy="320040"/>
          </a:xfrm>
          <a:prstGeom prst="rect">
            <a:avLst/>
          </a:prstGeom>
          <a:noFill/>
        </p:spPr>
        <p:txBody>
          <a:bodyPr wrap="none">
            <a:spAutoFit/>
          </a:bodyPr>
          <a:lstStyle/>
          <a:p>
            <a:r>
              <a:rPr sz="1100" b="0">
                <a:solidFill>
                  <a:srgbClr val="6B6B6B"/>
                </a:solidFill>
                <a:latin typeface="Times New Roman"/>
                <a:ea typeface="Microsoft YaHe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第2节 决策树分析法</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决策树分析法 (Decision Tree Analysis) 的构图与计算</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第9章 企业决策中的风险分析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8</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决策树的四大核心构成要素</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决策节点 (Decision Node: □ 方框)</a:t>
            </a:r>
          </a:p>
          <a:p>
            <a:r>
              <a:rPr sz="1250" b="0">
                <a:solidFill>
                  <a:srgbClr val="2C2C2C"/>
                </a:solidFill>
                <a:latin typeface="Times New Roman"/>
                <a:ea typeface="Microsoft YaHei"/>
              </a:rPr>
              <a:t>  由决策者主动控制的行动分支（如：建大厂、建小厂、扩建或不建）。</a:t>
            </a:r>
          </a:p>
          <a:p>
            <a:r>
              <a:rPr sz="1400" b="1">
                <a:solidFill>
                  <a:srgbClr val="1B3A5C"/>
                </a:solidFill>
                <a:latin typeface="Times New Roman"/>
                <a:ea typeface="Microsoft YaHei"/>
              </a:rPr>
              <a:t>2. 状态节点 (Chance Node: ○ 圆圈)</a:t>
            </a:r>
          </a:p>
          <a:p>
            <a:r>
              <a:rPr sz="1250" b="0">
                <a:solidFill>
                  <a:srgbClr val="2C2C2C"/>
                </a:solidFill>
                <a:latin typeface="Times New Roman"/>
                <a:ea typeface="Microsoft YaHei"/>
              </a:rPr>
              <a:t>  不受决策者控制的自然状态分支（如：未来市场繁荣概率 0.7、萧条概率 0.3）。</a:t>
            </a:r>
          </a:p>
          <a:p>
            <a:r>
              <a:rPr sz="1400" b="1">
                <a:solidFill>
                  <a:srgbClr val="1B3A5C"/>
                </a:solidFill>
                <a:latin typeface="Times New Roman"/>
                <a:ea typeface="Microsoft YaHei"/>
              </a:rPr>
              <a:t>3. 结果枝与末端收益 (Payoffs: △ 三角形)</a:t>
            </a:r>
          </a:p>
          <a:p>
            <a:r>
              <a:rPr sz="1250" b="0">
                <a:solidFill>
                  <a:srgbClr val="2C2C2C"/>
                </a:solidFill>
                <a:latin typeface="Times New Roman"/>
                <a:ea typeface="Microsoft YaHei"/>
              </a:rPr>
              <a:t>  每一条路径最终实现的净利润或净现金流折现现值。</a:t>
            </a:r>
          </a:p>
          <a:p>
            <a:r>
              <a:rPr sz="1400" b="1">
                <a:solidFill>
                  <a:srgbClr val="1B3A5C"/>
                </a:solidFill>
                <a:latin typeface="Times New Roman"/>
                <a:ea typeface="Microsoft YaHei"/>
              </a:rPr>
              <a:t>4. 概率与分支赋值</a:t>
            </a:r>
          </a:p>
          <a:p>
            <a:r>
              <a:rPr sz="1250" b="0">
                <a:solidFill>
                  <a:srgbClr val="2C2C2C"/>
                </a:solidFill>
                <a:latin typeface="Times New Roman"/>
                <a:ea typeface="Microsoft YaHei"/>
              </a:rPr>
              <a:t>  同一状态节点引出的所有分支概率之和必须恒等于 1.0。</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决策树的求解：逆向回溯与剪枝法则 (Rollback Method)</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第一步：从右向左逆向计算期望收益</a:t>
            </a:r>
          </a:p>
          <a:p>
            <a:r>
              <a:rPr sz="1250" b="0">
                <a:solidFill>
                  <a:srgbClr val="2C2C2C"/>
                </a:solidFill>
                <a:latin typeface="Times New Roman"/>
                <a:ea typeface="Microsoft YaHei"/>
              </a:rPr>
              <a:t>  在每个状态节点 ○ 处，计算各分支收益的加权期望值：
EV_○ = ∑ [ P_i · 对应分支收益现值 ]</a:t>
            </a:r>
          </a:p>
          <a:p>
            <a:r>
              <a:rPr sz="1400" b="1">
                <a:solidFill>
                  <a:srgbClr val="2E86C1"/>
                </a:solidFill>
                <a:latin typeface="Times New Roman"/>
                <a:ea typeface="Microsoft YaHei"/>
              </a:rPr>
              <a:t>2. 第二步：在决策节点 □ 处做最优择优</a:t>
            </a:r>
          </a:p>
          <a:p>
            <a:r>
              <a:rPr sz="1250" b="0">
                <a:solidFill>
                  <a:srgbClr val="2C2C2C"/>
                </a:solidFill>
                <a:latin typeface="Times New Roman"/>
                <a:ea typeface="Microsoft YaHei"/>
              </a:rPr>
              <a:t>  比较进入该节点的所有行动方案的 EV，挑选期望收益最大者！</a:t>
            </a:r>
          </a:p>
          <a:p>
            <a:r>
              <a:rPr sz="1400" b="1">
                <a:solidFill>
                  <a:srgbClr val="2E86C1"/>
                </a:solidFill>
                <a:latin typeface="Times New Roman"/>
                <a:ea typeface="Microsoft YaHei"/>
              </a:rPr>
              <a:t>3. 第三步：实施剪枝 (Pruning)</a:t>
            </a:r>
          </a:p>
          <a:p>
            <a:r>
              <a:rPr sz="1250" b="0">
                <a:solidFill>
                  <a:srgbClr val="2C2C2C"/>
                </a:solidFill>
                <a:latin typeface="Times New Roman"/>
                <a:ea typeface="Microsoft YaHei"/>
              </a:rPr>
              <a:t>  在被淘汰的次优方案分支上划上双斜线「//」剪除，留下最优行动路径。</a:t>
            </a:r>
          </a:p>
          <a:p>
            <a:r>
              <a:rPr sz="1400" b="1">
                <a:solidFill>
                  <a:srgbClr val="2E86C1"/>
                </a:solidFill>
                <a:latin typeface="Times New Roman"/>
                <a:ea typeface="Microsoft YaHei"/>
              </a:rPr>
              <a:t>4. 适应多阶段连续决策</a:t>
            </a:r>
          </a:p>
          <a:p>
            <a:r>
              <a:rPr sz="1250" b="0">
                <a:solidFill>
                  <a:srgbClr val="2C2C2C"/>
                </a:solidFill>
                <a:latin typeface="Times New Roman"/>
                <a:ea typeface="Microsoft YaHei"/>
              </a:rPr>
              <a:t>  特别适用于「先试销再决定是否大规模建厂」等附带信息搜集环节的跨期序列决策。</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核心结论：决策树通过图像化将复杂的未来不确定性与多阶段选择条理化，是高管推演重大战略的必备沙盘。</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第2节 决策树分析法</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两阶段决策树求解算例：建厂与先试销后建厂 (例 9-3)</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第9章 企业决策中的风险分析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9</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决策情境与试销参数</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行动分支 A：直接建大厂</a:t>
            </a:r>
          </a:p>
          <a:p>
            <a:r>
              <a:rPr sz="1250" b="0">
                <a:solidFill>
                  <a:srgbClr val="2C2C2C"/>
                </a:solidFill>
                <a:latin typeface="Times New Roman"/>
                <a:ea typeface="Microsoft YaHei"/>
              </a:rPr>
              <a:t>  投资 100 万，市场好(0.7)净现值 250 万，市场差(0.3)净现值 -40 万。
👉 期望净收益 = 0.7(250) + 0.3(-40) - 100 = 175 - 12 - 100 = 63 万元。</a:t>
            </a:r>
          </a:p>
          <a:p>
            <a:r>
              <a:rPr sz="1400" b="1">
                <a:solidFill>
                  <a:srgbClr val="1B3A5C"/>
                </a:solidFill>
                <a:latin typeface="Times New Roman"/>
                <a:ea typeface="Microsoft YaHei"/>
              </a:rPr>
              <a:t>2. 行动分支 B：先花 10 万元试销</a:t>
            </a:r>
          </a:p>
          <a:p>
            <a:r>
              <a:rPr sz="1250" b="0">
                <a:solidFill>
                  <a:srgbClr val="2C2C2C"/>
                </a:solidFill>
                <a:latin typeface="Times New Roman"/>
                <a:ea typeface="Microsoft YaHei"/>
              </a:rPr>
              <a:t>  试销成功概率 0.7，试销失败概率 0.3。</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试销后的后验条件决策与逆向回溯</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试销成功后建大厂 (概率 100%)</a:t>
            </a:r>
          </a:p>
          <a:p>
            <a:r>
              <a:rPr sz="1250" b="0">
                <a:solidFill>
                  <a:srgbClr val="2C2C2C"/>
                </a:solidFill>
                <a:latin typeface="Times New Roman"/>
                <a:ea typeface="Microsoft YaHei"/>
              </a:rPr>
              <a:t>  净收益 = 250 - 100 = 150 万元。</a:t>
            </a:r>
          </a:p>
          <a:p>
            <a:r>
              <a:rPr sz="1400" b="1">
                <a:solidFill>
                  <a:srgbClr val="2E86C1"/>
                </a:solidFill>
                <a:latin typeface="Times New Roman"/>
                <a:ea typeface="Microsoft YaHei"/>
              </a:rPr>
              <a:t>2. 试销失败后放弃建厂 (损失仅试销费 10 万)</a:t>
            </a:r>
          </a:p>
          <a:p>
            <a:r>
              <a:rPr sz="1250" b="0">
                <a:solidFill>
                  <a:srgbClr val="2C2C2C"/>
                </a:solidFill>
                <a:latin typeface="Times New Roman"/>
                <a:ea typeface="Microsoft YaHei"/>
              </a:rPr>
              <a:t>  净收益 = 0 万元。</a:t>
            </a:r>
          </a:p>
          <a:p>
            <a:r>
              <a:rPr sz="1400" b="1">
                <a:solidFill>
                  <a:srgbClr val="2E86C1"/>
                </a:solidFill>
                <a:latin typeface="Times New Roman"/>
                <a:ea typeface="Microsoft YaHei"/>
              </a:rPr>
              <a:t>3. 试销分支总期望净收益</a:t>
            </a:r>
          </a:p>
          <a:p>
            <a:r>
              <a:rPr sz="1250" b="0">
                <a:solidFill>
                  <a:srgbClr val="2C2C2C"/>
                </a:solidFill>
                <a:latin typeface="Times New Roman"/>
                <a:ea typeface="Microsoft YaHei"/>
              </a:rPr>
              <a:t>  EV_试销 = 0.7 × (150) + 0.3 × (0) - 10 = 105 - 10 = 95 万元！</a:t>
            </a:r>
          </a:p>
          <a:p>
            <a:r>
              <a:rPr sz="1400" b="1">
                <a:solidFill>
                  <a:srgbClr val="2E86C1"/>
                </a:solidFill>
                <a:latin typeface="Times New Roman"/>
                <a:ea typeface="Microsoft YaHei"/>
              </a:rPr>
              <a:t>4. 最终裁决</a:t>
            </a:r>
          </a:p>
          <a:p>
            <a:r>
              <a:rPr sz="1250" b="0">
                <a:solidFill>
                  <a:srgbClr val="2C2C2C"/>
                </a:solidFill>
                <a:latin typeface="Times New Roman"/>
                <a:ea typeface="Microsoft YaHei"/>
              </a:rPr>
              <a:t>  EV_试销 (95万) &gt; 直接建大厂 (63万)！👉 最优策略是「先花 10 万试销，成功再大建」！</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核心结论：试销相当于购买了一份看涨期权，极大地压缩了下行巨额亏损风险。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第2节 决策树分析法</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完全信息价值 (EVPI) 与信息搜集决策 (例 9-4)</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第9章 企业决策中的风险分析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10</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完全信息价值 (Expected Value of Perfect Information, EVPI)</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概念定义</a:t>
            </a:r>
          </a:p>
          <a:p>
            <a:r>
              <a:rPr sz="1250" b="0">
                <a:solidFill>
                  <a:srgbClr val="2C2C2C"/>
                </a:solidFill>
                <a:latin typeface="Times New Roman"/>
                <a:ea typeface="Microsoft YaHei"/>
              </a:rPr>
              <a:t>  在获得 100% 准确无误的未来市场状态信息时所能获得的最大期望收益，与完全无信息状态下最大期望收益之间的差额。</a:t>
            </a:r>
          </a:p>
          <a:p>
            <a:r>
              <a:rPr sz="1400" b="1">
                <a:solidFill>
                  <a:srgbClr val="1B3A5C"/>
                </a:solidFill>
                <a:latin typeface="Times New Roman"/>
                <a:ea typeface="Microsoft YaHei"/>
              </a:rPr>
              <a:t>2. 计算公式</a:t>
            </a:r>
          </a:p>
          <a:p>
            <a:r>
              <a:rPr sz="1250" b="0">
                <a:solidFill>
                  <a:srgbClr val="2C2C2C"/>
                </a:solidFill>
                <a:latin typeface="Times New Roman"/>
                <a:ea typeface="Microsoft YaHei"/>
              </a:rPr>
              <a:t>  EVPI = 完美信息下期望收益 (EV_with_PI) - 无信息下最大期望收益 (EV_max_without_PI)</a:t>
            </a:r>
          </a:p>
          <a:p>
            <a:r>
              <a:rPr sz="1400" b="1">
                <a:solidFill>
                  <a:srgbClr val="1B3A5C"/>
                </a:solidFill>
                <a:latin typeface="Times New Roman"/>
                <a:ea typeface="Microsoft YaHei"/>
              </a:rPr>
              <a:t>3. 管理指导意义</a:t>
            </a:r>
          </a:p>
          <a:p>
            <a:r>
              <a:rPr sz="1250" b="0">
                <a:solidFill>
                  <a:srgbClr val="2C2C2C"/>
                </a:solidFill>
                <a:latin typeface="Times New Roman"/>
                <a:ea typeface="Microsoft YaHei"/>
              </a:rPr>
              <a:t>  EVPI 代表企业为了消除未来不确定性，向专业咨询机构或市场调研公司所愿意支付的最高服务报酬上限！</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算例解析 (例 9-4)：咨询费预算上限核算</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市场情境</a:t>
            </a:r>
          </a:p>
          <a:p>
            <a:r>
              <a:rPr sz="1250" b="0">
                <a:solidFill>
                  <a:srgbClr val="2C2C2C"/>
                </a:solidFill>
                <a:latin typeface="Times New Roman"/>
                <a:ea typeface="Microsoft YaHei"/>
              </a:rPr>
              <a:t>  繁荣(0.6)建大厂赚 200 万，建小厂赚 100 万；衰退(0.4)建大厂亏 -50 万，建小厂赚 40 万。</a:t>
            </a:r>
          </a:p>
          <a:p>
            <a:r>
              <a:rPr sz="1400" b="1">
                <a:solidFill>
                  <a:srgbClr val="2E86C1"/>
                </a:solidFill>
                <a:latin typeface="Times New Roman"/>
                <a:ea typeface="Microsoft YaHei"/>
              </a:rPr>
              <a:t>2. 无信息下期望收益</a:t>
            </a:r>
          </a:p>
          <a:p>
            <a:r>
              <a:rPr sz="1250" b="0">
                <a:solidFill>
                  <a:srgbClr val="2C2C2C"/>
                </a:solidFill>
                <a:latin typeface="Times New Roman"/>
                <a:ea typeface="Microsoft YaHei"/>
              </a:rPr>
              <a:t>  • 大厂 EV = 0.6(200) + 0.4(-50) = 120 - 20 = 100 万元。
• 小厂 EV = 0.6(100) + 0.4(40) = 60 + 16 = 76 万元。
👉 无信息下最优决策为建大厂，EV = 100 万元。</a:t>
            </a:r>
          </a:p>
          <a:p>
            <a:r>
              <a:rPr sz="1400" b="1">
                <a:solidFill>
                  <a:srgbClr val="2E86C1"/>
                </a:solidFill>
                <a:latin typeface="Times New Roman"/>
                <a:ea typeface="Microsoft YaHei"/>
              </a:rPr>
              <a:t>3. 完美信息下期望收益</a:t>
            </a:r>
          </a:p>
          <a:p>
            <a:r>
              <a:rPr sz="1250" b="0">
                <a:solidFill>
                  <a:srgbClr val="2C2C2C"/>
                </a:solidFill>
                <a:latin typeface="Times New Roman"/>
                <a:ea typeface="Microsoft YaHei"/>
              </a:rPr>
              <a:t>  若提前知繁荣则选大厂(200万)，知衰退则选小厂(40万)：
EV_with_PI = 0.6(200) + 0.4(40) = 120 + 16 = 136 万元！</a:t>
            </a:r>
          </a:p>
          <a:p>
            <a:r>
              <a:rPr sz="1400" b="1">
                <a:solidFill>
                  <a:srgbClr val="2E86C1"/>
                </a:solidFill>
                <a:latin typeface="Times New Roman"/>
                <a:ea typeface="Microsoft YaHei"/>
              </a:rPr>
              <a:t>4. 求解 EVPI</a:t>
            </a:r>
          </a:p>
          <a:p>
            <a:r>
              <a:rPr sz="1250" b="0">
                <a:solidFill>
                  <a:srgbClr val="2C2C2C"/>
                </a:solidFill>
                <a:latin typeface="Times New Roman"/>
                <a:ea typeface="Microsoft YaHei"/>
              </a:rPr>
              <a:t>  EVPI = 136 - 100 = 36 万元！咨询费若低于 36 万元则值得购买。</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核心结论：EVPI 将信息的价值货币化，为高管采购行业调研报告与聘请专家顾问提供了硬核的预算边界。</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371600"/>
            <a:ext cx="9448495" cy="4114800"/>
          </a:xfrm>
          <a:prstGeom prst="rect">
            <a:avLst/>
          </a:prstGeom>
          <a:solidFill>
            <a:srgbClr val="F8F9FA"/>
          </a:solidFill>
          <a:ln w="1524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371600"/>
            <a:ext cx="109728" cy="41148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1828800"/>
            <a:ext cx="8229600" cy="457200"/>
          </a:xfrm>
          <a:prstGeom prst="rect">
            <a:avLst/>
          </a:prstGeom>
          <a:noFill/>
        </p:spPr>
        <p:txBody>
          <a:bodyPr wrap="none">
            <a:spAutoFit/>
          </a:bodyPr>
          <a:lstStyle/>
          <a:p>
            <a:r>
              <a:rPr sz="1800" b="1">
                <a:solidFill>
                  <a:srgbClr val="2E86C1"/>
                </a:solidFill>
                <a:latin typeface="Times New Roman"/>
                <a:ea typeface="Microsoft YaHei"/>
              </a:rPr>
              <a:t>第 3 节</a:t>
            </a:r>
          </a:p>
        </p:txBody>
      </p:sp>
      <p:sp>
        <p:nvSpPr>
          <p:cNvPr id="6" name="TextBox 5"/>
          <p:cNvSpPr txBox="1"/>
          <p:nvPr/>
        </p:nvSpPr>
        <p:spPr>
          <a:xfrm>
            <a:off x="1828800" y="2331720"/>
            <a:ext cx="8229600" cy="822960"/>
          </a:xfrm>
          <a:prstGeom prst="rect">
            <a:avLst/>
          </a:prstGeom>
          <a:noFill/>
        </p:spPr>
        <p:txBody>
          <a:bodyPr wrap="none">
            <a:spAutoFit/>
          </a:bodyPr>
          <a:lstStyle/>
          <a:p>
            <a:r>
              <a:rPr sz="3200" b="1">
                <a:solidFill>
                  <a:srgbClr val="1B3A5C"/>
                </a:solidFill>
                <a:latin typeface="Times New Roman"/>
                <a:ea typeface="Microsoft YaHei"/>
              </a:rPr>
              <a:t>效用理论与不确定性决策准则</a:t>
            </a:r>
          </a:p>
        </p:txBody>
      </p:sp>
      <p:sp>
        <p:nvSpPr>
          <p:cNvPr id="7" name="Rectangle 6"/>
          <p:cNvSpPr/>
          <p:nvPr/>
        </p:nvSpPr>
        <p:spPr>
          <a:xfrm>
            <a:off x="1828800" y="3246120"/>
            <a:ext cx="164592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28800" y="3520440"/>
            <a:ext cx="8503920" cy="1097280"/>
          </a:xfrm>
          <a:prstGeom prst="roundRect">
            <a:avLst/>
          </a:prstGeom>
          <a:solidFill>
            <a:srgbClr val="EBF3FA"/>
          </a:solidFill>
          <a:ln w="1016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3657600"/>
            <a:ext cx="8138160" cy="822960"/>
          </a:xfrm>
          <a:prstGeom prst="rect">
            <a:avLst/>
          </a:prstGeom>
          <a:noFill/>
        </p:spPr>
        <p:txBody>
          <a:bodyPr wrap="none">
            <a:spAutoFit/>
          </a:bodyPr>
          <a:lstStyle/>
          <a:p>
            <a:r>
              <a:rPr sz="1500" b="1">
                <a:solidFill>
                  <a:srgbClr val="1B3A5C"/>
                </a:solidFill>
                <a:latin typeface="Times New Roman"/>
                <a:ea typeface="Microsoft YaHei"/>
              </a:rPr>
              <a:t>风险规避效用函数 · 确定性等值 · 悲观准则 · 乐观准则 · 最小遗憾准则</a:t>
            </a:r>
          </a:p>
        </p:txBody>
      </p:sp>
      <p:sp>
        <p:nvSpPr>
          <p:cNvPr id="10" name="TextBox 9"/>
          <p:cNvSpPr txBox="1"/>
          <p:nvPr/>
        </p:nvSpPr>
        <p:spPr>
          <a:xfrm>
            <a:off x="1371600" y="6217920"/>
            <a:ext cx="4572000" cy="320040"/>
          </a:xfrm>
          <a:prstGeom prst="rect">
            <a:avLst/>
          </a:prstGeom>
          <a:noFill/>
        </p:spPr>
        <p:txBody>
          <a:bodyPr wrap="none">
            <a:spAutoFit/>
          </a:bodyPr>
          <a:lstStyle/>
          <a:p>
            <a:r>
              <a:rPr sz="1000" b="0">
                <a:solidFill>
                  <a:srgbClr val="6B6B6B"/>
                </a:solidFill>
                <a:latin typeface="Times New Roman"/>
                <a:ea typeface="Microsoft YaHei"/>
              </a:rPr>
              <a:t>管理经济学（第7版） · 第9章 企业决策中的风险分析</a:t>
            </a:r>
          </a:p>
        </p:txBody>
      </p:sp>
      <p:sp>
        <p:nvSpPr>
          <p:cNvPr id="11" name="TextBox 10"/>
          <p:cNvSpPr txBox="1"/>
          <p:nvPr/>
        </p:nvSpPr>
        <p:spPr>
          <a:xfrm>
            <a:off x="10058400" y="6217920"/>
            <a:ext cx="731520" cy="320040"/>
          </a:xfrm>
          <a:prstGeom prst="rect">
            <a:avLst/>
          </a:prstGeom>
          <a:noFill/>
        </p:spPr>
        <p:txBody>
          <a:bodyPr wrap="none">
            <a:spAutoFit/>
          </a:bodyPr>
          <a:lstStyle/>
          <a:p>
            <a:r>
              <a:rPr sz="1100" b="0">
                <a:solidFill>
                  <a:srgbClr val="6B6B6B"/>
                </a:solidFill>
                <a:latin typeface="Times New Roman"/>
                <a:ea typeface="Microsoft YaHe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第3节 效用与不确定性准则</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决策者的三大风险态度与期望效用理论</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第9章 企业决策中的风险分析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12</a:t>
            </a:r>
          </a:p>
        </p:txBody>
      </p:sp>
      <p:sp>
        <p:nvSpPr>
          <p:cNvPr id="9" name="Rectangle 8"/>
          <p:cNvSpPr/>
          <p:nvPr/>
        </p:nvSpPr>
        <p:spPr>
          <a:xfrm>
            <a:off x="457200"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01</a:t>
            </a:r>
          </a:p>
        </p:txBody>
      </p:sp>
      <p:sp>
        <p:nvSpPr>
          <p:cNvPr id="12" name="TextBox 11"/>
          <p:cNvSpPr txBox="1"/>
          <p:nvPr/>
        </p:nvSpPr>
        <p:spPr>
          <a:xfrm>
            <a:off x="640080" y="1965960"/>
            <a:ext cx="2286000" cy="502920"/>
          </a:xfrm>
          <a:prstGeom prst="rect">
            <a:avLst/>
          </a:prstGeom>
          <a:noFill/>
        </p:spPr>
        <p:txBody>
          <a:bodyPr wrap="none">
            <a:spAutoFit/>
          </a:bodyPr>
          <a:lstStyle/>
          <a:p>
            <a:r>
              <a:rPr sz="1500" b="1">
                <a:solidFill>
                  <a:srgbClr val="1B3A5C"/>
                </a:solidFill>
                <a:latin typeface="Times New Roman"/>
                <a:ea typeface="Microsoft YaHei"/>
              </a:rPr>
              <a:t>风险规避者 (Risk Averse)</a:t>
            </a:r>
          </a:p>
        </p:txBody>
      </p:sp>
      <p:sp>
        <p:nvSpPr>
          <p:cNvPr id="13" name="Rectangle 12"/>
          <p:cNvSpPr/>
          <p:nvPr/>
        </p:nvSpPr>
        <p:spPr>
          <a:xfrm>
            <a:off x="640080"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51760"/>
            <a:ext cx="2286000" cy="2560320"/>
          </a:xfrm>
          <a:prstGeom prst="rect">
            <a:avLst/>
          </a:prstGeom>
          <a:noFill/>
        </p:spPr>
        <p:txBody>
          <a:bodyPr wrap="square">
            <a:spAutoFit/>
          </a:bodyPr>
          <a:lstStyle/>
          <a:p>
            <a:r>
              <a:rPr sz="1200" b="0">
                <a:solidFill>
                  <a:srgbClr val="2C2C2C"/>
                </a:solidFill>
                <a:latin typeface="Times New Roman"/>
                <a:ea typeface="Microsoft YaHei"/>
              </a:rPr>
              <a:t>• 效用函数：向上凸的曲线 (边际效用递减)</a:t>
            </a:r>
          </a:p>
          <a:p>
            <a:r>
              <a:rPr sz="1200" b="0">
                <a:solidFill>
                  <a:srgbClr val="2C2C2C"/>
                </a:solidFill>
                <a:latin typeface="Times New Roman"/>
                <a:ea typeface="Microsoft YaHei"/>
              </a:rPr>
              <a:t>• 特征：宁要确定的 10 万，不要 50% 概率的 20 万</a:t>
            </a:r>
          </a:p>
          <a:p>
            <a:r>
              <a:rPr sz="1200" b="0">
                <a:solidFill>
                  <a:srgbClr val="2C2C2C"/>
                </a:solidFill>
                <a:latin typeface="Times New Roman"/>
                <a:ea typeface="Microsoft YaHei"/>
              </a:rPr>
              <a:t>• 绝大多数企业高管与公众的普遍心理</a:t>
            </a:r>
          </a:p>
        </p:txBody>
      </p:sp>
      <p:sp>
        <p:nvSpPr>
          <p:cNvPr id="15" name="Rectangle 14"/>
          <p:cNvSpPr/>
          <p:nvPr/>
        </p:nvSpPr>
        <p:spPr>
          <a:xfrm>
            <a:off x="3319272"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02152"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02</a:t>
            </a:r>
          </a:p>
        </p:txBody>
      </p:sp>
      <p:sp>
        <p:nvSpPr>
          <p:cNvPr id="18" name="TextBox 17"/>
          <p:cNvSpPr txBox="1"/>
          <p:nvPr/>
        </p:nvSpPr>
        <p:spPr>
          <a:xfrm>
            <a:off x="3502152" y="1965960"/>
            <a:ext cx="2286000" cy="502920"/>
          </a:xfrm>
          <a:prstGeom prst="rect">
            <a:avLst/>
          </a:prstGeom>
          <a:noFill/>
        </p:spPr>
        <p:txBody>
          <a:bodyPr wrap="none">
            <a:spAutoFit/>
          </a:bodyPr>
          <a:lstStyle/>
          <a:p>
            <a:r>
              <a:rPr sz="1500" b="1">
                <a:solidFill>
                  <a:srgbClr val="1B3A5C"/>
                </a:solidFill>
                <a:latin typeface="Times New Roman"/>
                <a:ea typeface="Microsoft YaHei"/>
              </a:rPr>
              <a:t>风险中性者 (Risk Neutral)</a:t>
            </a:r>
          </a:p>
        </p:txBody>
      </p:sp>
      <p:sp>
        <p:nvSpPr>
          <p:cNvPr id="19" name="Rectangle 18"/>
          <p:cNvSpPr/>
          <p:nvPr/>
        </p:nvSpPr>
        <p:spPr>
          <a:xfrm>
            <a:off x="3502152"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2651760"/>
            <a:ext cx="2286000" cy="2560320"/>
          </a:xfrm>
          <a:prstGeom prst="rect">
            <a:avLst/>
          </a:prstGeom>
          <a:noFill/>
        </p:spPr>
        <p:txBody>
          <a:bodyPr wrap="square">
            <a:spAutoFit/>
          </a:bodyPr>
          <a:lstStyle/>
          <a:p>
            <a:r>
              <a:rPr sz="1200" b="0">
                <a:solidFill>
                  <a:srgbClr val="2C2C2C"/>
                </a:solidFill>
                <a:latin typeface="Times New Roman"/>
                <a:ea typeface="Microsoft YaHei"/>
              </a:rPr>
              <a:t>• 效用函数：一条笔直的倾斜直线</a:t>
            </a:r>
          </a:p>
          <a:p>
            <a:r>
              <a:rPr sz="1200" b="0">
                <a:solidFill>
                  <a:srgbClr val="2C2C2C"/>
                </a:solidFill>
                <a:latin typeface="Times New Roman"/>
                <a:ea typeface="Microsoft YaHei"/>
              </a:rPr>
              <a:t>• 特征：只关注数学期望值 EV，对风险波动完全漠视</a:t>
            </a:r>
          </a:p>
          <a:p>
            <a:r>
              <a:rPr sz="1200" b="0">
                <a:solidFill>
                  <a:srgbClr val="2C2C2C"/>
                </a:solidFill>
                <a:latin typeface="Times New Roman"/>
                <a:ea typeface="Microsoft YaHei"/>
              </a:rPr>
              <a:t>• 大型风投基金或多元化主权财团典型特征</a:t>
            </a:r>
          </a:p>
        </p:txBody>
      </p:sp>
      <p:sp>
        <p:nvSpPr>
          <p:cNvPr id="21" name="Rectangle 20"/>
          <p:cNvSpPr/>
          <p:nvPr/>
        </p:nvSpPr>
        <p:spPr>
          <a:xfrm>
            <a:off x="6181344"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1344"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64224"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03</a:t>
            </a:r>
          </a:p>
        </p:txBody>
      </p:sp>
      <p:sp>
        <p:nvSpPr>
          <p:cNvPr id="24" name="TextBox 23"/>
          <p:cNvSpPr txBox="1"/>
          <p:nvPr/>
        </p:nvSpPr>
        <p:spPr>
          <a:xfrm>
            <a:off x="6364224" y="1965960"/>
            <a:ext cx="2286000" cy="502920"/>
          </a:xfrm>
          <a:prstGeom prst="rect">
            <a:avLst/>
          </a:prstGeom>
          <a:noFill/>
        </p:spPr>
        <p:txBody>
          <a:bodyPr wrap="none">
            <a:spAutoFit/>
          </a:bodyPr>
          <a:lstStyle/>
          <a:p>
            <a:r>
              <a:rPr sz="1500" b="1">
                <a:solidFill>
                  <a:srgbClr val="1B3A5C"/>
                </a:solidFill>
                <a:latin typeface="Times New Roman"/>
                <a:ea typeface="Microsoft YaHei"/>
              </a:rPr>
              <a:t>风险偏好者 (Risk Seeking)</a:t>
            </a:r>
          </a:p>
        </p:txBody>
      </p:sp>
      <p:sp>
        <p:nvSpPr>
          <p:cNvPr id="25" name="Rectangle 24"/>
          <p:cNvSpPr/>
          <p:nvPr/>
        </p:nvSpPr>
        <p:spPr>
          <a:xfrm>
            <a:off x="6364224"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2651760"/>
            <a:ext cx="2286000" cy="2560320"/>
          </a:xfrm>
          <a:prstGeom prst="rect">
            <a:avLst/>
          </a:prstGeom>
          <a:noFill/>
        </p:spPr>
        <p:txBody>
          <a:bodyPr wrap="square">
            <a:spAutoFit/>
          </a:bodyPr>
          <a:lstStyle/>
          <a:p>
            <a:r>
              <a:rPr sz="1200" b="0">
                <a:solidFill>
                  <a:srgbClr val="2C2C2C"/>
                </a:solidFill>
                <a:latin typeface="Times New Roman"/>
                <a:ea typeface="Microsoft YaHei"/>
              </a:rPr>
              <a:t>• 效用函数：向上凹的曲线 (边际效用递增)</a:t>
            </a:r>
          </a:p>
          <a:p>
            <a:r>
              <a:rPr sz="1200" b="0">
                <a:solidFill>
                  <a:srgbClr val="2C2C2C"/>
                </a:solidFill>
                <a:latin typeface="Times New Roman"/>
                <a:ea typeface="Microsoft YaHei"/>
              </a:rPr>
              <a:t>• 特征：愿意付出高溢价去博取极小概率的巨额回报</a:t>
            </a:r>
          </a:p>
          <a:p>
            <a:r>
              <a:rPr sz="1200" b="0">
                <a:solidFill>
                  <a:srgbClr val="2C2C2C"/>
                </a:solidFill>
                <a:latin typeface="Times New Roman"/>
                <a:ea typeface="Microsoft YaHei"/>
              </a:rPr>
              <a:t>• 赌场赌徒或绝境求生初创企业的极端冒险</a:t>
            </a:r>
          </a:p>
        </p:txBody>
      </p:sp>
      <p:sp>
        <p:nvSpPr>
          <p:cNvPr id="27" name="Rectangle 26"/>
          <p:cNvSpPr/>
          <p:nvPr/>
        </p:nvSpPr>
        <p:spPr>
          <a:xfrm>
            <a:off x="9043416"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43416"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226296"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04</a:t>
            </a:r>
          </a:p>
        </p:txBody>
      </p:sp>
      <p:sp>
        <p:nvSpPr>
          <p:cNvPr id="30" name="TextBox 29"/>
          <p:cNvSpPr txBox="1"/>
          <p:nvPr/>
        </p:nvSpPr>
        <p:spPr>
          <a:xfrm>
            <a:off x="9226296" y="1965960"/>
            <a:ext cx="2286000" cy="502920"/>
          </a:xfrm>
          <a:prstGeom prst="rect">
            <a:avLst/>
          </a:prstGeom>
          <a:noFill/>
        </p:spPr>
        <p:txBody>
          <a:bodyPr wrap="none">
            <a:spAutoFit/>
          </a:bodyPr>
          <a:lstStyle/>
          <a:p>
            <a:r>
              <a:rPr sz="1500" b="1">
                <a:solidFill>
                  <a:srgbClr val="1B3A5C"/>
                </a:solidFill>
                <a:latin typeface="Times New Roman"/>
                <a:ea typeface="Microsoft YaHei"/>
              </a:rPr>
              <a:t>确定性等值 (CE)</a:t>
            </a:r>
          </a:p>
        </p:txBody>
      </p:sp>
      <p:sp>
        <p:nvSpPr>
          <p:cNvPr id="31" name="Rectangle 30"/>
          <p:cNvSpPr/>
          <p:nvPr/>
        </p:nvSpPr>
        <p:spPr>
          <a:xfrm>
            <a:off x="9226296"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26296" y="2651760"/>
            <a:ext cx="2286000" cy="2560320"/>
          </a:xfrm>
          <a:prstGeom prst="rect">
            <a:avLst/>
          </a:prstGeom>
          <a:noFill/>
        </p:spPr>
        <p:txBody>
          <a:bodyPr wrap="square">
            <a:spAutoFit/>
          </a:bodyPr>
          <a:lstStyle/>
          <a:p>
            <a:r>
              <a:rPr sz="1200" b="0">
                <a:solidFill>
                  <a:srgbClr val="2C2C2C"/>
                </a:solidFill>
                <a:latin typeface="Times New Roman"/>
                <a:ea typeface="Microsoft YaHei"/>
              </a:rPr>
              <a:t>• 决策者面对风险方案时，愿意接受的确定性收益下限</a:t>
            </a:r>
          </a:p>
          <a:p>
            <a:r>
              <a:rPr sz="1200" b="0">
                <a:solidFill>
                  <a:srgbClr val="2C2C2C"/>
                </a:solidFill>
                <a:latin typeface="Times New Roman"/>
                <a:ea typeface="Microsoft YaHei"/>
              </a:rPr>
              <a:t>• 风险溢价 RP = 期望值 EV - 确定性等值 CE</a:t>
            </a:r>
          </a:p>
          <a:p>
            <a:r>
              <a:rPr sz="1200" b="0">
                <a:solidFill>
                  <a:srgbClr val="2C2C2C"/>
                </a:solidFill>
                <a:latin typeface="Times New Roman"/>
                <a:ea typeface="Microsoft YaHei"/>
              </a:rPr>
              <a:t>• 风险规避程度越高，风险溢价 RP 越大</a:t>
            </a:r>
          </a:p>
        </p:txBody>
      </p:sp>
      <p:sp>
        <p:nvSpPr>
          <p:cNvPr id="33" name="Rectangle 32"/>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归纳要义：期望效用理论揭示了为什么企业愿意花钱购买保险：用一笔确定的保费支出消除可能导致企业毁灭的巨大不确定性。</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第3节 不确定性决策准则</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非概率不确定性决策准则 (悲观、乐观与最小遗憾)</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第9章 企业决策中的风险分析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13</a:t>
            </a:r>
          </a:p>
        </p:txBody>
      </p:sp>
      <p:sp>
        <p:nvSpPr>
          <p:cNvPr id="9" name="Rectangle 8"/>
          <p:cNvSpPr/>
          <p:nvPr/>
        </p:nvSpPr>
        <p:spPr>
          <a:xfrm>
            <a:off x="457200"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01</a:t>
            </a:r>
          </a:p>
        </p:txBody>
      </p:sp>
      <p:sp>
        <p:nvSpPr>
          <p:cNvPr id="12" name="TextBox 11"/>
          <p:cNvSpPr txBox="1"/>
          <p:nvPr/>
        </p:nvSpPr>
        <p:spPr>
          <a:xfrm>
            <a:off x="640080" y="1965960"/>
            <a:ext cx="2286000" cy="502920"/>
          </a:xfrm>
          <a:prstGeom prst="rect">
            <a:avLst/>
          </a:prstGeom>
          <a:noFill/>
        </p:spPr>
        <p:txBody>
          <a:bodyPr wrap="none">
            <a:spAutoFit/>
          </a:bodyPr>
          <a:lstStyle/>
          <a:p>
            <a:r>
              <a:rPr sz="1500" b="1">
                <a:solidFill>
                  <a:srgbClr val="1B3A5C"/>
                </a:solidFill>
                <a:latin typeface="Times New Roman"/>
                <a:ea typeface="Microsoft YaHei"/>
              </a:rPr>
              <a:t>小中取大 (Max-Min) 悲观准则</a:t>
            </a:r>
          </a:p>
        </p:txBody>
      </p:sp>
      <p:sp>
        <p:nvSpPr>
          <p:cNvPr id="13" name="Rectangle 12"/>
          <p:cNvSpPr/>
          <p:nvPr/>
        </p:nvSpPr>
        <p:spPr>
          <a:xfrm>
            <a:off x="640080"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51760"/>
            <a:ext cx="2286000" cy="2560320"/>
          </a:xfrm>
          <a:prstGeom prst="rect">
            <a:avLst/>
          </a:prstGeom>
          <a:noFill/>
        </p:spPr>
        <p:txBody>
          <a:bodyPr wrap="square">
            <a:spAutoFit/>
          </a:bodyPr>
          <a:lstStyle/>
          <a:p>
            <a:r>
              <a:rPr sz="1200" b="0">
                <a:solidFill>
                  <a:srgbClr val="2C2C2C"/>
                </a:solidFill>
                <a:latin typeface="Times New Roman"/>
                <a:ea typeface="Microsoft YaHei"/>
              </a:rPr>
              <a:t>• 瓦尔德 (Wald) 准则</a:t>
            </a:r>
          </a:p>
          <a:p>
            <a:r>
              <a:rPr sz="1200" b="0">
                <a:solidFill>
                  <a:srgbClr val="2C2C2C"/>
                </a:solidFill>
                <a:latin typeface="Times New Roman"/>
                <a:ea typeface="Microsoft YaHei"/>
              </a:rPr>
              <a:t>• 假设最坏情况必然发生</a:t>
            </a:r>
          </a:p>
          <a:p>
            <a:r>
              <a:rPr sz="1200" b="0">
                <a:solidFill>
                  <a:srgbClr val="2C2C2C"/>
                </a:solidFill>
                <a:latin typeface="Times New Roman"/>
                <a:ea typeface="Microsoft YaHei"/>
              </a:rPr>
              <a:t>• 计算各方案的最坏结果，选其中最好者</a:t>
            </a:r>
          </a:p>
          <a:p>
            <a:r>
              <a:rPr sz="1200" b="0">
                <a:solidFill>
                  <a:srgbClr val="2C2C2C"/>
                </a:solidFill>
                <a:latin typeface="Times New Roman"/>
                <a:ea typeface="Microsoft YaHei"/>
              </a:rPr>
              <a:t>• 防御型、濒临破产企业的首选</a:t>
            </a:r>
          </a:p>
        </p:txBody>
      </p:sp>
      <p:sp>
        <p:nvSpPr>
          <p:cNvPr id="15" name="Rectangle 14"/>
          <p:cNvSpPr/>
          <p:nvPr/>
        </p:nvSpPr>
        <p:spPr>
          <a:xfrm>
            <a:off x="3319272"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02152"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02</a:t>
            </a:r>
          </a:p>
        </p:txBody>
      </p:sp>
      <p:sp>
        <p:nvSpPr>
          <p:cNvPr id="18" name="TextBox 17"/>
          <p:cNvSpPr txBox="1"/>
          <p:nvPr/>
        </p:nvSpPr>
        <p:spPr>
          <a:xfrm>
            <a:off x="3502152" y="1965960"/>
            <a:ext cx="2286000" cy="502920"/>
          </a:xfrm>
          <a:prstGeom prst="rect">
            <a:avLst/>
          </a:prstGeom>
          <a:noFill/>
        </p:spPr>
        <p:txBody>
          <a:bodyPr wrap="none">
            <a:spAutoFit/>
          </a:bodyPr>
          <a:lstStyle/>
          <a:p>
            <a:r>
              <a:rPr sz="1500" b="1">
                <a:solidFill>
                  <a:srgbClr val="1B3A5C"/>
                </a:solidFill>
                <a:latin typeface="Times New Roman"/>
                <a:ea typeface="Microsoft YaHei"/>
              </a:rPr>
              <a:t>大中取大 (Max-Max) 乐观准则</a:t>
            </a:r>
          </a:p>
        </p:txBody>
      </p:sp>
      <p:sp>
        <p:nvSpPr>
          <p:cNvPr id="19" name="Rectangle 18"/>
          <p:cNvSpPr/>
          <p:nvPr/>
        </p:nvSpPr>
        <p:spPr>
          <a:xfrm>
            <a:off x="3502152"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2651760"/>
            <a:ext cx="2286000" cy="2560320"/>
          </a:xfrm>
          <a:prstGeom prst="rect">
            <a:avLst/>
          </a:prstGeom>
          <a:noFill/>
        </p:spPr>
        <p:txBody>
          <a:bodyPr wrap="square">
            <a:spAutoFit/>
          </a:bodyPr>
          <a:lstStyle/>
          <a:p>
            <a:r>
              <a:rPr sz="1200" b="0">
                <a:solidFill>
                  <a:srgbClr val="2C2C2C"/>
                </a:solidFill>
                <a:latin typeface="Times New Roman"/>
                <a:ea typeface="Microsoft YaHei"/>
              </a:rPr>
              <a:t>• 狂热冒险家准则</a:t>
            </a:r>
          </a:p>
          <a:p>
            <a:r>
              <a:rPr sz="1200" b="0">
                <a:solidFill>
                  <a:srgbClr val="2C2C2C"/>
                </a:solidFill>
                <a:latin typeface="Times New Roman"/>
                <a:ea typeface="Microsoft YaHei"/>
              </a:rPr>
              <a:t>• 假设最好情况必然发生</a:t>
            </a:r>
          </a:p>
          <a:p>
            <a:r>
              <a:rPr sz="1200" b="0">
                <a:solidFill>
                  <a:srgbClr val="2C2C2C"/>
                </a:solidFill>
                <a:latin typeface="Times New Roman"/>
                <a:ea typeface="Microsoft YaHei"/>
              </a:rPr>
              <a:t>• 计算各方案的最大收益，选最大者</a:t>
            </a:r>
          </a:p>
          <a:p>
            <a:r>
              <a:rPr sz="1200" b="0">
                <a:solidFill>
                  <a:srgbClr val="2C2C2C"/>
                </a:solidFill>
                <a:latin typeface="Times New Roman"/>
                <a:ea typeface="Microsoft YaHei"/>
              </a:rPr>
              <a:t>• 雄心勃勃、风险偏好型创业企业</a:t>
            </a:r>
          </a:p>
        </p:txBody>
      </p:sp>
      <p:sp>
        <p:nvSpPr>
          <p:cNvPr id="21" name="Rectangle 20"/>
          <p:cNvSpPr/>
          <p:nvPr/>
        </p:nvSpPr>
        <p:spPr>
          <a:xfrm>
            <a:off x="6181344"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1344"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64224"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03</a:t>
            </a:r>
          </a:p>
        </p:txBody>
      </p:sp>
      <p:sp>
        <p:nvSpPr>
          <p:cNvPr id="24" name="TextBox 23"/>
          <p:cNvSpPr txBox="1"/>
          <p:nvPr/>
        </p:nvSpPr>
        <p:spPr>
          <a:xfrm>
            <a:off x="6364224" y="1965960"/>
            <a:ext cx="2286000" cy="502920"/>
          </a:xfrm>
          <a:prstGeom prst="rect">
            <a:avLst/>
          </a:prstGeom>
          <a:noFill/>
        </p:spPr>
        <p:txBody>
          <a:bodyPr wrap="none">
            <a:spAutoFit/>
          </a:bodyPr>
          <a:lstStyle/>
          <a:p>
            <a:r>
              <a:rPr sz="1500" b="1">
                <a:solidFill>
                  <a:srgbClr val="1B3A5C"/>
                </a:solidFill>
                <a:latin typeface="Times New Roman"/>
                <a:ea typeface="Microsoft YaHei"/>
              </a:rPr>
              <a:t>折衷准则 (Hurwicz)</a:t>
            </a:r>
          </a:p>
        </p:txBody>
      </p:sp>
      <p:sp>
        <p:nvSpPr>
          <p:cNvPr id="25" name="Rectangle 24"/>
          <p:cNvSpPr/>
          <p:nvPr/>
        </p:nvSpPr>
        <p:spPr>
          <a:xfrm>
            <a:off x="6364224"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2651760"/>
            <a:ext cx="2286000" cy="2560320"/>
          </a:xfrm>
          <a:prstGeom prst="rect">
            <a:avLst/>
          </a:prstGeom>
          <a:noFill/>
        </p:spPr>
        <p:txBody>
          <a:bodyPr wrap="square">
            <a:spAutoFit/>
          </a:bodyPr>
          <a:lstStyle/>
          <a:p>
            <a:r>
              <a:rPr sz="1200" b="0">
                <a:solidFill>
                  <a:srgbClr val="2C2C2C"/>
                </a:solidFill>
                <a:latin typeface="Times New Roman"/>
                <a:ea typeface="Microsoft YaHei"/>
              </a:rPr>
              <a:t>• 设定乐观系数 α (0 ≤ α ≤ 1)</a:t>
            </a:r>
          </a:p>
          <a:p>
            <a:r>
              <a:rPr sz="1200" b="0">
                <a:solidFill>
                  <a:srgbClr val="2C2C2C"/>
                </a:solidFill>
                <a:latin typeface="Times New Roman"/>
                <a:ea typeface="Microsoft YaHei"/>
              </a:rPr>
              <a:t>• 综合值 = α × 最大值 + (1-α) × 最小值</a:t>
            </a:r>
          </a:p>
          <a:p>
            <a:r>
              <a:rPr sz="1200" b="0">
                <a:solidFill>
                  <a:srgbClr val="2C2C2C"/>
                </a:solidFill>
                <a:latin typeface="Times New Roman"/>
                <a:ea typeface="Microsoft YaHei"/>
              </a:rPr>
              <a:t>• 根据决策者心理倾向灵活权衡</a:t>
            </a:r>
          </a:p>
        </p:txBody>
      </p:sp>
      <p:sp>
        <p:nvSpPr>
          <p:cNvPr id="27" name="Rectangle 26"/>
          <p:cNvSpPr/>
          <p:nvPr/>
        </p:nvSpPr>
        <p:spPr>
          <a:xfrm>
            <a:off x="9043416"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43416"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226296"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04</a:t>
            </a:r>
          </a:p>
        </p:txBody>
      </p:sp>
      <p:sp>
        <p:nvSpPr>
          <p:cNvPr id="30" name="TextBox 29"/>
          <p:cNvSpPr txBox="1"/>
          <p:nvPr/>
        </p:nvSpPr>
        <p:spPr>
          <a:xfrm>
            <a:off x="9226296" y="1965960"/>
            <a:ext cx="2286000" cy="502920"/>
          </a:xfrm>
          <a:prstGeom prst="rect">
            <a:avLst/>
          </a:prstGeom>
          <a:noFill/>
        </p:spPr>
        <p:txBody>
          <a:bodyPr wrap="none">
            <a:spAutoFit/>
          </a:bodyPr>
          <a:lstStyle/>
          <a:p>
            <a:r>
              <a:rPr sz="1500" b="1">
                <a:solidFill>
                  <a:srgbClr val="1B3A5C"/>
                </a:solidFill>
                <a:latin typeface="Times New Roman"/>
                <a:ea typeface="Microsoft YaHei"/>
              </a:rPr>
              <a:t>最小最大遗憾准则 (Savage)</a:t>
            </a:r>
          </a:p>
        </p:txBody>
      </p:sp>
      <p:sp>
        <p:nvSpPr>
          <p:cNvPr id="31" name="Rectangle 30"/>
          <p:cNvSpPr/>
          <p:nvPr/>
        </p:nvSpPr>
        <p:spPr>
          <a:xfrm>
            <a:off x="9226296"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26296" y="2651760"/>
            <a:ext cx="2286000" cy="2560320"/>
          </a:xfrm>
          <a:prstGeom prst="rect">
            <a:avLst/>
          </a:prstGeom>
          <a:noFill/>
        </p:spPr>
        <p:txBody>
          <a:bodyPr wrap="square">
            <a:spAutoFit/>
          </a:bodyPr>
          <a:lstStyle/>
          <a:p>
            <a:r>
              <a:rPr sz="1200" b="0">
                <a:solidFill>
                  <a:srgbClr val="2C2C2C"/>
                </a:solidFill>
                <a:latin typeface="Times New Roman"/>
                <a:ea typeface="Microsoft YaHei"/>
              </a:rPr>
              <a:t>• 计算各状态下的后悔值 (遗憾值)</a:t>
            </a:r>
          </a:p>
          <a:p>
            <a:r>
              <a:rPr sz="1200" b="0">
                <a:solidFill>
                  <a:srgbClr val="2C2C2C"/>
                </a:solidFill>
                <a:latin typeface="Times New Roman"/>
                <a:ea typeface="Microsoft YaHei"/>
              </a:rPr>
              <a:t>• 构造遗憾矩阵</a:t>
            </a:r>
          </a:p>
          <a:p>
            <a:r>
              <a:rPr sz="1200" b="0">
                <a:solidFill>
                  <a:srgbClr val="2C2C2C"/>
                </a:solidFill>
                <a:latin typeface="Times New Roman"/>
                <a:ea typeface="Microsoft YaHei"/>
              </a:rPr>
              <a:t>• 挑选最大遗憾值中最小的方案</a:t>
            </a:r>
          </a:p>
          <a:p>
            <a:r>
              <a:rPr sz="1200" b="0">
                <a:solidFill>
                  <a:srgbClr val="2C2C2C"/>
                </a:solidFill>
                <a:latin typeface="Times New Roman"/>
                <a:ea typeface="Microsoft YaHei"/>
              </a:rPr>
              <a:t>• 防范因错失良机而产生极端懊悔</a:t>
            </a:r>
          </a:p>
        </p:txBody>
      </p:sp>
      <p:sp>
        <p:nvSpPr>
          <p:cNvPr id="33" name="Rectangle 32"/>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归纳要义：不确定性决策准则为概率完全未知的极端模糊环境提供了结构化的理性思维框架。</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第3节 不确定性决策准则</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四大不确定性决策准则实战矩阵演练 (例 9-5)</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第9章 企业决策中的风险分析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14</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收益矩阵情境 (大批量 A1, 中批量 A2, 小批量 A3)</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需求旺盛状态</a:t>
            </a:r>
          </a:p>
          <a:p>
            <a:r>
              <a:rPr sz="1250" b="0">
                <a:solidFill>
                  <a:srgbClr val="2C2C2C"/>
                </a:solidFill>
                <a:latin typeface="Times New Roman"/>
                <a:ea typeface="Microsoft YaHei"/>
              </a:rPr>
              <a:t>  A1 收益 100 万，A2 收益 70 万，A3 收益 40 万。</a:t>
            </a:r>
          </a:p>
          <a:p>
            <a:r>
              <a:rPr sz="1400" b="1">
                <a:solidFill>
                  <a:srgbClr val="1B3A5C"/>
                </a:solidFill>
                <a:latin typeface="Times New Roman"/>
                <a:ea typeface="Microsoft YaHei"/>
              </a:rPr>
              <a:t>2. 需求正常状态</a:t>
            </a:r>
          </a:p>
          <a:p>
            <a:r>
              <a:rPr sz="1250" b="0">
                <a:solidFill>
                  <a:srgbClr val="2C2C2C"/>
                </a:solidFill>
                <a:latin typeface="Times New Roman"/>
                <a:ea typeface="Microsoft YaHei"/>
              </a:rPr>
              <a:t>  A1 收益 50 万，A2 收益 45 万，A3 收益 30 万。</a:t>
            </a:r>
          </a:p>
          <a:p>
            <a:r>
              <a:rPr sz="1400" b="1">
                <a:solidFill>
                  <a:srgbClr val="1B3A5C"/>
                </a:solidFill>
                <a:latin typeface="Times New Roman"/>
                <a:ea typeface="Microsoft YaHei"/>
              </a:rPr>
              <a:t>3. 需求低迷状态</a:t>
            </a:r>
          </a:p>
          <a:p>
            <a:r>
              <a:rPr sz="1250" b="0">
                <a:solidFill>
                  <a:srgbClr val="2C2C2C"/>
                </a:solidFill>
                <a:latin typeface="Times New Roman"/>
                <a:ea typeface="Microsoft YaHei"/>
              </a:rPr>
              <a:t>  A1 亏损 -20 万，A2 收益 10 万，A3 收益 20 万。</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四大准则裁决对比</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乐观准则 (Max-Max)</a:t>
            </a:r>
          </a:p>
          <a:p>
            <a:r>
              <a:rPr sz="1250" b="0">
                <a:solidFill>
                  <a:srgbClr val="2C2C2C"/>
                </a:solidFill>
                <a:latin typeface="Times New Roman"/>
                <a:ea typeface="Microsoft YaHei"/>
              </a:rPr>
              <a:t>  比较最大收益 (100, 70, 40) → 选 A1 (大批量)。</a:t>
            </a:r>
          </a:p>
          <a:p>
            <a:r>
              <a:rPr sz="1400" b="1">
                <a:solidFill>
                  <a:srgbClr val="2E86C1"/>
                </a:solidFill>
                <a:latin typeface="Times New Roman"/>
                <a:ea typeface="Microsoft YaHei"/>
              </a:rPr>
              <a:t>2. 悲观准则 (Max-Min)</a:t>
            </a:r>
          </a:p>
          <a:p>
            <a:r>
              <a:rPr sz="1250" b="0">
                <a:solidFill>
                  <a:srgbClr val="2C2C2C"/>
                </a:solidFill>
                <a:latin typeface="Times New Roman"/>
                <a:ea typeface="Microsoft YaHei"/>
              </a:rPr>
              <a:t>  比较最坏收益 (-20, 10, 20) → 选 A3 (小批量)。</a:t>
            </a:r>
          </a:p>
          <a:p>
            <a:r>
              <a:rPr sz="1400" b="1">
                <a:solidFill>
                  <a:srgbClr val="2E86C1"/>
                </a:solidFill>
                <a:latin typeface="Times New Roman"/>
                <a:ea typeface="Microsoft YaHei"/>
              </a:rPr>
              <a:t>3. 折衷准则 (取 α=0.6)</a:t>
            </a:r>
          </a:p>
          <a:p>
            <a:r>
              <a:rPr sz="1250" b="0">
                <a:solidFill>
                  <a:srgbClr val="2C2C2C"/>
                </a:solidFill>
                <a:latin typeface="Times New Roman"/>
                <a:ea typeface="Microsoft YaHei"/>
              </a:rPr>
              <a:t>  A1 综合值 52万, A2 综合值 46万, A3 综合值 32万 → 选 A1。</a:t>
            </a:r>
          </a:p>
          <a:p>
            <a:r>
              <a:rPr sz="1400" b="1">
                <a:solidFill>
                  <a:srgbClr val="2E86C1"/>
                </a:solidFill>
                <a:latin typeface="Times New Roman"/>
                <a:ea typeface="Microsoft YaHei"/>
              </a:rPr>
              <a:t>4. 最小最大遗憾准则 (Min-Max Regret)</a:t>
            </a:r>
          </a:p>
          <a:p>
            <a:r>
              <a:rPr sz="1250" b="0">
                <a:solidFill>
                  <a:srgbClr val="2C2C2C"/>
                </a:solidFill>
                <a:latin typeface="Times New Roman"/>
                <a:ea typeface="Microsoft YaHei"/>
              </a:rPr>
              <a:t>  计算遗憾矩阵最大遗憾：A1为40万, A2为30万, A3为60万 → 选 A2 (中批量) 遗憾最小！</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核心结论：不同准则导向不同战略抉择：高管需根据企业财务承受力和风险承受力灵活选定决策准则。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第4节 风险防范</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企业降低与防范风险的四大战略机制</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第9章 企业决策中的风险分析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15</a:t>
            </a:r>
          </a:p>
        </p:txBody>
      </p:sp>
      <p:sp>
        <p:nvSpPr>
          <p:cNvPr id="9" name="Rectangle 8"/>
          <p:cNvSpPr/>
          <p:nvPr/>
        </p:nvSpPr>
        <p:spPr>
          <a:xfrm>
            <a:off x="457200"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01</a:t>
            </a:r>
          </a:p>
        </p:txBody>
      </p:sp>
      <p:sp>
        <p:nvSpPr>
          <p:cNvPr id="12" name="TextBox 11"/>
          <p:cNvSpPr txBox="1"/>
          <p:nvPr/>
        </p:nvSpPr>
        <p:spPr>
          <a:xfrm>
            <a:off x="640080" y="1965960"/>
            <a:ext cx="2286000" cy="502920"/>
          </a:xfrm>
          <a:prstGeom prst="rect">
            <a:avLst/>
          </a:prstGeom>
          <a:noFill/>
        </p:spPr>
        <p:txBody>
          <a:bodyPr wrap="none">
            <a:spAutoFit/>
          </a:bodyPr>
          <a:lstStyle/>
          <a:p>
            <a:r>
              <a:rPr sz="1500" b="1">
                <a:solidFill>
                  <a:srgbClr val="1B3A5C"/>
                </a:solidFill>
                <a:latin typeface="Times New Roman"/>
                <a:ea typeface="Microsoft YaHei"/>
              </a:rPr>
              <a:t>信息搜集与尽调</a:t>
            </a:r>
          </a:p>
        </p:txBody>
      </p:sp>
      <p:sp>
        <p:nvSpPr>
          <p:cNvPr id="13" name="Rectangle 12"/>
          <p:cNvSpPr/>
          <p:nvPr/>
        </p:nvSpPr>
        <p:spPr>
          <a:xfrm>
            <a:off x="640080"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51760"/>
            <a:ext cx="2286000" cy="2560320"/>
          </a:xfrm>
          <a:prstGeom prst="rect">
            <a:avLst/>
          </a:prstGeom>
          <a:noFill/>
        </p:spPr>
        <p:txBody>
          <a:bodyPr wrap="square">
            <a:spAutoFit/>
          </a:bodyPr>
          <a:lstStyle/>
          <a:p>
            <a:r>
              <a:rPr sz="1200" b="0">
                <a:solidFill>
                  <a:srgbClr val="2C2C2C"/>
                </a:solidFill>
                <a:latin typeface="Times New Roman"/>
                <a:ea typeface="Microsoft YaHei"/>
              </a:rPr>
              <a:t>• 事前开展详尽市场调研</a:t>
            </a:r>
          </a:p>
          <a:p>
            <a:r>
              <a:rPr sz="1200" b="0">
                <a:solidFill>
                  <a:srgbClr val="2C2C2C"/>
                </a:solidFill>
                <a:latin typeface="Times New Roman"/>
                <a:ea typeface="Microsoft YaHei"/>
              </a:rPr>
              <a:t>• 聘请第三方专业尽调</a:t>
            </a:r>
          </a:p>
          <a:p>
            <a:r>
              <a:rPr sz="1200" b="0">
                <a:solidFill>
                  <a:srgbClr val="2C2C2C"/>
                </a:solidFill>
                <a:latin typeface="Times New Roman"/>
                <a:ea typeface="Microsoft YaHei"/>
              </a:rPr>
              <a:t>• 购买咨询数据消除信息不对称</a:t>
            </a:r>
          </a:p>
          <a:p>
            <a:r>
              <a:rPr sz="1200" b="0">
                <a:solidFill>
                  <a:srgbClr val="2C2C2C"/>
                </a:solidFill>
                <a:latin typeface="Times New Roman"/>
                <a:ea typeface="Microsoft YaHei"/>
              </a:rPr>
              <a:t>• 将不确定性转化为已知概率风险</a:t>
            </a:r>
          </a:p>
        </p:txBody>
      </p:sp>
      <p:sp>
        <p:nvSpPr>
          <p:cNvPr id="15" name="Rectangle 14"/>
          <p:cNvSpPr/>
          <p:nvPr/>
        </p:nvSpPr>
        <p:spPr>
          <a:xfrm>
            <a:off x="3319272"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02152"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02</a:t>
            </a:r>
          </a:p>
        </p:txBody>
      </p:sp>
      <p:sp>
        <p:nvSpPr>
          <p:cNvPr id="18" name="TextBox 17"/>
          <p:cNvSpPr txBox="1"/>
          <p:nvPr/>
        </p:nvSpPr>
        <p:spPr>
          <a:xfrm>
            <a:off x="3502152" y="1965960"/>
            <a:ext cx="2286000" cy="502920"/>
          </a:xfrm>
          <a:prstGeom prst="rect">
            <a:avLst/>
          </a:prstGeom>
          <a:noFill/>
        </p:spPr>
        <p:txBody>
          <a:bodyPr wrap="none">
            <a:spAutoFit/>
          </a:bodyPr>
          <a:lstStyle/>
          <a:p>
            <a:r>
              <a:rPr sz="1500" b="1">
                <a:solidFill>
                  <a:srgbClr val="1B3A5C"/>
                </a:solidFill>
                <a:latin typeface="Times New Roman"/>
                <a:ea typeface="Microsoft YaHei"/>
              </a:rPr>
              <a:t>资产组合多元化</a:t>
            </a:r>
          </a:p>
        </p:txBody>
      </p:sp>
      <p:sp>
        <p:nvSpPr>
          <p:cNvPr id="19" name="Rectangle 18"/>
          <p:cNvSpPr/>
          <p:nvPr/>
        </p:nvSpPr>
        <p:spPr>
          <a:xfrm>
            <a:off x="3502152"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2651760"/>
            <a:ext cx="2286000" cy="2560320"/>
          </a:xfrm>
          <a:prstGeom prst="rect">
            <a:avLst/>
          </a:prstGeom>
          <a:noFill/>
        </p:spPr>
        <p:txBody>
          <a:bodyPr wrap="square">
            <a:spAutoFit/>
          </a:bodyPr>
          <a:lstStyle/>
          <a:p>
            <a:r>
              <a:rPr sz="1200" b="0">
                <a:solidFill>
                  <a:srgbClr val="2C2C2C"/>
                </a:solidFill>
                <a:latin typeface="Times New Roman"/>
                <a:ea typeface="Microsoft YaHei"/>
              </a:rPr>
              <a:t>• 「不要把鸡蛋放在同一个篮子里」</a:t>
            </a:r>
          </a:p>
          <a:p>
            <a:r>
              <a:rPr sz="1200" b="0">
                <a:solidFill>
                  <a:srgbClr val="2C2C2C"/>
                </a:solidFill>
                <a:latin typeface="Times New Roman"/>
                <a:ea typeface="Microsoft YaHei"/>
              </a:rPr>
              <a:t>• 投资收益负相关或无关的业务资产</a:t>
            </a:r>
          </a:p>
          <a:p>
            <a:r>
              <a:rPr sz="1200" b="0">
                <a:solidFill>
                  <a:srgbClr val="2C2C2C"/>
                </a:solidFill>
                <a:latin typeface="Times New Roman"/>
                <a:ea typeface="Microsoft YaHei"/>
              </a:rPr>
              <a:t>• 有效分散非系统性特质经营风险</a:t>
            </a:r>
          </a:p>
          <a:p>
            <a:r>
              <a:rPr sz="1200" b="0">
                <a:solidFill>
                  <a:srgbClr val="2C2C2C"/>
                </a:solidFill>
                <a:latin typeface="Times New Roman"/>
                <a:ea typeface="Microsoft YaHei"/>
              </a:rPr>
              <a:t>• 平滑跨周期现金流剧烈波动</a:t>
            </a:r>
          </a:p>
        </p:txBody>
      </p:sp>
      <p:sp>
        <p:nvSpPr>
          <p:cNvPr id="21" name="Rectangle 20"/>
          <p:cNvSpPr/>
          <p:nvPr/>
        </p:nvSpPr>
        <p:spPr>
          <a:xfrm>
            <a:off x="6181344"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1344"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64224"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03</a:t>
            </a:r>
          </a:p>
        </p:txBody>
      </p:sp>
      <p:sp>
        <p:nvSpPr>
          <p:cNvPr id="24" name="TextBox 23"/>
          <p:cNvSpPr txBox="1"/>
          <p:nvPr/>
        </p:nvSpPr>
        <p:spPr>
          <a:xfrm>
            <a:off x="6364224" y="1965960"/>
            <a:ext cx="2286000" cy="502920"/>
          </a:xfrm>
          <a:prstGeom prst="rect">
            <a:avLst/>
          </a:prstGeom>
          <a:noFill/>
        </p:spPr>
        <p:txBody>
          <a:bodyPr wrap="none">
            <a:spAutoFit/>
          </a:bodyPr>
          <a:lstStyle/>
          <a:p>
            <a:r>
              <a:rPr sz="1500" b="1">
                <a:solidFill>
                  <a:srgbClr val="1B3A5C"/>
                </a:solidFill>
                <a:latin typeface="Times New Roman"/>
                <a:ea typeface="Microsoft YaHei"/>
              </a:rPr>
              <a:t>商业保险与金融对冲</a:t>
            </a:r>
          </a:p>
        </p:txBody>
      </p:sp>
      <p:sp>
        <p:nvSpPr>
          <p:cNvPr id="25" name="Rectangle 24"/>
          <p:cNvSpPr/>
          <p:nvPr/>
        </p:nvSpPr>
        <p:spPr>
          <a:xfrm>
            <a:off x="6364224"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2651760"/>
            <a:ext cx="2286000" cy="2560320"/>
          </a:xfrm>
          <a:prstGeom prst="rect">
            <a:avLst/>
          </a:prstGeom>
          <a:noFill/>
        </p:spPr>
        <p:txBody>
          <a:bodyPr wrap="square">
            <a:spAutoFit/>
          </a:bodyPr>
          <a:lstStyle/>
          <a:p>
            <a:r>
              <a:rPr sz="1200" b="0">
                <a:solidFill>
                  <a:srgbClr val="2C2C2C"/>
                </a:solidFill>
                <a:latin typeface="Times New Roman"/>
                <a:ea typeface="Microsoft YaHei"/>
              </a:rPr>
              <a:t>• 对厂房设备投保财产险/责任险</a:t>
            </a:r>
          </a:p>
          <a:p>
            <a:r>
              <a:rPr sz="1200" b="0">
                <a:solidFill>
                  <a:srgbClr val="2C2C2C"/>
                </a:solidFill>
                <a:latin typeface="Times New Roman"/>
                <a:ea typeface="Microsoft YaHei"/>
              </a:rPr>
              <a:t>• 利用远期外汇合约锁定汇率风险</a:t>
            </a:r>
          </a:p>
          <a:p>
            <a:r>
              <a:rPr sz="1200" b="0">
                <a:solidFill>
                  <a:srgbClr val="2C2C2C"/>
                </a:solidFill>
                <a:latin typeface="Times New Roman"/>
                <a:ea typeface="Microsoft YaHei"/>
              </a:rPr>
              <a:t>• 利用大宗商品期货期权对冲原料暴涨</a:t>
            </a:r>
          </a:p>
          <a:p>
            <a:r>
              <a:rPr sz="1200" b="0">
                <a:solidFill>
                  <a:srgbClr val="2C2C2C"/>
                </a:solidFill>
                <a:latin typeface="Times New Roman"/>
                <a:ea typeface="Microsoft YaHei"/>
              </a:rPr>
              <a:t>• 锁定生产经营边际利润</a:t>
            </a:r>
          </a:p>
        </p:txBody>
      </p:sp>
      <p:sp>
        <p:nvSpPr>
          <p:cNvPr id="27" name="Rectangle 26"/>
          <p:cNvSpPr/>
          <p:nvPr/>
        </p:nvSpPr>
        <p:spPr>
          <a:xfrm>
            <a:off x="9043416"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43416"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226296"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04</a:t>
            </a:r>
          </a:p>
        </p:txBody>
      </p:sp>
      <p:sp>
        <p:nvSpPr>
          <p:cNvPr id="30" name="TextBox 29"/>
          <p:cNvSpPr txBox="1"/>
          <p:nvPr/>
        </p:nvSpPr>
        <p:spPr>
          <a:xfrm>
            <a:off x="9226296" y="1965960"/>
            <a:ext cx="2286000" cy="502920"/>
          </a:xfrm>
          <a:prstGeom prst="rect">
            <a:avLst/>
          </a:prstGeom>
          <a:noFill/>
        </p:spPr>
        <p:txBody>
          <a:bodyPr wrap="none">
            <a:spAutoFit/>
          </a:bodyPr>
          <a:lstStyle/>
          <a:p>
            <a:r>
              <a:rPr sz="1500" b="1">
                <a:solidFill>
                  <a:srgbClr val="1B3A5C"/>
                </a:solidFill>
                <a:latin typeface="Times New Roman"/>
                <a:ea typeface="Microsoft YaHei"/>
              </a:rPr>
              <a:t>战略联盟与风险分担</a:t>
            </a:r>
          </a:p>
        </p:txBody>
      </p:sp>
      <p:sp>
        <p:nvSpPr>
          <p:cNvPr id="31" name="Rectangle 30"/>
          <p:cNvSpPr/>
          <p:nvPr/>
        </p:nvSpPr>
        <p:spPr>
          <a:xfrm>
            <a:off x="9226296"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26296" y="2651760"/>
            <a:ext cx="2286000" cy="2560320"/>
          </a:xfrm>
          <a:prstGeom prst="rect">
            <a:avLst/>
          </a:prstGeom>
          <a:noFill/>
        </p:spPr>
        <p:txBody>
          <a:bodyPr wrap="square">
            <a:spAutoFit/>
          </a:bodyPr>
          <a:lstStyle/>
          <a:p>
            <a:r>
              <a:rPr sz="1200" b="0">
                <a:solidFill>
                  <a:srgbClr val="2C2C2C"/>
                </a:solidFill>
                <a:latin typeface="Times New Roman"/>
                <a:ea typeface="Microsoft YaHei"/>
              </a:rPr>
              <a:t>• 重大高精尖研发采取联合攻关</a:t>
            </a:r>
          </a:p>
          <a:p>
            <a:r>
              <a:rPr sz="1200" b="0">
                <a:solidFill>
                  <a:srgbClr val="2C2C2C"/>
                </a:solidFill>
                <a:latin typeface="Times New Roman"/>
                <a:ea typeface="Microsoft YaHei"/>
              </a:rPr>
              <a:t>• 与供应链伙伴建立长期战略合作</a:t>
            </a:r>
          </a:p>
          <a:p>
            <a:r>
              <a:rPr sz="1200" b="0">
                <a:solidFill>
                  <a:srgbClr val="2C2C2C"/>
                </a:solidFill>
                <a:latin typeface="Times New Roman"/>
                <a:ea typeface="Microsoft YaHei"/>
              </a:rPr>
              <a:t>• 采取代工外包分摊重资产固定投入</a:t>
            </a:r>
          </a:p>
          <a:p>
            <a:r>
              <a:rPr sz="1200" b="0">
                <a:solidFill>
                  <a:srgbClr val="2C2C2C"/>
                </a:solidFill>
                <a:latin typeface="Times New Roman"/>
                <a:ea typeface="Microsoft YaHei"/>
              </a:rPr>
              <a:t>• 增强组织弹性与抗压韧性</a:t>
            </a:r>
          </a:p>
        </p:txBody>
      </p:sp>
      <p:sp>
        <p:nvSpPr>
          <p:cNvPr id="33" name="Rectangle 32"/>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归纳要义：卓越的风险管理不是完全消灭风险，而是在可承受的风险边界内，以最小的对冲成本换取最稳健的长期发展。</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第4节 风险防范</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金融衍生品套期保值与大宗原料期权对冲</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第9章 企业决策中的风险分析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16</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期货套期保值 (Hedging) 锁定原料采购成本</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买入套期保值 (Long Hedge)</a:t>
            </a:r>
          </a:p>
          <a:p>
            <a:r>
              <a:rPr sz="1250" b="0">
                <a:solidFill>
                  <a:srgbClr val="2C2C2C"/>
                </a:solidFill>
                <a:latin typeface="Times New Roman"/>
                <a:ea typeface="Microsoft YaHei"/>
              </a:rPr>
              <a:t>  制造业企业未来 3 个月需采购 1000 吨铜，担心铜价暴涨；在期货市场买入等量铜期货合约。</a:t>
            </a:r>
          </a:p>
          <a:p>
            <a:r>
              <a:rPr sz="1400" b="1">
                <a:solidFill>
                  <a:srgbClr val="1B3A5C"/>
                </a:solidFill>
                <a:latin typeface="Times New Roman"/>
                <a:ea typeface="Microsoft YaHei"/>
              </a:rPr>
              <a:t>2. 对冲原理</a:t>
            </a:r>
          </a:p>
          <a:p>
            <a:r>
              <a:rPr sz="1250" b="0">
                <a:solidFill>
                  <a:srgbClr val="2C2C2C"/>
                </a:solidFill>
                <a:latin typeface="Times New Roman"/>
                <a:ea typeface="Microsoft YaHei"/>
              </a:rPr>
              <a:t>  若现货铜价上涨，现货采购多付的成本恰好被期货多头盈利全额抵补，成功锁定预算成本！</a:t>
            </a:r>
          </a:p>
          <a:p>
            <a:r>
              <a:rPr sz="1400" b="1">
                <a:solidFill>
                  <a:srgbClr val="1B3A5C"/>
                </a:solidFill>
                <a:latin typeface="Times New Roman"/>
                <a:ea typeface="Microsoft YaHei"/>
              </a:rPr>
              <a:t>3. 局限性</a:t>
            </a:r>
          </a:p>
          <a:p>
            <a:r>
              <a:rPr sz="1250" b="0">
                <a:solidFill>
                  <a:srgbClr val="2C2C2C"/>
                </a:solidFill>
                <a:latin typeface="Times New Roman"/>
                <a:ea typeface="Microsoft YaHei"/>
              </a:rPr>
              <a:t>  基差风险 (Basis Risk) 存在波动，需要精细化管理。</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期权 (Options) 非对称保底策略</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买入看跌期权 (Put Option)</a:t>
            </a:r>
          </a:p>
          <a:p>
            <a:r>
              <a:rPr sz="1250" b="0">
                <a:solidFill>
                  <a:srgbClr val="2C2C2C"/>
                </a:solidFill>
                <a:latin typeface="Times New Roman"/>
                <a:ea typeface="Microsoft YaHei"/>
              </a:rPr>
              <a:t>  农产品种植企业买入大豆看跌期权，支付固定权利金，锁定大豆最低卖出价格底线。</a:t>
            </a:r>
          </a:p>
          <a:p>
            <a:r>
              <a:rPr sz="1400" b="1">
                <a:solidFill>
                  <a:srgbClr val="2E86C1"/>
                </a:solidFill>
                <a:latin typeface="Times New Roman"/>
                <a:ea typeface="Microsoft YaHei"/>
              </a:rPr>
              <a:t>2. 核心优势</a:t>
            </a:r>
          </a:p>
          <a:p>
            <a:r>
              <a:rPr sz="1250" b="0">
                <a:solidFill>
                  <a:srgbClr val="2C2C2C"/>
                </a:solidFill>
                <a:latin typeface="Times New Roman"/>
                <a:ea typeface="Microsoft YaHei"/>
              </a:rPr>
              <a:t>  当下行暴跌时行权保底；若市场大涨则放弃行权，享受价格上涨带来的全部红利！</a:t>
            </a:r>
          </a:p>
          <a:p>
            <a:r>
              <a:rPr sz="1400" b="1">
                <a:solidFill>
                  <a:srgbClr val="2E86C1"/>
                </a:solidFill>
                <a:latin typeface="Times New Roman"/>
                <a:ea typeface="Microsoft YaHei"/>
              </a:rPr>
              <a:t>3. 战略启示</a:t>
            </a:r>
          </a:p>
          <a:p>
            <a:r>
              <a:rPr sz="1250" b="0">
                <a:solidFill>
                  <a:srgbClr val="2C2C2C"/>
                </a:solidFill>
                <a:latin typeface="Times New Roman"/>
                <a:ea typeface="Microsoft YaHei"/>
              </a:rPr>
              <a:t>  期权为企业提供了「损失有限、收益无限」的非对称风险防护罩。</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核心结论：金融衍生品套期保值是现代制造业抵御全球大宗商品价格剧烈波动的定海神针。</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第4节 风险防范</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全面风险管理 (ERM) 框架与业务连续性计划 (BCP)</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第9章 企业决策中的风险分析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17</a:t>
            </a:r>
          </a:p>
        </p:txBody>
      </p:sp>
      <p:sp>
        <p:nvSpPr>
          <p:cNvPr id="9" name="Rectangle 8"/>
          <p:cNvSpPr/>
          <p:nvPr/>
        </p:nvSpPr>
        <p:spPr>
          <a:xfrm>
            <a:off x="457200"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01</a:t>
            </a:r>
          </a:p>
        </p:txBody>
      </p:sp>
      <p:sp>
        <p:nvSpPr>
          <p:cNvPr id="12" name="TextBox 11"/>
          <p:cNvSpPr txBox="1"/>
          <p:nvPr/>
        </p:nvSpPr>
        <p:spPr>
          <a:xfrm>
            <a:off x="640080" y="1965960"/>
            <a:ext cx="2286000" cy="502920"/>
          </a:xfrm>
          <a:prstGeom prst="rect">
            <a:avLst/>
          </a:prstGeom>
          <a:noFill/>
        </p:spPr>
        <p:txBody>
          <a:bodyPr wrap="none">
            <a:spAutoFit/>
          </a:bodyPr>
          <a:lstStyle/>
          <a:p>
            <a:r>
              <a:rPr sz="1500" b="1">
                <a:solidFill>
                  <a:srgbClr val="1B3A5C"/>
                </a:solidFill>
                <a:latin typeface="Times New Roman"/>
                <a:ea typeface="Microsoft YaHei"/>
              </a:rPr>
              <a:t>COSO-ERM 整合框架</a:t>
            </a:r>
          </a:p>
        </p:txBody>
      </p:sp>
      <p:sp>
        <p:nvSpPr>
          <p:cNvPr id="13" name="Rectangle 12"/>
          <p:cNvSpPr/>
          <p:nvPr/>
        </p:nvSpPr>
        <p:spPr>
          <a:xfrm>
            <a:off x="640080"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51760"/>
            <a:ext cx="2286000" cy="2560320"/>
          </a:xfrm>
          <a:prstGeom prst="rect">
            <a:avLst/>
          </a:prstGeom>
          <a:noFill/>
        </p:spPr>
        <p:txBody>
          <a:bodyPr wrap="square">
            <a:spAutoFit/>
          </a:bodyPr>
          <a:lstStyle/>
          <a:p>
            <a:r>
              <a:rPr sz="1200" b="0">
                <a:solidFill>
                  <a:srgbClr val="2C2C2C"/>
                </a:solidFill>
                <a:latin typeface="Times New Roman"/>
                <a:ea typeface="Microsoft YaHei"/>
              </a:rPr>
              <a:t>• 全员参与、全流程覆盖、全方位监控</a:t>
            </a:r>
          </a:p>
          <a:p>
            <a:r>
              <a:rPr sz="1200" b="0">
                <a:solidFill>
                  <a:srgbClr val="2C2C2C"/>
                </a:solidFill>
                <a:latin typeface="Times New Roman"/>
                <a:ea typeface="Microsoft YaHei"/>
              </a:rPr>
              <a:t>• 战略、运营、报告与合规四大目标</a:t>
            </a:r>
          </a:p>
          <a:p>
            <a:r>
              <a:rPr sz="1200" b="0">
                <a:solidFill>
                  <a:srgbClr val="2C2C2C"/>
                </a:solidFill>
                <a:latin typeface="Times New Roman"/>
                <a:ea typeface="Microsoft YaHei"/>
              </a:rPr>
              <a:t>• 从被动救火走向主动战略风控</a:t>
            </a:r>
          </a:p>
        </p:txBody>
      </p:sp>
      <p:sp>
        <p:nvSpPr>
          <p:cNvPr id="15" name="Rectangle 14"/>
          <p:cNvSpPr/>
          <p:nvPr/>
        </p:nvSpPr>
        <p:spPr>
          <a:xfrm>
            <a:off x="3319272"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02152"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02</a:t>
            </a:r>
          </a:p>
        </p:txBody>
      </p:sp>
      <p:sp>
        <p:nvSpPr>
          <p:cNvPr id="18" name="TextBox 17"/>
          <p:cNvSpPr txBox="1"/>
          <p:nvPr/>
        </p:nvSpPr>
        <p:spPr>
          <a:xfrm>
            <a:off x="3502152" y="1965960"/>
            <a:ext cx="2286000" cy="502920"/>
          </a:xfrm>
          <a:prstGeom prst="rect">
            <a:avLst/>
          </a:prstGeom>
          <a:noFill/>
        </p:spPr>
        <p:txBody>
          <a:bodyPr wrap="none">
            <a:spAutoFit/>
          </a:bodyPr>
          <a:lstStyle/>
          <a:p>
            <a:r>
              <a:rPr sz="1500" b="1">
                <a:solidFill>
                  <a:srgbClr val="1B3A5C"/>
                </a:solidFill>
                <a:latin typeface="Times New Roman"/>
                <a:ea typeface="Microsoft YaHei"/>
              </a:rPr>
              <a:t>三道防线风控架构</a:t>
            </a:r>
          </a:p>
        </p:txBody>
      </p:sp>
      <p:sp>
        <p:nvSpPr>
          <p:cNvPr id="19" name="Rectangle 18"/>
          <p:cNvSpPr/>
          <p:nvPr/>
        </p:nvSpPr>
        <p:spPr>
          <a:xfrm>
            <a:off x="3502152"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2651760"/>
            <a:ext cx="2286000" cy="2560320"/>
          </a:xfrm>
          <a:prstGeom prst="rect">
            <a:avLst/>
          </a:prstGeom>
          <a:noFill/>
        </p:spPr>
        <p:txBody>
          <a:bodyPr wrap="square">
            <a:spAutoFit/>
          </a:bodyPr>
          <a:lstStyle/>
          <a:p>
            <a:r>
              <a:rPr sz="1200" b="0">
                <a:solidFill>
                  <a:srgbClr val="2C2C2C"/>
                </a:solidFill>
                <a:latin typeface="Times New Roman"/>
                <a:ea typeface="Microsoft YaHei"/>
              </a:rPr>
              <a:t>• 第一道防线：一线业务部门自我控制</a:t>
            </a:r>
          </a:p>
          <a:p>
            <a:r>
              <a:rPr sz="1200" b="0">
                <a:solidFill>
                  <a:srgbClr val="2C2C2C"/>
                </a:solidFill>
                <a:latin typeface="Times New Roman"/>
                <a:ea typeface="Microsoft YaHei"/>
              </a:rPr>
              <a:t>• 第二道防线：合规与风险管理部门监督</a:t>
            </a:r>
          </a:p>
          <a:p>
            <a:r>
              <a:rPr sz="1200" b="0">
                <a:solidFill>
                  <a:srgbClr val="2C2C2C"/>
                </a:solidFill>
                <a:latin typeface="Times New Roman"/>
                <a:ea typeface="Microsoft YaHei"/>
              </a:rPr>
              <a:t>• 第三道防线：独立内部审计再监督</a:t>
            </a:r>
          </a:p>
        </p:txBody>
      </p:sp>
      <p:sp>
        <p:nvSpPr>
          <p:cNvPr id="21" name="Rectangle 20"/>
          <p:cNvSpPr/>
          <p:nvPr/>
        </p:nvSpPr>
        <p:spPr>
          <a:xfrm>
            <a:off x="6181344"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1344"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64224"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03</a:t>
            </a:r>
          </a:p>
        </p:txBody>
      </p:sp>
      <p:sp>
        <p:nvSpPr>
          <p:cNvPr id="24" name="TextBox 23"/>
          <p:cNvSpPr txBox="1"/>
          <p:nvPr/>
        </p:nvSpPr>
        <p:spPr>
          <a:xfrm>
            <a:off x="6364224" y="1965960"/>
            <a:ext cx="2286000" cy="502920"/>
          </a:xfrm>
          <a:prstGeom prst="rect">
            <a:avLst/>
          </a:prstGeom>
          <a:noFill/>
        </p:spPr>
        <p:txBody>
          <a:bodyPr wrap="none">
            <a:spAutoFit/>
          </a:bodyPr>
          <a:lstStyle/>
          <a:p>
            <a:r>
              <a:rPr sz="1500" b="1">
                <a:solidFill>
                  <a:srgbClr val="1B3A5C"/>
                </a:solidFill>
                <a:latin typeface="Times New Roman"/>
                <a:ea typeface="Microsoft YaHei"/>
              </a:rPr>
              <a:t>业务连续性计划 (BCP)</a:t>
            </a:r>
          </a:p>
        </p:txBody>
      </p:sp>
      <p:sp>
        <p:nvSpPr>
          <p:cNvPr id="25" name="Rectangle 24"/>
          <p:cNvSpPr/>
          <p:nvPr/>
        </p:nvSpPr>
        <p:spPr>
          <a:xfrm>
            <a:off x="6364224"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2651760"/>
            <a:ext cx="2286000" cy="2560320"/>
          </a:xfrm>
          <a:prstGeom prst="rect">
            <a:avLst/>
          </a:prstGeom>
          <a:noFill/>
        </p:spPr>
        <p:txBody>
          <a:bodyPr wrap="square">
            <a:spAutoFit/>
          </a:bodyPr>
          <a:lstStyle/>
          <a:p>
            <a:r>
              <a:rPr sz="1200" b="0">
                <a:solidFill>
                  <a:srgbClr val="2C2C2C"/>
                </a:solidFill>
                <a:latin typeface="Times New Roman"/>
                <a:ea typeface="Microsoft YaHei"/>
              </a:rPr>
              <a:t>• 防范火灾、地震、疫情、断网等极端灾难</a:t>
            </a:r>
          </a:p>
          <a:p>
            <a:r>
              <a:rPr sz="1200" b="0">
                <a:solidFill>
                  <a:srgbClr val="2C2C2C"/>
                </a:solidFill>
                <a:latin typeface="Times New Roman"/>
                <a:ea typeface="Microsoft YaHei"/>
              </a:rPr>
              <a:t>• 异地数据中心灾备与应急供应链预案</a:t>
            </a:r>
          </a:p>
          <a:p>
            <a:r>
              <a:rPr sz="1200" b="0">
                <a:solidFill>
                  <a:srgbClr val="2C2C2C"/>
                </a:solidFill>
                <a:latin typeface="Times New Roman"/>
                <a:ea typeface="Microsoft YaHei"/>
              </a:rPr>
              <a:t>• 确保企业核心功能在 24 小时内恢复</a:t>
            </a:r>
          </a:p>
        </p:txBody>
      </p:sp>
      <p:sp>
        <p:nvSpPr>
          <p:cNvPr id="27" name="Rectangle 26"/>
          <p:cNvSpPr/>
          <p:nvPr/>
        </p:nvSpPr>
        <p:spPr>
          <a:xfrm>
            <a:off x="9043416"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43416"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226296"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04</a:t>
            </a:r>
          </a:p>
        </p:txBody>
      </p:sp>
      <p:sp>
        <p:nvSpPr>
          <p:cNvPr id="30" name="TextBox 29"/>
          <p:cNvSpPr txBox="1"/>
          <p:nvPr/>
        </p:nvSpPr>
        <p:spPr>
          <a:xfrm>
            <a:off x="9226296" y="1965960"/>
            <a:ext cx="2286000" cy="502920"/>
          </a:xfrm>
          <a:prstGeom prst="rect">
            <a:avLst/>
          </a:prstGeom>
          <a:noFill/>
        </p:spPr>
        <p:txBody>
          <a:bodyPr wrap="none">
            <a:spAutoFit/>
          </a:bodyPr>
          <a:lstStyle/>
          <a:p>
            <a:r>
              <a:rPr sz="1500" b="1">
                <a:solidFill>
                  <a:srgbClr val="1B3A5C"/>
                </a:solidFill>
                <a:latin typeface="Times New Roman"/>
                <a:ea typeface="Microsoft YaHei"/>
              </a:rPr>
              <a:t>反脆弱性组织塑造</a:t>
            </a:r>
          </a:p>
        </p:txBody>
      </p:sp>
      <p:sp>
        <p:nvSpPr>
          <p:cNvPr id="31" name="Rectangle 30"/>
          <p:cNvSpPr/>
          <p:nvPr/>
        </p:nvSpPr>
        <p:spPr>
          <a:xfrm>
            <a:off x="9226296"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26296" y="2651760"/>
            <a:ext cx="2286000" cy="2560320"/>
          </a:xfrm>
          <a:prstGeom prst="rect">
            <a:avLst/>
          </a:prstGeom>
          <a:noFill/>
        </p:spPr>
        <p:txBody>
          <a:bodyPr wrap="square">
            <a:spAutoFit/>
          </a:bodyPr>
          <a:lstStyle/>
          <a:p>
            <a:r>
              <a:rPr sz="1200" b="0">
                <a:solidFill>
                  <a:srgbClr val="2C2C2C"/>
                </a:solidFill>
                <a:latin typeface="Times New Roman"/>
                <a:ea typeface="Microsoft YaHei"/>
              </a:rPr>
              <a:t>• 适度保持关键零部件双源备份 (Dual-sourcing)</a:t>
            </a:r>
          </a:p>
          <a:p>
            <a:r>
              <a:rPr sz="1200" b="0">
                <a:solidFill>
                  <a:srgbClr val="2C2C2C"/>
                </a:solidFill>
                <a:latin typeface="Times New Roman"/>
                <a:ea typeface="Microsoft YaHei"/>
              </a:rPr>
              <a:t>• 保持充裕的低成本现金流储备</a:t>
            </a:r>
          </a:p>
          <a:p>
            <a:r>
              <a:rPr sz="1200" b="0">
                <a:solidFill>
                  <a:srgbClr val="2C2C2C"/>
                </a:solidFill>
                <a:latin typeface="Times New Roman"/>
                <a:ea typeface="Microsoft YaHei"/>
              </a:rPr>
              <a:t>• 在不确定性危机中寻找逆势增长机会</a:t>
            </a:r>
          </a:p>
        </p:txBody>
      </p:sp>
      <p:sp>
        <p:nvSpPr>
          <p:cNvPr id="33" name="Rectangle 32"/>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归纳要义：现代企业的风控体系已经从单一的财务审计，演变为守护企业生存与反脆弱成长的系统工程。</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案例研讨</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案例 9-1：某创新生物制药企业新药研发决策树与风险对冲</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第9章 企业决策中的风险分析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18</a:t>
            </a:r>
          </a:p>
        </p:txBody>
      </p:sp>
      <p:sp>
        <p:nvSpPr>
          <p:cNvPr id="9" name="Rectangle 8"/>
          <p:cNvSpPr/>
          <p:nvPr/>
        </p:nvSpPr>
        <p:spPr>
          <a:xfrm>
            <a:off x="457200" y="1325880"/>
            <a:ext cx="11247120" cy="457200"/>
          </a:xfrm>
          <a:prstGeom prst="rect">
            <a:avLst/>
          </a:prstGeom>
          <a:solidFill>
            <a:srgbClr val="EBF3FA"/>
          </a:solidFill>
          <a:ln w="1524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9144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353312"/>
            <a:ext cx="10789920" cy="411480"/>
          </a:xfrm>
          <a:prstGeom prst="rect">
            <a:avLst/>
          </a:prstGeom>
          <a:noFill/>
        </p:spPr>
        <p:txBody>
          <a:bodyPr wrap="none">
            <a:spAutoFit/>
          </a:bodyPr>
          <a:lstStyle/>
          <a:p>
            <a:r>
              <a:rPr sz="1550" b="1">
                <a:solidFill>
                  <a:srgbClr val="1B3A5C"/>
                </a:solidFill>
                <a:latin typeface="Times New Roman"/>
                <a:ea typeface="Microsoft YaHei"/>
              </a:rPr>
              <a:t>📖 案例研讨：创新药研发三期临床跨阶段决策与战略期权</a:t>
            </a:r>
          </a:p>
        </p:txBody>
      </p:sp>
      <p:sp>
        <p:nvSpPr>
          <p:cNvPr id="12" name="Rectangle 11"/>
          <p:cNvSpPr/>
          <p:nvPr/>
        </p:nvSpPr>
        <p:spPr>
          <a:xfrm>
            <a:off x="457200" y="1920240"/>
            <a:ext cx="2674620" cy="3291840"/>
          </a:xfrm>
          <a:prstGeom prst="rect">
            <a:avLst/>
          </a:prstGeom>
          <a:solidFill>
            <a:srgbClr val="FEFCF6"/>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1920240"/>
            <a:ext cx="2674620" cy="411480"/>
          </a:xfrm>
          <a:prstGeom prst="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1965960"/>
            <a:ext cx="2491740" cy="347472"/>
          </a:xfrm>
          <a:prstGeom prst="rect">
            <a:avLst/>
          </a:prstGeom>
          <a:noFill/>
        </p:spPr>
        <p:txBody>
          <a:bodyPr wrap="none">
            <a:spAutoFit/>
          </a:bodyPr>
          <a:lstStyle/>
          <a:p>
            <a:pPr algn="ctr"/>
            <a:r>
              <a:rPr sz="1300" b="1">
                <a:solidFill>
                  <a:srgbClr val="1B3A5C"/>
                </a:solidFill>
                <a:latin typeface="Times New Roman"/>
                <a:ea typeface="Microsoft YaHei"/>
              </a:rPr>
              <a:t>一期与二期临床</a:t>
            </a:r>
          </a:p>
        </p:txBody>
      </p:sp>
      <p:sp>
        <p:nvSpPr>
          <p:cNvPr id="15" name="TextBox 14"/>
          <p:cNvSpPr txBox="1"/>
          <p:nvPr/>
        </p:nvSpPr>
        <p:spPr>
          <a:xfrm>
            <a:off x="594360" y="2423160"/>
            <a:ext cx="2400300" cy="2697480"/>
          </a:xfrm>
          <a:prstGeom prst="rect">
            <a:avLst/>
          </a:prstGeom>
          <a:noFill/>
        </p:spPr>
        <p:txBody>
          <a:bodyPr wrap="square">
            <a:spAutoFit/>
          </a:bodyPr>
          <a:lstStyle/>
          <a:p>
            <a:r>
              <a:rPr sz="1200" b="0">
                <a:solidFill>
                  <a:srgbClr val="2C2C2C"/>
                </a:solidFill>
                <a:latin typeface="Times New Roman"/>
                <a:ea typeface="Microsoft YaHei"/>
              </a:rPr>
              <a:t>• 投入 5000 万元，成功概率 40%</a:t>
            </a:r>
          </a:p>
          <a:p>
            <a:r>
              <a:rPr sz="1200" b="0">
                <a:solidFill>
                  <a:srgbClr val="2C2C2C"/>
                </a:solidFill>
                <a:latin typeface="Times New Roman"/>
                <a:ea typeface="Microsoft YaHei"/>
              </a:rPr>
              <a:t>• 若失败则全额沉没，若成功进入三期大样本临床验证</a:t>
            </a:r>
          </a:p>
        </p:txBody>
      </p:sp>
      <p:sp>
        <p:nvSpPr>
          <p:cNvPr id="16" name="Rectangle 15"/>
          <p:cNvSpPr/>
          <p:nvPr/>
        </p:nvSpPr>
        <p:spPr>
          <a:xfrm>
            <a:off x="3314700" y="1920240"/>
            <a:ext cx="2674620" cy="3291840"/>
          </a:xfrm>
          <a:prstGeom prst="rect">
            <a:avLst/>
          </a:prstGeom>
          <a:solidFill>
            <a:srgbClr val="FEFCF6"/>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14700" y="1920240"/>
            <a:ext cx="2674620" cy="411480"/>
          </a:xfrm>
          <a:prstGeom prst="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06140" y="1965960"/>
            <a:ext cx="2491740" cy="347472"/>
          </a:xfrm>
          <a:prstGeom prst="rect">
            <a:avLst/>
          </a:prstGeom>
          <a:noFill/>
        </p:spPr>
        <p:txBody>
          <a:bodyPr wrap="none">
            <a:spAutoFit/>
          </a:bodyPr>
          <a:lstStyle/>
          <a:p>
            <a:pPr algn="ctr"/>
            <a:r>
              <a:rPr sz="1300" b="1">
                <a:solidFill>
                  <a:srgbClr val="1B3A5C"/>
                </a:solidFill>
                <a:latin typeface="Times New Roman"/>
                <a:ea typeface="Microsoft YaHei"/>
              </a:rPr>
              <a:t>三期关键抉择</a:t>
            </a:r>
          </a:p>
        </p:txBody>
      </p:sp>
      <p:sp>
        <p:nvSpPr>
          <p:cNvPr id="19" name="TextBox 18"/>
          <p:cNvSpPr txBox="1"/>
          <p:nvPr/>
        </p:nvSpPr>
        <p:spPr>
          <a:xfrm>
            <a:off x="3451860" y="2423160"/>
            <a:ext cx="2400300" cy="2697480"/>
          </a:xfrm>
          <a:prstGeom prst="rect">
            <a:avLst/>
          </a:prstGeom>
          <a:noFill/>
        </p:spPr>
        <p:txBody>
          <a:bodyPr wrap="square">
            <a:spAutoFit/>
          </a:bodyPr>
          <a:lstStyle/>
          <a:p>
            <a:r>
              <a:rPr sz="1200" b="0">
                <a:solidFill>
                  <a:srgbClr val="2C2C2C"/>
                </a:solidFill>
                <a:latin typeface="Times New Roman"/>
                <a:ea typeface="Microsoft YaHei"/>
              </a:rPr>
              <a:t>• 面临自建三期临床（追加 2 亿元，成功率 60%）vs 早期对外授权 (License-out) 获得 8000 万保底首付款</a:t>
            </a:r>
          </a:p>
          <a:p>
            <a:r>
              <a:rPr sz="1200" b="0">
                <a:solidFill>
                  <a:srgbClr val="2C2C2C"/>
                </a:solidFill>
                <a:latin typeface="Times New Roman"/>
                <a:ea typeface="Microsoft YaHei"/>
              </a:rPr>
              <a:t>• 运用决策树逆向回溯比较期望净现值</a:t>
            </a:r>
          </a:p>
        </p:txBody>
      </p:sp>
      <p:sp>
        <p:nvSpPr>
          <p:cNvPr id="20" name="Rectangle 19"/>
          <p:cNvSpPr/>
          <p:nvPr/>
        </p:nvSpPr>
        <p:spPr>
          <a:xfrm>
            <a:off x="6172200" y="1920240"/>
            <a:ext cx="2674620" cy="3291840"/>
          </a:xfrm>
          <a:prstGeom prst="rect">
            <a:avLst/>
          </a:prstGeom>
          <a:solidFill>
            <a:srgbClr val="FEFCF6"/>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72200" y="1920240"/>
            <a:ext cx="2674620" cy="411480"/>
          </a:xfrm>
          <a:prstGeom prst="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3640" y="1965960"/>
            <a:ext cx="2491740" cy="347472"/>
          </a:xfrm>
          <a:prstGeom prst="rect">
            <a:avLst/>
          </a:prstGeom>
          <a:noFill/>
        </p:spPr>
        <p:txBody>
          <a:bodyPr wrap="none">
            <a:spAutoFit/>
          </a:bodyPr>
          <a:lstStyle/>
          <a:p>
            <a:pPr algn="ctr"/>
            <a:r>
              <a:rPr sz="1300" b="1">
                <a:solidFill>
                  <a:srgbClr val="1B3A5C"/>
                </a:solidFill>
                <a:latin typeface="Times New Roman"/>
                <a:ea typeface="Microsoft YaHei"/>
              </a:rPr>
              <a:t>跨国合作对冲</a:t>
            </a:r>
          </a:p>
        </p:txBody>
      </p:sp>
      <p:sp>
        <p:nvSpPr>
          <p:cNvPr id="23" name="TextBox 22"/>
          <p:cNvSpPr txBox="1"/>
          <p:nvPr/>
        </p:nvSpPr>
        <p:spPr>
          <a:xfrm>
            <a:off x="6309360" y="2423160"/>
            <a:ext cx="2400300" cy="2697480"/>
          </a:xfrm>
          <a:prstGeom prst="rect">
            <a:avLst/>
          </a:prstGeom>
          <a:noFill/>
        </p:spPr>
        <p:txBody>
          <a:bodyPr wrap="square">
            <a:spAutoFit/>
          </a:bodyPr>
          <a:lstStyle/>
          <a:p>
            <a:r>
              <a:rPr sz="1200" b="0">
                <a:solidFill>
                  <a:srgbClr val="2C2C2C"/>
                </a:solidFill>
                <a:latin typeface="Times New Roman"/>
                <a:ea typeface="Microsoft YaHei"/>
              </a:rPr>
              <a:t>• 采取「首付款 + 阶段里程碑款 + 未来全球销售分成」的组合协议</a:t>
            </a:r>
          </a:p>
          <a:p>
            <a:r>
              <a:rPr sz="1200" b="0">
                <a:solidFill>
                  <a:srgbClr val="2C2C2C"/>
                </a:solidFill>
                <a:latin typeface="Times New Roman"/>
                <a:ea typeface="Microsoft YaHei"/>
              </a:rPr>
              <a:t>• 将三期临床巨额失败风险转移给跨国药企巨头</a:t>
            </a:r>
          </a:p>
        </p:txBody>
      </p:sp>
      <p:sp>
        <p:nvSpPr>
          <p:cNvPr id="24" name="Rectangle 23"/>
          <p:cNvSpPr/>
          <p:nvPr/>
        </p:nvSpPr>
        <p:spPr>
          <a:xfrm>
            <a:off x="9029700" y="1920240"/>
            <a:ext cx="2674620" cy="3291840"/>
          </a:xfrm>
          <a:prstGeom prst="rect">
            <a:avLst/>
          </a:prstGeom>
          <a:solidFill>
            <a:srgbClr val="FEFCF6"/>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29700" y="1920240"/>
            <a:ext cx="2674620" cy="411480"/>
          </a:xfrm>
          <a:prstGeom prst="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21140" y="1965960"/>
            <a:ext cx="2491740" cy="347472"/>
          </a:xfrm>
          <a:prstGeom prst="rect">
            <a:avLst/>
          </a:prstGeom>
          <a:noFill/>
        </p:spPr>
        <p:txBody>
          <a:bodyPr wrap="none">
            <a:spAutoFit/>
          </a:bodyPr>
          <a:lstStyle/>
          <a:p>
            <a:pPr algn="ctr"/>
            <a:r>
              <a:rPr sz="1300" b="1">
                <a:solidFill>
                  <a:srgbClr val="1B3A5C"/>
                </a:solidFill>
                <a:latin typeface="Times New Roman"/>
                <a:ea typeface="Microsoft YaHei"/>
              </a:rPr>
              <a:t>战略启示</a:t>
            </a:r>
          </a:p>
        </p:txBody>
      </p:sp>
      <p:sp>
        <p:nvSpPr>
          <p:cNvPr id="27" name="TextBox 26"/>
          <p:cNvSpPr txBox="1"/>
          <p:nvPr/>
        </p:nvSpPr>
        <p:spPr>
          <a:xfrm>
            <a:off x="9166860" y="2423160"/>
            <a:ext cx="2400300" cy="2697480"/>
          </a:xfrm>
          <a:prstGeom prst="rect">
            <a:avLst/>
          </a:prstGeom>
          <a:noFill/>
        </p:spPr>
        <p:txBody>
          <a:bodyPr wrap="square">
            <a:spAutoFit/>
          </a:bodyPr>
          <a:lstStyle/>
          <a:p>
            <a:r>
              <a:rPr sz="1200" b="0">
                <a:solidFill>
                  <a:srgbClr val="2C2C2C"/>
                </a:solidFill>
                <a:latin typeface="Times New Roman"/>
                <a:ea typeface="Microsoft YaHei"/>
              </a:rPr>
              <a:t>• 通过阶段性期权与合作分担，将毁灭性研发风险转化为稳健现金流</a:t>
            </a:r>
          </a:p>
          <a:p>
            <a:r>
              <a:rPr sz="1200" b="0">
                <a:solidFill>
                  <a:srgbClr val="2C2C2C"/>
                </a:solidFill>
                <a:latin typeface="Times New Roman"/>
                <a:ea typeface="Microsoft YaHei"/>
              </a:rPr>
              <a:t>• 验证了决策树与风险分散工具的巨大威力</a:t>
            </a:r>
          </a:p>
        </p:txBody>
      </p:sp>
      <p:sp>
        <p:nvSpPr>
          <p:cNvPr id="28" name="Rectangle 27"/>
          <p:cNvSpPr/>
          <p:nvPr/>
        </p:nvSpPr>
        <p:spPr>
          <a:xfrm>
            <a:off x="457200" y="5349240"/>
            <a:ext cx="11247120" cy="914400"/>
          </a:xfrm>
          <a:prstGeom prst="rect">
            <a:avLst/>
          </a:prstGeom>
          <a:solidFill>
            <a:srgbClr val="DCEDF8"/>
          </a:solidFill>
          <a:ln w="1524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5413248"/>
            <a:ext cx="10881360" cy="804672"/>
          </a:xfrm>
          <a:prstGeom prst="rect">
            <a:avLst/>
          </a:prstGeom>
          <a:noFill/>
        </p:spPr>
        <p:txBody>
          <a:bodyPr wrap="none">
            <a:spAutoFit/>
          </a:bodyPr>
          <a:lstStyle/>
          <a:p>
            <a:r>
              <a:rPr sz="1300" b="1">
                <a:solidFill>
                  <a:srgbClr val="1B3A5C"/>
                </a:solidFill>
                <a:latin typeface="Times New Roman"/>
                <a:ea typeface="Microsoft YaHei"/>
              </a:rPr>
              <a:t>🎯 管理经济学启示与决策启示：</a:t>
            </a:r>
          </a:p>
          <a:p>
            <a:r>
              <a:rPr sz="1200" b="0">
                <a:solidFill>
                  <a:srgbClr val="2C2C2C"/>
                </a:solidFill>
                <a:latin typeface="Times New Roman"/>
                <a:ea typeface="Microsoft YaHei"/>
              </a:rPr>
              <a:t>高风险高回报的战略投资必须善用「阶段式决策树 + 跨国风险分担」的动态对冲设计。</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本章小结</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第9章 风险决策分析全景知识复盘</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第9章 企业决策中的风险分析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19</a:t>
            </a:r>
          </a:p>
        </p:txBody>
      </p:sp>
      <p:sp>
        <p:nvSpPr>
          <p:cNvPr id="9" name="Rectangle 8"/>
          <p:cNvSpPr/>
          <p:nvPr/>
        </p:nvSpPr>
        <p:spPr>
          <a:xfrm>
            <a:off x="457200"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01</a:t>
            </a:r>
          </a:p>
        </p:txBody>
      </p:sp>
      <p:sp>
        <p:nvSpPr>
          <p:cNvPr id="12" name="TextBox 11"/>
          <p:cNvSpPr txBox="1"/>
          <p:nvPr/>
        </p:nvSpPr>
        <p:spPr>
          <a:xfrm>
            <a:off x="640080" y="1965960"/>
            <a:ext cx="2286000" cy="502920"/>
          </a:xfrm>
          <a:prstGeom prst="rect">
            <a:avLst/>
          </a:prstGeom>
          <a:noFill/>
        </p:spPr>
        <p:txBody>
          <a:bodyPr wrap="none">
            <a:spAutoFit/>
          </a:bodyPr>
          <a:lstStyle/>
          <a:p>
            <a:r>
              <a:rPr sz="1500" b="1">
                <a:solidFill>
                  <a:srgbClr val="1B3A5C"/>
                </a:solidFill>
                <a:latin typeface="Times New Roman"/>
                <a:ea typeface="Microsoft YaHei"/>
              </a:rPr>
              <a:t>风险度量</a:t>
            </a:r>
          </a:p>
        </p:txBody>
      </p:sp>
      <p:sp>
        <p:nvSpPr>
          <p:cNvPr id="13" name="Rectangle 12"/>
          <p:cNvSpPr/>
          <p:nvPr/>
        </p:nvSpPr>
        <p:spPr>
          <a:xfrm>
            <a:off x="640080"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51760"/>
            <a:ext cx="2286000" cy="2560320"/>
          </a:xfrm>
          <a:prstGeom prst="rect">
            <a:avLst/>
          </a:prstGeom>
          <a:noFill/>
        </p:spPr>
        <p:txBody>
          <a:bodyPr wrap="square">
            <a:spAutoFit/>
          </a:bodyPr>
          <a:lstStyle/>
          <a:p>
            <a:r>
              <a:rPr sz="1200" b="0">
                <a:solidFill>
                  <a:srgbClr val="2C2C2C"/>
                </a:solidFill>
                <a:latin typeface="Times New Roman"/>
                <a:ea typeface="Microsoft YaHei"/>
              </a:rPr>
              <a:t>• EV 衡量预期平均回报</a:t>
            </a:r>
          </a:p>
          <a:p>
            <a:r>
              <a:rPr sz="1200" b="0">
                <a:solidFill>
                  <a:srgbClr val="2C2C2C"/>
                </a:solidFill>
                <a:latin typeface="Times New Roman"/>
                <a:ea typeface="Microsoft YaHei"/>
              </a:rPr>
              <a:t>• 标准差 σ 衡量绝对离散</a:t>
            </a:r>
          </a:p>
          <a:p>
            <a:r>
              <a:rPr sz="1200" b="0">
                <a:solidFill>
                  <a:srgbClr val="2C2C2C"/>
                </a:solidFill>
                <a:latin typeface="Times New Roman"/>
                <a:ea typeface="Microsoft YaHei"/>
              </a:rPr>
              <a:t>• 变异系数 CV 衡量相对风险</a:t>
            </a:r>
          </a:p>
          <a:p>
            <a:r>
              <a:rPr sz="1200" b="0">
                <a:solidFill>
                  <a:srgbClr val="2C2C2C"/>
                </a:solidFill>
                <a:latin typeface="Times New Roman"/>
                <a:ea typeface="Microsoft YaHei"/>
              </a:rPr>
              <a:t>• 概率分布的科学界定</a:t>
            </a:r>
          </a:p>
        </p:txBody>
      </p:sp>
      <p:sp>
        <p:nvSpPr>
          <p:cNvPr id="15" name="Rectangle 14"/>
          <p:cNvSpPr/>
          <p:nvPr/>
        </p:nvSpPr>
        <p:spPr>
          <a:xfrm>
            <a:off x="3319272"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02152"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02</a:t>
            </a:r>
          </a:p>
        </p:txBody>
      </p:sp>
      <p:sp>
        <p:nvSpPr>
          <p:cNvPr id="18" name="TextBox 17"/>
          <p:cNvSpPr txBox="1"/>
          <p:nvPr/>
        </p:nvSpPr>
        <p:spPr>
          <a:xfrm>
            <a:off x="3502152" y="1965960"/>
            <a:ext cx="2286000" cy="502920"/>
          </a:xfrm>
          <a:prstGeom prst="rect">
            <a:avLst/>
          </a:prstGeom>
          <a:noFill/>
        </p:spPr>
        <p:txBody>
          <a:bodyPr wrap="none">
            <a:spAutoFit/>
          </a:bodyPr>
          <a:lstStyle/>
          <a:p>
            <a:r>
              <a:rPr sz="1500" b="1">
                <a:solidFill>
                  <a:srgbClr val="1B3A5C"/>
                </a:solidFill>
                <a:latin typeface="Times New Roman"/>
                <a:ea typeface="Microsoft YaHei"/>
              </a:rPr>
              <a:t>决策树工具</a:t>
            </a:r>
          </a:p>
        </p:txBody>
      </p:sp>
      <p:sp>
        <p:nvSpPr>
          <p:cNvPr id="19" name="Rectangle 18"/>
          <p:cNvSpPr/>
          <p:nvPr/>
        </p:nvSpPr>
        <p:spPr>
          <a:xfrm>
            <a:off x="3502152"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2651760"/>
            <a:ext cx="2286000" cy="2560320"/>
          </a:xfrm>
          <a:prstGeom prst="rect">
            <a:avLst/>
          </a:prstGeom>
          <a:noFill/>
        </p:spPr>
        <p:txBody>
          <a:bodyPr wrap="square">
            <a:spAutoFit/>
          </a:bodyPr>
          <a:lstStyle/>
          <a:p>
            <a:r>
              <a:rPr sz="1200" b="0">
                <a:solidFill>
                  <a:srgbClr val="2C2C2C"/>
                </a:solidFill>
                <a:latin typeface="Times New Roman"/>
                <a:ea typeface="Microsoft YaHei"/>
              </a:rPr>
              <a:t>• 方框决策与圆圈状态节点</a:t>
            </a:r>
          </a:p>
          <a:p>
            <a:r>
              <a:rPr sz="1200" b="0">
                <a:solidFill>
                  <a:srgbClr val="2C2C2C"/>
                </a:solidFill>
                <a:latin typeface="Times New Roman"/>
                <a:ea typeface="Microsoft YaHei"/>
              </a:rPr>
              <a:t>• 逆向回溯折现计算</a:t>
            </a:r>
          </a:p>
          <a:p>
            <a:r>
              <a:rPr sz="1200" b="0">
                <a:solidFill>
                  <a:srgbClr val="2C2C2C"/>
                </a:solidFill>
                <a:latin typeface="Times New Roman"/>
                <a:ea typeface="Microsoft YaHei"/>
              </a:rPr>
              <a:t>• 科学剪枝锁定最优路线</a:t>
            </a:r>
          </a:p>
          <a:p>
            <a:r>
              <a:rPr sz="1200" b="0">
                <a:solidFill>
                  <a:srgbClr val="2C2C2C"/>
                </a:solidFill>
                <a:latin typeface="Times New Roman"/>
                <a:ea typeface="Microsoft YaHei"/>
              </a:rPr>
              <a:t>• 动态推演多阶段行动</a:t>
            </a:r>
          </a:p>
        </p:txBody>
      </p:sp>
      <p:sp>
        <p:nvSpPr>
          <p:cNvPr id="21" name="Rectangle 20"/>
          <p:cNvSpPr/>
          <p:nvPr/>
        </p:nvSpPr>
        <p:spPr>
          <a:xfrm>
            <a:off x="6181344"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1344"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64224"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03</a:t>
            </a:r>
          </a:p>
        </p:txBody>
      </p:sp>
      <p:sp>
        <p:nvSpPr>
          <p:cNvPr id="24" name="TextBox 23"/>
          <p:cNvSpPr txBox="1"/>
          <p:nvPr/>
        </p:nvSpPr>
        <p:spPr>
          <a:xfrm>
            <a:off x="6364224" y="1965960"/>
            <a:ext cx="2286000" cy="502920"/>
          </a:xfrm>
          <a:prstGeom prst="rect">
            <a:avLst/>
          </a:prstGeom>
          <a:noFill/>
        </p:spPr>
        <p:txBody>
          <a:bodyPr wrap="none">
            <a:spAutoFit/>
          </a:bodyPr>
          <a:lstStyle/>
          <a:p>
            <a:r>
              <a:rPr sz="1500" b="1">
                <a:solidFill>
                  <a:srgbClr val="1B3A5C"/>
                </a:solidFill>
                <a:latin typeface="Times New Roman"/>
                <a:ea typeface="Microsoft YaHei"/>
              </a:rPr>
              <a:t>效用偏好</a:t>
            </a:r>
          </a:p>
        </p:txBody>
      </p:sp>
      <p:sp>
        <p:nvSpPr>
          <p:cNvPr id="25" name="Rectangle 24"/>
          <p:cNvSpPr/>
          <p:nvPr/>
        </p:nvSpPr>
        <p:spPr>
          <a:xfrm>
            <a:off x="6364224"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2651760"/>
            <a:ext cx="2286000" cy="2560320"/>
          </a:xfrm>
          <a:prstGeom prst="rect">
            <a:avLst/>
          </a:prstGeom>
          <a:noFill/>
        </p:spPr>
        <p:txBody>
          <a:bodyPr wrap="square">
            <a:spAutoFit/>
          </a:bodyPr>
          <a:lstStyle/>
          <a:p>
            <a:r>
              <a:rPr sz="1200" b="0">
                <a:solidFill>
                  <a:srgbClr val="2C2C2C"/>
                </a:solidFill>
                <a:latin typeface="Times New Roman"/>
                <a:ea typeface="Microsoft YaHei"/>
              </a:rPr>
              <a:t>• 风险规避凸效用曲线</a:t>
            </a:r>
          </a:p>
          <a:p>
            <a:r>
              <a:rPr sz="1200" b="0">
                <a:solidFill>
                  <a:srgbClr val="2C2C2C"/>
                </a:solidFill>
                <a:latin typeface="Times New Roman"/>
                <a:ea typeface="Microsoft YaHei"/>
              </a:rPr>
              <a:t>• 确定性等值 CE 测算</a:t>
            </a:r>
          </a:p>
          <a:p>
            <a:r>
              <a:rPr sz="1200" b="0">
                <a:solidFill>
                  <a:srgbClr val="2C2C2C"/>
                </a:solidFill>
                <a:latin typeface="Times New Roman"/>
                <a:ea typeface="Microsoft YaHei"/>
              </a:rPr>
              <a:t>• 不确定性悲观/乐观准则</a:t>
            </a:r>
          </a:p>
          <a:p>
            <a:r>
              <a:rPr sz="1200" b="0">
                <a:solidFill>
                  <a:srgbClr val="2C2C2C"/>
                </a:solidFill>
                <a:latin typeface="Times New Roman"/>
                <a:ea typeface="Microsoft YaHei"/>
              </a:rPr>
              <a:t>• 萨维奇最小最大遗憾准则</a:t>
            </a:r>
          </a:p>
        </p:txBody>
      </p:sp>
      <p:sp>
        <p:nvSpPr>
          <p:cNvPr id="27" name="Rectangle 26"/>
          <p:cNvSpPr/>
          <p:nvPr/>
        </p:nvSpPr>
        <p:spPr>
          <a:xfrm>
            <a:off x="9043416"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43416"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226296"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04</a:t>
            </a:r>
          </a:p>
        </p:txBody>
      </p:sp>
      <p:sp>
        <p:nvSpPr>
          <p:cNvPr id="30" name="TextBox 29"/>
          <p:cNvSpPr txBox="1"/>
          <p:nvPr/>
        </p:nvSpPr>
        <p:spPr>
          <a:xfrm>
            <a:off x="9226296" y="1965960"/>
            <a:ext cx="2286000" cy="502920"/>
          </a:xfrm>
          <a:prstGeom prst="rect">
            <a:avLst/>
          </a:prstGeom>
          <a:noFill/>
        </p:spPr>
        <p:txBody>
          <a:bodyPr wrap="none">
            <a:spAutoFit/>
          </a:bodyPr>
          <a:lstStyle/>
          <a:p>
            <a:r>
              <a:rPr sz="1500" b="1">
                <a:solidFill>
                  <a:srgbClr val="1B3A5C"/>
                </a:solidFill>
                <a:latin typeface="Times New Roman"/>
                <a:ea typeface="Microsoft YaHei"/>
              </a:rPr>
              <a:t>防范机制</a:t>
            </a:r>
          </a:p>
        </p:txBody>
      </p:sp>
      <p:sp>
        <p:nvSpPr>
          <p:cNvPr id="31" name="Rectangle 30"/>
          <p:cNvSpPr/>
          <p:nvPr/>
        </p:nvSpPr>
        <p:spPr>
          <a:xfrm>
            <a:off x="9226296"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26296" y="2651760"/>
            <a:ext cx="2286000" cy="2560320"/>
          </a:xfrm>
          <a:prstGeom prst="rect">
            <a:avLst/>
          </a:prstGeom>
          <a:noFill/>
        </p:spPr>
        <p:txBody>
          <a:bodyPr wrap="square">
            <a:spAutoFit/>
          </a:bodyPr>
          <a:lstStyle/>
          <a:p>
            <a:r>
              <a:rPr sz="1200" b="0">
                <a:solidFill>
                  <a:srgbClr val="2C2C2C"/>
                </a:solidFill>
                <a:latin typeface="Times New Roman"/>
                <a:ea typeface="Microsoft YaHei"/>
              </a:rPr>
              <a:t>• 支付成本获取完全信息</a:t>
            </a:r>
          </a:p>
          <a:p>
            <a:r>
              <a:rPr sz="1200" b="0">
                <a:solidFill>
                  <a:srgbClr val="2C2C2C"/>
                </a:solidFill>
                <a:latin typeface="Times New Roman"/>
                <a:ea typeface="Microsoft YaHei"/>
              </a:rPr>
              <a:t>• 业务多元化分散特质风险</a:t>
            </a:r>
          </a:p>
          <a:p>
            <a:r>
              <a:rPr sz="1200" b="0">
                <a:solidFill>
                  <a:srgbClr val="2C2C2C"/>
                </a:solidFill>
                <a:latin typeface="Times New Roman"/>
                <a:ea typeface="Microsoft YaHei"/>
              </a:rPr>
              <a:t>• 金融衍生品套期保值</a:t>
            </a:r>
          </a:p>
          <a:p>
            <a:r>
              <a:rPr sz="1200" b="0">
                <a:solidFill>
                  <a:srgbClr val="2C2C2C"/>
                </a:solidFill>
                <a:latin typeface="Times New Roman"/>
                <a:ea typeface="Microsoft YaHei"/>
              </a:rPr>
              <a:t>• 战略重塑提升反脆弱性</a:t>
            </a:r>
          </a:p>
        </p:txBody>
      </p:sp>
      <p:sp>
        <p:nvSpPr>
          <p:cNvPr id="33" name="Rectangle 32"/>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归纳要义：面向未来，不确定性是常态；企业管理者必须树立敬畏风险、科学量化与系统防范的现代决策观。</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复习与研讨</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第9章 经典复习思考与考研/实战挑战题</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第9章 企业决策中的风险分析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20</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深度理论辨析题 (Seminar Questions)</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为什么当两个投资方案的预期收益期望值 EV 不同时，不能仅凭标准差 σ 判断风险大小？</a:t>
            </a:r>
          </a:p>
          <a:p>
            <a:r>
              <a:rPr sz="1250" b="0">
                <a:solidFill>
                  <a:srgbClr val="2C2C2C"/>
                </a:solidFill>
                <a:latin typeface="Times New Roman"/>
                <a:ea typeface="Microsoft YaHei"/>
              </a:rPr>
              <a:t>  👉 答：标准差衡量的是绝对波动幅度。对于投资规模差异巨大的项目（如期望 1 亿波动 500 万 vs 期望 100 万波动 50 万），必须用变异系数 CV = σ/EV（相对风险）进行同维度衡量。</a:t>
            </a:r>
          </a:p>
          <a:p>
            <a:r>
              <a:rPr sz="1400" b="1">
                <a:solidFill>
                  <a:srgbClr val="1B3A5C"/>
                </a:solidFill>
                <a:latin typeface="Times New Roman"/>
                <a:ea typeface="Microsoft YaHei"/>
              </a:rPr>
              <a:t>2. 什么是完全信息价值 (EVPI)？它对企业做市场调查预算有何指导意义？</a:t>
            </a:r>
          </a:p>
          <a:p>
            <a:r>
              <a:rPr sz="1250" b="0">
                <a:solidFill>
                  <a:srgbClr val="2C2C2C"/>
                </a:solidFill>
                <a:latin typeface="Times New Roman"/>
                <a:ea typeface="Microsoft YaHei"/>
              </a:rPr>
              <a:t>  👉 答：EVPI 是在获得完全准确未来信息条件下的期望收益，与无信息状态下最大期望收益之间的差额。EVPI 构成了企业为了获取市场调查与咨询情报所愿意支付的最高费用上限！</a:t>
            </a:r>
          </a:p>
          <a:p>
            <a:r>
              <a:rPr sz="1400" b="1">
                <a:solidFill>
                  <a:srgbClr val="1B3A5C"/>
                </a:solidFill>
                <a:latin typeface="Times New Roman"/>
                <a:ea typeface="Microsoft YaHei"/>
              </a:rPr>
              <a:t>3. 什么是萨维奇最小最大遗憾准则 (Min-Max Regret)？</a:t>
            </a:r>
          </a:p>
          <a:p>
            <a:r>
              <a:rPr sz="1250" b="0">
                <a:solidFill>
                  <a:srgbClr val="2C2C2C"/>
                </a:solidFill>
                <a:latin typeface="Times New Roman"/>
                <a:ea typeface="Microsoft YaHei"/>
              </a:rPr>
              <a:t>  👉 答：先计算在每种自然状态下未采取最优行动而产生的最大后悔值（遗憾值），然后在所有方案的最大遗憾值中，挑选出遗憾值最小的方案，以最大程度避免极端懊悔。</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计算与实战应用挑战 (Applied Calculation)</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期望值与标准差计算 (例 9-1)</a:t>
            </a:r>
          </a:p>
          <a:p>
            <a:r>
              <a:rPr sz="1250" b="0">
                <a:solidFill>
                  <a:srgbClr val="2C2C2C"/>
                </a:solidFill>
                <a:latin typeface="Times New Roman"/>
                <a:ea typeface="Microsoft YaHei"/>
              </a:rPr>
              <a:t>  某投资项目未来收益概率为：繁荣(0.6)赚 200 万，衰退(0.4)赚 50 万：
👉 期望收益 EV = 0.6×200 + 0.4×50 = 120 + 20 = 140 万元。
👉 方差 Var = 0.6×(200-140)² + 0.4×(50-140)² = 0.6×3600 + 0.4×8100 = 2160 + 3240 = 5400。
👉 标准差 σ = √5400 ≈ 73.48 万元。
👉 变异系数 CV = 73.48 / 140 = 0.525。</a:t>
            </a:r>
          </a:p>
          <a:p>
            <a:r>
              <a:rPr sz="1400" b="1">
                <a:solidFill>
                  <a:srgbClr val="2E86C1"/>
                </a:solidFill>
                <a:latin typeface="Times New Roman"/>
                <a:ea typeface="Microsoft YaHei"/>
              </a:rPr>
              <a:t>2. 决策树建厂方案求解 (例 9-3)</a:t>
            </a:r>
          </a:p>
          <a:p>
            <a:r>
              <a:rPr sz="1250" b="0">
                <a:solidFill>
                  <a:srgbClr val="2C2C2C"/>
                </a:solidFill>
                <a:latin typeface="Times New Roman"/>
                <a:ea typeface="Microsoft YaHei"/>
              </a:rPr>
              <a:t>  方案 A (建大厂) 投资 100 万，繁荣(0.7)年赚 40 万，萧条(0.3)年赚 10 万 (寿命 5 年)；方案 B (建小厂) 投资 40 万，繁荣(0.7)年赚 20 万，萧条(0.3)年赚 8 万：
👉 方案 A 年期望收益 = 0.7×40 + 0.3×10 = 31 万元；5年总收益现值折算后减去 100 万。
👉 逆向回溯计算比较两状态节点期望净现值，挑选最优建厂规模并实施剪枝！</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核心结论：课后实践：请运用决策树模型，绘制您个人在「考研深造 vs 直接就业」跨期选择中的概率收益决策树！</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