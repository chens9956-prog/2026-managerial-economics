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645920" cy="438912"/>
          </a:xfrm>
          <a:prstGeom prst="roundRect">
            <a:avLst/>
          </a:prstGeom>
          <a:solidFill>
            <a:srgbClr val="EBF3FA"/>
          </a:solidFill>
          <a:ln w="1905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3A5C"/>
                </a:solidFill>
                <a:latin typeface="Times New Roman"/>
                <a:ea typeface="Microsoft YaHei"/>
              </a:rPr>
              <a:t>CH 04</a:t>
            </a:r>
          </a:p>
        </p:txBody>
      </p:sp>
      <p:sp>
        <p:nvSpPr>
          <p:cNvPr id="5" name="TextBox 4"/>
          <p:cNvSpPr txBox="1"/>
          <p:nvPr/>
        </p:nvSpPr>
        <p:spPr>
          <a:xfrm>
            <a:off x="914400" y="1600200"/>
            <a:ext cx="10058400" cy="1005840"/>
          </a:xfrm>
          <a:prstGeom prst="rect">
            <a:avLst/>
          </a:prstGeom>
          <a:noFill/>
        </p:spPr>
        <p:txBody>
          <a:bodyPr wrap="none">
            <a:spAutoFit/>
          </a:bodyPr>
          <a:lstStyle/>
          <a:p>
            <a:r>
              <a:rPr sz="3600" b="1">
                <a:solidFill>
                  <a:srgbClr val="1B3A5C"/>
                </a:solidFill>
                <a:latin typeface="Times New Roman"/>
                <a:ea typeface="Microsoft YaHei"/>
              </a:rPr>
              <a:t>生产决策分析：生产函数与要素最优组合</a:t>
            </a:r>
          </a:p>
        </p:txBody>
      </p:sp>
      <p:sp>
        <p:nvSpPr>
          <p:cNvPr id="6" name="Rectangle 5"/>
          <p:cNvSpPr/>
          <p:nvPr/>
        </p:nvSpPr>
        <p:spPr>
          <a:xfrm>
            <a:off x="914400" y="26517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10058400" cy="457200"/>
          </a:xfrm>
          <a:prstGeom prst="rect">
            <a:avLst/>
          </a:prstGeom>
          <a:noFill/>
        </p:spPr>
        <p:txBody>
          <a:bodyPr wrap="none">
            <a:spAutoFit/>
          </a:bodyPr>
          <a:lstStyle/>
          <a:p>
            <a:r>
              <a:rPr sz="1700" b="1">
                <a:solidFill>
                  <a:srgbClr val="2E86C1"/>
                </a:solidFill>
                <a:latin typeface="Times New Roman"/>
                <a:ea typeface="Microsoft YaHei"/>
              </a:rPr>
              <a:t>投入产出关系、边际报酬递减规律与成本最小化生产技术选择</a:t>
            </a:r>
          </a:p>
        </p:txBody>
      </p:sp>
      <p:sp>
        <p:nvSpPr>
          <p:cNvPr id="8" name="Rectangle 7"/>
          <p:cNvSpPr/>
          <p:nvPr/>
        </p:nvSpPr>
        <p:spPr>
          <a:xfrm>
            <a:off x="914400" y="3474720"/>
            <a:ext cx="10362895" cy="246888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474720"/>
            <a:ext cx="103628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03320"/>
            <a:ext cx="9784080" cy="2103120"/>
          </a:xfrm>
          <a:prstGeom prst="rect">
            <a:avLst/>
          </a:prstGeom>
          <a:noFill/>
        </p:spPr>
        <p:txBody>
          <a:bodyPr wrap="none">
            <a:spAutoFit/>
          </a:bodyPr>
          <a:lstStyle/>
          <a:p>
            <a:r>
              <a:rPr sz="1350" b="0">
                <a:solidFill>
                  <a:srgbClr val="2C2C2C"/>
                </a:solidFill>
                <a:latin typeface="Times New Roman"/>
                <a:ea typeface="Microsoft YaHei"/>
              </a:rPr>
              <a:t>•  生产函数概念：单一可变要素生产函数 vs 多种要素可变生产函数</a:t>
            </a:r>
          </a:p>
          <a:p>
            <a:r>
              <a:rPr sz="1350" b="0">
                <a:solidFill>
                  <a:srgbClr val="2C2C2C"/>
                </a:solidFill>
                <a:latin typeface="Times New Roman"/>
                <a:ea typeface="Microsoft YaHei"/>
              </a:rPr>
              <a:t>•  短期生产规律：总产量 (TP)、平均产量 (AP)、边际产量 (MP) 与生产三阶段划分</a:t>
            </a:r>
          </a:p>
          <a:p>
            <a:r>
              <a:rPr sz="1350" b="0">
                <a:solidFill>
                  <a:srgbClr val="2C2C2C"/>
                </a:solidFill>
                <a:latin typeface="Times New Roman"/>
                <a:ea typeface="Microsoft YaHei"/>
              </a:rPr>
              <a:t>•  长期生产规律：等产量曲线、边际技术替代率 (MRTS) 与规模报酬（递增/不变/递减）</a:t>
            </a:r>
          </a:p>
          <a:p>
            <a:r>
              <a:rPr sz="1350" b="0">
                <a:solidFill>
                  <a:srgbClr val="2C2C2C"/>
                </a:solidFill>
                <a:latin typeface="Times New Roman"/>
                <a:ea typeface="Microsoft YaHei"/>
              </a:rPr>
              <a:t>•  最优要素组合选择：等成本线与生产扩张线（最优投入条件 MP_L/P_L = MP_K/P_K）</a:t>
            </a:r>
          </a:p>
          <a:p>
            <a:r>
              <a:rPr sz="1350" b="0">
                <a:solidFill>
                  <a:srgbClr val="2C2C2C"/>
                </a:solidFill>
                <a:latin typeface="Times New Roman"/>
                <a:ea typeface="Microsoft YaHei"/>
              </a:rPr>
              <a:t>•  柯布-道格拉斯生产函数 (Cobb-Douglas) 的经济学特性及其在参数估计中的应用</a:t>
            </a:r>
          </a:p>
        </p:txBody>
      </p:sp>
      <p:sp>
        <p:nvSpPr>
          <p:cNvPr id="11" name="TextBox 10"/>
          <p:cNvSpPr txBox="1"/>
          <p:nvPr/>
        </p:nvSpPr>
        <p:spPr>
          <a:xfrm>
            <a:off x="914400" y="6309360"/>
            <a:ext cx="7315200" cy="320040"/>
          </a:xfrm>
          <a:prstGeom prst="rect">
            <a:avLst/>
          </a:prstGeom>
          <a:noFill/>
        </p:spPr>
        <p:txBody>
          <a:bodyPr wrap="none">
            <a:spAutoFit/>
          </a:bodyPr>
          <a:lstStyle/>
          <a:p>
            <a:r>
              <a:rPr sz="1100" b="0">
                <a:solidFill>
                  <a:srgbClr val="6B6B6B"/>
                </a:solidFill>
                <a:latin typeface="Times New Roman"/>
                <a:ea typeface="Microsoft YaHei"/>
              </a:rPr>
              <a:t>《管理经济学（第7版）》核心教学课件系列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本章概览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生产决策分析全景逻辑框架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短期生产理论 (第1-2节)</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生产函数定义与技术内涵</a:t>
            </a:r>
          </a:p>
          <a:p>
            <a:r>
              <a:rPr sz="1200" b="0">
                <a:solidFill>
                  <a:srgbClr val="2C2C2C"/>
                </a:solidFill>
                <a:latin typeface="Times New Roman"/>
                <a:ea typeface="Microsoft YaHei"/>
              </a:rPr>
              <a:t>• TP / AP / MP 曲线几何联动</a:t>
            </a:r>
          </a:p>
          <a:p>
            <a:r>
              <a:rPr sz="1200" b="0">
                <a:solidFill>
                  <a:srgbClr val="2C2C2C"/>
                </a:solidFill>
                <a:latin typeface="Times New Roman"/>
                <a:ea typeface="Microsoft YaHei"/>
              </a:rPr>
              <a:t>• 边际报酬递减规律成因</a:t>
            </a:r>
          </a:p>
          <a:p>
            <a:r>
              <a:rPr sz="1200" b="0">
                <a:solidFill>
                  <a:srgbClr val="2C2C2C"/>
                </a:solidFill>
                <a:latin typeface="Times New Roman"/>
                <a:ea typeface="Microsoft YaHei"/>
              </a:rPr>
              <a:t>• 生产三阶段与第II合理区间</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长期生产理论 (第3节)</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两种要素同时变动分析</a:t>
            </a:r>
          </a:p>
          <a:p>
            <a:r>
              <a:rPr sz="1200" b="0">
                <a:solidFill>
                  <a:srgbClr val="2C2C2C"/>
                </a:solidFill>
                <a:latin typeface="Times New Roman"/>
                <a:ea typeface="Microsoft YaHei"/>
              </a:rPr>
              <a:t>• 等产量曲线族四大特征</a:t>
            </a:r>
          </a:p>
          <a:p>
            <a:r>
              <a:rPr sz="1200" b="0">
                <a:solidFill>
                  <a:srgbClr val="2C2C2C"/>
                </a:solidFill>
                <a:latin typeface="Times New Roman"/>
                <a:ea typeface="Microsoft YaHei"/>
              </a:rPr>
              <a:t>• 边际技术替代率 MRTS 递减</a:t>
            </a:r>
          </a:p>
          <a:p>
            <a:r>
              <a:rPr sz="1200" b="0">
                <a:solidFill>
                  <a:srgbClr val="2C2C2C"/>
                </a:solidFill>
                <a:latin typeface="Times New Roman"/>
                <a:ea typeface="Microsoft YaHei"/>
              </a:rPr>
              <a:t>• 等成本线与相对价格斜率</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最优要素组合 (第3节)</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等产量与等成本切点最优</a:t>
            </a:r>
          </a:p>
          <a:p>
            <a:r>
              <a:rPr sz="1200" b="0">
                <a:solidFill>
                  <a:srgbClr val="2C2C2C"/>
                </a:solidFill>
                <a:latin typeface="Times New Roman"/>
                <a:ea typeface="Microsoft YaHei"/>
              </a:rPr>
              <a:t>• 等边际法则 MP_L/P_L=MP_K/P_K</a:t>
            </a:r>
          </a:p>
          <a:p>
            <a:r>
              <a:rPr sz="1200" b="0">
                <a:solidFill>
                  <a:srgbClr val="2C2C2C"/>
                </a:solidFill>
                <a:latin typeface="Times New Roman"/>
                <a:ea typeface="Microsoft YaHei"/>
              </a:rPr>
              <a:t>• 生产扩张线与资本深化路径</a:t>
            </a:r>
          </a:p>
          <a:p>
            <a:r>
              <a:rPr sz="1200" b="0">
                <a:solidFill>
                  <a:srgbClr val="2C2C2C"/>
                </a:solidFill>
                <a:latin typeface="Times New Roman"/>
                <a:ea typeface="Microsoft YaHei"/>
              </a:rPr>
              <a:t>• 要素相对价格变动的替代效应</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规模报酬与实证 (第4节)</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规模报酬三形态 (IRS/CRS/DRS)</a:t>
            </a:r>
          </a:p>
          <a:p>
            <a:r>
              <a:rPr sz="1200" b="0">
                <a:solidFill>
                  <a:srgbClr val="2C2C2C"/>
                </a:solidFill>
                <a:latin typeface="Times New Roman"/>
                <a:ea typeface="Microsoft YaHei"/>
              </a:rPr>
              <a:t>• 柯布-道格拉斯函数 (α+β)</a:t>
            </a:r>
          </a:p>
          <a:p>
            <a:r>
              <a:rPr sz="1200" b="0">
                <a:solidFill>
                  <a:srgbClr val="2C2C2C"/>
                </a:solidFill>
                <a:latin typeface="Times New Roman"/>
                <a:ea typeface="Microsoft YaHei"/>
              </a:rPr>
              <a:t>• 全要素生产率 TFP 测算</a:t>
            </a:r>
          </a:p>
          <a:p>
            <a:r>
              <a:rPr sz="1200" b="0">
                <a:solidFill>
                  <a:srgbClr val="2C2C2C"/>
                </a:solidFill>
                <a:latin typeface="Times New Roman"/>
                <a:ea typeface="Microsoft YaHei"/>
              </a:rPr>
              <a:t>• 最优经济规模与适度规模经营</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归纳要义：核心主线：短期如何在固定资产约束下避免要素过度拥挤（锁定生产阶段II），长期如何根据要素相对价格选择最低成本的资本-劳动力配比与最优工厂规模。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1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什么是生产函数与短期生产理论</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生产函数定义 · 技术约束 · 总产量 TP · 平均产量 AP · 边际产量 MP</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生产函数</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生产函数的概念与技术效率内涵</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生产函数 (Production Function) 的数学定义</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概念表述</a:t>
            </a:r>
          </a:p>
          <a:p>
            <a:r>
              <a:rPr sz="1250" b="0">
                <a:solidFill>
                  <a:srgbClr val="2C2C2C"/>
                </a:solidFill>
                <a:latin typeface="Times New Roman"/>
                <a:ea typeface="Microsoft YaHei"/>
              </a:rPr>
              <a:t>  在一定时期内、在技术水平不变的条件下，生产中所使用的各种生产要素的数量与所能生产的最大产出量之间的函数关系。</a:t>
            </a:r>
          </a:p>
          <a:p>
            <a:r>
              <a:rPr sz="1400" b="1">
                <a:solidFill>
                  <a:srgbClr val="1B3A5C"/>
                </a:solidFill>
                <a:latin typeface="Times New Roman"/>
                <a:ea typeface="Microsoft YaHei"/>
              </a:rPr>
              <a:t>2. 通用数学模型</a:t>
            </a:r>
          </a:p>
          <a:p>
            <a:r>
              <a:rPr sz="1250" b="0">
                <a:solidFill>
                  <a:srgbClr val="2C2C2C"/>
                </a:solidFill>
                <a:latin typeface="Times New Roman"/>
                <a:ea typeface="Microsoft YaHei"/>
              </a:rPr>
              <a:t>  Q = f(L, K, N, E)
(式中：L 为劳动力，K 为资本/设备，N 为土地自然资源，E 为企业家才能)</a:t>
            </a:r>
          </a:p>
          <a:p>
            <a:r>
              <a:rPr sz="1400" b="1">
                <a:solidFill>
                  <a:srgbClr val="1B3A5C"/>
                </a:solidFill>
                <a:latin typeface="Times New Roman"/>
                <a:ea typeface="Microsoft YaHei"/>
              </a:rPr>
              <a:t>3. 技术效率假定</a:t>
            </a:r>
          </a:p>
          <a:p>
            <a:r>
              <a:rPr sz="1250" b="0">
                <a:solidFill>
                  <a:srgbClr val="2C2C2C"/>
                </a:solidFill>
                <a:latin typeface="Times New Roman"/>
                <a:ea typeface="Microsoft YaHei"/>
              </a:rPr>
              <a:t>  生产函数所表达的产出量，恒指在既定要素投入下企业运用最高效工艺所能达到的「最大潜在产出（技术有效边界）」。</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短期 (Short Run) vs 长期 (Long Run) 的根本区分</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短期生产 (Short Run)</a:t>
            </a:r>
          </a:p>
          <a:p>
            <a:r>
              <a:rPr sz="1250" b="0">
                <a:solidFill>
                  <a:srgbClr val="2C2C2C"/>
                </a:solidFill>
                <a:latin typeface="Times New Roman"/>
                <a:ea typeface="Microsoft YaHei"/>
              </a:rPr>
              <a:t>  至少有一种生产要素（通常为厂房、机器设备 K）数量固定不可变，企业只能通过调整可变要素（劳动力 L、原料）来改变产出。</a:t>
            </a:r>
          </a:p>
          <a:p>
            <a:r>
              <a:rPr sz="1400" b="1">
                <a:solidFill>
                  <a:srgbClr val="2E86C1"/>
                </a:solidFill>
                <a:latin typeface="Times New Roman"/>
                <a:ea typeface="Microsoft YaHei"/>
              </a:rPr>
              <a:t>2. 长期生产 (Long Run)</a:t>
            </a:r>
          </a:p>
          <a:p>
            <a:r>
              <a:rPr sz="1250" b="0">
                <a:solidFill>
                  <a:srgbClr val="2C2C2C"/>
                </a:solidFill>
                <a:latin typeface="Times New Roman"/>
                <a:ea typeface="Microsoft YaHei"/>
              </a:rPr>
              <a:t>  所有生产要素（包括厂房规模与生产线设备 K）都可以根据需要进行全面自由调整。</a:t>
            </a:r>
          </a:p>
          <a:p>
            <a:r>
              <a:rPr sz="1400" b="1">
                <a:solidFill>
                  <a:srgbClr val="2E86C1"/>
                </a:solidFill>
                <a:latin typeface="Times New Roman"/>
                <a:ea typeface="Microsoft YaHei"/>
              </a:rPr>
              <a:t>3. 管理启示</a:t>
            </a:r>
          </a:p>
          <a:p>
            <a:r>
              <a:rPr sz="1250" b="0">
                <a:solidFill>
                  <a:srgbClr val="2C2C2C"/>
                </a:solidFill>
                <a:latin typeface="Times New Roman"/>
                <a:ea typeface="Microsoft YaHei"/>
              </a:rPr>
              <a:t>  短期决策解决「现有产能如何高效排产利用」；长期决策解决「未来建多大工厂与选择何种技术路线」。</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核心结论：经济学上的短期与长期不是以日历时间（年/月）划分，而是以「生产要素是否全部可变」为分界线。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短期生产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单一要素可变生产：总产量(TP)、平均产量(AP)与边际产量(MP)</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5</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三大短期产量指标的数学定义与求导</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总产量 (Total Product, TP_L)</a:t>
            </a:r>
          </a:p>
          <a:p>
            <a:r>
              <a:rPr sz="1250" b="0">
                <a:solidFill>
                  <a:srgbClr val="2C2C2C"/>
                </a:solidFill>
                <a:latin typeface="Times New Roman"/>
                <a:ea typeface="Microsoft YaHei"/>
              </a:rPr>
              <a:t>  TP_L = Q = f(L, K̄)（资本 K 固定，仅劳动力 L 变动）。</a:t>
            </a:r>
          </a:p>
          <a:p>
            <a:r>
              <a:rPr sz="1400" b="1">
                <a:solidFill>
                  <a:srgbClr val="1B3A5C"/>
                </a:solidFill>
                <a:latin typeface="Times New Roman"/>
                <a:ea typeface="Microsoft YaHei"/>
              </a:rPr>
              <a:t>2. 平均产量 (Average Product, AP_L)</a:t>
            </a:r>
          </a:p>
          <a:p>
            <a:r>
              <a:rPr sz="1250" b="0">
                <a:solidFill>
                  <a:srgbClr val="2C2C2C"/>
                </a:solidFill>
                <a:latin typeface="Times New Roman"/>
                <a:ea typeface="Microsoft YaHei"/>
              </a:rPr>
              <a:t>  AP_L = TP_L / L = f(L, K̄) / L（连接坐标原点与 TP 曲线上点的割线斜率）。</a:t>
            </a:r>
          </a:p>
          <a:p>
            <a:r>
              <a:rPr sz="1400" b="1">
                <a:solidFill>
                  <a:srgbClr val="1B3A5C"/>
                </a:solidFill>
                <a:latin typeface="Times New Roman"/>
                <a:ea typeface="Microsoft YaHei"/>
              </a:rPr>
              <a:t>3. 边际产量 (Marginal Product, MP_L)</a:t>
            </a:r>
          </a:p>
          <a:p>
            <a:r>
              <a:rPr sz="1250" b="0">
                <a:solidFill>
                  <a:srgbClr val="2C2C2C"/>
                </a:solidFill>
                <a:latin typeface="Times New Roman"/>
                <a:ea typeface="Microsoft YaHei"/>
              </a:rPr>
              <a:t>  MP_L = d(TP_L) / dL（TP 曲线对应点的切线斜率/一阶导数）。</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AP 与 MP 的黄金交点法则 (图 4-1)</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当 MP &gt; AP 时</a:t>
            </a:r>
          </a:p>
          <a:p>
            <a:r>
              <a:rPr sz="1250" b="0">
                <a:solidFill>
                  <a:srgbClr val="2C2C2C"/>
                </a:solidFill>
                <a:latin typeface="Times New Roman"/>
                <a:ea typeface="Microsoft YaHei"/>
              </a:rPr>
              <a:t>  边际产量拉动平均产量向上攀升，AP 处于上升阶段。</a:t>
            </a:r>
          </a:p>
          <a:p>
            <a:r>
              <a:rPr sz="1400" b="1">
                <a:solidFill>
                  <a:srgbClr val="2E86C1"/>
                </a:solidFill>
                <a:latin typeface="Times New Roman"/>
                <a:ea typeface="Microsoft YaHei"/>
              </a:rPr>
              <a:t>2. 当 MP &lt; AP 时</a:t>
            </a:r>
          </a:p>
          <a:p>
            <a:r>
              <a:rPr sz="1250" b="0">
                <a:solidFill>
                  <a:srgbClr val="2C2C2C"/>
                </a:solidFill>
                <a:latin typeface="Times New Roman"/>
                <a:ea typeface="Microsoft YaHei"/>
              </a:rPr>
              <a:t>  边际产量拖累平均产量向下走低，AP 处于下降阶段。</a:t>
            </a:r>
          </a:p>
          <a:p>
            <a:r>
              <a:rPr sz="1400" b="1">
                <a:solidFill>
                  <a:srgbClr val="2E86C1"/>
                </a:solidFill>
                <a:latin typeface="Times New Roman"/>
                <a:ea typeface="Microsoft YaHei"/>
              </a:rPr>
              <a:t>3. 当 MP = AP 时 (黄金交点)</a:t>
            </a:r>
          </a:p>
          <a:p>
            <a:r>
              <a:rPr sz="1250" b="0">
                <a:solidFill>
                  <a:srgbClr val="2C2C2C"/>
                </a:solidFill>
                <a:latin typeface="Times New Roman"/>
                <a:ea typeface="Microsoft YaHei"/>
              </a:rPr>
              <a:t>  边际产量曲线必然精确穿过平均产量曲线的最高顶点 (AP_max)！</a:t>
            </a:r>
          </a:p>
          <a:p>
            <a:r>
              <a:rPr sz="1400" b="1">
                <a:solidFill>
                  <a:srgbClr val="2E86C1"/>
                </a:solidFill>
                <a:latin typeface="Times New Roman"/>
                <a:ea typeface="Microsoft YaHei"/>
              </a:rPr>
              <a:t>4. TP 最大值对应点</a:t>
            </a:r>
          </a:p>
          <a:p>
            <a:r>
              <a:rPr sz="1250" b="0">
                <a:solidFill>
                  <a:srgbClr val="2C2C2C"/>
                </a:solidFill>
                <a:latin typeface="Times New Roman"/>
                <a:ea typeface="Microsoft YaHei"/>
              </a:rPr>
              <a:t>  当 MP = 0 时（切线斜率为 0），总产量 TP 达到最高峰顶点！</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核心结论：边际量决定平均量的走势：边际高于平均则平均上升，边际低于平均则平均下降。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短期生产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边际报酬递减规律 (Law of Diminishing Returns)</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边际报酬递减规律的内涵与原因</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规律严格表述</a:t>
            </a:r>
          </a:p>
          <a:p>
            <a:r>
              <a:rPr sz="1250" b="0">
                <a:solidFill>
                  <a:srgbClr val="2C2C2C"/>
                </a:solidFill>
                <a:latin typeface="Times New Roman"/>
                <a:ea typeface="Microsoft YaHei"/>
              </a:rPr>
              <a:t>  在技术水平和其他生产要素固定不变的条件下，连续等量增加某种可变要素投入，当达到一定限度后，所增加的边际产量 MP 最终必然呈现递减趋势。</a:t>
            </a:r>
          </a:p>
          <a:p>
            <a:r>
              <a:rPr sz="1400" b="1">
                <a:solidFill>
                  <a:srgbClr val="1B3A5C"/>
                </a:solidFill>
                <a:latin typeface="Times New Roman"/>
                <a:ea typeface="Microsoft YaHei"/>
              </a:rPr>
              <a:t>2. 产生根本原因：要素间最佳配合比例</a:t>
            </a:r>
          </a:p>
          <a:p>
            <a:r>
              <a:rPr sz="1250" b="0">
                <a:solidFill>
                  <a:srgbClr val="2C2C2C"/>
                </a:solidFill>
                <a:latin typeface="Times New Roman"/>
                <a:ea typeface="Microsoft YaHei"/>
              </a:rPr>
              <a:t>  固定的机器设备与厂房面积所能容纳的操作工人数有限。当工人过少时设备闲置；当工人增加到最佳比例后，继续塞入工人将导致过度拥挤、互相干扰、等待机器，边际产出急剧衰减。</a:t>
            </a:r>
          </a:p>
          <a:p>
            <a:r>
              <a:rPr sz="1400" b="1">
                <a:solidFill>
                  <a:srgbClr val="1B3A5C"/>
                </a:solidFill>
                <a:latin typeface="Times New Roman"/>
                <a:ea typeface="Microsoft YaHei"/>
              </a:rPr>
              <a:t>3. 普遍性</a:t>
            </a:r>
          </a:p>
          <a:p>
            <a:r>
              <a:rPr sz="1250" b="0">
                <a:solidFill>
                  <a:srgbClr val="2C2C2C"/>
                </a:solidFill>
                <a:latin typeface="Times New Roman"/>
                <a:ea typeface="Microsoft YaHei"/>
              </a:rPr>
              <a:t>  无论农业种地还是高科技软件开发（人月神话），边际报酬递减规律无处不在！</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技术进步对递减规律的对冲与打破</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规律的前提是「技术不变」</a:t>
            </a:r>
          </a:p>
          <a:p>
            <a:r>
              <a:rPr sz="1250" b="0">
                <a:solidFill>
                  <a:srgbClr val="2C2C2C"/>
                </a:solidFill>
                <a:latin typeface="Times New Roman"/>
                <a:ea typeface="Microsoft YaHei"/>
              </a:rPr>
              <a:t>  若发生颠覆性技术创新或引入自动化设备，整条生产函数曲线将向上方大幅跃升平移。</a:t>
            </a:r>
          </a:p>
          <a:p>
            <a:r>
              <a:rPr sz="1400" b="1">
                <a:solidFill>
                  <a:srgbClr val="2E86C1"/>
                </a:solidFill>
                <a:latin typeface="Times New Roman"/>
                <a:ea typeface="Microsoft YaHei"/>
              </a:rPr>
              <a:t>2. 马尔萨斯人口陷阱的破除</a:t>
            </a:r>
          </a:p>
          <a:p>
            <a:r>
              <a:rPr sz="1250" b="0">
                <a:solidFill>
                  <a:srgbClr val="2C2C2C"/>
                </a:solidFill>
                <a:latin typeface="Times New Roman"/>
                <a:ea typeface="Microsoft YaHei"/>
              </a:rPr>
              <a:t>  马尔萨斯曾悲观预言土地有限将导致粮食边际产出递减并引发大饥荒；然而杂交水稻、化肥与农业机械化等技术革命彻底打破了土地报酬递减陷阱。</a:t>
            </a:r>
          </a:p>
          <a:p>
            <a:r>
              <a:rPr sz="1400" b="1">
                <a:solidFill>
                  <a:srgbClr val="2E86C1"/>
                </a:solidFill>
                <a:latin typeface="Times New Roman"/>
                <a:ea typeface="Microsoft YaHei"/>
              </a:rPr>
              <a:t>3. 企业战略启示</a:t>
            </a:r>
          </a:p>
          <a:p>
            <a:r>
              <a:rPr sz="1250" b="0">
                <a:solidFill>
                  <a:srgbClr val="2C2C2C"/>
                </a:solidFill>
                <a:latin typeface="Times New Roman"/>
                <a:ea typeface="Microsoft YaHei"/>
              </a:rPr>
              <a:t>  单纯堆砌人员必然遭遇边际报酬递减瓶颈；企业持续增长的唯一引擎是持续的技术与管理创新！</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核心结论：边际报酬递减是客观物理与管理约束；科技创新是延缓和打破报酬递减的唯一解药。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短期生产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生产的三阶段划分与企业理性生产区间 (图 4-2)</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7</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第 I 阶段 (0 &lt; L &lt; L1)</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边界：从 L=0 到 AP 达到最大值 (MP=AP)</a:t>
            </a:r>
          </a:p>
          <a:p>
            <a:r>
              <a:rPr sz="1200" b="0">
                <a:solidFill>
                  <a:srgbClr val="2C2C2C"/>
                </a:solidFill>
                <a:latin typeface="Times New Roman"/>
                <a:ea typeface="Microsoft YaHei"/>
              </a:rPr>
              <a:t>• 特征：MP &gt; AP，AP 持续上升</a:t>
            </a:r>
          </a:p>
          <a:p>
            <a:r>
              <a:rPr sz="1200" b="0">
                <a:solidFill>
                  <a:srgbClr val="2C2C2C"/>
                </a:solidFill>
                <a:latin typeface="Times New Roman"/>
                <a:ea typeface="Microsoft YaHei"/>
              </a:rPr>
              <a:t>• 问题：固定资产严重闲置浪费</a:t>
            </a:r>
          </a:p>
          <a:p>
            <a:r>
              <a:rPr sz="1200" b="0">
                <a:solidFill>
                  <a:srgbClr val="2C2C2C"/>
                </a:solidFill>
                <a:latin typeface="Times New Roman"/>
                <a:ea typeface="Microsoft YaHei"/>
              </a:rPr>
              <a:t>• 结论：非理性生产区间！必须继续增雇工人</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第 II 阶段 (L1 &lt; L &lt; L2)</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边界：从 AP 最高点到 TP 最高点 (MP=0)</a:t>
            </a:r>
          </a:p>
          <a:p>
            <a:r>
              <a:rPr sz="1200" b="0">
                <a:solidFill>
                  <a:srgbClr val="2C2C2C"/>
                </a:solidFill>
                <a:latin typeface="Times New Roman"/>
                <a:ea typeface="Microsoft YaHei"/>
              </a:rPr>
              <a:t>• 特征：MP &lt; AP，但 MP &gt; 0，TP 仍增加</a:t>
            </a:r>
          </a:p>
          <a:p>
            <a:r>
              <a:rPr sz="1200" b="0">
                <a:solidFill>
                  <a:srgbClr val="2C2C2C"/>
                </a:solidFill>
                <a:latin typeface="Times New Roman"/>
                <a:ea typeface="Microsoft YaHei"/>
              </a:rPr>
              <a:t>• 核心：要素配合进入经济协调期</a:t>
            </a:r>
          </a:p>
          <a:p>
            <a:r>
              <a:rPr sz="1200" b="0">
                <a:solidFill>
                  <a:srgbClr val="2C2C2C"/>
                </a:solidFill>
                <a:latin typeface="Times New Roman"/>
                <a:ea typeface="Microsoft YaHei"/>
              </a:rPr>
              <a:t>• 结论：企业唯一理性的生产区间！</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第 III 阶段 (L &gt; L2)</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边界：TP 达到最大值 (MP &lt; 0) 之后</a:t>
            </a:r>
          </a:p>
          <a:p>
            <a:r>
              <a:rPr sz="1200" b="0">
                <a:solidFill>
                  <a:srgbClr val="2C2C2C"/>
                </a:solidFill>
                <a:latin typeface="Times New Roman"/>
                <a:ea typeface="Microsoft YaHei"/>
              </a:rPr>
              <a:t>• 特征：MP 为负数，总产量 TP 绝对下降</a:t>
            </a:r>
          </a:p>
          <a:p>
            <a:r>
              <a:rPr sz="1200" b="0">
                <a:solidFill>
                  <a:srgbClr val="2C2C2C"/>
                </a:solidFill>
                <a:latin typeface="Times New Roman"/>
                <a:ea typeface="Microsoft YaHei"/>
              </a:rPr>
              <a:t>• 问题：工人严重过剩拥挤造成倒忙</a:t>
            </a:r>
          </a:p>
          <a:p>
            <a:r>
              <a:rPr sz="1200" b="0">
                <a:solidFill>
                  <a:srgbClr val="2C2C2C"/>
                </a:solidFill>
                <a:latin typeface="Times New Roman"/>
                <a:ea typeface="Microsoft YaHei"/>
              </a:rPr>
              <a:t>• 结论：绝对非理性区间！必须果断裁员</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第 II 阶段最优停驻点</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在第 II 阶段内具体雇佣多少人？</a:t>
            </a:r>
          </a:p>
          <a:p>
            <a:r>
              <a:rPr sz="1200" b="0">
                <a:solidFill>
                  <a:srgbClr val="2C2C2C"/>
                </a:solidFill>
                <a:latin typeface="Times New Roman"/>
                <a:ea typeface="Microsoft YaHei"/>
              </a:rPr>
              <a:t>• 必须引入产品价格 P 与工人工资 P_L</a:t>
            </a:r>
          </a:p>
          <a:p>
            <a:r>
              <a:rPr sz="1200" b="0">
                <a:solidFill>
                  <a:srgbClr val="2C2C2C"/>
                </a:solidFill>
                <a:latin typeface="Times New Roman"/>
                <a:ea typeface="Microsoft YaHei"/>
              </a:rPr>
              <a:t>• 边际收益产品 MRP_L = 要素价格 P_L</a:t>
            </a:r>
          </a:p>
          <a:p>
            <a:r>
              <a:rPr sz="1200" b="0">
                <a:solidFill>
                  <a:srgbClr val="2C2C2C"/>
                </a:solidFill>
                <a:latin typeface="Times New Roman"/>
                <a:ea typeface="Microsoft YaHei"/>
              </a:rPr>
              <a:t>• 即：P · MP_L = P_L 确定最优雇佣量</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归纳要义：企业经营的铁律：决不在第 I 阶段停步（机器闲置），决不踏入第 III 阶段（人浮于事），牢牢锁定第 II 经济有效区间。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短期生产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短期生产函数算例解析 (例 4-1 &amp; 例 4-2)</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算例解析 (例 4-1)：短期三阶段临界点求解</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某企业短期生产函数</a:t>
            </a:r>
          </a:p>
          <a:p>
            <a:r>
              <a:rPr sz="1250" b="0">
                <a:solidFill>
                  <a:srgbClr val="2C2C2C"/>
                </a:solidFill>
                <a:latin typeface="Times New Roman"/>
                <a:ea typeface="Microsoft YaHei"/>
              </a:rPr>
              <a:t>  Q = 21L + 9L² - L³ (式中：L 为劳动力投入量)</a:t>
            </a:r>
          </a:p>
          <a:p>
            <a:r>
              <a:rPr sz="1400" b="1">
                <a:solidFill>
                  <a:srgbClr val="1B3A5C"/>
                </a:solidFill>
                <a:latin typeface="Times New Roman"/>
                <a:ea typeface="Microsoft YaHei"/>
              </a:rPr>
              <a:t>2. 求解 AP 与 MP 函数</a:t>
            </a:r>
          </a:p>
          <a:p>
            <a:r>
              <a:rPr sz="1250" b="0">
                <a:solidFill>
                  <a:srgbClr val="2C2C2C"/>
                </a:solidFill>
                <a:latin typeface="Times New Roman"/>
                <a:ea typeface="Microsoft YaHei"/>
              </a:rPr>
              <a:t>  • 平均产量 AP = Q / L = 21 + 9L - L²
• 边际产量 MP = dQ / dL = 21 + 18L - 3L²</a:t>
            </a:r>
          </a:p>
          <a:p>
            <a:r>
              <a:rPr sz="1400" b="1">
                <a:solidFill>
                  <a:srgbClr val="1B3A5C"/>
                </a:solidFill>
                <a:latin typeface="Times New Roman"/>
                <a:ea typeface="Microsoft YaHei"/>
              </a:rPr>
              <a:t>3. 第 I 阶段终点 (AP 极大值)</a:t>
            </a:r>
          </a:p>
          <a:p>
            <a:r>
              <a:rPr sz="1250" b="0">
                <a:solidFill>
                  <a:srgbClr val="2C2C2C"/>
                </a:solidFill>
                <a:latin typeface="Times New Roman"/>
                <a:ea typeface="Microsoft YaHei"/>
              </a:rPr>
              <a:t>  令 d(AP)/dL = 9 - 2L = 0 → L = 4.5
(此时 AP_max = 21 + 9(4.5) - (4.5)² = 41.25)</a:t>
            </a:r>
          </a:p>
          <a:p>
            <a:r>
              <a:rPr sz="1400" b="1">
                <a:solidFill>
                  <a:srgbClr val="1B3A5C"/>
                </a:solidFill>
                <a:latin typeface="Times New Roman"/>
                <a:ea typeface="Microsoft YaHei"/>
              </a:rPr>
              <a:t>4. 第 II 阶段终点 (TP 极大值)</a:t>
            </a:r>
          </a:p>
          <a:p>
            <a:r>
              <a:rPr sz="1250" b="0">
                <a:solidFill>
                  <a:srgbClr val="2C2C2C"/>
                </a:solidFill>
                <a:latin typeface="Times New Roman"/>
                <a:ea typeface="Microsoft YaHei"/>
              </a:rPr>
              <a:t>  令 MP = 21 + 18L - 3L² = 0 → 3(7 + 6L - L²) = 0 → (7-L)(1+L)=0 → L = 7
(此时 TP_max = 21(7) + 9(49) - 343 = 245)</a:t>
            </a:r>
          </a:p>
          <a:p>
            <a:r>
              <a:rPr sz="1400" b="1">
                <a:solidFill>
                  <a:srgbClr val="1B3A5C"/>
                </a:solidFill>
                <a:latin typeface="Times New Roman"/>
                <a:ea typeface="Microsoft YaHei"/>
              </a:rPr>
              <a:t>5. 结论</a:t>
            </a:r>
          </a:p>
          <a:p>
            <a:r>
              <a:rPr sz="1250" b="0">
                <a:solidFill>
                  <a:srgbClr val="2C2C2C"/>
                </a:solidFill>
                <a:latin typeface="Times New Roman"/>
                <a:ea typeface="Microsoft YaHei"/>
              </a:rPr>
              <a:t>  企业的理性雇佣区间为：4.5 ≤ L ≤ 7。</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最优要素雇佣量求解 (例 4-2)</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市场价格条件</a:t>
            </a:r>
          </a:p>
          <a:p>
            <a:r>
              <a:rPr sz="1250" b="0">
                <a:solidFill>
                  <a:srgbClr val="2C2C2C"/>
                </a:solidFill>
                <a:latin typeface="Times New Roman"/>
                <a:ea typeface="Microsoft YaHei"/>
              </a:rPr>
              <a:t>  设产品售价 P = 10 元/件，工人工资 P_L = 90 元/人。</a:t>
            </a:r>
          </a:p>
          <a:p>
            <a:r>
              <a:rPr sz="1400" b="1">
                <a:solidFill>
                  <a:srgbClr val="2E86C1"/>
                </a:solidFill>
                <a:latin typeface="Times New Roman"/>
                <a:ea typeface="Microsoft YaHei"/>
              </a:rPr>
              <a:t>2. 最优雇佣法则应用</a:t>
            </a:r>
          </a:p>
          <a:p>
            <a:r>
              <a:rPr sz="1250" b="0">
                <a:solidFill>
                  <a:srgbClr val="2C2C2C"/>
                </a:solidFill>
                <a:latin typeface="Times New Roman"/>
                <a:ea typeface="Microsoft YaHei"/>
              </a:rPr>
              <a:t>  令 P · MP_L = P_L → 10 · (21 + 18L - 3L²) = 90
→ 21 + 18L - 3L² = 9 → 3L² - 18L - 12 = 0
→ L² - 6L - 4 = 0 → L* = 3 + √13 ≈ 6.6 人。</a:t>
            </a:r>
          </a:p>
          <a:p>
            <a:r>
              <a:rPr sz="1400" b="1">
                <a:solidFill>
                  <a:srgbClr val="2E86C1"/>
                </a:solidFill>
                <a:latin typeface="Times New Roman"/>
                <a:ea typeface="Microsoft YaHei"/>
              </a:rPr>
              <a:t>3. 检验</a:t>
            </a:r>
          </a:p>
          <a:p>
            <a:r>
              <a:rPr sz="1250" b="0">
                <a:solidFill>
                  <a:srgbClr val="2C2C2C"/>
                </a:solidFill>
                <a:latin typeface="Times New Roman"/>
                <a:ea typeface="Microsoft YaHei"/>
              </a:rPr>
              <a:t>  L* = 6.6 恰好落在理性区间 [4.5, 7] 之内，能够为企业创造最大利润！</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核心结论：数学求导使抽象的生产决策具象化：精准锁定企业利润最大化的最优用工规模。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3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多种要素可变与长期生产决策</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等产量曲线 · 边际技术替代率 · 等成本线 · 生产者均衡切点 · 生产扩张线</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长期生产理论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等产量曲线 (Isoquant) 与边际技术替代率 (MRTS)</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等产量曲线的四大几何特征</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概念定义</a:t>
            </a:r>
          </a:p>
          <a:p>
            <a:r>
              <a:rPr sz="1250" b="0">
                <a:solidFill>
                  <a:srgbClr val="2C2C2C"/>
                </a:solidFill>
                <a:latin typeface="Times New Roman"/>
                <a:ea typeface="Microsoft YaHei"/>
              </a:rPr>
              <a:t>  在技术水平不变条件下，生产同一产出水平所需投入的两种可变要素（L 和 K）的全部可能组合轨迹。</a:t>
            </a:r>
          </a:p>
          <a:p>
            <a:r>
              <a:rPr sz="1400" b="1">
                <a:solidFill>
                  <a:srgbClr val="1B3A5C"/>
                </a:solidFill>
                <a:latin typeface="Times New Roman"/>
                <a:ea typeface="Microsoft YaHei"/>
              </a:rPr>
              <a:t>2. 四大基本特征</a:t>
            </a:r>
          </a:p>
          <a:p>
            <a:r>
              <a:rPr sz="1250" b="0">
                <a:solidFill>
                  <a:srgbClr val="2C2C2C"/>
                </a:solidFill>
                <a:latin typeface="Times New Roman"/>
                <a:ea typeface="Microsoft YaHei"/>
              </a:rPr>
              <a:t>  • 坐标系上位置越高的曲线代表越高的产出水平 (Q3 &gt; Q2 &gt; Q1)；
• 向右下方倾斜（斜率为负，要素间可相互替代）；
• 凸向原点（边际技术替代率递减）；
• 任意两条等产量曲线在同一技术条件下绝不相交。</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边际技术替代率递减规律 (MRTS_LK)</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MRTS 计算公式 (公式 4-5)</a:t>
            </a:r>
          </a:p>
          <a:p>
            <a:r>
              <a:rPr sz="1250" b="0">
                <a:solidFill>
                  <a:srgbClr val="2C2C2C"/>
                </a:solidFill>
                <a:latin typeface="Times New Roman"/>
                <a:ea typeface="Microsoft YaHei"/>
              </a:rPr>
              <a:t>  MRTS_LK = - (dK / dL) = MP_L / MP_K
(即等产量曲线上切线斜率的绝对值，等于两要素边际产量之比！)</a:t>
            </a:r>
          </a:p>
          <a:p>
            <a:r>
              <a:rPr sz="1400" b="1">
                <a:solidFill>
                  <a:srgbClr val="2E86C1"/>
                </a:solidFill>
                <a:latin typeface="Times New Roman"/>
                <a:ea typeface="Microsoft YaHei"/>
              </a:rPr>
              <a:t>2. 递减规律内涵</a:t>
            </a:r>
          </a:p>
          <a:p>
            <a:r>
              <a:rPr sz="1250" b="0">
                <a:solidFill>
                  <a:srgbClr val="2C2C2C"/>
                </a:solidFill>
                <a:latin typeface="Times New Roman"/>
                <a:ea typeface="Microsoft YaHei"/>
              </a:rPr>
              <a:t>  在维持总产出不变前提下，随着劳动力 L 的持续增加，每增加 1 单位 L 所能替代的资本 K 的数量不断递减。</a:t>
            </a:r>
          </a:p>
          <a:p>
            <a:r>
              <a:rPr sz="1400" b="1">
                <a:solidFill>
                  <a:srgbClr val="2E86C1"/>
                </a:solidFill>
                <a:latin typeface="Times New Roman"/>
                <a:ea typeface="Microsoft YaHei"/>
              </a:rPr>
              <a:t>3. 经济学解释</a:t>
            </a:r>
          </a:p>
          <a:p>
            <a:r>
              <a:rPr sz="1250" b="0">
                <a:solidFill>
                  <a:srgbClr val="2C2C2C"/>
                </a:solidFill>
                <a:latin typeface="Times New Roman"/>
                <a:ea typeface="Microsoft YaHei"/>
              </a:rPr>
              <a:t>  随着劳动力充斥而设备日益稀缺，劳动力的边际贡献下降，而稀缺设备的边际贡献上升。</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核心结论：等产量曲线直观描绘了企业的技术替代能力：斜率即为两要素边际产量之比 (MP_L / MP_K)。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长期生产理论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等成本线 (Isocost Line) 与要素相对价格</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11</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等成本线方程与几何截距</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成本约束方程</a:t>
            </a:r>
          </a:p>
          <a:p>
            <a:r>
              <a:rPr sz="1250" b="0">
                <a:solidFill>
                  <a:srgbClr val="2C2C2C"/>
                </a:solidFill>
                <a:latin typeface="Times New Roman"/>
                <a:ea typeface="Microsoft YaHei"/>
              </a:rPr>
              <a:t>  C = P_L · L + P_K · K
(式中：C 为企业总生产预算，P_L 为工资率，P_K 为资本租赁价格)</a:t>
            </a:r>
          </a:p>
          <a:p>
            <a:r>
              <a:rPr sz="1400" b="1">
                <a:solidFill>
                  <a:srgbClr val="1B3A5C"/>
                </a:solidFill>
                <a:latin typeface="Times New Roman"/>
                <a:ea typeface="Microsoft YaHei"/>
              </a:rPr>
              <a:t>2. 反解得到斜率截距式</a:t>
            </a:r>
          </a:p>
          <a:p>
            <a:r>
              <a:rPr sz="1250" b="0">
                <a:solidFill>
                  <a:srgbClr val="2C2C2C"/>
                </a:solidFill>
                <a:latin typeface="Times New Roman"/>
                <a:ea typeface="Microsoft YaHei"/>
              </a:rPr>
              <a:t>  K = (C / P_K) - (P_L / P_K) · L</a:t>
            </a:r>
          </a:p>
          <a:p>
            <a:r>
              <a:rPr sz="1400" b="1">
                <a:solidFill>
                  <a:srgbClr val="1B3A5C"/>
                </a:solidFill>
                <a:latin typeface="Times New Roman"/>
                <a:ea typeface="Microsoft YaHei"/>
              </a:rPr>
              <a:t>3. 关键几何参数</a:t>
            </a:r>
          </a:p>
          <a:p>
            <a:r>
              <a:rPr sz="1250" b="0">
                <a:solidFill>
                  <a:srgbClr val="2C2C2C"/>
                </a:solidFill>
                <a:latin typeface="Times New Roman"/>
                <a:ea typeface="Microsoft YaHei"/>
              </a:rPr>
              <a:t>  • 纵轴截距：全部买资本可买 C / P_K
• 横轴截距：全部雇劳力可雇 C / P_L
• 直线斜率：等于两种生产要素的相对价格比值 -(P_L / P_K)！</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等成本线的移动与旋转机制</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总预算变动 (平行平移)</a:t>
            </a:r>
          </a:p>
          <a:p>
            <a:r>
              <a:rPr sz="1250" b="0">
                <a:solidFill>
                  <a:srgbClr val="2C2C2C"/>
                </a:solidFill>
                <a:latin typeface="Times New Roman"/>
                <a:ea typeface="Microsoft YaHei"/>
              </a:rPr>
              <a:t>  当生产要素价格不变，企业总预算增加时，等成本线向右上平行平移；预算压缩时向左下平行平移。</a:t>
            </a:r>
          </a:p>
          <a:p>
            <a:r>
              <a:rPr sz="1400" b="1">
                <a:solidFill>
                  <a:srgbClr val="2E86C1"/>
                </a:solidFill>
                <a:latin typeface="Times New Roman"/>
                <a:ea typeface="Microsoft YaHei"/>
              </a:rPr>
              <a:t>2. 要素相对价格变动 (斜率旋转)</a:t>
            </a:r>
          </a:p>
          <a:p>
            <a:r>
              <a:rPr sz="1250" b="0">
                <a:solidFill>
                  <a:srgbClr val="2C2C2C"/>
                </a:solidFill>
                <a:latin typeface="Times New Roman"/>
                <a:ea typeface="Microsoft YaHei"/>
              </a:rPr>
              <a:t>  • 若劳动力工资 P_L 上涨：横轴截距向左缩，直线变陡峭；
• 若资本利息 P_K 下降：纵轴截距向上移，直线变平缓。</a:t>
            </a:r>
          </a:p>
          <a:p>
            <a:r>
              <a:rPr sz="1400" b="1">
                <a:solidFill>
                  <a:srgbClr val="2E86C1"/>
                </a:solidFill>
                <a:latin typeface="Times New Roman"/>
                <a:ea typeface="Microsoft YaHei"/>
              </a:rPr>
              <a:t>3. 决策含义</a:t>
            </a:r>
          </a:p>
          <a:p>
            <a:r>
              <a:rPr sz="1250" b="0">
                <a:solidFill>
                  <a:srgbClr val="2C2C2C"/>
                </a:solidFill>
                <a:latin typeface="Times New Roman"/>
                <a:ea typeface="Microsoft YaHei"/>
              </a:rPr>
              <a:t>  要素相对价格的变化直接改变了企业的成本约束边界。</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核心结论：等成本线的斜率仅取决于市场要素价格比值 (P_L / P_K)，不受企业自身主观产出目标影响。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长期生产理论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最优要素组合：成本最小化与产量最大化切点条件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12</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生产者均衡的几何切点法则 (图 4-6)</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几何切点条件</a:t>
            </a:r>
          </a:p>
          <a:p>
            <a:r>
              <a:rPr sz="1250" b="0">
                <a:solidFill>
                  <a:srgbClr val="2C2C2C"/>
                </a:solidFill>
                <a:latin typeface="Times New Roman"/>
                <a:ea typeface="Microsoft YaHei"/>
              </a:rPr>
              <a:t>  在既定成本预算下实现产量最大化（或既定产量下成本最小化），最优要素组合必然位于等产量曲线与等成本线的「唯一相切点 E」。</a:t>
            </a:r>
          </a:p>
          <a:p>
            <a:r>
              <a:rPr sz="1400" b="1">
                <a:solidFill>
                  <a:srgbClr val="1B3A5C"/>
                </a:solidFill>
                <a:latin typeface="Times New Roman"/>
                <a:ea typeface="Microsoft YaHei"/>
              </a:rPr>
              <a:t>2. 两线斜率相等</a:t>
            </a:r>
          </a:p>
          <a:p>
            <a:r>
              <a:rPr sz="1250" b="0">
                <a:solidFill>
                  <a:srgbClr val="2C2C2C"/>
                </a:solidFill>
                <a:latin typeface="Times New Roman"/>
                <a:ea typeface="Microsoft YaHei"/>
              </a:rPr>
              <a:t>  等产量曲线斜率绝对值 = 等成本线斜率绝对值
MRTS_LK = P_L / P_K → (MP_L / MP_K) = (P_L / P_K)</a:t>
            </a:r>
          </a:p>
          <a:p>
            <a:r>
              <a:rPr sz="1400" b="1">
                <a:solidFill>
                  <a:srgbClr val="1B3A5C"/>
                </a:solidFill>
                <a:latin typeface="Times New Roman"/>
                <a:ea typeface="Microsoft YaHei"/>
              </a:rPr>
              <a:t>3. 等边际原理 (Equi-marginal Principle: 公式 4-6)</a:t>
            </a:r>
          </a:p>
          <a:p>
            <a:r>
              <a:rPr sz="1250" b="0">
                <a:solidFill>
                  <a:srgbClr val="2C2C2C"/>
                </a:solidFill>
                <a:latin typeface="Times New Roman"/>
                <a:ea typeface="Microsoft YaHei"/>
              </a:rPr>
              <a:t>  MP_L / P_L = MP_K / P_K
花在劳动力上的最后一元钱带来的边际产出 = 花在资本设备上的最后一元钱带来的边际产出！</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市场失衡时的自动调整机制</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若 MP_L / P_L &gt; MP_K / P_K</a:t>
            </a:r>
          </a:p>
          <a:p>
            <a:r>
              <a:rPr sz="1250" b="0">
                <a:solidFill>
                  <a:srgbClr val="2C2C2C"/>
                </a:solidFill>
                <a:latin typeface="Times New Roman"/>
                <a:ea typeface="Microsoft YaHei"/>
              </a:rPr>
              <a:t>  花在劳动力上性价比更高！企业应当增雇劳动力 L、减少资本设备 K；随着 L 增加 MP_L 下降、K 减少 MP_K 上升，直至两者重新恢复相等。</a:t>
            </a:r>
          </a:p>
          <a:p>
            <a:r>
              <a:rPr sz="1400" b="1">
                <a:solidFill>
                  <a:srgbClr val="2E86C1"/>
                </a:solidFill>
                <a:latin typeface="Times New Roman"/>
                <a:ea typeface="Microsoft YaHei"/>
              </a:rPr>
              <a:t>2. 若 MP_L / P_L &lt; MP_K / P_K</a:t>
            </a:r>
          </a:p>
          <a:p>
            <a:r>
              <a:rPr sz="1250" b="0">
                <a:solidFill>
                  <a:srgbClr val="2C2C2C"/>
                </a:solidFill>
                <a:latin typeface="Times New Roman"/>
                <a:ea typeface="Microsoft YaHei"/>
              </a:rPr>
              <a:t>  买设备比雇人更划算！企业应当加速自动化机器替代人工。</a:t>
            </a:r>
          </a:p>
          <a:p>
            <a:r>
              <a:rPr sz="1400" b="1">
                <a:solidFill>
                  <a:srgbClr val="2E86C1"/>
                </a:solidFill>
                <a:latin typeface="Times New Roman"/>
                <a:ea typeface="Microsoft YaHei"/>
              </a:rPr>
              <a:t>3. 生产扩张线 (Expansion Path)</a:t>
            </a:r>
          </a:p>
          <a:p>
            <a:r>
              <a:rPr sz="1250" b="0">
                <a:solidFill>
                  <a:srgbClr val="2C2C2C"/>
                </a:solidFill>
                <a:latin typeface="Times New Roman"/>
                <a:ea typeface="Microsoft YaHei"/>
              </a:rPr>
              <a:t>  连接不同产出水平下所有最优切点 E1, E2, E3... 的轨迹线，描绘了企业长期扩张时的最优要素配比路线。</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核心结论：「最后一元钱边际产出相等」是微观经济学最核心的优化法则：指引企业在劳动密集型与资本密集型之间做出理性选择。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长期生产理论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最优要素投入组合算例解析 (例 4-3 &amp; 例 4-4)</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13</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算例解析 (例 4-3)：要素最优配比求解</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生产函数与要素价格</a:t>
            </a:r>
          </a:p>
          <a:p>
            <a:r>
              <a:rPr sz="1250" b="0">
                <a:solidFill>
                  <a:srgbClr val="2C2C2C"/>
                </a:solidFill>
                <a:latin typeface="Times New Roman"/>
                <a:ea typeface="Microsoft YaHei"/>
              </a:rPr>
              <a:t>  生产函数 Q = L^0.5 · K^0.5，劳动力单价 P_L = 10 元，资本单价 P_K = 40 元。</a:t>
            </a:r>
          </a:p>
          <a:p>
            <a:r>
              <a:rPr sz="1400" b="1">
                <a:solidFill>
                  <a:srgbClr val="1B3A5C"/>
                </a:solidFill>
                <a:latin typeface="Times New Roman"/>
                <a:ea typeface="Microsoft YaHei"/>
              </a:rPr>
              <a:t>2. 边际产量求导</a:t>
            </a:r>
          </a:p>
          <a:p>
            <a:r>
              <a:rPr sz="1250" b="0">
                <a:solidFill>
                  <a:srgbClr val="2C2C2C"/>
                </a:solidFill>
                <a:latin typeface="Times New Roman"/>
                <a:ea typeface="Microsoft YaHei"/>
              </a:rPr>
              <a:t>  • MP_L = ∂Q/∂L = 0.5 · L^(-0.5) · K^0.5 = 0.5 (K/L)^0.5
• MP_K = ∂Q/∂K = 0.5 · L^0.5 · K^(-0.5) = 0.5 (L/K)^0.5</a:t>
            </a:r>
          </a:p>
          <a:p>
            <a:r>
              <a:rPr sz="1400" b="1">
                <a:solidFill>
                  <a:srgbClr val="1B3A5C"/>
                </a:solidFill>
                <a:latin typeface="Times New Roman"/>
                <a:ea typeface="Microsoft YaHei"/>
              </a:rPr>
              <a:t>3. 应用最优切点方程</a:t>
            </a:r>
          </a:p>
          <a:p>
            <a:r>
              <a:rPr sz="1250" b="0">
                <a:solidFill>
                  <a:srgbClr val="2C2C2C"/>
                </a:solidFill>
                <a:latin typeface="Times New Roman"/>
                <a:ea typeface="Microsoft YaHei"/>
              </a:rPr>
              <a:t>  MP_L / MP_K = P_L / P_K → [ 0.5(K/L)^0.5 ] / [ 0.5(L/K)^0.5 ] = 10 / 40
→ K / L = 1/4 → L = 4K (最优劳动力投入量必须是资本设备的 4 倍！)</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既定成本下的最大产出求解 (例 4-4)</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预算约束条件</a:t>
            </a:r>
          </a:p>
          <a:p>
            <a:r>
              <a:rPr sz="1250" b="0">
                <a:solidFill>
                  <a:srgbClr val="2C2C2C"/>
                </a:solidFill>
                <a:latin typeface="Times New Roman"/>
                <a:ea typeface="Microsoft YaHei"/>
              </a:rPr>
              <a:t>  设企业总预算 C = 4000 元。</a:t>
            </a:r>
          </a:p>
          <a:p>
            <a:r>
              <a:rPr sz="1400" b="1">
                <a:solidFill>
                  <a:srgbClr val="2E86C1"/>
                </a:solidFill>
                <a:latin typeface="Times New Roman"/>
                <a:ea typeface="Microsoft YaHei"/>
              </a:rPr>
              <a:t>2. 代入等成本方程</a:t>
            </a:r>
          </a:p>
          <a:p>
            <a:r>
              <a:rPr sz="1250" b="0">
                <a:solidFill>
                  <a:srgbClr val="2C2C2C"/>
                </a:solidFill>
                <a:latin typeface="Times New Roman"/>
                <a:ea typeface="Microsoft YaHei"/>
              </a:rPr>
              <a:t>  10·L + 40·K = 4000
将 L = 4K 代入得：10(4K) + 40K = 4000 → 80K = 4000 → K* = 50 台。
代入得最优用工量 L* = 4 × 50 = 200 人。</a:t>
            </a:r>
          </a:p>
          <a:p>
            <a:r>
              <a:rPr sz="1400" b="1">
                <a:solidFill>
                  <a:srgbClr val="2E86C1"/>
                </a:solidFill>
                <a:latin typeface="Times New Roman"/>
                <a:ea typeface="Microsoft YaHei"/>
              </a:rPr>
              <a:t>3. 最大可能产出量</a:t>
            </a:r>
          </a:p>
          <a:p>
            <a:r>
              <a:rPr sz="1250" b="0">
                <a:solidFill>
                  <a:srgbClr val="2C2C2C"/>
                </a:solidFill>
                <a:latin typeface="Times New Roman"/>
                <a:ea typeface="Microsoft YaHei"/>
              </a:rPr>
              <a:t>  Q_max = (200)^0.5 · (50)^0.5 = (10000)^0.5 = 100 件。</a:t>
            </a:r>
          </a:p>
          <a:p>
            <a:r>
              <a:rPr sz="1400" b="1">
                <a:solidFill>
                  <a:srgbClr val="2E86C1"/>
                </a:solidFill>
                <a:latin typeface="Times New Roman"/>
                <a:ea typeface="Microsoft YaHei"/>
              </a:rPr>
              <a:t>4. 管理启示</a:t>
            </a:r>
          </a:p>
          <a:p>
            <a:r>
              <a:rPr sz="1250" b="0">
                <a:solidFill>
                  <a:srgbClr val="2C2C2C"/>
                </a:solidFill>
                <a:latin typeface="Times New Roman"/>
                <a:ea typeface="Microsoft YaHei"/>
              </a:rPr>
              <a:t>  任何偏离 (L=200, K=50) 的配比方案，在 4000 元预算下产出均必然小于 100 件！</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核心结论：数理推导验证了切点最优性：唯有精确遵循等边际法则，才能在既定资金约束下榨取出最大的产出潜力。</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4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规模报酬与柯布-道格拉斯函数</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规模报酬定义 · IRS/CRS/DRS · 柯布-道格拉斯模型 · 产出弹性 α+β · TFP测算</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规模报酬</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规模报酬 (Returns to Scale) 的三种形态与经济学成因</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15</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规模报酬递增 (IRS)</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定义：所有要素扩大 λ 倍，产出增加大于 λ 倍 (%ΔQ &gt; %Δ投入)</a:t>
            </a:r>
          </a:p>
          <a:p>
            <a:r>
              <a:rPr sz="1200" b="0">
                <a:solidFill>
                  <a:srgbClr val="2C2C2C"/>
                </a:solidFill>
                <a:latin typeface="Times New Roman"/>
                <a:ea typeface="Microsoft YaHei"/>
              </a:rPr>
              <a:t>• 成因：深度专业化分工、大型高效专用设备技术不可分性、管网几何容积效应</a:t>
            </a:r>
          </a:p>
          <a:p>
            <a:r>
              <a:rPr sz="1200" b="0">
                <a:solidFill>
                  <a:srgbClr val="2C2C2C"/>
                </a:solidFill>
                <a:latin typeface="Times New Roman"/>
                <a:ea typeface="Microsoft YaHei"/>
              </a:rPr>
              <a:t>• 战略：坚决做大规模摊薄单位成本</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规模报酬不变 (CRS)</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定义：要素扩大 λ 倍，产出恰好增加 λ 倍 (%ΔQ = %Δ投入)</a:t>
            </a:r>
          </a:p>
          <a:p>
            <a:r>
              <a:rPr sz="1200" b="0">
                <a:solidFill>
                  <a:srgbClr val="2C2C2C"/>
                </a:solidFill>
                <a:latin typeface="Times New Roman"/>
                <a:ea typeface="Microsoft YaHei"/>
              </a:rPr>
              <a:t>• 成因：标准化生产车间与工艺流程的平行复制</a:t>
            </a:r>
          </a:p>
          <a:p>
            <a:r>
              <a:rPr sz="1200" b="0">
                <a:solidFill>
                  <a:srgbClr val="2C2C2C"/>
                </a:solidFill>
                <a:latin typeface="Times New Roman"/>
                <a:ea typeface="Microsoft YaHei"/>
              </a:rPr>
              <a:t>• 战略：规模扩张与产出同速增长，成本结构稳定</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规模报酬递减 (DRS)</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定义：要素扩大 λ 倍，产出增加小于 λ 倍 (%ΔQ &lt; %Δ投入)</a:t>
            </a:r>
          </a:p>
          <a:p>
            <a:r>
              <a:rPr sz="1200" b="0">
                <a:solidFill>
                  <a:srgbClr val="2C2C2C"/>
                </a:solidFill>
                <a:latin typeface="Times New Roman"/>
                <a:ea typeface="Microsoft YaHei"/>
              </a:rPr>
              <a:t>• 成因：管理层级过多信息严重损耗、组织官僚化低效、跨部门沟通协调成本失控</a:t>
            </a:r>
          </a:p>
          <a:p>
            <a:r>
              <a:rPr sz="1200" b="0">
                <a:solidFill>
                  <a:srgbClr val="2C2C2C"/>
                </a:solidFill>
                <a:latin typeface="Times New Roman"/>
                <a:ea typeface="Microsoft YaHei"/>
              </a:rPr>
              <a:t>• 战略：组织扁平化改革，防范大企业病</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企业适度规模经营</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企业从小到大发展通常呈现：递增 (IRS) → 不变 (CRS) → 递减 (DRS)</a:t>
            </a:r>
          </a:p>
          <a:p>
            <a:r>
              <a:rPr sz="1200" b="0">
                <a:solidFill>
                  <a:srgbClr val="2C2C2C"/>
                </a:solidFill>
                <a:latin typeface="Times New Roman"/>
                <a:ea typeface="Microsoft YaHei"/>
              </a:rPr>
              <a:t>• 长期平均成本呈现 U 型包络线</a:t>
            </a:r>
          </a:p>
          <a:p>
            <a:r>
              <a:rPr sz="1200" b="0">
                <a:solidFill>
                  <a:srgbClr val="2C2C2C"/>
                </a:solidFill>
                <a:latin typeface="Times New Roman"/>
                <a:ea typeface="Microsoft YaHei"/>
              </a:rPr>
              <a:t>• 最优经济规模 MES 位于平底区间</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归纳要义：企业追求规模效应必须时刻平衡「生产分工红利」与「管理协调成本」，避免盲目盲目膨胀陷入规模不经济。</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经验模型</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柯布-道格拉斯生产函数 (Cobb-Douglas) 及其特性</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柯布-道格拉斯函数的标准形式 (公式 4-8)</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幂函数数学表达式</a:t>
            </a:r>
          </a:p>
          <a:p>
            <a:r>
              <a:rPr sz="1250" b="0">
                <a:solidFill>
                  <a:srgbClr val="2C2C2C"/>
                </a:solidFill>
                <a:latin typeface="Times New Roman"/>
                <a:ea typeface="Microsoft YaHei"/>
              </a:rPr>
              <a:t>  Q = A · L^α · K^β
(式中：A 为综合技术进步因子，L 为劳动力，K 为资本，α 与 β 为产出弹性参数)</a:t>
            </a:r>
          </a:p>
          <a:p>
            <a:r>
              <a:rPr sz="1400" b="1">
                <a:solidFill>
                  <a:srgbClr val="1B3A5C"/>
                </a:solidFill>
                <a:latin typeface="Times New Roman"/>
                <a:ea typeface="Microsoft YaHei"/>
              </a:rPr>
              <a:t>2. 产出弹性 (Output Elasticity)</a:t>
            </a:r>
          </a:p>
          <a:p>
            <a:r>
              <a:rPr sz="1250" b="0">
                <a:solidFill>
                  <a:srgbClr val="2C2C2C"/>
                </a:solidFill>
                <a:latin typeface="Times New Roman"/>
                <a:ea typeface="Microsoft YaHei"/>
              </a:rPr>
              <a:t>  • 劳动力产出弹性 α = (dQ/dL)·(L/Q)：资本不变时，劳动投入增加 1% 引起产出增加的百分比。
• 资本产出弹性 β = (dQ/dK)·(K/Q)：劳动不变时，资本投入增加 1% 引起产出增加的百分比。</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利用 (α + β) 判定规模报酬性质的黄金准则</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当 α + β &gt; 1 时</a:t>
            </a:r>
          </a:p>
          <a:p>
            <a:r>
              <a:rPr sz="1250" b="0">
                <a:solidFill>
                  <a:srgbClr val="2C2C2C"/>
                </a:solidFill>
                <a:latin typeface="Times New Roman"/>
                <a:ea typeface="Microsoft YaHei"/>
              </a:rPr>
              <a:t>  企业处于规模报酬递增阶段 (IRS)。要素同倍扩张可获得超额产出！</a:t>
            </a:r>
          </a:p>
          <a:p>
            <a:r>
              <a:rPr sz="1400" b="1">
                <a:solidFill>
                  <a:srgbClr val="2E86C1"/>
                </a:solidFill>
                <a:latin typeface="Times New Roman"/>
                <a:ea typeface="Microsoft YaHei"/>
              </a:rPr>
              <a:t>2. 当 α + β = 1 时</a:t>
            </a:r>
          </a:p>
          <a:p>
            <a:r>
              <a:rPr sz="1250" b="0">
                <a:solidFill>
                  <a:srgbClr val="2C2C2C"/>
                </a:solidFill>
                <a:latin typeface="Times New Roman"/>
                <a:ea typeface="Microsoft YaHei"/>
              </a:rPr>
              <a:t>  企业处于规模报酬不变阶段 (CRS)。具备一阶线性齐次性（欧拉定理成立）。</a:t>
            </a:r>
          </a:p>
          <a:p>
            <a:r>
              <a:rPr sz="1400" b="1">
                <a:solidFill>
                  <a:srgbClr val="2E86C1"/>
                </a:solidFill>
                <a:latin typeface="Times New Roman"/>
                <a:ea typeface="Microsoft YaHei"/>
              </a:rPr>
              <a:t>3. 当 α + β &lt; 1 时</a:t>
            </a:r>
          </a:p>
          <a:p>
            <a:r>
              <a:rPr sz="1250" b="0">
                <a:solidFill>
                  <a:srgbClr val="2C2C2C"/>
                </a:solidFill>
                <a:latin typeface="Times New Roman"/>
                <a:ea typeface="Microsoft YaHei"/>
              </a:rPr>
              <a:t>  企业处于规模报酬递减阶段 (DRS)。</a:t>
            </a:r>
          </a:p>
          <a:p>
            <a:r>
              <a:rPr sz="1400" b="1">
                <a:solidFill>
                  <a:srgbClr val="2E86C1"/>
                </a:solidFill>
                <a:latin typeface="Times New Roman"/>
                <a:ea typeface="Microsoft YaHei"/>
              </a:rPr>
              <a:t>4. 对数线性化计量回归估计</a:t>
            </a:r>
          </a:p>
          <a:p>
            <a:r>
              <a:rPr sz="1250" b="0">
                <a:solidFill>
                  <a:srgbClr val="2C2C2C"/>
                </a:solidFill>
                <a:latin typeface="Times New Roman"/>
                <a:ea typeface="Microsoft YaHei"/>
              </a:rPr>
              <a:t>  两边取自然对数：ln Q = ln A + α·ln L + β·ln K + e
可直接运用 OLS 回归估计全要素生产率与要素弹性！</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核心结论：柯布-道格拉斯生产函数是宏观增长核算（索洛余值法测算 TFP）与企业生产效率评估的黄金基准模型。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经验模型</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柯布-道格拉斯函数算例解析 (例 4-6 &amp; 例 4-7)</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17</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算例解析 (例 4-6)：规模报酬与弹性核算</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某制造企业实测生产函数</a:t>
            </a:r>
          </a:p>
          <a:p>
            <a:r>
              <a:rPr sz="1250" b="0">
                <a:solidFill>
                  <a:srgbClr val="2C2C2C"/>
                </a:solidFill>
                <a:latin typeface="Times New Roman"/>
                <a:ea typeface="Microsoft YaHei"/>
              </a:rPr>
              <a:t>  Q = 50 · L^0.6 · K^0.7</a:t>
            </a:r>
          </a:p>
          <a:p>
            <a:r>
              <a:rPr sz="1400" b="1">
                <a:solidFill>
                  <a:srgbClr val="1B3A5C"/>
                </a:solidFill>
                <a:latin typeface="Times New Roman"/>
                <a:ea typeface="Microsoft YaHei"/>
              </a:rPr>
              <a:t>2. 规模报酬性质判定</a:t>
            </a:r>
          </a:p>
          <a:p>
            <a:r>
              <a:rPr sz="1250" b="0">
                <a:solidFill>
                  <a:srgbClr val="2C2C2C"/>
                </a:solidFill>
                <a:latin typeface="Times New Roman"/>
                <a:ea typeface="Microsoft YaHei"/>
              </a:rPr>
              <a:t>  α + β = 0.6 + 0.7 = 1.3 &gt; 1.0！
👉 判定：该企业处于显著的规模报酬递增 (IRS) 阶段！</a:t>
            </a:r>
          </a:p>
          <a:p>
            <a:r>
              <a:rPr sz="1400" b="1">
                <a:solidFill>
                  <a:srgbClr val="1B3A5C"/>
                </a:solidFill>
                <a:latin typeface="Times New Roman"/>
                <a:ea typeface="Microsoft YaHei"/>
              </a:rPr>
              <a:t>3. 要素同倍扩张效应</a:t>
            </a:r>
          </a:p>
          <a:p>
            <a:r>
              <a:rPr sz="1250" b="0">
                <a:solidFill>
                  <a:srgbClr val="2C2C2C"/>
                </a:solidFill>
                <a:latin typeface="Times New Roman"/>
                <a:ea typeface="Microsoft YaHei"/>
              </a:rPr>
              <a:t>  若将劳动力与资本同时扩大 10%：
产出将增加约 1.3 × 10% = 13%！扩大投资与用工将带来超额产出回报。</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全要素生产率 (TFP) 增长测算 (例 4-7)</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索洛经济增长核算方程</a:t>
            </a:r>
          </a:p>
          <a:p>
            <a:r>
              <a:rPr sz="1250" b="0">
                <a:solidFill>
                  <a:srgbClr val="2C2C2C"/>
                </a:solidFill>
                <a:latin typeface="Times New Roman"/>
                <a:ea typeface="Microsoft YaHei"/>
              </a:rPr>
              <a:t>  ΔQ/Q = ΔA/A + α·(ΔL/L) + β·(ΔK/K)
(式中：ΔA/A 即为全要素生产率 TFP 的技术进步贡献率)</a:t>
            </a:r>
          </a:p>
          <a:p>
            <a:r>
              <a:rPr sz="1400" b="1">
                <a:solidFill>
                  <a:srgbClr val="2E86C1"/>
                </a:solidFill>
                <a:latin typeface="Times New Roman"/>
                <a:ea typeface="Microsoft YaHei"/>
              </a:rPr>
              <a:t>2. 实测数据带入</a:t>
            </a:r>
          </a:p>
          <a:p>
            <a:r>
              <a:rPr sz="1250" b="0">
                <a:solidFill>
                  <a:srgbClr val="2C2C2C"/>
                </a:solidFill>
                <a:latin typeface="Times New Roman"/>
                <a:ea typeface="Microsoft YaHei"/>
              </a:rPr>
              <a:t>  已知某行业产出年增长 8%，劳动力年增 2%，资本年增 4%，α=0.4, β=0.6：
👉 8% = ΔA/A + (0.4×2%) + (0.6×4%) = ΔA/A + 0.8% + 2.4% = ΔA/A + 3.2%
👉 求解得技术进步率 TFP = 8% - 3.2% = 4.8%！</a:t>
            </a:r>
          </a:p>
          <a:p>
            <a:r>
              <a:rPr sz="1400" b="1">
                <a:solidFill>
                  <a:srgbClr val="2E86C1"/>
                </a:solidFill>
                <a:latin typeface="Times New Roman"/>
                <a:ea typeface="Microsoft YaHei"/>
              </a:rPr>
              <a:t>3. 经济学启示</a:t>
            </a:r>
          </a:p>
          <a:p>
            <a:r>
              <a:rPr sz="1250" b="0">
                <a:solidFill>
                  <a:srgbClr val="2C2C2C"/>
                </a:solidFill>
                <a:latin typeface="Times New Roman"/>
                <a:ea typeface="Microsoft YaHei"/>
              </a:rPr>
              <a:t>  技术进步与管理创新贡献了该行业 60% (4.8/8.0) 的经济增长动力！</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核心结论：从要素驱动转向全要素生产率 (TFP) 创新驱动，是现代化企业实现高质量跨越式发展的必由之路。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4-1：福特汽车流水线革命与规模报酬递增</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18</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案例研讨：亨利·福特 T 型车移动装配流水线的工业奇迹</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传统工匠手工作坊</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每辆汽车由熟练技工从头到尾手工敲打组装</a:t>
            </a:r>
          </a:p>
          <a:p>
            <a:r>
              <a:rPr sz="1200" b="0">
                <a:solidFill>
                  <a:srgbClr val="2C2C2C"/>
                </a:solidFill>
                <a:latin typeface="Times New Roman"/>
                <a:ea typeface="Microsoft YaHei"/>
              </a:rPr>
              <a:t>• 单车装配耗时长达 12 小时 28 分钟，年产量仅数千台，售价高达 $850 (昂贵奢侈品)</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流水线技术革命 (1913)</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引入移动装配流水线，实施极端精细化专业分工与零部件标准化互换</a:t>
            </a:r>
          </a:p>
          <a:p>
            <a:r>
              <a:rPr sz="1200" b="0">
                <a:solidFill>
                  <a:srgbClr val="2C2C2C"/>
                </a:solidFill>
                <a:latin typeface="Times New Roman"/>
                <a:ea typeface="Microsoft YaHei"/>
              </a:rPr>
              <a:t>• 单车组装时间断崖式骤降至 93 分钟（效率暴增 8 倍！）</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超大规模报酬爆发</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年产量从数万台呈几何级暴增至 200 万台</a:t>
            </a:r>
          </a:p>
          <a:p>
            <a:r>
              <a:rPr sz="1200" b="0">
                <a:solidFill>
                  <a:srgbClr val="2C2C2C"/>
                </a:solidFill>
                <a:latin typeface="Times New Roman"/>
                <a:ea typeface="Microsoft YaHei"/>
              </a:rPr>
              <a:t>• 单车生产成本大幅摊薄，售价连续下调至 $290 (工薪大众买得起)</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开创现代工业文明</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在大幅降价的同时实现日薪 $5 美元（当时全行业最高工资）</a:t>
            </a:r>
          </a:p>
          <a:p>
            <a:r>
              <a:rPr sz="1200" b="0">
                <a:solidFill>
                  <a:srgbClr val="2C2C2C"/>
                </a:solidFill>
                <a:latin typeface="Times New Roman"/>
                <a:ea typeface="Microsoft YaHei"/>
              </a:rPr>
              <a:t>• 彻底改写全球汽车工业与现代大规模制造历史</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通过工艺创新将不可分性的专用流水线设备推向极致，福特汽车淋漓尽致地释放了规模报酬递增的巨大威力。</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4-2：富士康「机器换人」与要素最优替代</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19</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案例研讨：中国制造业面对劳动力成本上升的自动化转型</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人口红利黄金期</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我国劳动力供给极其充沛低廉 (P_L 极低)</a:t>
            </a:r>
          </a:p>
          <a:p>
            <a:r>
              <a:rPr sz="1200" b="0">
                <a:solidFill>
                  <a:srgbClr val="2C2C2C"/>
                </a:solidFill>
                <a:latin typeface="Times New Roman"/>
                <a:ea typeface="Microsoft YaHei"/>
              </a:rPr>
              <a:t>• 企业采取劳动密集型生产技术 (大厂房+数十万普工流水线)</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要素相对价格逆转</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随着人口老龄化与用工成本逐年攀升，劳动力工资 P_L 快速上涨</a:t>
            </a:r>
          </a:p>
          <a:p>
            <a:r>
              <a:rPr sz="1200" b="0">
                <a:solidFill>
                  <a:srgbClr val="2C2C2C"/>
                </a:solidFill>
                <a:latin typeface="Times New Roman"/>
                <a:ea typeface="Microsoft YaHei"/>
              </a:rPr>
              <a:t>• 工业机器人与视觉识别芯片价格 P_K 持续下降，P_L/P_K 比值急剧飙升</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「机器换人」战略实施</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根据 MP_L/P_L &lt; MP_K/P_K 规律，企业果断开启自动化改造</a:t>
            </a:r>
          </a:p>
          <a:p>
            <a:r>
              <a:rPr sz="1200" b="0">
                <a:solidFill>
                  <a:srgbClr val="2C2C2C"/>
                </a:solidFill>
                <a:latin typeface="Times New Roman"/>
                <a:ea typeface="Microsoft YaHei"/>
              </a:rPr>
              <a:t>• 引入数万台工业机器人与熄灯关灯自动化无人工厂</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技术升级与效率重塑</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良品率提升至 99.99%，产品交付周期缩短 50%</a:t>
            </a:r>
          </a:p>
          <a:p>
            <a:r>
              <a:rPr sz="1200" b="0">
                <a:solidFill>
                  <a:srgbClr val="2C2C2C"/>
                </a:solidFill>
                <a:latin typeface="Times New Roman"/>
                <a:ea typeface="Microsoft YaHei"/>
              </a:rPr>
              <a:t>• 成功完成向高技术资本密集型先进制造的华丽蜕变</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要素相对价格的变动是指引企业技术升级的无形指挥棒：当人工变贵时，加速资本替代人工是企业生存的必然选择。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本章小结</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第4章 生产决策分析核心知识系统复盘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20</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短期生产规律</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边际报酬递减客观规律</a:t>
            </a:r>
          </a:p>
          <a:p>
            <a:r>
              <a:rPr sz="1200" b="0">
                <a:solidFill>
                  <a:srgbClr val="2C2C2C"/>
                </a:solidFill>
                <a:latin typeface="Times New Roman"/>
                <a:ea typeface="Microsoft YaHei"/>
              </a:rPr>
              <a:t>• MP 穿过 AP 最高顶点</a:t>
            </a:r>
          </a:p>
          <a:p>
            <a:r>
              <a:rPr sz="1200" b="0">
                <a:solidFill>
                  <a:srgbClr val="2C2C2C"/>
                </a:solidFill>
                <a:latin typeface="Times New Roman"/>
                <a:ea typeface="Microsoft YaHei"/>
              </a:rPr>
              <a:t>• 锁定第 II 阶段理性生产</a:t>
            </a:r>
          </a:p>
          <a:p>
            <a:r>
              <a:rPr sz="1200" b="0">
                <a:solidFill>
                  <a:srgbClr val="2C2C2C"/>
                </a:solidFill>
                <a:latin typeface="Times New Roman"/>
                <a:ea typeface="Microsoft YaHei"/>
              </a:rPr>
              <a:t>• P·MP_L = P_L 最优雇佣</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长期要素组合</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等产量曲线凸向原点</a:t>
            </a:r>
          </a:p>
          <a:p>
            <a:r>
              <a:rPr sz="1200" b="0">
                <a:solidFill>
                  <a:srgbClr val="2C2C2C"/>
                </a:solidFill>
                <a:latin typeface="Times New Roman"/>
                <a:ea typeface="Microsoft YaHei"/>
              </a:rPr>
              <a:t>• MRTS 边际技术替代率</a:t>
            </a:r>
          </a:p>
          <a:p>
            <a:r>
              <a:rPr sz="1200" b="0">
                <a:solidFill>
                  <a:srgbClr val="2C2C2C"/>
                </a:solidFill>
                <a:latin typeface="Times New Roman"/>
                <a:ea typeface="Microsoft YaHei"/>
              </a:rPr>
              <a:t>• 等成本线价格斜率比</a:t>
            </a:r>
          </a:p>
          <a:p>
            <a:r>
              <a:rPr sz="1200" b="0">
                <a:solidFill>
                  <a:srgbClr val="2C2C2C"/>
                </a:solidFill>
                <a:latin typeface="Times New Roman"/>
                <a:ea typeface="Microsoft YaHei"/>
              </a:rPr>
              <a:t>• 切点 MP_L/P_L=MP_K/P_K</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规模报酬形态</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规模递增 IRS (分工专精)</a:t>
            </a:r>
          </a:p>
          <a:p>
            <a:r>
              <a:rPr sz="1200" b="0">
                <a:solidFill>
                  <a:srgbClr val="2C2C2C"/>
                </a:solidFill>
                <a:latin typeface="Times New Roman"/>
                <a:ea typeface="Microsoft YaHei"/>
              </a:rPr>
              <a:t>• 规模不变 CRS (标准复制)</a:t>
            </a:r>
          </a:p>
          <a:p>
            <a:r>
              <a:rPr sz="1200" b="0">
                <a:solidFill>
                  <a:srgbClr val="2C2C2C"/>
                </a:solidFill>
                <a:latin typeface="Times New Roman"/>
                <a:ea typeface="Microsoft YaHei"/>
              </a:rPr>
              <a:t>• 规模递减 DRS (组织官僚)</a:t>
            </a:r>
          </a:p>
          <a:p>
            <a:r>
              <a:rPr sz="1200" b="0">
                <a:solidFill>
                  <a:srgbClr val="2C2C2C"/>
                </a:solidFill>
                <a:latin typeface="Times New Roman"/>
                <a:ea typeface="Microsoft YaHei"/>
              </a:rPr>
              <a:t>• 追求适度经济规模 MES</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经验实证模型</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C-D 函数 Q=A·L^α·K^β</a:t>
            </a:r>
          </a:p>
          <a:p>
            <a:r>
              <a:rPr sz="1200" b="0">
                <a:solidFill>
                  <a:srgbClr val="2C2C2C"/>
                </a:solidFill>
                <a:latin typeface="Times New Roman"/>
                <a:ea typeface="Microsoft YaHei"/>
              </a:rPr>
              <a:t>• α+β 判定规模报酬</a:t>
            </a:r>
          </a:p>
          <a:p>
            <a:r>
              <a:rPr sz="1200" b="0">
                <a:solidFill>
                  <a:srgbClr val="2C2C2C"/>
                </a:solidFill>
                <a:latin typeface="Times New Roman"/>
                <a:ea typeface="Microsoft YaHei"/>
              </a:rPr>
              <a:t>• 对数化 OLS 回归估计</a:t>
            </a:r>
          </a:p>
          <a:p>
            <a:r>
              <a:rPr sz="1200" b="0">
                <a:solidFill>
                  <a:srgbClr val="2C2C2C"/>
                </a:solidFill>
                <a:latin typeface="Times New Roman"/>
                <a:ea typeface="Microsoft YaHei"/>
              </a:rPr>
              <a:t>• 索洛余值测算 TFP 创新</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归纳要义：生产决策是企业供给侧的效率中枢：短期优化单一要素负荷，长期优化要素技术配置，持续依靠科技进步推升全要素生产率。</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复习与研讨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第4章 经典复习思考与考研/实战挑战题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第4章 生产决策分析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21</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深度理论辨析题 (Seminar Questions)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为什么当边际产量 MP 大于平均产量 AP 时，平均产量 AP 必然上升？</a:t>
            </a:r>
          </a:p>
          <a:p>
            <a:r>
              <a:rPr sz="1250" b="0">
                <a:solidFill>
                  <a:srgbClr val="2C2C2C"/>
                </a:solidFill>
                <a:latin typeface="Times New Roman"/>
                <a:ea typeface="Microsoft YaHei"/>
              </a:rPr>
              <a:t>  👉 答：因为新增投入一单位要素所带来的边际产出高于此前的平均水平，必然将整体的平均值拉高（正如新考一门高分课程必然提升总 GPA）。</a:t>
            </a:r>
          </a:p>
          <a:p>
            <a:r>
              <a:rPr sz="1400" b="1">
                <a:solidFill>
                  <a:srgbClr val="1B3A5C"/>
                </a:solidFill>
                <a:latin typeface="Times New Roman"/>
                <a:ea typeface="Microsoft YaHei"/>
              </a:rPr>
              <a:t>2. 为什么企业决不能在生产第 I 阶段和第 III 阶段组织生产？</a:t>
            </a:r>
          </a:p>
          <a:p>
            <a:r>
              <a:rPr sz="1250" b="0">
                <a:solidFill>
                  <a:srgbClr val="2C2C2C"/>
                </a:solidFill>
                <a:latin typeface="Times New Roman"/>
                <a:ea typeface="Microsoft YaHei"/>
              </a:rPr>
              <a:t>  👉 答：在第 I 阶段 AP 持续上升，固定资产严重闲置，增雇工人可提高效率；在第 III 阶段 MP 为负，多雇工人反而导致总产出绝对减少。唯有第 II 阶段才能实现技术与经济协调。</a:t>
            </a:r>
          </a:p>
          <a:p>
            <a:r>
              <a:rPr sz="1400" b="1">
                <a:solidFill>
                  <a:srgbClr val="1B3A5C"/>
                </a:solidFill>
                <a:latin typeface="Times New Roman"/>
                <a:ea typeface="Microsoft YaHei"/>
              </a:rPr>
              <a:t>3. 「规模报酬递增」与「边际报酬递减」是否存在逻辑矛盾？</a:t>
            </a:r>
          </a:p>
          <a:p>
            <a:r>
              <a:rPr sz="1250" b="0">
                <a:solidFill>
                  <a:srgbClr val="2C2C2C"/>
                </a:solidFill>
                <a:latin typeface="Times New Roman"/>
                <a:ea typeface="Microsoft YaHei"/>
              </a:rPr>
              <a:t>  👉 答：绝无矛盾。边际报酬递减是「短期分析」（保持资本不变，仅连续追加劳动力）；而规模报酬递增是「长期分析」（劳动力与资本所有要素同比例等倍扩大）。</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计算与实战应用挑战 (Applied Calculation)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短期生产三阶段求解 (例 4-5)</a:t>
            </a:r>
          </a:p>
          <a:p>
            <a:r>
              <a:rPr sz="1250" b="0">
                <a:solidFill>
                  <a:srgbClr val="2C2C2C"/>
                </a:solidFill>
                <a:latin typeface="Times New Roman"/>
                <a:ea typeface="Microsoft YaHei"/>
              </a:rPr>
              <a:t>  已知生产函数 Q = 600L + 60L² - L³：
👉 求 AP = 600 + 60L - L²，令 d(AP)/dL = 60 - 2L = 0 → L = 30 (第 I 阶段终点)。
👉 求 MP = 600 + 120L - 3L² = 0 → L² - 40L - 200 = 0 → (L-50)(L+10)=0 → L = 50 (第 II 阶段终点)。
👉 理性生产区间为 30 ≤ L ≤ 50。</a:t>
            </a:r>
          </a:p>
          <a:p>
            <a:r>
              <a:rPr sz="1400" b="1">
                <a:solidFill>
                  <a:srgbClr val="2E86C1"/>
                </a:solidFill>
                <a:latin typeface="Times New Roman"/>
                <a:ea typeface="Microsoft YaHei"/>
              </a:rPr>
              <a:t>2. 成本最小化要素配比计算</a:t>
            </a:r>
          </a:p>
          <a:p>
            <a:r>
              <a:rPr sz="1250" b="0">
                <a:solidFill>
                  <a:srgbClr val="2C2C2C"/>
                </a:solidFill>
                <a:latin typeface="Times New Roman"/>
                <a:ea typeface="Microsoft YaHei"/>
              </a:rPr>
              <a:t>  生产函数 Q = 2L^0.5 · K^0.5，工资 P_L = 20，资本 P_K = 80。欲生产 Q = 40 件：
👉 MP_L/MP_K = K/L = 20/80 = 1/4 → L = 4K。
👉 代入产出方程：40 = 2(4K)^0.5 · K^0.5 = 2(2K) = 4K → K* = 10，L* = 40。
👉 最小总成本 C_min = (20×40) + (80×10) = 800 + 800 = 1600 元！</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核心结论：课后实践：请同学们调研一家软件互联网公司或高精制造企业，分析其生产函数中「工程师人力」与「云计算算力」的最优替代关系！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