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06A3B"/>
                </a:solidFill>
              </a:defRPr>
            </a:pPr>
            <a:r>
              <a:t>MANAGERIAL ECONOMICS · 第 7 版精编</a:t>
            </a:r>
          </a:p>
          <a:p>
            <a:pPr>
              <a:spcBef>
                <a:spcPts val="1400"/>
              </a:spcBef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第6章：市场结构分类与企业竞争博弈</a:t>
            </a:r>
          </a:p>
          <a:p>
            <a:pPr>
              <a:defRPr sz="1600">
                <a:solidFill>
                  <a:srgbClr val="B4C3D7"/>
                </a:solidFill>
              </a:defRPr>
            </a:pPr>
            <a:r>
              <a:t>Market Structures, Cournot/Stackelberg &amp; Game Theory</a:t>
            </a:r>
          </a:p>
          <a:p>
            <a:br/>
            <a:pPr>
              <a:defRPr sz="1200">
                <a:solidFill>
                  <a:srgbClr val="D2DCE6"/>
                </a:solidFill>
              </a:defRPr>
            </a:pPr>
            <a:r>
              <a:t>授课主线：微观理论机制 ➔ 数理量化模型 ➔ MBA标杆商业实战 ➔ 决策落地清单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2026 管理经济学 (第7版) | MBA &amp; 本科高阶核心课件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本章核心逻辑架构与学习路线图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0020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四大市场结构特征：完全竞争、完全垄断、垄断竞争、寡头垄断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83464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78892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完全垄断的定价与产量：勒纳指数 (Lerner Index) 与垄断福利净损失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02336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97764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寡头经典模型：古诺模型 (Cournot)、斯塔克伯格模型 (Stackelberg)、折弯需求曲线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521208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16636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博弈论基础：纳什均衡 (Nash Equilibrium)、囚徒困境与重复博弈合作机制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2026 管理经济学 (第7版) | MBA &amp; 本科高阶核心课件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核心理论机制与数理推导 (模块一与二)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01 · 完全竞争 vs 完全垄断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完全竞争：P = MR = MC，长期经济利润为0；完全垄断：MR = MC &lt; P，定价公式 P = MC / [1 - (1/|Ep|)]，勒纳指数 L = (P - MC)/P = 1/|Ep|。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02 · 垄断竞争的非价格竞争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具有产品差异化特征，企业通过品牌营销、包装设计、技术专利打造局部垄断力，长期均衡超额利润被新进入者侵蚀。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2026 管理经济学 (第7版) | MBA &amp; 本科高阶核心课件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核心理论机制与数理推导 (模块三与四)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03 · 寡头模型与战略互动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古诺模型中企业同时做产量决策；斯塔克伯格模型中先行者拥有先发优势；伯特兰模型中若产品同质则出现价格战零利润结局。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04 · 博弈论与囚徒困境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企业单方降价打价格战是各自的占优策略，导致双方均陷入低利润困境；无限次重复博弈与'以牙还牙'(Tit-for-Tat)策略可促成默契合谋与合作。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CASE STUDY · 标杆企业决策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MBA 商业实战案例深度剖析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9966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B365D"/>
                </a:solidFill>
              </a:defRPr>
            </a:pPr>
            <a:r>
              <a:t>【MBA实战案例】可口可乐与百事可乐的广告博弈、民航寡头路线定价</a:t>
            </a:r>
          </a:p>
          <a:p>
            <a:r>
              <a:rPr b="1" sz="1300">
                <a:solidFill>
                  <a:srgbClr val="E06A3B"/>
                </a:solidFill>
              </a:rPr>
              <a:t>【商业情境与决策困局】： </a:t>
            </a:r>
            <a:r>
              <a:rPr>
                <a:solidFill>
                  <a:srgbClr val="282C34"/>
                </a:solidFill>
              </a:rPr>
              <a:t>两大多乐寡头在广告营销预算上的战略对峙；航空公司在热门航线上针对航班时刻与票价的博弈互动。</a:t>
            </a:r>
          </a:p>
          <a:p>
            <a:r>
              <a:rPr b="1" sz="1300">
                <a:solidFill>
                  <a:srgbClr val="1B365D"/>
                </a:solidFill>
              </a:rPr>
              <a:t>
【管理经济学深度剖析】： </a:t>
            </a:r>
            <a:r>
              <a:rPr>
                <a:solidFill>
                  <a:srgbClr val="282C34"/>
                </a:solidFill>
              </a:rPr>
              <a:t>双方均投入巨额广告费陷入典型囚徒困境；但通过长期的品牌区隔与产品线布局，两家最终维持了稳定的高溢价双寡头纳什均衡。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EXECUTIVE CHECKLIST · 决策闭环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管理决策落地启示清单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29000" cy="5486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ACTION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</a:defRPr>
            </a:pPr>
            <a:r>
              <a:t>跳出同质化价格战陷阱：通过产品差异化和品牌溢价构建定价权。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429000" cy="5486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ACTION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3774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</a:defRPr>
            </a:pPr>
            <a:r>
              <a:t>培养博弈前瞻思维：做决策前必须先推演竞争对手的理性反应路径。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REVIEW &amp; DISCUSSION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本章复习思考与考试典型考点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6A3B"/>
                </a:solidFill>
              </a:defRPr>
            </a:pPr>
            <a:r>
              <a:t>研讨考题 01：</a:t>
            </a:r>
          </a:p>
          <a:p>
            <a:pPr>
              <a:spcBef>
                <a:spcPts val="600"/>
              </a:spcBef>
              <a:defRPr sz="1300">
                <a:solidFill>
                  <a:srgbClr val="282C34"/>
                </a:solidFill>
              </a:defRPr>
            </a:pPr>
            <a:r>
              <a:t>推导拥有两家同质企业的古诺模型均衡产量与市场总产量，并证明其产量高于垄断产量但低于完全竞争产量。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7286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6A3B"/>
                </a:solidFill>
              </a:defRPr>
            </a:pPr>
            <a:r>
              <a:t>研讨考题 02：</a:t>
            </a:r>
          </a:p>
          <a:p>
            <a:pPr>
              <a:spcBef>
                <a:spcPts val="600"/>
              </a:spcBef>
              <a:defRPr sz="1300">
                <a:solidFill>
                  <a:srgbClr val="282C34"/>
                </a:solidFill>
              </a:defRPr>
            </a:pPr>
            <a:r>
              <a:t>在什么条件下，寡头企业之间的卡特尔（Cartel）价格同盟容易破裂？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