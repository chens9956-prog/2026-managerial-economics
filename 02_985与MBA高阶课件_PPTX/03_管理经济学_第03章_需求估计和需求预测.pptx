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06A3B"/>
                </a:solidFill>
              </a:defRPr>
            </a:pPr>
            <a:r>
              <a:t>MANAGERIAL ECONOMICS · 第 7 版精编</a:t>
            </a:r>
          </a:p>
          <a:p>
            <a:pPr>
              <a:spcBef>
                <a:spcPts val="1400"/>
              </a:spcBef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第3章：需求估计与需求预测</a:t>
            </a:r>
          </a:p>
          <a:p>
            <a:pPr>
              <a:defRPr sz="1600">
                <a:solidFill>
                  <a:srgbClr val="B4C3D7"/>
                </a:solidFill>
              </a:defRPr>
            </a:pPr>
            <a:r>
              <a:t>Demand Estimation, Econometrics &amp; Forecasting Methods</a:t>
            </a:r>
          </a:p>
          <a:p>
            <a:br/>
            <a:pPr>
              <a:defRPr sz="1200">
                <a:solidFill>
                  <a:srgbClr val="D2DCE6"/>
                </a:solidFill>
              </a:defRPr>
            </a:pPr>
            <a:r>
              <a:t>授课主线：微观理论机制 ➔ 数理量化模型 ➔ MBA标杆商业实战 ➔ 决策落地清单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2026 管理经济学 (第7版) | MBA &amp; 本科高阶核心课件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本章核心逻辑架构与学习路线图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0020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需求估计的实证方法：消费者调查法、市场实验法与大数据 A/B 测试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83464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78892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计量经济学回归模型：一元/多元线性回归、OLS 参数估计与显著性检验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02336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97764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时间序列分析预测：趋势移动平均、指数平滑与季节性分解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521208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16636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定性预测工具：德尔菲法 (Delphi) 与销售人员综合意见法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2026 管理经济学 (第7版) | MBA &amp; 本科高阶核心课件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核心理论机制与数理推导 (模块一与二)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01 · 实证数据收集技术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通过线上大数据控制实验（A/B Testing）模拟不同价格与营销刺激，规避调查问卷中的虚假陈述与偏倚。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02 · 多元线性回归分析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Q = a0 + a1*P + a2*I + a3*Py + a4*Adv + ε。利用 OLS 最小二乘法估计参数，利用 t 检验评估单变量显著性，F 检验评估整体拟合度 R²。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2026 管理经济学 (第7版) | MBA &amp; 本科高阶核心课件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核心理论机制与数理推导 (模块三与四)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03 · 时间序列分解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Yt = Tt × St × Ct × It（趋势、季节、周期、随机变动），通过去趋势与季节调整实现精准供应链与库存预测。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04 · 预测误差与模型评估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采用均方根误差 (RMSE)、平均绝对百分比误差 (MAPE) 对预测模型进行前瞻回测与校准。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CASE STUDY · 标杆企业决策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MBA 商业实战案例深度剖析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9966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B365D"/>
                </a:solidFill>
              </a:defRPr>
            </a:pPr>
            <a:r>
              <a:t>【MBA实战案例】字节跳动与亚马逊基于实时大数据的需求估计与动态预测</a:t>
            </a:r>
          </a:p>
          <a:p>
            <a:r>
              <a:rPr b="1" sz="1300">
                <a:solidFill>
                  <a:srgbClr val="E06A3B"/>
                </a:solidFill>
              </a:rPr>
              <a:t>【商业情境与决策困局】： </a:t>
            </a:r>
            <a:r>
              <a:rPr>
                <a:solidFill>
                  <a:srgbClr val="282C34"/>
                </a:solidFill>
              </a:rPr>
              <a:t>亚马逊利用机器学习回归模型预测区域仓储需求，实现'预测性发货'；电商平台通过千人千面 A/B 测试测算价格弹性系数。</a:t>
            </a:r>
          </a:p>
          <a:p>
            <a:r>
              <a:rPr b="1" sz="1300">
                <a:solidFill>
                  <a:srgbClr val="1B365D"/>
                </a:solidFill>
              </a:rPr>
              <a:t>
【管理经济学深度剖析】： </a:t>
            </a:r>
            <a:r>
              <a:rPr>
                <a:solidFill>
                  <a:srgbClr val="282C34"/>
                </a:solidFill>
              </a:rPr>
              <a:t>实证需求预测将传统静态问卷转变为全量行为数据驱动的实时估计，将预测误差降低 40% 以上，极大节约了履约与库存持有成本。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EXECUTIVE CHECKLIST · 决策闭环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管理决策落地启示清单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29000" cy="5486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ACTION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</a:defRPr>
            </a:pPr>
            <a:r>
              <a:t>数据驱动取代直觉拍脑袋：建立计量回归与因果推断决策体系。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429000" cy="5486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ACTION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3774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</a:defRPr>
            </a:pPr>
            <a:r>
              <a:t>注重模型过拟合风险：宏观外部环境巨变时需结合专家定性修正。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REVIEW &amp; DISCUSSION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本章复习思考与考试典型考点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6A3B"/>
                </a:solidFill>
              </a:defRPr>
            </a:pPr>
            <a:r>
              <a:t>研讨考题 01：</a:t>
            </a:r>
          </a:p>
          <a:p>
            <a:pPr>
              <a:spcBef>
                <a:spcPts val="600"/>
              </a:spcBef>
              <a:defRPr sz="1300">
                <a:solidFill>
                  <a:srgbClr val="282C34"/>
                </a:solidFill>
              </a:defRPr>
            </a:pPr>
            <a:r>
              <a:t>在利用回归方程估计需求函数时，如何识别和解决价格内生性（多重共线性与遗漏变量）问题？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7286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6A3B"/>
                </a:solidFill>
              </a:defRPr>
            </a:pPr>
            <a:r>
              <a:t>研讨考题 02：</a:t>
            </a:r>
          </a:p>
          <a:p>
            <a:pPr>
              <a:spcBef>
                <a:spcPts val="600"/>
              </a:spcBef>
              <a:defRPr sz="1300">
                <a:solidFill>
                  <a:srgbClr val="282C34"/>
                </a:solidFill>
              </a:defRPr>
            </a:pPr>
            <a:r>
              <a:t>企业在什么情境下应采用德尔菲法而非时间序列计量模型？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