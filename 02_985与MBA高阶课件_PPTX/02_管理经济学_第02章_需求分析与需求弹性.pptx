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06A3B"/>
                </a:solidFill>
              </a:defRPr>
            </a:pPr>
            <a:r>
              <a:t>MANAGERIAL ECONOMICS · 第 7 版精编</a:t>
            </a:r>
          </a:p>
          <a:p>
            <a:pPr>
              <a:spcBef>
                <a:spcPts val="1400"/>
              </a:spcBef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第2章：需求分析与需求弹性</a:t>
            </a:r>
          </a:p>
          <a:p>
            <a:pPr>
              <a:defRPr sz="1600">
                <a:solidFill>
                  <a:srgbClr val="B4C3D7"/>
                </a:solidFill>
              </a:defRPr>
            </a:pPr>
            <a:r>
              <a:t>Demand Analysis &amp; Price / Income / Cross Elasticities</a:t>
            </a:r>
          </a:p>
          <a:p>
            <a:br/>
            <a:pPr>
              <a:defRPr sz="1200">
                <a:solidFill>
                  <a:srgbClr val="D2DCE6"/>
                </a:solidFill>
              </a:defRPr>
            </a:pPr>
            <a:r>
              <a:t>授课主线：微观理论机制 ➔ 数理量化模型 ➔ MBA标杆商业实战 ➔ 决策落地清单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2026 管理经济学 (第7版) | MBA &amp; 本科高阶核心课件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本章核心逻辑架构与学习路线图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0020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需求价格弹性 (Ep)：点弹性、弧弹性与企业总收益 (TR) 联动矩阵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83464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78892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需求收入弹性 (Ei)：正常品、劣等品、必需品与奢侈品分类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02336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97764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需求交叉价格弹性 (Exy)：替代品与互补品识别及生态定价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521208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16636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弹性综合决策模型在企业动态定价中的应用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2026 管理经济学 (第7版) | MBA &amp; 本科高阶核心课件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核心理论机制与数理推导 (模块一与二)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01 · 需求价格弹性与总收益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Ep = -(dQ/dP)·(P/Q)。若 |Ep|&gt;1(富有弹性)，降价增加总收益；若 |Ep|&lt;1(缺乏弹性)，提价增加总收益；若 |Ep|=1，总收益最大。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02 · 收入弹性与产业周期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Ei = (dQ/dI)·(I/Q)。Ei&gt;1 为奢侈品，高经济增长期爆发；0&lt;Ei&lt;1 为必需品，抗周期；Ei&lt;0 为劣质品，经济下行期逆势增长。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2026 管理经济学 (第7版) | MBA &amp; 本科高阶核心课件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核心理论机制与数理推导 (模块三与四)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03 · 交叉弹性与生态协同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Exy = (dQa/dPb)·(Pb/Qa)。Exy&gt;0 为替代品（防范竞品蚕食）；Exy&lt;0 为互补品（剃须刀与刀片、打印机与耗材）。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04 · 需求弹性的决定因素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替代品的丰富程度、商品在消费者支出中的比重、商品用途广泛性、消费者决策与调整时间周期。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CASE STUDY · 标杆企业决策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MBA 商业实战案例深度剖析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9966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B365D"/>
                </a:solidFill>
              </a:defRPr>
            </a:pPr>
            <a:r>
              <a:t>【MBA实战案例】奈飞 (Netflix) 提价策略与星巴克咖啡价格弹性实战</a:t>
            </a:r>
          </a:p>
          <a:p>
            <a:r>
              <a:rPr b="1" sz="1300">
                <a:solidFill>
                  <a:srgbClr val="E06A3B"/>
                </a:solidFill>
              </a:rPr>
              <a:t>【商业情境与决策困局】： </a:t>
            </a:r>
            <a:r>
              <a:rPr>
                <a:solidFill>
                  <a:srgbClr val="282C34"/>
                </a:solidFill>
              </a:rPr>
              <a:t>Netflix 依靠独家自制剧提高用户粘性并多次上调会员订阅月费；星巴克在不同国家根据价格弹性执行差异化定价。</a:t>
            </a:r>
          </a:p>
          <a:p>
            <a:r>
              <a:rPr b="1" sz="1300">
                <a:solidFill>
                  <a:srgbClr val="1B365D"/>
                </a:solidFill>
              </a:rPr>
              <a:t>
【管理经济学深度剖析】： </a:t>
            </a:r>
            <a:r>
              <a:rPr>
                <a:solidFill>
                  <a:srgbClr val="282C34"/>
                </a:solidFill>
              </a:rPr>
              <a:t>Netflix 通过产品差异化降低替代性，将用户需求弹性控制在缺乏弹性区间（|Ep|&lt;1），提价成功拉动了总订阅收入大幅增长。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EXECUTIVE CHECKLIST · 决策闭环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管理决策落地启示清单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29000" cy="5486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ACTION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精准测算企业产品弹性：切忌盲目打价格战。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429000" cy="5486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ACTION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3774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交叉弹性构建护城河：利用互补品生态打造闭环商业模式。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REVIEW &amp; DISCUSSION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本章复习思考与考试典型考点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6A3B"/>
                </a:solidFill>
              </a:defRPr>
            </a:pPr>
            <a:r>
              <a:t>研讨考题 01：</a:t>
            </a:r>
          </a:p>
          <a:p>
            <a:pPr>
              <a:spcBef>
                <a:spcPts val="600"/>
              </a:spcBef>
              <a:defRPr sz="1300">
                <a:solidFill>
                  <a:srgbClr val="282C34"/>
                </a:solidFill>
              </a:defRPr>
            </a:pPr>
            <a:r>
              <a:t>农产品'谷贱伤农'与高档奢侈品'越贵越买'的经济学弹性机理分别是什么？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7286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6A3B"/>
                </a:solidFill>
              </a:defRPr>
            </a:pPr>
            <a:r>
              <a:t>研讨考题 02：</a:t>
            </a:r>
          </a:p>
          <a:p>
            <a:pPr>
              <a:spcBef>
                <a:spcPts val="600"/>
              </a:spcBef>
              <a:defRPr sz="1300">
                <a:solidFill>
                  <a:srgbClr val="282C34"/>
                </a:solidFill>
              </a:defRPr>
            </a:pPr>
            <a:r>
              <a:t>若某数码产品价格下降 10%，销量上升 25%，请计算其需求价格弹性并评估降价决策的合理性。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