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4114800"/>
          </a:xfrm>
          <a:prstGeom prst="rect">
            <a:avLst/>
          </a:prstGeom>
          <a:noFill/>
        </p:spPr>
        <p:txBody>
          <a:bodyPr wrap="square">
            <a:spAutoFit/>
          </a:bodyPr>
          <a:lstStyle/>
          <a:p>
            <a:pPr>
              <a:defRPr sz="1300" b="1">
                <a:solidFill>
                  <a:srgbClr val="E06A3B"/>
                </a:solidFill>
              </a:defRPr>
            </a:pPr>
            <a:r>
              <a:t>MANAGERIAL ECONOMICS · 第 7 版精编</a:t>
            </a:r>
          </a:p>
          <a:p>
            <a:pPr>
              <a:spcBef>
                <a:spcPts val="1400"/>
              </a:spcBef>
              <a:spcAft>
                <a:spcPts val="1000"/>
              </a:spcAft>
              <a:defRPr sz="3600" b="1">
                <a:solidFill>
                  <a:srgbClr val="FFFFFF"/>
                </a:solidFill>
              </a:defRPr>
            </a:pPr>
            <a:r>
              <a:t>第4章：生产决策与生产函数分析</a:t>
            </a:r>
          </a:p>
          <a:p>
            <a:pPr>
              <a:defRPr sz="1600">
                <a:solidFill>
                  <a:srgbClr val="B4C3D7"/>
                </a:solidFill>
              </a:defRPr>
            </a:pPr>
            <a:r>
              <a:t>Production Decisions, Diminishing Returns &amp; Optimal Factor Mix</a:t>
            </a:r>
          </a:p>
          <a:p>
            <a:br/>
            <a:pPr>
              <a:defRPr sz="1200">
                <a:solidFill>
                  <a:srgbClr val="D2DCE6"/>
                </a:solidFill>
              </a:defRPr>
            </a:pPr>
            <a:r>
              <a:t>授课主线：微观理论机制 ➔ 数理量化模型 ➔ MBA标杆商业实战 ➔ 决策落地清单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2026 管理经济学 (第7版) | MBA &amp; 本科高阶核心课件</a:t>
            </a:r>
          </a:p>
          <a:p>
            <a:pPr>
              <a:defRPr sz="2200" b="1">
                <a:solidFill>
                  <a:srgbClr val="1B365D"/>
                </a:solidFill>
              </a:defRPr>
            </a:pPr>
            <a:r>
              <a:t>本章核心逻辑架构与学习路线图</a:t>
            </a:r>
          </a:p>
        </p:txBody>
      </p:sp>
      <p:sp>
        <p:nvSpPr>
          <p:cNvPr id="5" name="Rounded Rectangle 4"/>
          <p:cNvSpPr/>
          <p:nvPr/>
        </p:nvSpPr>
        <p:spPr>
          <a:xfrm>
            <a:off x="731520" y="146304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4592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01</a:t>
            </a:r>
          </a:p>
        </p:txBody>
      </p:sp>
      <p:sp>
        <p:nvSpPr>
          <p:cNvPr id="7" name="TextBox 6"/>
          <p:cNvSpPr txBox="1"/>
          <p:nvPr/>
        </p:nvSpPr>
        <p:spPr>
          <a:xfrm>
            <a:off x="1737360" y="1600200"/>
            <a:ext cx="9509760" cy="731520"/>
          </a:xfrm>
          <a:prstGeom prst="rect">
            <a:avLst/>
          </a:prstGeom>
          <a:noFill/>
        </p:spPr>
        <p:txBody>
          <a:bodyPr wrap="square">
            <a:spAutoFit/>
          </a:bodyPr>
          <a:lstStyle/>
          <a:p>
            <a:pPr>
              <a:defRPr sz="1400" b="1">
                <a:solidFill>
                  <a:srgbClr val="282C34"/>
                </a:solidFill>
              </a:defRPr>
            </a:pPr>
            <a:r>
              <a:t>短期生产函数：总产量 (TP)、平均产量 (AP)、边际产量 (MP) 与边际报酬递减规律</a:t>
            </a:r>
          </a:p>
        </p:txBody>
      </p:sp>
      <p:sp>
        <p:nvSpPr>
          <p:cNvPr id="8" name="Rounded Rectangle 7"/>
          <p:cNvSpPr/>
          <p:nvPr/>
        </p:nvSpPr>
        <p:spPr>
          <a:xfrm>
            <a:off x="731520" y="265176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283464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02</a:t>
            </a:r>
          </a:p>
        </p:txBody>
      </p:sp>
      <p:sp>
        <p:nvSpPr>
          <p:cNvPr id="10" name="TextBox 9"/>
          <p:cNvSpPr txBox="1"/>
          <p:nvPr/>
        </p:nvSpPr>
        <p:spPr>
          <a:xfrm>
            <a:off x="1737360" y="2788920"/>
            <a:ext cx="9509760" cy="731520"/>
          </a:xfrm>
          <a:prstGeom prst="rect">
            <a:avLst/>
          </a:prstGeom>
          <a:noFill/>
        </p:spPr>
        <p:txBody>
          <a:bodyPr wrap="square">
            <a:spAutoFit/>
          </a:bodyPr>
          <a:lstStyle/>
          <a:p>
            <a:pPr>
              <a:defRPr sz="1400" b="1">
                <a:solidFill>
                  <a:srgbClr val="282C34"/>
                </a:solidFill>
              </a:defRPr>
            </a:pPr>
            <a:r>
              <a:t>生产的三阶段划分与短期合理生产区域（第 II 阶段）</a:t>
            </a:r>
          </a:p>
        </p:txBody>
      </p:sp>
      <p:sp>
        <p:nvSpPr>
          <p:cNvPr id="11" name="Rounded Rectangle 10"/>
          <p:cNvSpPr/>
          <p:nvPr/>
        </p:nvSpPr>
        <p:spPr>
          <a:xfrm>
            <a:off x="731520" y="384048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402336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03</a:t>
            </a:r>
          </a:p>
        </p:txBody>
      </p:sp>
      <p:sp>
        <p:nvSpPr>
          <p:cNvPr id="13" name="TextBox 12"/>
          <p:cNvSpPr txBox="1"/>
          <p:nvPr/>
        </p:nvSpPr>
        <p:spPr>
          <a:xfrm>
            <a:off x="1737360" y="3977640"/>
            <a:ext cx="9509760" cy="731520"/>
          </a:xfrm>
          <a:prstGeom prst="rect">
            <a:avLst/>
          </a:prstGeom>
          <a:noFill/>
        </p:spPr>
        <p:txBody>
          <a:bodyPr wrap="square">
            <a:spAutoFit/>
          </a:bodyPr>
          <a:lstStyle/>
          <a:p>
            <a:pPr>
              <a:defRPr sz="1400" b="1">
                <a:solidFill>
                  <a:srgbClr val="282C34"/>
                </a:solidFill>
              </a:defRPr>
            </a:pPr>
            <a:r>
              <a:t>长期生产函数：等产量曲线 (Isoquant)、边际技术替代率 (MRTS) 与等成本线</a:t>
            </a:r>
          </a:p>
        </p:txBody>
      </p:sp>
      <p:sp>
        <p:nvSpPr>
          <p:cNvPr id="14" name="Rounded Rectangle 13"/>
          <p:cNvSpPr/>
          <p:nvPr/>
        </p:nvSpPr>
        <p:spPr>
          <a:xfrm>
            <a:off x="731520" y="5029200"/>
            <a:ext cx="10728655" cy="1005840"/>
          </a:xfrm>
          <a:prstGeom prst="roundRect">
            <a:avLst/>
          </a:prstGeom>
          <a:solidFill>
            <a:srgbClr val="FFFFFF"/>
          </a:solidFill>
          <a:ln>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5212080"/>
            <a:ext cx="640080" cy="6400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04</a:t>
            </a:r>
          </a:p>
        </p:txBody>
      </p:sp>
      <p:sp>
        <p:nvSpPr>
          <p:cNvPr id="16" name="TextBox 15"/>
          <p:cNvSpPr txBox="1"/>
          <p:nvPr/>
        </p:nvSpPr>
        <p:spPr>
          <a:xfrm>
            <a:off x="1737360" y="5166360"/>
            <a:ext cx="9509760" cy="731520"/>
          </a:xfrm>
          <a:prstGeom prst="rect">
            <a:avLst/>
          </a:prstGeom>
          <a:noFill/>
        </p:spPr>
        <p:txBody>
          <a:bodyPr wrap="square">
            <a:spAutoFit/>
          </a:bodyPr>
          <a:lstStyle/>
          <a:p>
            <a:pPr>
              <a:defRPr sz="1400" b="1">
                <a:solidFill>
                  <a:srgbClr val="282C34"/>
                </a:solidFill>
              </a:defRPr>
            </a:pPr>
            <a:r>
              <a:t>要素最优投入组合决策：MPL / PL = MPK / PK 与规模报酬判定 (RTS)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2026 管理经济学 (第7版) | MBA &amp; 本科高阶核心课件</a:t>
            </a:r>
          </a:p>
          <a:p>
            <a:pPr>
              <a:defRPr sz="2200" b="1">
                <a:solidFill>
                  <a:srgbClr val="1B365D"/>
                </a:solidFill>
              </a:defRPr>
            </a:pPr>
            <a:r>
              <a:t>核心理论机制与数理推导 (模块一与二)</a:t>
            </a:r>
          </a:p>
        </p:txBody>
      </p:sp>
      <p:sp>
        <p:nvSpPr>
          <p:cNvPr id="5" name="Rounded Rectangle 4"/>
          <p:cNvSpPr/>
          <p:nvPr/>
        </p:nvSpPr>
        <p:spPr>
          <a:xfrm>
            <a:off x="73152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01 · 短期边际报酬递减规律</a:t>
            </a:r>
          </a:p>
        </p:txBody>
      </p:sp>
      <p:sp>
        <p:nvSpPr>
          <p:cNvPr id="7" name="TextBox 6"/>
          <p:cNvSpPr txBox="1"/>
          <p:nvPr/>
        </p:nvSpPr>
        <p:spPr>
          <a:xfrm>
            <a:off x="1005840" y="2377440"/>
            <a:ext cx="4709160" cy="3657600"/>
          </a:xfrm>
          <a:prstGeom prst="rect">
            <a:avLst/>
          </a:prstGeom>
          <a:noFill/>
        </p:spPr>
        <p:txBody>
          <a:bodyPr wrap="square">
            <a:spAutoFit/>
          </a:bodyPr>
          <a:lstStyle/>
          <a:p>
            <a:pPr>
              <a:defRPr sz="1300">
                <a:solidFill>
                  <a:srgbClr val="282C34"/>
                </a:solidFill>
              </a:defRPr>
            </a:pPr>
            <a:r>
              <a:t>在技术和其他要素固定条件下，连续增加某种可变要素，初始阶段 MP 上升，超过某临界点后 MP 递减，最终甚至为负。</a:t>
            </a:r>
          </a:p>
        </p:txBody>
      </p:sp>
      <p:sp>
        <p:nvSpPr>
          <p:cNvPr id="8" name="Rounded Rectangle 7"/>
          <p:cNvSpPr/>
          <p:nvPr/>
        </p:nvSpPr>
        <p:spPr>
          <a:xfrm>
            <a:off x="617220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02 · 生产三阶段决策</a:t>
            </a:r>
          </a:p>
        </p:txBody>
      </p:sp>
      <p:sp>
        <p:nvSpPr>
          <p:cNvPr id="10" name="TextBox 9"/>
          <p:cNvSpPr txBox="1"/>
          <p:nvPr/>
        </p:nvSpPr>
        <p:spPr>
          <a:xfrm>
            <a:off x="6446520" y="2377440"/>
            <a:ext cx="4709160" cy="3657600"/>
          </a:xfrm>
          <a:prstGeom prst="rect">
            <a:avLst/>
          </a:prstGeom>
          <a:noFill/>
        </p:spPr>
        <p:txBody>
          <a:bodyPr wrap="square">
            <a:spAutoFit/>
          </a:bodyPr>
          <a:lstStyle/>
          <a:p>
            <a:pPr>
              <a:defRPr sz="1300">
                <a:solidFill>
                  <a:srgbClr val="282C34"/>
                </a:solidFill>
              </a:defRPr>
            </a:pPr>
            <a:r>
              <a:t>第 I 阶段(AP上升)：继续增加投入；第 III 阶段(MP&lt;0)：绝对亏损；只有第 II 阶段(MP从与AP相交点下降至MP=0)才是最优决策区间。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2026 管理经济学 (第7版) | MBA &amp; 本科高阶核心课件</a:t>
            </a:r>
          </a:p>
          <a:p>
            <a:pPr>
              <a:defRPr sz="2200" b="1">
                <a:solidFill>
                  <a:srgbClr val="1B365D"/>
                </a:solidFill>
              </a:defRPr>
            </a:pPr>
            <a:r>
              <a:t>核心理论机制与数理推导 (模块三与四)</a:t>
            </a:r>
          </a:p>
        </p:txBody>
      </p:sp>
      <p:sp>
        <p:nvSpPr>
          <p:cNvPr id="5" name="Rounded Rectangle 4"/>
          <p:cNvSpPr/>
          <p:nvPr/>
        </p:nvSpPr>
        <p:spPr>
          <a:xfrm>
            <a:off x="73152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03 · 长期要素最优组合</a:t>
            </a:r>
          </a:p>
        </p:txBody>
      </p:sp>
      <p:sp>
        <p:nvSpPr>
          <p:cNvPr id="7" name="TextBox 6"/>
          <p:cNvSpPr txBox="1"/>
          <p:nvPr/>
        </p:nvSpPr>
        <p:spPr>
          <a:xfrm>
            <a:off x="1005840" y="2377440"/>
            <a:ext cx="4709160" cy="3657600"/>
          </a:xfrm>
          <a:prstGeom prst="rect">
            <a:avLst/>
          </a:prstGeom>
          <a:noFill/>
        </p:spPr>
        <p:txBody>
          <a:bodyPr wrap="square">
            <a:spAutoFit/>
          </a:bodyPr>
          <a:lstStyle/>
          <a:p>
            <a:pPr>
              <a:defRPr sz="1300">
                <a:solidFill>
                  <a:srgbClr val="282C34"/>
                </a:solidFill>
              </a:defRPr>
            </a:pPr>
            <a:r>
              <a:t>MRTS_LK = -dK/dL = MPL/MPK = w/r。等产量线与等成本线相切点为成本既定产量最大或产量既定成本最低之最优投入比例。</a:t>
            </a:r>
          </a:p>
        </p:txBody>
      </p:sp>
      <p:sp>
        <p:nvSpPr>
          <p:cNvPr id="8" name="Rounded Rectangle 7"/>
          <p:cNvSpPr/>
          <p:nvPr/>
        </p:nvSpPr>
        <p:spPr>
          <a:xfrm>
            <a:off x="6172200" y="1463040"/>
            <a:ext cx="5257800" cy="47548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463040"/>
            <a:ext cx="5257800" cy="73152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机制 04 · 规模报酬与柯布-道格拉斯生产函数</a:t>
            </a:r>
          </a:p>
        </p:txBody>
      </p:sp>
      <p:sp>
        <p:nvSpPr>
          <p:cNvPr id="10" name="TextBox 9"/>
          <p:cNvSpPr txBox="1"/>
          <p:nvPr/>
        </p:nvSpPr>
        <p:spPr>
          <a:xfrm>
            <a:off x="6446520" y="2377440"/>
            <a:ext cx="4709160" cy="3657600"/>
          </a:xfrm>
          <a:prstGeom prst="rect">
            <a:avLst/>
          </a:prstGeom>
          <a:noFill/>
        </p:spPr>
        <p:txBody>
          <a:bodyPr wrap="square">
            <a:spAutoFit/>
          </a:bodyPr>
          <a:lstStyle/>
          <a:p>
            <a:pPr>
              <a:defRPr sz="1300">
                <a:solidFill>
                  <a:srgbClr val="282C34"/>
                </a:solidFill>
              </a:defRPr>
            </a:pPr>
            <a:r>
              <a:t>Q = A * L^α * K^β。若 α+β &gt; 1 为规模报酬递增；若 α+β = 1 为规模报酬不变；若 α+β &lt; 1 为规模报酬递减。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CASE STUDY · 标杆企业决策</a:t>
            </a:r>
          </a:p>
          <a:p>
            <a:pPr>
              <a:defRPr sz="2200" b="1">
                <a:solidFill>
                  <a:srgbClr val="1B365D"/>
                </a:solidFill>
              </a:defRPr>
            </a:pPr>
            <a:r>
              <a:t>MBA 商业实战案例深度剖析</a:t>
            </a:r>
          </a:p>
        </p:txBody>
      </p:sp>
      <p:sp>
        <p:nvSpPr>
          <p:cNvPr id="5" name="Rounded Rectangle 4"/>
          <p:cNvSpPr/>
          <p:nvPr/>
        </p:nvSpPr>
        <p:spPr>
          <a:xfrm>
            <a:off x="731520" y="1463040"/>
            <a:ext cx="10728655" cy="4754880"/>
          </a:xfrm>
          <a:prstGeom prst="roundRect">
            <a:avLst/>
          </a:prstGeom>
          <a:solidFill>
            <a:srgbClr val="FFFFFF"/>
          </a:solidFill>
          <a:ln w="19050">
            <a:solidFill>
              <a:srgbClr val="E06A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9966960" cy="4206240"/>
          </a:xfrm>
          <a:prstGeom prst="rect">
            <a:avLst/>
          </a:prstGeom>
          <a:noFill/>
        </p:spPr>
        <p:txBody>
          <a:bodyPr wrap="square">
            <a:spAutoFit/>
          </a:bodyPr>
          <a:lstStyle/>
          <a:p>
            <a:pPr>
              <a:spcAft>
                <a:spcPts val="1200"/>
              </a:spcAft>
              <a:defRPr sz="1800" b="1">
                <a:solidFill>
                  <a:srgbClr val="1B365D"/>
                </a:solidFill>
              </a:defRPr>
            </a:pPr>
            <a:r>
              <a:t>【MBA实战案例】富士康工业机器人“机器换人”的生产要素替代决策</a:t>
            </a:r>
          </a:p>
          <a:p>
            <a:r>
              <a:rPr b="1" sz="1300">
                <a:solidFill>
                  <a:srgbClr val="E06A3B"/>
                </a:solidFill>
              </a:rPr>
              <a:t>【商业情境与决策困局】： </a:t>
            </a:r>
            <a:r>
              <a:rPr>
                <a:solidFill>
                  <a:srgbClr val="282C34"/>
                </a:solidFill>
              </a:rPr>
              <a:t>随着劳动力成本上升，制造企业加速引入自动化流水线与工业机器人替代人工装配工位。</a:t>
            </a:r>
          </a:p>
          <a:p>
            <a:r>
              <a:rPr b="1" sz="1300">
                <a:solidFill>
                  <a:srgbClr val="1B365D"/>
                </a:solidFill>
              </a:rPr>
              <a:t>
【管理经济学深度剖析】： </a:t>
            </a:r>
            <a:r>
              <a:rPr>
                <a:solidFill>
                  <a:srgbClr val="282C34"/>
                </a:solidFill>
              </a:rPr>
              <a:t>企业动态比较劳动力边际产量与工资之比 (MPL/w) 与资本边际产量与租金之比 (MPK/r)。当 w 上升且 r 随规模化制造下降时，要素最优投入组合向资本密集型转移。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EXECUTIVE CHECKLIST · 决策闭环</a:t>
            </a:r>
          </a:p>
          <a:p>
            <a:pPr>
              <a:defRPr sz="2200" b="1">
                <a:solidFill>
                  <a:srgbClr val="1B365D"/>
                </a:solidFill>
              </a:defRPr>
            </a:pPr>
            <a:r>
              <a:t>管理决策落地启示清单</a:t>
            </a:r>
          </a:p>
        </p:txBody>
      </p:sp>
      <p:sp>
        <p:nvSpPr>
          <p:cNvPr id="5" name="Rounded Rectangle 4"/>
          <p:cNvSpPr/>
          <p:nvPr/>
        </p:nvSpPr>
        <p:spPr>
          <a:xfrm>
            <a:off x="731520" y="1645920"/>
            <a:ext cx="3429000" cy="438912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429000" cy="5486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ACTION 01</a:t>
            </a:r>
          </a:p>
        </p:txBody>
      </p:sp>
      <p:sp>
        <p:nvSpPr>
          <p:cNvPr id="7" name="TextBox 6"/>
          <p:cNvSpPr txBox="1"/>
          <p:nvPr/>
        </p:nvSpPr>
        <p:spPr>
          <a:xfrm>
            <a:off x="914400" y="2377440"/>
            <a:ext cx="3063240" cy="3474720"/>
          </a:xfrm>
          <a:prstGeom prst="rect">
            <a:avLst/>
          </a:prstGeom>
          <a:noFill/>
        </p:spPr>
        <p:txBody>
          <a:bodyPr wrap="square">
            <a:spAutoFit/>
          </a:bodyPr>
          <a:lstStyle/>
          <a:p>
            <a:pPr>
              <a:defRPr sz="1400" b="1">
                <a:solidFill>
                  <a:srgbClr val="1B365D"/>
                </a:solidFill>
              </a:defRPr>
            </a:pPr>
            <a:r>
              <a:t>警惕盲目扩招：当处于生产第 III 阶段时，增加人手反而降低总产出。</a:t>
            </a:r>
          </a:p>
        </p:txBody>
      </p:sp>
      <p:sp>
        <p:nvSpPr>
          <p:cNvPr id="8" name="Rounded Rectangle 7"/>
          <p:cNvSpPr/>
          <p:nvPr/>
        </p:nvSpPr>
        <p:spPr>
          <a:xfrm>
            <a:off x="4343400" y="1645920"/>
            <a:ext cx="3429000" cy="438912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645920"/>
            <a:ext cx="3429000" cy="5486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ACTION 02</a:t>
            </a:r>
          </a:p>
        </p:txBody>
      </p:sp>
      <p:sp>
        <p:nvSpPr>
          <p:cNvPr id="10" name="TextBox 9"/>
          <p:cNvSpPr txBox="1"/>
          <p:nvPr/>
        </p:nvSpPr>
        <p:spPr>
          <a:xfrm>
            <a:off x="4526280" y="2377440"/>
            <a:ext cx="3063240" cy="3474720"/>
          </a:xfrm>
          <a:prstGeom prst="rect">
            <a:avLst/>
          </a:prstGeom>
          <a:noFill/>
        </p:spPr>
        <p:txBody>
          <a:bodyPr wrap="square">
            <a:spAutoFit/>
          </a:bodyPr>
          <a:lstStyle/>
          <a:p>
            <a:pPr>
              <a:defRPr sz="1400" b="1">
                <a:solidFill>
                  <a:srgbClr val="1B365D"/>
                </a:solidFill>
              </a:defRPr>
            </a:pPr>
            <a:r>
              <a:t>动态优化资本与劳动配比：根据要素相对价格走势前瞻性进行技术改造。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9728" cy="777240"/>
          </a:xfrm>
          <a:prstGeom prst="rect">
            <a:avLst/>
          </a:prstGeom>
          <a:solidFill>
            <a:srgbClr val="E06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424160" cy="868680"/>
          </a:xfrm>
          <a:prstGeom prst="rect">
            <a:avLst/>
          </a:prstGeom>
          <a:noFill/>
        </p:spPr>
        <p:txBody>
          <a:bodyPr wrap="square" lIns="0" tIns="0" rIns="0" bIns="0">
            <a:spAutoFit/>
          </a:bodyPr>
          <a:lstStyle/>
          <a:p>
            <a:pPr>
              <a:defRPr sz="1000" b="1">
                <a:solidFill>
                  <a:srgbClr val="E06A3B"/>
                </a:solidFill>
              </a:defRPr>
            </a:pPr>
            <a:r>
              <a:t>REVIEW &amp; DISCUSSION</a:t>
            </a:r>
          </a:p>
          <a:p>
            <a:pPr>
              <a:defRPr sz="2200" b="1">
                <a:solidFill>
                  <a:srgbClr val="1B365D"/>
                </a:solidFill>
              </a:defRPr>
            </a:pPr>
            <a:r>
              <a:t>本章复习思考与考试典型考点</a:t>
            </a:r>
          </a:p>
        </p:txBody>
      </p:sp>
      <p:sp>
        <p:nvSpPr>
          <p:cNvPr id="5" name="Rounded Rectangle 4"/>
          <p:cNvSpPr/>
          <p:nvPr/>
        </p:nvSpPr>
        <p:spPr>
          <a:xfrm>
            <a:off x="731520" y="1645920"/>
            <a:ext cx="10728655" cy="20116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10149840" cy="1645920"/>
          </a:xfrm>
          <a:prstGeom prst="rect">
            <a:avLst/>
          </a:prstGeom>
          <a:noFill/>
        </p:spPr>
        <p:txBody>
          <a:bodyPr wrap="square">
            <a:spAutoFit/>
          </a:bodyPr>
          <a:lstStyle/>
          <a:p>
            <a:pPr>
              <a:defRPr sz="1400" b="1">
                <a:solidFill>
                  <a:srgbClr val="E06A3B"/>
                </a:solidFill>
              </a:defRPr>
            </a:pPr>
            <a:r>
              <a:t>研讨考题 01：</a:t>
            </a:r>
          </a:p>
          <a:p>
            <a:pPr>
              <a:spcBef>
                <a:spcPts val="600"/>
              </a:spcBef>
              <a:defRPr sz="1300">
                <a:solidFill>
                  <a:srgbClr val="282C34"/>
                </a:solidFill>
              </a:defRPr>
            </a:pPr>
            <a:r>
              <a:t>为什么许多软件互联网企业在人员扩张到数万人后，人均代码产出和组织响应速度大幅下降？请用边际报酬递减规律分析。</a:t>
            </a:r>
          </a:p>
        </p:txBody>
      </p:sp>
      <p:sp>
        <p:nvSpPr>
          <p:cNvPr id="7" name="Rounded Rectangle 6"/>
          <p:cNvSpPr/>
          <p:nvPr/>
        </p:nvSpPr>
        <p:spPr>
          <a:xfrm>
            <a:off x="731520" y="3931920"/>
            <a:ext cx="10728655" cy="2011680"/>
          </a:xfrm>
          <a:prstGeom prst="roundRect">
            <a:avLst/>
          </a:prstGeom>
          <a:solidFill>
            <a:srgbClr val="FFFFFF"/>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114800"/>
            <a:ext cx="10149840" cy="1645920"/>
          </a:xfrm>
          <a:prstGeom prst="rect">
            <a:avLst/>
          </a:prstGeom>
          <a:noFill/>
        </p:spPr>
        <p:txBody>
          <a:bodyPr wrap="square">
            <a:spAutoFit/>
          </a:bodyPr>
          <a:lstStyle/>
          <a:p>
            <a:pPr>
              <a:defRPr sz="1400" b="1">
                <a:solidFill>
                  <a:srgbClr val="E06A3B"/>
                </a:solidFill>
              </a:defRPr>
            </a:pPr>
            <a:r>
              <a:t>研讨考题 02：</a:t>
            </a:r>
          </a:p>
          <a:p>
            <a:pPr>
              <a:spcBef>
                <a:spcPts val="600"/>
              </a:spcBef>
              <a:defRPr sz="1300">
                <a:solidFill>
                  <a:srgbClr val="282C34"/>
                </a:solidFill>
              </a:defRPr>
            </a:pPr>
            <a:r>
              <a:t>推导柯布-道格拉斯生产函数下的要素产出弹性与规模报酬类型。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