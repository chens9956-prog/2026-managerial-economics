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4114800"/>
          </a:xfrm>
          <a:prstGeom prst="rect">
            <a:avLst/>
          </a:prstGeom>
          <a:noFill/>
        </p:spPr>
        <p:txBody>
          <a:bodyPr wrap="square">
            <a:spAutoFit/>
          </a:bodyPr>
          <a:lstStyle/>
          <a:p>
            <a:pPr>
              <a:defRPr sz="1300" b="1">
                <a:solidFill>
                  <a:srgbClr val="E06A3B"/>
                </a:solidFill>
              </a:defRPr>
            </a:pPr>
            <a:r>
              <a:t>MANAGERIAL ECONOMICS · 第 7 版精编</a:t>
            </a:r>
          </a:p>
          <a:p>
            <a:pPr>
              <a:spcBef>
                <a:spcPts val="1400"/>
              </a:spcBef>
              <a:spcAft>
                <a:spcPts val="1000"/>
              </a:spcAft>
              <a:defRPr sz="3600" b="1">
                <a:solidFill>
                  <a:srgbClr val="FFFFFF"/>
                </a:solidFill>
              </a:defRPr>
            </a:pPr>
            <a:r>
              <a:t>第7章：定价实践与高级商业策略</a:t>
            </a:r>
          </a:p>
          <a:p>
            <a:pPr>
              <a:defRPr sz="1600">
                <a:solidFill>
                  <a:srgbClr val="B4C3D7"/>
                </a:solidFill>
              </a:defRPr>
            </a:pPr>
            <a:r>
              <a:t>Pricing Practices: Price Discrimination, Bundling &amp; Peak-Load</a:t>
            </a:r>
          </a:p>
          <a:p>
            <a:br/>
            <a:pPr>
              <a:defRPr sz="1200">
                <a:solidFill>
                  <a:srgbClr val="D2DCE6"/>
                </a:solidFill>
              </a:defRPr>
            </a:pPr>
            <a:r>
              <a:t>授课主线：微观理论机制 ➔ 数理量化模型 ➔ MBA标杆商业实战 ➔ 决策落地清单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本章核心逻辑架构与学习路线图</a:t>
            </a:r>
          </a:p>
        </p:txBody>
      </p:sp>
      <p:sp>
        <p:nvSpPr>
          <p:cNvPr id="5" name="Rounded Rectangle 4"/>
          <p:cNvSpPr/>
          <p:nvPr/>
        </p:nvSpPr>
        <p:spPr>
          <a:xfrm>
            <a:off x="731520" y="146304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4592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01</a:t>
            </a:r>
          </a:p>
        </p:txBody>
      </p:sp>
      <p:sp>
        <p:nvSpPr>
          <p:cNvPr id="7" name="TextBox 6"/>
          <p:cNvSpPr txBox="1"/>
          <p:nvPr/>
        </p:nvSpPr>
        <p:spPr>
          <a:xfrm>
            <a:off x="1737360" y="1600200"/>
            <a:ext cx="9509760" cy="731520"/>
          </a:xfrm>
          <a:prstGeom prst="rect">
            <a:avLst/>
          </a:prstGeom>
          <a:noFill/>
        </p:spPr>
        <p:txBody>
          <a:bodyPr wrap="square">
            <a:spAutoFit/>
          </a:bodyPr>
          <a:lstStyle/>
          <a:p>
            <a:pPr>
              <a:defRPr sz="1400" b="1">
                <a:solidFill>
                  <a:srgbClr val="282C34"/>
                </a:solidFill>
              </a:defRPr>
            </a:pPr>
            <a:r>
              <a:t>成本加成定价法 (Cost-Plus Pricing) 的合理性检验与最优加成率推导</a:t>
            </a:r>
          </a:p>
        </p:txBody>
      </p:sp>
      <p:sp>
        <p:nvSpPr>
          <p:cNvPr id="8" name="Rounded Rectangle 7"/>
          <p:cNvSpPr/>
          <p:nvPr/>
        </p:nvSpPr>
        <p:spPr>
          <a:xfrm>
            <a:off x="731520" y="265176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83464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02</a:t>
            </a:r>
          </a:p>
        </p:txBody>
      </p:sp>
      <p:sp>
        <p:nvSpPr>
          <p:cNvPr id="10" name="TextBox 9"/>
          <p:cNvSpPr txBox="1"/>
          <p:nvPr/>
        </p:nvSpPr>
        <p:spPr>
          <a:xfrm>
            <a:off x="1737360" y="2788920"/>
            <a:ext cx="9509760" cy="731520"/>
          </a:xfrm>
          <a:prstGeom prst="rect">
            <a:avLst/>
          </a:prstGeom>
          <a:noFill/>
        </p:spPr>
        <p:txBody>
          <a:bodyPr wrap="square">
            <a:spAutoFit/>
          </a:bodyPr>
          <a:lstStyle/>
          <a:p>
            <a:pPr>
              <a:defRPr sz="1400" b="1">
                <a:solidFill>
                  <a:srgbClr val="282C34"/>
                </a:solidFill>
              </a:defRPr>
            </a:pPr>
            <a:r>
              <a:t>价格歧视三部曲：一级(完全)、二级(数量折扣)、三级(细分市场隔离)</a:t>
            </a:r>
          </a:p>
        </p:txBody>
      </p:sp>
      <p:sp>
        <p:nvSpPr>
          <p:cNvPr id="11" name="Rounded Rectangle 10"/>
          <p:cNvSpPr/>
          <p:nvPr/>
        </p:nvSpPr>
        <p:spPr>
          <a:xfrm>
            <a:off x="731520" y="384048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02336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03</a:t>
            </a:r>
          </a:p>
        </p:txBody>
      </p:sp>
      <p:sp>
        <p:nvSpPr>
          <p:cNvPr id="13" name="TextBox 12"/>
          <p:cNvSpPr txBox="1"/>
          <p:nvPr/>
        </p:nvSpPr>
        <p:spPr>
          <a:xfrm>
            <a:off x="1737360" y="3977640"/>
            <a:ext cx="9509760" cy="731520"/>
          </a:xfrm>
          <a:prstGeom prst="rect">
            <a:avLst/>
          </a:prstGeom>
          <a:noFill/>
        </p:spPr>
        <p:txBody>
          <a:bodyPr wrap="square">
            <a:spAutoFit/>
          </a:bodyPr>
          <a:lstStyle/>
          <a:p>
            <a:pPr>
              <a:defRPr sz="1400" b="1">
                <a:solidFill>
                  <a:srgbClr val="282C34"/>
                </a:solidFill>
              </a:defRPr>
            </a:pPr>
            <a:r>
              <a:t>高级商业定价：两部收费制 (Two-Part Tariff)、捆绑销售 (Bundling) 与交叉补贴</a:t>
            </a:r>
          </a:p>
        </p:txBody>
      </p:sp>
      <p:sp>
        <p:nvSpPr>
          <p:cNvPr id="14" name="Rounded Rectangle 13"/>
          <p:cNvSpPr/>
          <p:nvPr/>
        </p:nvSpPr>
        <p:spPr>
          <a:xfrm>
            <a:off x="731520" y="502920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21208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04</a:t>
            </a:r>
          </a:p>
        </p:txBody>
      </p:sp>
      <p:sp>
        <p:nvSpPr>
          <p:cNvPr id="16" name="TextBox 15"/>
          <p:cNvSpPr txBox="1"/>
          <p:nvPr/>
        </p:nvSpPr>
        <p:spPr>
          <a:xfrm>
            <a:off x="1737360" y="5166360"/>
            <a:ext cx="9509760" cy="731520"/>
          </a:xfrm>
          <a:prstGeom prst="rect">
            <a:avLst/>
          </a:prstGeom>
          <a:noFill/>
        </p:spPr>
        <p:txBody>
          <a:bodyPr wrap="square">
            <a:spAutoFit/>
          </a:bodyPr>
          <a:lstStyle/>
          <a:p>
            <a:pPr>
              <a:defRPr sz="1400" b="1">
                <a:solidFill>
                  <a:srgbClr val="282C34"/>
                </a:solidFill>
              </a:defRPr>
            </a:pPr>
            <a:r>
              <a:t>动态时序定价：撇脂定价 (Skimming)、渗透定价 (Penetration) 与峰谷定价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(模块一与二)</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01 · 最优成本加成率公式</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基于利润最大化 MR=MC，最优加成率 m* = 1 / (|Ep| - 1)。产品需求弹性越小，企业可制定的加成率越高。</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02 · 三级价格歧视条件与法则</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条件：市场具有有效隔离屏障（防套利）、各子市场弹性不同。法则：MR1 = MR2 = MC，在缺乏弹性的子市场制定高价，富有弹性制定低价。</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(模块三与四)</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03 · 两部收费制设计</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固定入门费 (Entry Fee) 抽取全部或部分消费者剩余 (CS)，使用费 (Usage Fee) 设为等于边际成本 MC，从而实现总利润最大化。</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04 · 捆绑销售与混合捆绑</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当不同消费者对两款产品的保留价格呈负相关时，纯捆绑销售或混合捆绑能比单独销售提取更多消费者剩余。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CASE STUDY · 标杆企业决策</a:t>
            </a:r>
          </a:p>
          <a:p>
            <a:pPr>
              <a:defRPr sz="2200" b="1">
                <a:solidFill>
                  <a:srgbClr val="1B365D"/>
                </a:solidFill>
              </a:defRPr>
            </a:pPr>
            <a:r>
              <a:t>MBA 商业实战案例深度剖析</a:t>
            </a:r>
          </a:p>
        </p:txBody>
      </p:sp>
      <p:sp>
        <p:nvSpPr>
          <p:cNvPr id="5" name="Rounded Rectangle 4"/>
          <p:cNvSpPr/>
          <p:nvPr/>
        </p:nvSpPr>
        <p:spPr>
          <a:xfrm>
            <a:off x="731520" y="1463040"/>
            <a:ext cx="10728655" cy="4754880"/>
          </a:xfrm>
          <a:prstGeom prst="roundRect">
            <a:avLst/>
          </a:prstGeom>
          <a:solidFill>
            <a:srgbClr val="FFFFFF"/>
          </a:solidFill>
          <a:ln w="19050">
            <a:solidFill>
              <a:srgbClr val="E06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9966960" cy="4206240"/>
          </a:xfrm>
          <a:prstGeom prst="rect">
            <a:avLst/>
          </a:prstGeom>
          <a:noFill/>
        </p:spPr>
        <p:txBody>
          <a:bodyPr wrap="square">
            <a:spAutoFit/>
          </a:bodyPr>
          <a:lstStyle/>
          <a:p>
            <a:pPr>
              <a:spcAft>
                <a:spcPts val="1200"/>
              </a:spcAft>
              <a:defRPr sz="1800" b="1">
                <a:solidFill>
                  <a:srgbClr val="1B365D"/>
                </a:solidFill>
              </a:defRPr>
            </a:pPr>
            <a:r>
              <a:t>【MBA实战案例】迪士尼乐园的两部收费、微软 Office 软件的捆绑定价实战</a:t>
            </a:r>
          </a:p>
          <a:p>
            <a:r>
              <a:rPr b="1" sz="1300">
                <a:solidFill>
                  <a:srgbClr val="E06A3B"/>
                </a:solidFill>
              </a:rPr>
              <a:t>【商业情境与决策困局】： </a:t>
            </a:r>
            <a:r>
              <a:rPr>
                <a:solidFill>
                  <a:srgbClr val="282C34"/>
                </a:solidFill>
              </a:rPr>
              <a:t>迪士尼收取门票入场费同时园区内各项餐饮及快速通关单独计费；微软将 Word、Excel、PPT 捆绑为 Office 套件销售。</a:t>
            </a:r>
          </a:p>
          <a:p>
            <a:r>
              <a:rPr b="1" sz="1300">
                <a:solidFill>
                  <a:srgbClr val="1B365D"/>
                </a:solidFill>
              </a:rPr>
              <a:t>
【管理经济学深度剖析】： </a:t>
            </a:r>
            <a:r>
              <a:rPr>
                <a:solidFill>
                  <a:srgbClr val="282C34"/>
                </a:solidFill>
              </a:rPr>
              <a:t>迪士尼利用门票截留消费者剩余，利用项目收费分摊边际运营成本；微软利用捆绑销售抹平了单一用户对不同软件偏好的离散度，实现整体收益最大化。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EXECUTIVE CHECKLIST · 决策闭环</a:t>
            </a:r>
          </a:p>
          <a:p>
            <a:pPr>
              <a:defRPr sz="2200" b="1">
                <a:solidFill>
                  <a:srgbClr val="1B365D"/>
                </a:solidFill>
              </a:defRPr>
            </a:pPr>
            <a:r>
              <a:t>管理决策落地启示清单</a:t>
            </a:r>
          </a:p>
        </p:txBody>
      </p:sp>
      <p:sp>
        <p:nvSpPr>
          <p:cNvPr id="5" name="Rounded Rectangle 4"/>
          <p:cNvSpPr/>
          <p:nvPr/>
        </p:nvSpPr>
        <p:spPr>
          <a:xfrm>
            <a:off x="73152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01</a:t>
            </a:r>
          </a:p>
        </p:txBody>
      </p:sp>
      <p:sp>
        <p:nvSpPr>
          <p:cNvPr id="7" name="TextBox 6"/>
          <p:cNvSpPr txBox="1"/>
          <p:nvPr/>
        </p:nvSpPr>
        <p:spPr>
          <a:xfrm>
            <a:off x="914400" y="2377440"/>
            <a:ext cx="3063240" cy="3474720"/>
          </a:xfrm>
          <a:prstGeom prst="rect">
            <a:avLst/>
          </a:prstGeom>
          <a:noFill/>
        </p:spPr>
        <p:txBody>
          <a:bodyPr wrap="square">
            <a:spAutoFit/>
          </a:bodyPr>
          <a:lstStyle/>
          <a:p>
            <a:pPr>
              <a:defRPr sz="1400" b="1">
                <a:solidFill>
                  <a:srgbClr val="1B365D"/>
                </a:solidFill>
              </a:defRPr>
            </a:pPr>
            <a:r>
              <a:t>精准细分客户意愿支付：利用版本化、阶梯用量消除消费者剩余损失。</a:t>
            </a:r>
          </a:p>
        </p:txBody>
      </p:sp>
      <p:sp>
        <p:nvSpPr>
          <p:cNvPr id="8" name="Rounded Rectangle 7"/>
          <p:cNvSpPr/>
          <p:nvPr/>
        </p:nvSpPr>
        <p:spPr>
          <a:xfrm>
            <a:off x="434340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02</a:t>
            </a:r>
          </a:p>
        </p:txBody>
      </p:sp>
      <p:sp>
        <p:nvSpPr>
          <p:cNvPr id="10" name="TextBox 9"/>
          <p:cNvSpPr txBox="1"/>
          <p:nvPr/>
        </p:nvSpPr>
        <p:spPr>
          <a:xfrm>
            <a:off x="4526280" y="2377440"/>
            <a:ext cx="3063240" cy="3474720"/>
          </a:xfrm>
          <a:prstGeom prst="rect">
            <a:avLst/>
          </a:prstGeom>
          <a:noFill/>
        </p:spPr>
        <p:txBody>
          <a:bodyPr wrap="square">
            <a:spAutoFit/>
          </a:bodyPr>
          <a:lstStyle/>
          <a:p>
            <a:pPr>
              <a:defRPr sz="1400" b="1">
                <a:solidFill>
                  <a:srgbClr val="1B365D"/>
                </a:solidFill>
              </a:defRPr>
            </a:pPr>
            <a:r>
              <a:t>善用生态捆绑与两部收费：降低初始门槛，放大后端终身客户价值 (LTV)。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REVIEW &amp; DISCUSSION</a:t>
            </a:r>
          </a:p>
          <a:p>
            <a:pPr>
              <a:defRPr sz="2200" b="1">
                <a:solidFill>
                  <a:srgbClr val="1B365D"/>
                </a:solidFill>
              </a:defRPr>
            </a:pPr>
            <a:r>
              <a:t>本章复习思考与考试典型考点</a:t>
            </a:r>
          </a:p>
        </p:txBody>
      </p:sp>
      <p:sp>
        <p:nvSpPr>
          <p:cNvPr id="5" name="Rounded Rectangle 4"/>
          <p:cNvSpPr/>
          <p:nvPr/>
        </p:nvSpPr>
        <p:spPr>
          <a:xfrm>
            <a:off x="731520" y="1645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1645920"/>
          </a:xfrm>
          <a:prstGeom prst="rect">
            <a:avLst/>
          </a:prstGeom>
          <a:noFill/>
        </p:spPr>
        <p:txBody>
          <a:bodyPr wrap="square">
            <a:spAutoFit/>
          </a:bodyPr>
          <a:lstStyle/>
          <a:p>
            <a:pPr>
              <a:defRPr sz="1400" b="1">
                <a:solidFill>
                  <a:srgbClr val="E06A3B"/>
                </a:solidFill>
              </a:defRPr>
            </a:pPr>
            <a:r>
              <a:t>研讨考题 01：</a:t>
            </a:r>
          </a:p>
          <a:p>
            <a:pPr>
              <a:spcBef>
                <a:spcPts val="600"/>
              </a:spcBef>
              <a:defRPr sz="1300">
                <a:solidFill>
                  <a:srgbClr val="282C34"/>
                </a:solidFill>
              </a:defRPr>
            </a:pPr>
            <a:r>
              <a:t>某软件公司面向高校学生与企业客户销售，学生弹性 Ep1=3，企业弹性 Ep2=1.5，若软件边际成本 MC=100 元，求两类客户的最优定价。</a:t>
            </a:r>
          </a:p>
        </p:txBody>
      </p:sp>
      <p:sp>
        <p:nvSpPr>
          <p:cNvPr id="7" name="Rounded Rectangle 6"/>
          <p:cNvSpPr/>
          <p:nvPr/>
        </p:nvSpPr>
        <p:spPr>
          <a:xfrm>
            <a:off x="731520" y="3931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114800"/>
            <a:ext cx="10149840" cy="1645920"/>
          </a:xfrm>
          <a:prstGeom prst="rect">
            <a:avLst/>
          </a:prstGeom>
          <a:noFill/>
        </p:spPr>
        <p:txBody>
          <a:bodyPr wrap="square">
            <a:spAutoFit/>
          </a:bodyPr>
          <a:lstStyle/>
          <a:p>
            <a:pPr>
              <a:defRPr sz="1400" b="1">
                <a:solidFill>
                  <a:srgbClr val="E06A3B"/>
                </a:solidFill>
              </a:defRPr>
            </a:pPr>
            <a:r>
              <a:t>研讨考题 02：</a:t>
            </a:r>
          </a:p>
          <a:p>
            <a:pPr>
              <a:spcBef>
                <a:spcPts val="600"/>
              </a:spcBef>
              <a:defRPr sz="1300">
                <a:solidFill>
                  <a:srgbClr val="282C34"/>
                </a:solidFill>
              </a:defRPr>
            </a:pPr>
            <a:r>
              <a:t>请解释为什么航空公司对提早数月订票的游客与临时订票的商务旅客实行不同的机票价格？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