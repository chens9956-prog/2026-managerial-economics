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E06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645920"/>
            <a:ext cx="10058400" cy="4114800"/>
          </a:xfrm>
          <a:prstGeom prst="rect">
            <a:avLst/>
          </a:prstGeom>
          <a:noFill/>
        </p:spPr>
        <p:txBody>
          <a:bodyPr wrap="square">
            <a:spAutoFit/>
          </a:bodyPr>
          <a:lstStyle/>
          <a:p>
            <a:pPr>
              <a:defRPr sz="1300" b="1">
                <a:solidFill>
                  <a:srgbClr val="E06A3B"/>
                </a:solidFill>
              </a:defRPr>
            </a:pPr>
            <a:r>
              <a:t>MANAGERIAL ECONOMICS · 第 7 版精编</a:t>
            </a:r>
          </a:p>
          <a:p>
            <a:pPr>
              <a:spcBef>
                <a:spcPts val="1400"/>
              </a:spcBef>
              <a:spcAft>
                <a:spcPts val="1000"/>
              </a:spcAft>
              <a:defRPr sz="3600" b="1">
                <a:solidFill>
                  <a:srgbClr val="FFFFFF"/>
                </a:solidFill>
              </a:defRPr>
            </a:pPr>
            <a:r>
              <a:t>第10章：市场失灵与政府经济微观规制</a:t>
            </a:r>
          </a:p>
          <a:p>
            <a:pPr>
              <a:defRPr sz="1600">
                <a:solidFill>
                  <a:srgbClr val="B4C3D7"/>
                </a:solidFill>
              </a:defRPr>
            </a:pPr>
            <a:r>
              <a:t>Market Failure, Externalities, Public Goods &amp; Antitrust Policy</a:t>
            </a:r>
          </a:p>
          <a:p>
            <a:br/>
            <a:pPr>
              <a:defRPr sz="1200">
                <a:solidFill>
                  <a:srgbClr val="D2DCE6"/>
                </a:solidFill>
              </a:defRPr>
            </a:pPr>
            <a:r>
              <a:t>授课主线：微观理论机制 ➔ 数理量化模型 ➔ MBA标杆商业实战 ➔ 决策落地清单</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9728" cy="777240"/>
          </a:xfrm>
          <a:prstGeom prst="rect">
            <a:avLst/>
          </a:prstGeom>
          <a:solidFill>
            <a:srgbClr val="E06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65760"/>
            <a:ext cx="10424160" cy="868680"/>
          </a:xfrm>
          <a:prstGeom prst="rect">
            <a:avLst/>
          </a:prstGeom>
          <a:noFill/>
        </p:spPr>
        <p:txBody>
          <a:bodyPr wrap="square" lIns="0" tIns="0" rIns="0" bIns="0">
            <a:spAutoFit/>
          </a:bodyPr>
          <a:lstStyle/>
          <a:p>
            <a:pPr>
              <a:defRPr sz="1000" b="1">
                <a:solidFill>
                  <a:srgbClr val="E06A3B"/>
                </a:solidFill>
              </a:defRPr>
            </a:pPr>
            <a:r>
              <a:t>2026 管理经济学 (第7版) | MBA &amp; 本科高阶核心课件</a:t>
            </a:r>
          </a:p>
          <a:p>
            <a:pPr>
              <a:defRPr sz="2200" b="1">
                <a:solidFill>
                  <a:srgbClr val="1B365D"/>
                </a:solidFill>
              </a:defRPr>
            </a:pPr>
            <a:r>
              <a:t>本章核心逻辑架构与学习路线图</a:t>
            </a:r>
          </a:p>
        </p:txBody>
      </p:sp>
      <p:sp>
        <p:nvSpPr>
          <p:cNvPr id="5" name="Rounded Rectangle 4"/>
          <p:cNvSpPr/>
          <p:nvPr/>
        </p:nvSpPr>
        <p:spPr>
          <a:xfrm>
            <a:off x="731520" y="1463040"/>
            <a:ext cx="10728655" cy="100584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1645920"/>
            <a:ext cx="640080" cy="6400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01</a:t>
            </a:r>
          </a:p>
        </p:txBody>
      </p:sp>
      <p:sp>
        <p:nvSpPr>
          <p:cNvPr id="7" name="TextBox 6"/>
          <p:cNvSpPr txBox="1"/>
          <p:nvPr/>
        </p:nvSpPr>
        <p:spPr>
          <a:xfrm>
            <a:off x="1737360" y="1600200"/>
            <a:ext cx="9509760" cy="731520"/>
          </a:xfrm>
          <a:prstGeom prst="rect">
            <a:avLst/>
          </a:prstGeom>
          <a:noFill/>
        </p:spPr>
        <p:txBody>
          <a:bodyPr wrap="square">
            <a:spAutoFit/>
          </a:bodyPr>
          <a:lstStyle/>
          <a:p>
            <a:pPr>
              <a:defRPr sz="1400" b="1">
                <a:solidFill>
                  <a:srgbClr val="282C34"/>
                </a:solidFill>
              </a:defRPr>
            </a:pPr>
            <a:r>
              <a:t>市场失灵四大根源：外部性、公共物品、信息不对称、垄断市场势力</a:t>
            </a:r>
          </a:p>
        </p:txBody>
      </p:sp>
      <p:sp>
        <p:nvSpPr>
          <p:cNvPr id="8" name="Rounded Rectangle 7"/>
          <p:cNvSpPr/>
          <p:nvPr/>
        </p:nvSpPr>
        <p:spPr>
          <a:xfrm>
            <a:off x="731520" y="2651760"/>
            <a:ext cx="10728655" cy="100584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2834640"/>
            <a:ext cx="640080" cy="6400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02</a:t>
            </a:r>
          </a:p>
        </p:txBody>
      </p:sp>
      <p:sp>
        <p:nvSpPr>
          <p:cNvPr id="10" name="TextBox 9"/>
          <p:cNvSpPr txBox="1"/>
          <p:nvPr/>
        </p:nvSpPr>
        <p:spPr>
          <a:xfrm>
            <a:off x="1737360" y="2788920"/>
            <a:ext cx="9509760" cy="731520"/>
          </a:xfrm>
          <a:prstGeom prst="rect">
            <a:avLst/>
          </a:prstGeom>
          <a:noFill/>
        </p:spPr>
        <p:txBody>
          <a:bodyPr wrap="square">
            <a:spAutoFit/>
          </a:bodyPr>
          <a:lstStyle/>
          <a:p>
            <a:pPr>
              <a:defRPr sz="1400" b="1">
                <a:solidFill>
                  <a:srgbClr val="282C34"/>
                </a:solidFill>
              </a:defRPr>
            </a:pPr>
            <a:r>
              <a:t>外部性治理：庇古税 (Pigouvian Tax)、补贴与科斯定理 (Coase Theorem) 产权界定</a:t>
            </a:r>
          </a:p>
        </p:txBody>
      </p:sp>
      <p:sp>
        <p:nvSpPr>
          <p:cNvPr id="11" name="Rounded Rectangle 10"/>
          <p:cNvSpPr/>
          <p:nvPr/>
        </p:nvSpPr>
        <p:spPr>
          <a:xfrm>
            <a:off x="731520" y="3840480"/>
            <a:ext cx="10728655" cy="100584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4400" y="4023360"/>
            <a:ext cx="640080" cy="6400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03</a:t>
            </a:r>
          </a:p>
        </p:txBody>
      </p:sp>
      <p:sp>
        <p:nvSpPr>
          <p:cNvPr id="13" name="TextBox 12"/>
          <p:cNvSpPr txBox="1"/>
          <p:nvPr/>
        </p:nvSpPr>
        <p:spPr>
          <a:xfrm>
            <a:off x="1737360" y="3977640"/>
            <a:ext cx="9509760" cy="731520"/>
          </a:xfrm>
          <a:prstGeom prst="rect">
            <a:avLst/>
          </a:prstGeom>
          <a:noFill/>
        </p:spPr>
        <p:txBody>
          <a:bodyPr wrap="square">
            <a:spAutoFit/>
          </a:bodyPr>
          <a:lstStyle/>
          <a:p>
            <a:pPr>
              <a:defRPr sz="1400" b="1">
                <a:solidFill>
                  <a:srgbClr val="282C34"/>
                </a:solidFill>
              </a:defRPr>
            </a:pPr>
            <a:r>
              <a:t>公共物品与公地悲剧：非排他性与非竞争性、搭便车问题与碳配额交易</a:t>
            </a:r>
          </a:p>
        </p:txBody>
      </p:sp>
      <p:sp>
        <p:nvSpPr>
          <p:cNvPr id="14" name="Rounded Rectangle 13"/>
          <p:cNvSpPr/>
          <p:nvPr/>
        </p:nvSpPr>
        <p:spPr>
          <a:xfrm>
            <a:off x="731520" y="5029200"/>
            <a:ext cx="10728655" cy="100584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14400" y="5212080"/>
            <a:ext cx="640080" cy="6400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04</a:t>
            </a:r>
          </a:p>
        </p:txBody>
      </p:sp>
      <p:sp>
        <p:nvSpPr>
          <p:cNvPr id="16" name="TextBox 15"/>
          <p:cNvSpPr txBox="1"/>
          <p:nvPr/>
        </p:nvSpPr>
        <p:spPr>
          <a:xfrm>
            <a:off x="1737360" y="5166360"/>
            <a:ext cx="9509760" cy="731520"/>
          </a:xfrm>
          <a:prstGeom prst="rect">
            <a:avLst/>
          </a:prstGeom>
          <a:noFill/>
        </p:spPr>
        <p:txBody>
          <a:bodyPr wrap="square">
            <a:spAutoFit/>
          </a:bodyPr>
          <a:lstStyle/>
          <a:p>
            <a:pPr>
              <a:defRPr sz="1400" b="1">
                <a:solidFill>
                  <a:srgbClr val="282C34"/>
                </a:solidFill>
              </a:defRPr>
            </a:pPr>
            <a:r>
              <a:t>政府微观规制与反垄断法案：反垄断执法、平台经济二选一与自然垄断监管</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9728" cy="777240"/>
          </a:xfrm>
          <a:prstGeom prst="rect">
            <a:avLst/>
          </a:prstGeom>
          <a:solidFill>
            <a:srgbClr val="E06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65760"/>
            <a:ext cx="10424160" cy="868680"/>
          </a:xfrm>
          <a:prstGeom prst="rect">
            <a:avLst/>
          </a:prstGeom>
          <a:noFill/>
        </p:spPr>
        <p:txBody>
          <a:bodyPr wrap="square" lIns="0" tIns="0" rIns="0" bIns="0">
            <a:spAutoFit/>
          </a:bodyPr>
          <a:lstStyle/>
          <a:p>
            <a:pPr>
              <a:defRPr sz="1000" b="1">
                <a:solidFill>
                  <a:srgbClr val="E06A3B"/>
                </a:solidFill>
              </a:defRPr>
            </a:pPr>
            <a:r>
              <a:t>2026 管理经济学 (第7版) | MBA &amp; 本科高阶核心课件</a:t>
            </a:r>
          </a:p>
          <a:p>
            <a:pPr>
              <a:defRPr sz="2200" b="1">
                <a:solidFill>
                  <a:srgbClr val="1B365D"/>
                </a:solidFill>
              </a:defRPr>
            </a:pPr>
            <a:r>
              <a:t>核心理论机制与数理推导 (模块一与二)</a:t>
            </a:r>
          </a:p>
        </p:txBody>
      </p:sp>
      <p:sp>
        <p:nvSpPr>
          <p:cNvPr id="5" name="Rounded Rectangle 4"/>
          <p:cNvSpPr/>
          <p:nvPr/>
        </p:nvSpPr>
        <p:spPr>
          <a:xfrm>
            <a:off x="731520" y="1463040"/>
            <a:ext cx="5257800" cy="4754880"/>
          </a:xfrm>
          <a:prstGeom prst="roundRect">
            <a:avLst/>
          </a:prstGeom>
          <a:solidFill>
            <a:srgbClr val="FFFFFF"/>
          </a:solidFill>
          <a:ln>
            <a:solidFill>
              <a:srgbClr val="D7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63040"/>
            <a:ext cx="5257800" cy="73152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机制 01 · 正负外部性与社会最优</a:t>
            </a:r>
          </a:p>
        </p:txBody>
      </p:sp>
      <p:sp>
        <p:nvSpPr>
          <p:cNvPr id="7" name="TextBox 6"/>
          <p:cNvSpPr txBox="1"/>
          <p:nvPr/>
        </p:nvSpPr>
        <p:spPr>
          <a:xfrm>
            <a:off x="1005840" y="2377440"/>
            <a:ext cx="4709160" cy="3657600"/>
          </a:xfrm>
          <a:prstGeom prst="rect">
            <a:avLst/>
          </a:prstGeom>
          <a:noFill/>
        </p:spPr>
        <p:txBody>
          <a:bodyPr wrap="square">
            <a:spAutoFit/>
          </a:bodyPr>
          <a:lstStyle/>
          <a:p>
            <a:pPr>
              <a:defRPr sz="1300">
                <a:solidFill>
                  <a:srgbClr val="282C34"/>
                </a:solidFill>
              </a:defRPr>
            </a:pPr>
            <a:r>
              <a:t>负外部性导致私人成本小于社会成本 (MPC &lt; MSC)，市场产出过多；正外部性导致私人收益小于社会收益 (MPB &lt; MSB)，市场供给不足。</a:t>
            </a:r>
          </a:p>
        </p:txBody>
      </p:sp>
      <p:sp>
        <p:nvSpPr>
          <p:cNvPr id="8" name="Rounded Rectangle 7"/>
          <p:cNvSpPr/>
          <p:nvPr/>
        </p:nvSpPr>
        <p:spPr>
          <a:xfrm>
            <a:off x="6172200" y="1463040"/>
            <a:ext cx="5257800" cy="4754880"/>
          </a:xfrm>
          <a:prstGeom prst="roundRect">
            <a:avLst/>
          </a:prstGeom>
          <a:solidFill>
            <a:srgbClr val="FFFFFF"/>
          </a:solidFill>
          <a:ln>
            <a:solidFill>
              <a:srgbClr val="D7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72200" y="1463040"/>
            <a:ext cx="5257800" cy="73152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机制 02 · 科斯定理核心逻辑</a:t>
            </a:r>
          </a:p>
        </p:txBody>
      </p:sp>
      <p:sp>
        <p:nvSpPr>
          <p:cNvPr id="10" name="TextBox 9"/>
          <p:cNvSpPr txBox="1"/>
          <p:nvPr/>
        </p:nvSpPr>
        <p:spPr>
          <a:xfrm>
            <a:off x="6446520" y="2377440"/>
            <a:ext cx="4709160" cy="3657600"/>
          </a:xfrm>
          <a:prstGeom prst="rect">
            <a:avLst/>
          </a:prstGeom>
          <a:noFill/>
        </p:spPr>
        <p:txBody>
          <a:bodyPr wrap="square">
            <a:spAutoFit/>
          </a:bodyPr>
          <a:lstStyle/>
          <a:p>
            <a:pPr>
              <a:defRPr sz="1300">
                <a:solidFill>
                  <a:srgbClr val="282C34"/>
                </a:solidFill>
              </a:defRPr>
            </a:pPr>
            <a:r>
              <a:t>在交易费用为零或极小的前提下，只要明确界定初始产权，无论产权归属于哪一方，市场主体均能通过自愿谈判达到帕累托最优配置。</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9728" cy="777240"/>
          </a:xfrm>
          <a:prstGeom prst="rect">
            <a:avLst/>
          </a:prstGeom>
          <a:solidFill>
            <a:srgbClr val="E06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65760"/>
            <a:ext cx="10424160" cy="868680"/>
          </a:xfrm>
          <a:prstGeom prst="rect">
            <a:avLst/>
          </a:prstGeom>
          <a:noFill/>
        </p:spPr>
        <p:txBody>
          <a:bodyPr wrap="square" lIns="0" tIns="0" rIns="0" bIns="0">
            <a:spAutoFit/>
          </a:bodyPr>
          <a:lstStyle/>
          <a:p>
            <a:pPr>
              <a:defRPr sz="1000" b="1">
                <a:solidFill>
                  <a:srgbClr val="E06A3B"/>
                </a:solidFill>
              </a:defRPr>
            </a:pPr>
            <a:r>
              <a:t>2026 管理经济学 (第7版) | MBA &amp; 本科高阶核心课件</a:t>
            </a:r>
          </a:p>
          <a:p>
            <a:pPr>
              <a:defRPr sz="2200" b="1">
                <a:solidFill>
                  <a:srgbClr val="1B365D"/>
                </a:solidFill>
              </a:defRPr>
            </a:pPr>
            <a:r>
              <a:t>核心理论机制与数理推导 (模块三与四)</a:t>
            </a:r>
          </a:p>
        </p:txBody>
      </p:sp>
      <p:sp>
        <p:nvSpPr>
          <p:cNvPr id="5" name="Rounded Rectangle 4"/>
          <p:cNvSpPr/>
          <p:nvPr/>
        </p:nvSpPr>
        <p:spPr>
          <a:xfrm>
            <a:off x="731520" y="1463040"/>
            <a:ext cx="5257800" cy="4754880"/>
          </a:xfrm>
          <a:prstGeom prst="roundRect">
            <a:avLst/>
          </a:prstGeom>
          <a:solidFill>
            <a:srgbClr val="FFFFFF"/>
          </a:solidFill>
          <a:ln>
            <a:solidFill>
              <a:srgbClr val="D7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63040"/>
            <a:ext cx="5257800" cy="73152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机制 03 · 自然垄断规制方法</a:t>
            </a:r>
          </a:p>
        </p:txBody>
      </p:sp>
      <p:sp>
        <p:nvSpPr>
          <p:cNvPr id="7" name="TextBox 6"/>
          <p:cNvSpPr txBox="1"/>
          <p:nvPr/>
        </p:nvSpPr>
        <p:spPr>
          <a:xfrm>
            <a:off x="1005840" y="2377440"/>
            <a:ext cx="4709160" cy="3657600"/>
          </a:xfrm>
          <a:prstGeom prst="rect">
            <a:avLst/>
          </a:prstGeom>
          <a:noFill/>
        </p:spPr>
        <p:txBody>
          <a:bodyPr wrap="square">
            <a:spAutoFit/>
          </a:bodyPr>
          <a:lstStyle/>
          <a:p>
            <a:pPr>
              <a:defRPr sz="1300">
                <a:solidFill>
                  <a:srgbClr val="282C34"/>
                </a:solidFill>
              </a:defRPr>
            </a:pPr>
            <a:r>
              <a:t>针对自来水、电网等巨额固定资产行业实行边际成本定价 (P=MC，政府补贴亏损) 或平均成本定价 (P=AC，保障正常投资回报率)。</a:t>
            </a:r>
          </a:p>
        </p:txBody>
      </p:sp>
      <p:sp>
        <p:nvSpPr>
          <p:cNvPr id="8" name="Rounded Rectangle 7"/>
          <p:cNvSpPr/>
          <p:nvPr/>
        </p:nvSpPr>
        <p:spPr>
          <a:xfrm>
            <a:off x="6172200" y="1463040"/>
            <a:ext cx="5257800" cy="4754880"/>
          </a:xfrm>
          <a:prstGeom prst="roundRect">
            <a:avLst/>
          </a:prstGeom>
          <a:solidFill>
            <a:srgbClr val="FFFFFF"/>
          </a:solidFill>
          <a:ln>
            <a:solidFill>
              <a:srgbClr val="D7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72200" y="1463040"/>
            <a:ext cx="5257800" cy="73152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机制 04 · 反垄断与反不正当竞争</a:t>
            </a:r>
          </a:p>
        </p:txBody>
      </p:sp>
      <p:sp>
        <p:nvSpPr>
          <p:cNvPr id="10" name="TextBox 9"/>
          <p:cNvSpPr txBox="1"/>
          <p:nvPr/>
        </p:nvSpPr>
        <p:spPr>
          <a:xfrm>
            <a:off x="6446520" y="2377440"/>
            <a:ext cx="4709160" cy="3657600"/>
          </a:xfrm>
          <a:prstGeom prst="rect">
            <a:avLst/>
          </a:prstGeom>
          <a:noFill/>
        </p:spPr>
        <p:txBody>
          <a:bodyPr wrap="square">
            <a:spAutoFit/>
          </a:bodyPr>
          <a:lstStyle/>
          <a:p>
            <a:pPr>
              <a:defRPr sz="1300">
                <a:solidFill>
                  <a:srgbClr val="282C34"/>
                </a:solidFill>
              </a:defRPr>
            </a:pPr>
            <a:r>
              <a:t>严厉打击横向价格卡特尔、滥用市场支配地位（掠夺性定价、捆绑搭售、扼杀式并购）及平台经济'大数据杀熟'与'二选一'。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9728" cy="777240"/>
          </a:xfrm>
          <a:prstGeom prst="rect">
            <a:avLst/>
          </a:prstGeom>
          <a:solidFill>
            <a:srgbClr val="E06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65760"/>
            <a:ext cx="10424160" cy="868680"/>
          </a:xfrm>
          <a:prstGeom prst="rect">
            <a:avLst/>
          </a:prstGeom>
          <a:noFill/>
        </p:spPr>
        <p:txBody>
          <a:bodyPr wrap="square" lIns="0" tIns="0" rIns="0" bIns="0">
            <a:spAutoFit/>
          </a:bodyPr>
          <a:lstStyle/>
          <a:p>
            <a:pPr>
              <a:defRPr sz="1000" b="1">
                <a:solidFill>
                  <a:srgbClr val="E06A3B"/>
                </a:solidFill>
              </a:defRPr>
            </a:pPr>
            <a:r>
              <a:t>CASE STUDY · 标杆企业决策</a:t>
            </a:r>
          </a:p>
          <a:p>
            <a:pPr>
              <a:defRPr sz="2200" b="1">
                <a:solidFill>
                  <a:srgbClr val="1B365D"/>
                </a:solidFill>
              </a:defRPr>
            </a:pPr>
            <a:r>
              <a:t>MBA 商业实战案例深度剖析</a:t>
            </a:r>
          </a:p>
        </p:txBody>
      </p:sp>
      <p:sp>
        <p:nvSpPr>
          <p:cNvPr id="5" name="Rounded Rectangle 4"/>
          <p:cNvSpPr/>
          <p:nvPr/>
        </p:nvSpPr>
        <p:spPr>
          <a:xfrm>
            <a:off x="731520" y="1463040"/>
            <a:ext cx="10728655" cy="4754880"/>
          </a:xfrm>
          <a:prstGeom prst="roundRect">
            <a:avLst/>
          </a:prstGeom>
          <a:solidFill>
            <a:srgbClr val="FFFFFF"/>
          </a:solidFill>
          <a:ln w="19050">
            <a:solidFill>
              <a:srgbClr val="E06A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737360"/>
            <a:ext cx="9966960" cy="4206240"/>
          </a:xfrm>
          <a:prstGeom prst="rect">
            <a:avLst/>
          </a:prstGeom>
          <a:noFill/>
        </p:spPr>
        <p:txBody>
          <a:bodyPr wrap="square">
            <a:spAutoFit/>
          </a:bodyPr>
          <a:lstStyle/>
          <a:p>
            <a:pPr>
              <a:spcAft>
                <a:spcPts val="1200"/>
              </a:spcAft>
              <a:defRPr sz="1800" b="1">
                <a:solidFill>
                  <a:srgbClr val="1B365D"/>
                </a:solidFill>
              </a:defRPr>
            </a:pPr>
            <a:r>
              <a:t>【MBA实战案例】全国碳排放权交易市场建设与大型科技平台反垄断执法实务</a:t>
            </a:r>
          </a:p>
          <a:p>
            <a:r>
              <a:rPr b="1" sz="1300">
                <a:solidFill>
                  <a:srgbClr val="E06A3B"/>
                </a:solidFill>
              </a:rPr>
              <a:t>【商业情境与决策困局】： </a:t>
            </a:r>
            <a:r>
              <a:rPr>
                <a:solidFill>
                  <a:srgbClr val="282C34"/>
                </a:solidFill>
              </a:rPr>
              <a:t>中国设立全国统一碳排放权交易中心 (ETS)；反垄断监管部门对互联网巨头滥用市场支配地位依法开出巨额罚单。</a:t>
            </a:r>
          </a:p>
          <a:p>
            <a:r>
              <a:rPr b="1" sz="1300">
                <a:solidFill>
                  <a:srgbClr val="1B365D"/>
                </a:solidFill>
              </a:rPr>
              <a:t>
【管理经济学深度剖析】： </a:t>
            </a:r>
            <a:r>
              <a:rPr>
                <a:solidFill>
                  <a:srgbClr val="282C34"/>
                </a:solidFill>
              </a:rPr>
              <a:t>碳市场通过给碳排放权确权并允许自由交易，完美实践了科斯定理解决外部性；反垄断执法则旨在破除数字壁垒，保护中小商户创新活力与消费者福利。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9728" cy="777240"/>
          </a:xfrm>
          <a:prstGeom prst="rect">
            <a:avLst/>
          </a:prstGeom>
          <a:solidFill>
            <a:srgbClr val="E06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65760"/>
            <a:ext cx="10424160" cy="868680"/>
          </a:xfrm>
          <a:prstGeom prst="rect">
            <a:avLst/>
          </a:prstGeom>
          <a:noFill/>
        </p:spPr>
        <p:txBody>
          <a:bodyPr wrap="square" lIns="0" tIns="0" rIns="0" bIns="0">
            <a:spAutoFit/>
          </a:bodyPr>
          <a:lstStyle/>
          <a:p>
            <a:pPr>
              <a:defRPr sz="1000" b="1">
                <a:solidFill>
                  <a:srgbClr val="E06A3B"/>
                </a:solidFill>
              </a:defRPr>
            </a:pPr>
            <a:r>
              <a:t>EXECUTIVE CHECKLIST · 决策闭环</a:t>
            </a:r>
          </a:p>
          <a:p>
            <a:pPr>
              <a:defRPr sz="2200" b="1">
                <a:solidFill>
                  <a:srgbClr val="1B365D"/>
                </a:solidFill>
              </a:defRPr>
            </a:pPr>
            <a:r>
              <a:t>管理决策落地启示清单</a:t>
            </a:r>
          </a:p>
        </p:txBody>
      </p:sp>
      <p:sp>
        <p:nvSpPr>
          <p:cNvPr id="5" name="Rounded Rectangle 4"/>
          <p:cNvSpPr/>
          <p:nvPr/>
        </p:nvSpPr>
        <p:spPr>
          <a:xfrm>
            <a:off x="731520" y="1645920"/>
            <a:ext cx="3429000" cy="4389120"/>
          </a:xfrm>
          <a:prstGeom prst="roundRect">
            <a:avLst/>
          </a:prstGeom>
          <a:solidFill>
            <a:srgbClr val="FFFFFF"/>
          </a:solidFill>
          <a:ln>
            <a:solidFill>
              <a:srgbClr val="D7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3429000" cy="548640"/>
          </a:xfrm>
          <a:prstGeom prst="rect">
            <a:avLst/>
          </a:prstGeom>
          <a:solidFill>
            <a:srgbClr val="E06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ACTION 01</a:t>
            </a:r>
          </a:p>
        </p:txBody>
      </p:sp>
      <p:sp>
        <p:nvSpPr>
          <p:cNvPr id="7" name="TextBox 6"/>
          <p:cNvSpPr txBox="1"/>
          <p:nvPr/>
        </p:nvSpPr>
        <p:spPr>
          <a:xfrm>
            <a:off x="914400" y="2377440"/>
            <a:ext cx="3063240" cy="3474720"/>
          </a:xfrm>
          <a:prstGeom prst="rect">
            <a:avLst/>
          </a:prstGeom>
          <a:noFill/>
        </p:spPr>
        <p:txBody>
          <a:bodyPr wrap="square">
            <a:spAutoFit/>
          </a:bodyPr>
          <a:lstStyle/>
          <a:p>
            <a:pPr>
              <a:defRPr sz="1400" b="1">
                <a:solidFill>
                  <a:srgbClr val="1B365D"/>
                </a:solidFill>
              </a:defRPr>
            </a:pPr>
            <a:r>
              <a:t>积极拥抱 ESG 与绿色转型：将外部成本内生化，提升可持续发展韧性。</a:t>
            </a:r>
          </a:p>
        </p:txBody>
      </p:sp>
      <p:sp>
        <p:nvSpPr>
          <p:cNvPr id="8" name="Rounded Rectangle 7"/>
          <p:cNvSpPr/>
          <p:nvPr/>
        </p:nvSpPr>
        <p:spPr>
          <a:xfrm>
            <a:off x="4343400" y="1645920"/>
            <a:ext cx="3429000" cy="4389120"/>
          </a:xfrm>
          <a:prstGeom prst="roundRect">
            <a:avLst/>
          </a:prstGeom>
          <a:solidFill>
            <a:srgbClr val="FFFFFF"/>
          </a:solidFill>
          <a:ln>
            <a:solidFill>
              <a:srgbClr val="D7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43400" y="1645920"/>
            <a:ext cx="3429000" cy="548640"/>
          </a:xfrm>
          <a:prstGeom prst="rect">
            <a:avLst/>
          </a:prstGeom>
          <a:solidFill>
            <a:srgbClr val="E06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ACTION 02</a:t>
            </a:r>
          </a:p>
        </p:txBody>
      </p:sp>
      <p:sp>
        <p:nvSpPr>
          <p:cNvPr id="10" name="TextBox 9"/>
          <p:cNvSpPr txBox="1"/>
          <p:nvPr/>
        </p:nvSpPr>
        <p:spPr>
          <a:xfrm>
            <a:off x="4526280" y="2377440"/>
            <a:ext cx="3063240" cy="3474720"/>
          </a:xfrm>
          <a:prstGeom prst="rect">
            <a:avLst/>
          </a:prstGeom>
          <a:noFill/>
        </p:spPr>
        <p:txBody>
          <a:bodyPr wrap="square">
            <a:spAutoFit/>
          </a:bodyPr>
          <a:lstStyle/>
          <a:p>
            <a:pPr>
              <a:defRPr sz="1400" b="1">
                <a:solidFill>
                  <a:srgbClr val="1B365D"/>
                </a:solidFill>
              </a:defRPr>
            </a:pPr>
            <a:r>
              <a:t>强化企业合规红线：严格规避反垄断审查与不正当竞争法律风险。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9728" cy="777240"/>
          </a:xfrm>
          <a:prstGeom prst="rect">
            <a:avLst/>
          </a:prstGeom>
          <a:solidFill>
            <a:srgbClr val="E06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65760"/>
            <a:ext cx="10424160" cy="868680"/>
          </a:xfrm>
          <a:prstGeom prst="rect">
            <a:avLst/>
          </a:prstGeom>
          <a:noFill/>
        </p:spPr>
        <p:txBody>
          <a:bodyPr wrap="square" lIns="0" tIns="0" rIns="0" bIns="0">
            <a:spAutoFit/>
          </a:bodyPr>
          <a:lstStyle/>
          <a:p>
            <a:pPr>
              <a:defRPr sz="1000" b="1">
                <a:solidFill>
                  <a:srgbClr val="E06A3B"/>
                </a:solidFill>
              </a:defRPr>
            </a:pPr>
            <a:r>
              <a:t>REVIEW &amp; DISCUSSION</a:t>
            </a:r>
          </a:p>
          <a:p>
            <a:pPr>
              <a:defRPr sz="2200" b="1">
                <a:solidFill>
                  <a:srgbClr val="1B365D"/>
                </a:solidFill>
              </a:defRPr>
            </a:pPr>
            <a:r>
              <a:t>本章复习思考与考试典型考点</a:t>
            </a:r>
          </a:p>
        </p:txBody>
      </p:sp>
      <p:sp>
        <p:nvSpPr>
          <p:cNvPr id="5" name="Rounded Rectangle 4"/>
          <p:cNvSpPr/>
          <p:nvPr/>
        </p:nvSpPr>
        <p:spPr>
          <a:xfrm>
            <a:off x="731520" y="1645920"/>
            <a:ext cx="10728655" cy="2011680"/>
          </a:xfrm>
          <a:prstGeom prst="roundRect">
            <a:avLst/>
          </a:prstGeom>
          <a:solidFill>
            <a:srgbClr val="FFFFFF"/>
          </a:solidFill>
          <a:ln>
            <a:solidFill>
              <a:srgbClr val="D7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10149840" cy="1645920"/>
          </a:xfrm>
          <a:prstGeom prst="rect">
            <a:avLst/>
          </a:prstGeom>
          <a:noFill/>
        </p:spPr>
        <p:txBody>
          <a:bodyPr wrap="square">
            <a:spAutoFit/>
          </a:bodyPr>
          <a:lstStyle/>
          <a:p>
            <a:pPr>
              <a:defRPr sz="1400" b="1">
                <a:solidFill>
                  <a:srgbClr val="E06A3B"/>
                </a:solidFill>
              </a:defRPr>
            </a:pPr>
            <a:r>
              <a:t>研讨考题 01：</a:t>
            </a:r>
          </a:p>
          <a:p>
            <a:pPr>
              <a:spcBef>
                <a:spcPts val="600"/>
              </a:spcBef>
              <a:defRPr sz="1300">
                <a:solidFill>
                  <a:srgbClr val="282C34"/>
                </a:solidFill>
              </a:defRPr>
            </a:pPr>
            <a:r>
              <a:t>试用科斯定理分析我国排污权交易制度与水权交易制度的运作逻辑与实践边界。</a:t>
            </a:r>
          </a:p>
        </p:txBody>
      </p:sp>
      <p:sp>
        <p:nvSpPr>
          <p:cNvPr id="7" name="Rounded Rectangle 6"/>
          <p:cNvSpPr/>
          <p:nvPr/>
        </p:nvSpPr>
        <p:spPr>
          <a:xfrm>
            <a:off x="731520" y="3931920"/>
            <a:ext cx="10728655" cy="2011680"/>
          </a:xfrm>
          <a:prstGeom prst="roundRect">
            <a:avLst/>
          </a:prstGeom>
          <a:solidFill>
            <a:srgbClr val="FFFFFF"/>
          </a:solidFill>
          <a:ln>
            <a:solidFill>
              <a:srgbClr val="D7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4114800"/>
            <a:ext cx="10149840" cy="1645920"/>
          </a:xfrm>
          <a:prstGeom prst="rect">
            <a:avLst/>
          </a:prstGeom>
          <a:noFill/>
        </p:spPr>
        <p:txBody>
          <a:bodyPr wrap="square">
            <a:spAutoFit/>
          </a:bodyPr>
          <a:lstStyle/>
          <a:p>
            <a:pPr>
              <a:defRPr sz="1400" b="1">
                <a:solidFill>
                  <a:srgbClr val="E06A3B"/>
                </a:solidFill>
              </a:defRPr>
            </a:pPr>
            <a:r>
              <a:t>研讨考题 02：</a:t>
            </a:r>
          </a:p>
          <a:p>
            <a:pPr>
              <a:spcBef>
                <a:spcPts val="600"/>
              </a:spcBef>
              <a:defRPr sz="1300">
                <a:solidFill>
                  <a:srgbClr val="282C34"/>
                </a:solidFill>
              </a:defRPr>
            </a:pPr>
            <a:r>
              <a:t>为什么自然垄断行业不能简单拆分成多家企业开展自由竞争？政府应如何对其进行价格与服务质量规制？</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