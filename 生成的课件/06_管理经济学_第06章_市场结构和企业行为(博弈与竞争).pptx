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06</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第6章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市场结构和企业行为（博弈、竞争与战略模式）</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市场结构的分类（厂商数量、产品差异、进出壁垒与四大市场对照矩阵）</a:t>
            </a:r>
          </a:p>
          <a:p>
            <a:pPr algn="l">
              <a:lnSpc>
                <a:spcPct val="120000"/>
              </a:lnSpc>
              <a:spcAft>
                <a:spcPts val="600"/>
              </a:spcAft>
            </a:pPr>
            <a:r>
              <a:rPr sz="1300" b="0">
                <a:solidFill>
                  <a:srgbClr val="1E293B"/>
                </a:solidFill>
                <a:latin typeface="Times New Roman"/>
                <a:ea typeface="宋体"/>
              </a:rPr>
              <a:t>- 第2节 完全竞争条件下的企业行为（P=MC短期决策、短期供给曲线与长期零利润）</a:t>
            </a:r>
          </a:p>
          <a:p>
            <a:pPr algn="l">
              <a:lnSpc>
                <a:spcPct val="120000"/>
              </a:lnSpc>
              <a:spcAft>
                <a:spcPts val="600"/>
              </a:spcAft>
            </a:pPr>
            <a:r>
              <a:rPr sz="1300" b="0">
                <a:solidFill>
                  <a:srgbClr val="1E293B"/>
                </a:solidFill>
                <a:latin typeface="Times New Roman"/>
                <a:ea typeface="宋体"/>
              </a:rPr>
              <a:t>- 第3节 完全垄断条件下的企业行为（五大进入壁垒、MR=MC定价与DWL无谓损失）</a:t>
            </a:r>
          </a:p>
          <a:p>
            <a:pPr algn="l">
              <a:lnSpc>
                <a:spcPct val="120000"/>
              </a:lnSpc>
              <a:spcAft>
                <a:spcPts val="600"/>
              </a:spcAft>
            </a:pPr>
            <a:r>
              <a:rPr sz="1300" b="0">
                <a:solidFill>
                  <a:srgbClr val="1E293B"/>
                </a:solidFill>
                <a:latin typeface="Times New Roman"/>
                <a:ea typeface="宋体"/>
              </a:rPr>
              <a:t>- 第4节 垄断竞争条件下的企业行为（产品差异化、过剩产能与多尔夫曼广告定理）</a:t>
            </a:r>
          </a:p>
          <a:p>
            <a:pPr algn="l">
              <a:lnSpc>
                <a:spcPct val="120000"/>
              </a:lnSpc>
              <a:spcAft>
                <a:spcPts val="600"/>
              </a:spcAft>
            </a:pPr>
            <a:r>
              <a:rPr sz="1300" b="0">
                <a:solidFill>
                  <a:srgbClr val="1E293B"/>
                </a:solidFill>
                <a:latin typeface="Times New Roman"/>
                <a:ea typeface="宋体"/>
              </a:rPr>
              <a:t>- 第5节 寡头垄断条件下的企业行为（折弯需求曲线、价格领导、博弈论与纳什均衡）</a:t>
            </a:r>
          </a:p>
          <a:p>
            <a:pPr algn="l">
              <a:lnSpc>
                <a:spcPct val="120000"/>
              </a:lnSpc>
              <a:spcAft>
                <a:spcPts val="600"/>
              </a:spcAft>
            </a:pPr>
            <a:r>
              <a:rPr sz="1300" b="0">
                <a:solidFill>
                  <a:srgbClr val="1E293B"/>
                </a:solidFill>
                <a:latin typeface="Times New Roman"/>
                <a:ea typeface="宋体"/>
              </a:rPr>
              <a:t>- 第6节 销售收入最大化行为模式（鲍莫尔模型与最低利润约束）</a:t>
            </a:r>
          </a:p>
          <a:p>
            <a:pPr algn="l">
              <a:lnSpc>
                <a:spcPct val="120000"/>
              </a:lnSpc>
              <a:spcAft>
                <a:spcPts val="600"/>
              </a:spcAft>
            </a:pPr>
            <a:r>
              <a:rPr sz="1300" b="0">
                <a:solidFill>
                  <a:srgbClr val="1E293B"/>
                </a:solidFill>
                <a:latin typeface="Times New Roman"/>
                <a:ea typeface="宋体"/>
              </a:rPr>
              <a:t>- 第7节 经济全球化与竞争（可竞争市场理论与潜在进入吓阻）</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【第6章】市场结构和企业行为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四大市场结构分类</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判定三要素：厂商数/差异/壁垒</a:t>
            </a:r>
          </a:p>
          <a:p>
            <a:pPr algn="l">
              <a:lnSpc>
                <a:spcPct val="120000"/>
              </a:lnSpc>
              <a:spcAft>
                <a:spcPts val="500"/>
              </a:spcAft>
            </a:pPr>
            <a:r>
              <a:rPr sz="1250" b="0">
                <a:solidFill>
                  <a:srgbClr val="1E293B"/>
                </a:solidFill>
                <a:latin typeface="Times New Roman"/>
                <a:ea typeface="宋体"/>
              </a:rPr>
              <a:t>- 完全竞争：价格接受者 P=MR</a:t>
            </a:r>
          </a:p>
          <a:p>
            <a:pPr algn="l">
              <a:lnSpc>
                <a:spcPct val="120000"/>
              </a:lnSpc>
              <a:spcAft>
                <a:spcPts val="500"/>
              </a:spcAft>
            </a:pPr>
            <a:r>
              <a:rPr sz="1250" b="0">
                <a:solidFill>
                  <a:srgbClr val="1E293B"/>
                </a:solidFill>
                <a:latin typeface="Times New Roman"/>
                <a:ea typeface="宋体"/>
              </a:rPr>
              <a:t>- 完全垄断：价格制定者 MR&lt;P</a:t>
            </a:r>
          </a:p>
          <a:p>
            <a:pPr algn="l">
              <a:lnSpc>
                <a:spcPct val="120000"/>
              </a:lnSpc>
              <a:spcAft>
                <a:spcPts val="500"/>
              </a:spcAft>
            </a:pPr>
            <a:r>
              <a:rPr sz="1250" b="0">
                <a:solidFill>
                  <a:srgbClr val="1E293B"/>
                </a:solidFill>
                <a:latin typeface="Times New Roman"/>
                <a:ea typeface="宋体"/>
              </a:rPr>
              <a:t>- 垄断竞争 vs 寡头博弈互动</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垄断定价与无谓损失</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五大进入壁垒构筑垄断护城河</a:t>
            </a:r>
          </a:p>
          <a:p>
            <a:pPr algn="l">
              <a:lnSpc>
                <a:spcPct val="120000"/>
              </a:lnSpc>
              <a:spcAft>
                <a:spcPts val="500"/>
              </a:spcAft>
            </a:pPr>
            <a:r>
              <a:rPr sz="1250" b="0">
                <a:solidFill>
                  <a:srgbClr val="1E293B"/>
                </a:solidFill>
                <a:latin typeface="Times New Roman"/>
                <a:ea typeface="宋体"/>
              </a:rPr>
              <a:t>- MR=MC 定价与勒纳指数</a:t>
            </a:r>
          </a:p>
          <a:p>
            <a:pPr algn="l">
              <a:lnSpc>
                <a:spcPct val="120000"/>
              </a:lnSpc>
              <a:spcAft>
                <a:spcPts val="500"/>
              </a:spcAft>
            </a:pPr>
            <a:r>
              <a:rPr sz="1250" b="0">
                <a:solidFill>
                  <a:srgbClr val="1E293B"/>
                </a:solidFill>
                <a:latin typeface="Times New Roman"/>
                <a:ea typeface="宋体"/>
              </a:rPr>
              <a:t>- 消费者剩余转为垄断利润</a:t>
            </a:r>
          </a:p>
          <a:p>
            <a:pPr algn="l">
              <a:lnSpc>
                <a:spcPct val="120000"/>
              </a:lnSpc>
              <a:spcAft>
                <a:spcPts val="500"/>
              </a:spcAft>
            </a:pPr>
            <a:r>
              <a:rPr sz="1250" b="0">
                <a:solidFill>
                  <a:srgbClr val="1E293B"/>
                </a:solidFill>
                <a:latin typeface="Times New Roman"/>
                <a:ea typeface="宋体"/>
              </a:rPr>
              <a:t>- DWL 死重损失量化社会福利</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寡头博弈与折弯需求</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跟跌不跟涨引致折弯需求曲线</a:t>
            </a:r>
          </a:p>
          <a:p>
            <a:pPr algn="l">
              <a:lnSpc>
                <a:spcPct val="120000"/>
              </a:lnSpc>
              <a:spcAft>
                <a:spcPts val="500"/>
              </a:spcAft>
            </a:pPr>
            <a:r>
              <a:rPr sz="1250" b="0">
                <a:solidFill>
                  <a:srgbClr val="1E293B"/>
                </a:solidFill>
                <a:latin typeface="Times New Roman"/>
                <a:ea typeface="宋体"/>
              </a:rPr>
              <a:t>- MC 垂直断崖与价格刚性</a:t>
            </a:r>
          </a:p>
          <a:p>
            <a:pPr algn="l">
              <a:lnSpc>
                <a:spcPct val="120000"/>
              </a:lnSpc>
              <a:spcAft>
                <a:spcPts val="500"/>
              </a:spcAft>
            </a:pPr>
            <a:r>
              <a:rPr sz="1250" b="0">
                <a:solidFill>
                  <a:srgbClr val="1E293B"/>
                </a:solidFill>
                <a:latin typeface="Times New Roman"/>
                <a:ea typeface="宋体"/>
              </a:rPr>
              <a:t>- 支配型与晴雨表型价格领导</a:t>
            </a:r>
          </a:p>
          <a:p>
            <a:pPr algn="l">
              <a:lnSpc>
                <a:spcPct val="120000"/>
              </a:lnSpc>
              <a:spcAft>
                <a:spcPts val="500"/>
              </a:spcAft>
            </a:pPr>
            <a:r>
              <a:rPr sz="1250" b="0">
                <a:solidFill>
                  <a:srgbClr val="1E293B"/>
                </a:solidFill>
                <a:latin typeface="Times New Roman"/>
                <a:ea typeface="宋体"/>
              </a:rPr>
              <a:t>- 囚徒困境与卡特尔共谋背叛</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差异化与收入最大化</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垄断竞争长期过剩产能</a:t>
            </a:r>
          </a:p>
          <a:p>
            <a:pPr algn="l">
              <a:lnSpc>
                <a:spcPct val="120000"/>
              </a:lnSpc>
              <a:spcAft>
                <a:spcPts val="500"/>
              </a:spcAft>
            </a:pPr>
            <a:r>
              <a:rPr sz="1250" b="0">
                <a:solidFill>
                  <a:srgbClr val="1E293B"/>
                </a:solidFill>
                <a:latin typeface="Times New Roman"/>
                <a:ea typeface="宋体"/>
              </a:rPr>
              <a:t>- 多尔夫曼广告定理：A/TR=Ea/|Ep|</a:t>
            </a:r>
          </a:p>
          <a:p>
            <a:pPr algn="l">
              <a:lnSpc>
                <a:spcPct val="120000"/>
              </a:lnSpc>
              <a:spcAft>
                <a:spcPts val="500"/>
              </a:spcAft>
            </a:pPr>
            <a:r>
              <a:rPr sz="1250" b="0">
                <a:solidFill>
                  <a:srgbClr val="1E293B"/>
                </a:solidFill>
                <a:latin typeface="Times New Roman"/>
                <a:ea typeface="宋体"/>
              </a:rPr>
              <a:t>- 鲍莫尔销售收入最大化模型</a:t>
            </a:r>
          </a:p>
          <a:p>
            <a:pPr algn="l">
              <a:lnSpc>
                <a:spcPct val="120000"/>
              </a:lnSpc>
              <a:spcAft>
                <a:spcPts val="500"/>
              </a:spcAft>
            </a:pPr>
            <a:r>
              <a:rPr sz="1250" b="0">
                <a:solidFill>
                  <a:srgbClr val="1E293B"/>
                </a:solidFill>
                <a:latin typeface="Times New Roman"/>
                <a:ea typeface="宋体"/>
              </a:rPr>
              <a:t>- 可竞争市场与沉没成本威慑</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核心逻辑：市场结构决定企业行为，企业行为决定行业绩效（SCP范式），博弈论是解析寡头战略互动的关键工具。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市场结构的分类（Market Structures）</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系统剖析市场结构判定三要素，全景对比完全竞争、垄断竞争、寡头垄断与完全垄断特征。</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第6章 市场结构和企业行为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市场结构的分类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一、四大市场结构特征全景对照矩阵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graphicFrame>
        <p:nvGraphicFramePr>
          <p:cNvPr id="9" name="Table 8"/>
          <p:cNvGraphicFramePr>
            <a:graphicFrameLocks noGrp="1"/>
          </p:cNvGraphicFramePr>
          <p:nvPr/>
        </p:nvGraphicFramePr>
        <p:xfrm>
          <a:off x="457200" y="1325880"/>
          <a:ext cx="11247120" cy="4343400"/>
        </p:xfrm>
        <a:graphic>
          <a:graphicData uri="http://schemas.openxmlformats.org/drawingml/2006/table">
            <a:tbl>
              <a:tblPr firstRow="1" bandRow="1">
                <a:tableStyleId>{5C22544A-7EE6-4342-B048-85BDC9FD1C3A}</a:tableStyleId>
              </a:tblPr>
              <a:tblGrid>
                <a:gridCol w="2286000"/>
                <a:gridCol w="1645920"/>
                <a:gridCol w="2194560"/>
                <a:gridCol w="1828800"/>
                <a:gridCol w="1828800"/>
                <a:gridCol w="1463040"/>
              </a:tblGrid>
              <a:tr h="868680">
                <a:tc>
                  <a:txBody>
                    <a:bodyPr wrap="square" anchor="ctr"/>
                    <a:lstStyle/>
                    <a:p>
                      <a:pPr algn="ctr">
                        <a:lnSpc>
                          <a:spcPct val="120000"/>
                        </a:lnSpc>
                      </a:pPr>
                      <a:r>
                        <a:rPr sz="1250" b="1">
                          <a:solidFill>
                            <a:srgbClr val="FFFFFF"/>
                          </a:solidFill>
                          <a:latin typeface="Times New Roman"/>
                          <a:ea typeface="宋体"/>
                        </a:rPr>
                        <a:t>市场结构类型</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厂商数目</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产品差异程度</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进入与退出壁垒</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对价格控制程度</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现实典型行业</a:t>
                      </a:r>
                    </a:p>
                  </a:txBody>
                  <a:tcPr>
                    <a:solidFill>
                      <a:srgbClr val="1B3A5C"/>
                    </a:solidFill>
                  </a:tcPr>
                </a:tc>
              </a:tr>
              <a:tr h="868680">
                <a:tc>
                  <a:txBody>
                    <a:bodyPr wrap="square" anchor="ctr"/>
                    <a:lstStyle/>
                    <a:p>
                      <a:pPr algn="l">
                        <a:lnSpc>
                          <a:spcPct val="120000"/>
                        </a:lnSpc>
                      </a:pPr>
                      <a:r>
                        <a:rPr sz="1150" b="1">
                          <a:solidFill>
                            <a:srgbClr val="1B3A5C"/>
                          </a:solidFill>
                          <a:latin typeface="Times New Roman"/>
                          <a:ea typeface="宋体"/>
                        </a:rPr>
                        <a:t>完全竞争 (Perfect Competition)</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无数多 (Price Taker)</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完全无差异 (同质)</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完全自由、零壁垒</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毫无控制力 (P=MR)</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大宗农产品、初级原材料</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垄断竞争 (Monopolistic Comp.)</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很多</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有差异 (品牌/品质/包装)</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比较容易、壁垒低</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有轻微控制力</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轻工餐饮、服装零售、美发</a:t>
                      </a:r>
                    </a:p>
                  </a:txBody>
                  <a:tcPr>
                    <a:solidFill>
                      <a:srgbClr val="F2F2F2"/>
                    </a:solidFill>
                  </a:tcPr>
                </a:tc>
              </a:tr>
              <a:tr h="868680">
                <a:tc>
                  <a:txBody>
                    <a:bodyPr wrap="square" anchor="ctr"/>
                    <a:lstStyle/>
                    <a:p>
                      <a:pPr algn="l">
                        <a:lnSpc>
                          <a:spcPct val="120000"/>
                        </a:lnSpc>
                      </a:pPr>
                      <a:r>
                        <a:rPr sz="1150" b="1">
                          <a:solidFill>
                            <a:srgbClr val="1B3A5C"/>
                          </a:solidFill>
                          <a:latin typeface="Times New Roman"/>
                          <a:ea typeface="宋体"/>
                        </a:rPr>
                        <a:t>寡头垄断 (Oligopoly)</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少数几家 (相互依存)</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有差异或同质</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很高、进出困难</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相当程度控制 (策略博弈)</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民航、汽车、钢铁、电信</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完全垄断 (Monopoly)</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唯有一家 (Price Maker)</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独一无二、无相近替代</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极高、完全封闭</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极大控制力 (受法规约束)</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国家电网、自来水、高铁</a:t>
                      </a:r>
                    </a:p>
                  </a:txBody>
                  <a:tcPr>
                    <a:solidFill>
                      <a:srgbClr val="F2F2F2"/>
                    </a:solidFill>
                  </a:tcPr>
                </a:tc>
              </a:tr>
            </a:tbl>
          </a:graphicData>
        </a:graphic>
      </p:graphicFrame>
      <p:sp>
        <p:nvSpPr>
          <p:cNvPr id="10" name="TextBox 9"/>
          <p:cNvSpPr txBox="1"/>
          <p:nvPr/>
        </p:nvSpPr>
        <p:spPr>
          <a:xfrm>
            <a:off x="457200" y="5833872"/>
            <a:ext cx="11247120" cy="41148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 矩阵解析：厂商数目、产品差异度与进出壁垒高低是决定产业竞争态势的三大核心判定维度。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完全竞争条件下的企业行为模式</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解析完全竞争厂商水平需求线、P=MC 短期最优产出决策、短期供给曲线与长期零经济利润均衡。</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第6章 市场结构和企业行为 · 权威教材精细化教学架构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完全竞争条件下的企业行为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一、完全竞争企业的短期产量决策与关门点</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完全竞争个别厂商面临的需求曲线</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（1）价格接受者（Price Taker）： </a:t>
            </a:r>
            <a:r>
              <a:rPr sz="1250" b="0">
                <a:solidFill>
                  <a:srgbClr val="1E293B"/>
                </a:solidFill>
                <a:latin typeface="Times New Roman"/>
                <a:ea typeface="宋体"/>
              </a:rPr>
              <a:t>厂商产量占行业总产量比例微不足道，无法影响市场价格，只能被动接受市场出清价 P^*。</a:t>
            </a:r>
          </a:p>
          <a:p>
            <a:pPr>
              <a:lnSpc>
                <a:spcPct val="120000"/>
              </a:lnSpc>
              <a:spcAft>
                <a:spcPts val="600"/>
              </a:spcAft>
            </a:pPr>
            <a:r>
              <a:rPr sz="1250" b="1">
                <a:solidFill>
                  <a:srgbClr val="1B3A5C"/>
                </a:solidFill>
                <a:latin typeface="Times New Roman"/>
                <a:ea typeface="宋体"/>
              </a:rPr>
              <a:t>（2）水平线特征： </a:t>
            </a:r>
            <a:r>
              <a:rPr sz="1250" b="0">
                <a:solidFill>
                  <a:srgbClr val="1E293B"/>
                </a:solidFill>
                <a:latin typeface="Times New Roman"/>
                <a:ea typeface="宋体"/>
              </a:rPr>
              <a:t>面临一条完全水平的需求曲线 P = AR = MR。</a:t>
            </a:r>
          </a:p>
          <a:p>
            <a:pPr>
              <a:lnSpc>
                <a:spcPct val="120000"/>
              </a:lnSpc>
              <a:spcAft>
                <a:spcPts val="600"/>
              </a:spcAft>
            </a:pPr>
            <a:r>
              <a:rPr sz="1250" b="1">
                <a:solidFill>
                  <a:srgbClr val="1B3A5C"/>
                </a:solidFill>
                <a:latin typeface="Times New Roman"/>
                <a:ea typeface="宋体"/>
              </a:rPr>
              <a:t>（3）短期利润最大化条件： </a:t>
            </a:r>
            <a:r>
              <a:rPr sz="1250" b="0">
                <a:solidFill>
                  <a:srgbClr val="1E293B"/>
                </a:solidFill>
                <a:latin typeface="Times New Roman"/>
                <a:ea typeface="宋体"/>
              </a:rPr>
              <a:t>P = MR = SMC (边际收益等于短期边际成本)。</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短期停产关门点与供给曲线</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（1）停产关门临界点： </a:t>
            </a:r>
            <a:r>
              <a:rPr sz="1250" b="0">
                <a:solidFill>
                  <a:srgbClr val="1E293B"/>
                </a:solidFill>
                <a:latin typeface="Times New Roman"/>
                <a:ea typeface="宋体"/>
              </a:rPr>
              <a:t>当 P = AVC_{min} 时为短期停止营业点。若 P &lt; AVC_{min}，必须立即停产！</a:t>
            </a:r>
          </a:p>
          <a:p>
            <a:pPr>
              <a:lnSpc>
                <a:spcPct val="120000"/>
              </a:lnSpc>
              <a:spcAft>
                <a:spcPts val="600"/>
              </a:spcAft>
            </a:pPr>
            <a:r>
              <a:rPr sz="1250" b="1">
                <a:solidFill>
                  <a:srgbClr val="2E86C1"/>
                </a:solidFill>
                <a:latin typeface="Times New Roman"/>
                <a:ea typeface="宋体"/>
              </a:rPr>
              <a:t>（2）企业短期供给曲线： </a:t>
            </a:r>
            <a:r>
              <a:rPr sz="1250" b="0">
                <a:solidFill>
                  <a:srgbClr val="1E293B"/>
                </a:solidFill>
                <a:latin typeface="Times New Roman"/>
                <a:ea typeface="宋体"/>
              </a:rPr>
              <a:t>处于 AVC 最低点及以上的那一段短期边际成本 SMC 曲线！</a:t>
            </a:r>
          </a:p>
          <a:p>
            <a:pPr>
              <a:lnSpc>
                <a:spcPct val="120000"/>
              </a:lnSpc>
              <a:spcAft>
                <a:spcPts val="600"/>
              </a:spcAft>
            </a:pPr>
            <a:r>
              <a:rPr sz="1250" b="1">
                <a:solidFill>
                  <a:srgbClr val="2E86C1"/>
                </a:solidFill>
                <a:latin typeface="Times New Roman"/>
                <a:ea typeface="宋体"/>
              </a:rPr>
              <a:t>（3）行业短期供给曲线： </a:t>
            </a:r>
            <a:r>
              <a:rPr sz="1250" b="0">
                <a:solidFill>
                  <a:srgbClr val="1E293B"/>
                </a:solidFill>
                <a:latin typeface="Times New Roman"/>
                <a:ea typeface="宋体"/>
              </a:rPr>
              <a:t>行业内所有个别企业短期供给曲线的横向水平加总。</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核心要点：在完全竞争短期均衡中，价格等于边际成本是企业实现微观利润最大化的铁律。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完全竞争条件下的企业行为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二、完全竞争长期均衡与经济利润归零定理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市场自由进出机制与长期动态调整</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（1）超额利润驱动进入： </a:t>
            </a:r>
            <a:r>
              <a:rPr sz="1250" b="0">
                <a:solidFill>
                  <a:srgbClr val="1E293B"/>
                </a:solidFill>
                <a:latin typeface="Times New Roman"/>
                <a:ea typeface="宋体"/>
              </a:rPr>
              <a:t>若行业存在超额利润 \pi &gt; 0，新外部资本涌入，行业总供给增加，市场价格下跌，直至利润被完全抹平。</a:t>
            </a:r>
          </a:p>
          <a:p>
            <a:pPr>
              <a:lnSpc>
                <a:spcPct val="120000"/>
              </a:lnSpc>
              <a:spcAft>
                <a:spcPts val="600"/>
              </a:spcAft>
            </a:pPr>
            <a:r>
              <a:rPr sz="1250" b="1">
                <a:solidFill>
                  <a:srgbClr val="1B3A5C"/>
                </a:solidFill>
                <a:latin typeface="Times New Roman"/>
                <a:ea typeface="宋体"/>
              </a:rPr>
              <a:t>（2）行业亏损迫使退出： </a:t>
            </a:r>
            <a:r>
              <a:rPr sz="1250" b="0">
                <a:solidFill>
                  <a:srgbClr val="1E293B"/>
                </a:solidFill>
                <a:latin typeface="Times New Roman"/>
                <a:ea typeface="宋体"/>
              </a:rPr>
              <a:t>若行业亏损 \pi &lt; 0，部分高成本低效企业退出，供给减少推高价格，直至留存企业不再亏损。</a:t>
            </a:r>
          </a:p>
          <a:p>
            <a:pPr>
              <a:lnSpc>
                <a:spcPct val="120000"/>
              </a:lnSpc>
              <a:spcAft>
                <a:spcPts val="600"/>
              </a:spcAft>
            </a:pPr>
            <a:r>
              <a:rPr sz="1250" b="1">
                <a:solidFill>
                  <a:srgbClr val="1B3A5C"/>
                </a:solidFill>
                <a:latin typeface="Times New Roman"/>
                <a:ea typeface="宋体"/>
              </a:rPr>
              <a:t>（3）进出壁垒为零： </a:t>
            </a:r>
            <a:r>
              <a:rPr sz="1250" b="0">
                <a:solidFill>
                  <a:srgbClr val="1E293B"/>
                </a:solidFill>
                <a:latin typeface="Times New Roman"/>
                <a:ea typeface="宋体"/>
              </a:rPr>
              <a:t>自由进出机制是驱动行业超额利润必然归零的核心力量。</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长期均衡全要素等式与帕累托最高效率</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（1）长期全要素均衡等式： </a:t>
            </a:r>
            <a:r>
              <a:rPr sz="1250" b="0">
                <a:solidFill>
                  <a:srgbClr val="1E293B"/>
                </a:solidFill>
                <a:latin typeface="Times New Roman"/>
                <a:ea typeface="宋体"/>
              </a:rPr>
              <a:t>P = MR = SMC = LMC = SAC_{min} = LAC_{min}</a:t>
            </a:r>
          </a:p>
          <a:p>
            <a:pPr>
              <a:lnSpc>
                <a:spcPct val="120000"/>
              </a:lnSpc>
              <a:spcAft>
                <a:spcPts val="600"/>
              </a:spcAft>
            </a:pPr>
            <a:r>
              <a:rPr sz="1250" b="1">
                <a:solidFill>
                  <a:srgbClr val="2E86C1"/>
                </a:solidFill>
                <a:latin typeface="Times New Roman"/>
                <a:ea typeface="宋体"/>
              </a:rPr>
              <a:t>（2）生产效率达到极致： </a:t>
            </a:r>
            <a:r>
              <a:rPr sz="1250" b="0">
                <a:solidFill>
                  <a:srgbClr val="1E293B"/>
                </a:solidFill>
                <a:latin typeface="Times New Roman"/>
                <a:ea typeface="宋体"/>
              </a:rPr>
              <a:t>所有企业均在长期平均成本 LAC 曲线的最低点组织生产，社会生产成本最低。</a:t>
            </a:r>
          </a:p>
          <a:p>
            <a:pPr>
              <a:lnSpc>
                <a:spcPct val="120000"/>
              </a:lnSpc>
              <a:spcAft>
                <a:spcPts val="600"/>
              </a:spcAft>
            </a:pPr>
            <a:r>
              <a:rPr sz="1250" b="1">
                <a:solidFill>
                  <a:srgbClr val="2E86C1"/>
                </a:solidFill>
                <a:latin typeface="Times New Roman"/>
                <a:ea typeface="宋体"/>
              </a:rPr>
              <a:t>（3）配置效率达到极致： </a:t>
            </a:r>
            <a:r>
              <a:rPr sz="1250" b="0">
                <a:solidFill>
                  <a:srgbClr val="1E293B"/>
                </a:solidFill>
                <a:latin typeface="Times New Roman"/>
                <a:ea typeface="宋体"/>
              </a:rPr>
              <a:t>价格等于边际成本（P = MC），消费者以最低可能的价格获得最大化的商品供给。</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核心要点：完全竞争市场实现了亚当·斯密'看不见的手'的最完美帕累托最优资源配置境界。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完全垄断条件下的企业行为模式</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深入剖析完全垄断五大进入壁垒、MR=MC 定价法则、垄断三大经济弊端与无谓损失（DWL）。</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第6章 市场结构和企业行为 · 权威教材精细化教学架构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完全垄断条件下的企业行为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一、完全垄断的五大进入壁垒（护城河）全景细分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1. 规模经济与关键资源独占</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（1）规模经济（自然垄断）： </a:t>
            </a:r>
            <a:r>
              <a:rPr sz="1200" b="0">
                <a:solidFill>
                  <a:srgbClr val="1E293B"/>
                </a:solidFill>
                <a:latin typeface="Times New Roman"/>
                <a:ea typeface="宋体"/>
              </a:rPr>
              <a:t>全行业需求规模仅能支撑一家企业达到最低有效规模（如国家输电网、城市供排水管网）。</a:t>
            </a:r>
          </a:p>
          <a:p>
            <a:pPr>
              <a:lnSpc>
                <a:spcPct val="120000"/>
              </a:lnSpc>
              <a:spcAft>
                <a:spcPts val="500"/>
              </a:spcAft>
            </a:pPr>
            <a:r>
              <a:rPr sz="1200" b="1">
                <a:solidFill>
                  <a:srgbClr val="1B3A5C"/>
                </a:solidFill>
                <a:latin typeface="Times New Roman"/>
                <a:ea typeface="宋体"/>
              </a:rPr>
              <a:t>（2）关键原材料绝对控制： </a:t>
            </a:r>
            <a:r>
              <a:rPr sz="1200" b="0">
                <a:solidFill>
                  <a:srgbClr val="1E293B"/>
                </a:solidFill>
                <a:latin typeface="Times New Roman"/>
                <a:ea typeface="宋体"/>
              </a:rPr>
              <a:t>独占不可替代的核心自然资源与矿产（如戴比尔斯钻石矿）。</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2. 专利技术与政府特许经营</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（3）专利权与专有技术壁垒： </a:t>
            </a:r>
            <a:r>
              <a:rPr sz="1200" b="0">
                <a:solidFill>
                  <a:srgbClr val="1E293B"/>
                </a:solidFill>
                <a:latin typeface="Times New Roman"/>
                <a:ea typeface="宋体"/>
              </a:rPr>
              <a:t>受国家知识产权法保护的独占技术配方与重磅专利（如原研创新药）。</a:t>
            </a:r>
          </a:p>
          <a:p>
            <a:pPr>
              <a:lnSpc>
                <a:spcPct val="120000"/>
              </a:lnSpc>
              <a:spcAft>
                <a:spcPts val="500"/>
              </a:spcAft>
            </a:pPr>
            <a:r>
              <a:rPr sz="1200" b="1">
                <a:solidFill>
                  <a:srgbClr val="2E86C1"/>
                </a:solidFill>
                <a:latin typeface="Times New Roman"/>
                <a:ea typeface="宋体"/>
              </a:rPr>
              <a:t>（4）政府特许经营行政牌照： </a:t>
            </a:r>
            <a:r>
              <a:rPr sz="1200" b="0">
                <a:solidFill>
                  <a:srgbClr val="1E293B"/>
                </a:solidFill>
                <a:latin typeface="Times New Roman"/>
                <a:ea typeface="宋体"/>
              </a:rPr>
              <a:t>国家法律设立的专营特权（如烟草专卖、邮政普遍服务）。</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3. 巨额资本与战略壁垒</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（5）巨额资本壁垒与沉没成本： </a:t>
            </a:r>
            <a:r>
              <a:rPr sz="1200" b="0">
                <a:solidFill>
                  <a:srgbClr val="1E293B"/>
                </a:solidFill>
                <a:latin typeface="Times New Roman"/>
                <a:ea typeface="宋体"/>
              </a:rPr>
              <a:t>前期重资产厂房与超算中心投入高达百亿级，构成潜在进入者不可逾越的资金天堑。</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核心要点：五大进入壁垒彻底封死了潜在竞争者的进入通道，赋予了垄断厂商长期独占超额利润的特权。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完全垄断条件下的企业行为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二、完全垄断定价决策与三大社会经济弊端</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垄断厂商的定价与产出决策</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（1）下倾的需求曲线： </a:t>
            </a:r>
            <a:r>
              <a:rPr sz="1250" b="0">
                <a:solidFill>
                  <a:srgbClr val="1E293B"/>
                </a:solidFill>
                <a:latin typeface="Times New Roman"/>
                <a:ea typeface="宋体"/>
              </a:rPr>
              <a:t>垄断企业面临整个市场的向下倾斜需求曲线，AR = P，但边际收入曲线 MR 位于需求曲线下方且斜率为需求线的两倍！</a:t>
            </a:r>
          </a:p>
          <a:p>
            <a:pPr>
              <a:lnSpc>
                <a:spcPct val="120000"/>
              </a:lnSpc>
              <a:spcAft>
                <a:spcPts val="600"/>
              </a:spcAft>
            </a:pPr>
            <a:r>
              <a:rPr sz="1250" b="1">
                <a:solidFill>
                  <a:srgbClr val="1B3A5C"/>
                </a:solidFill>
                <a:latin typeface="Times New Roman"/>
                <a:ea typeface="宋体"/>
              </a:rPr>
              <a:t>（2）利润最大化定价： </a:t>
            </a:r>
            <a:r>
              <a:rPr sz="1250" b="0">
                <a:solidFill>
                  <a:srgbClr val="1E293B"/>
                </a:solidFill>
                <a:latin typeface="Times New Roman"/>
                <a:ea typeface="宋体"/>
              </a:rPr>
              <a:t>按 MR = MC 确定最优产量 Q_m，并沿需求曲线向上找到垄断价格 P_m。</a:t>
            </a:r>
          </a:p>
          <a:p>
            <a:pPr>
              <a:lnSpc>
                <a:spcPct val="120000"/>
              </a:lnSpc>
              <a:spcAft>
                <a:spcPts val="600"/>
              </a:spcAft>
            </a:pPr>
            <a:r>
              <a:rPr sz="1250" b="1">
                <a:solidFill>
                  <a:srgbClr val="1B3A5C"/>
                </a:solidFill>
                <a:latin typeface="Times New Roman"/>
                <a:ea typeface="宋体"/>
              </a:rPr>
              <a:t>（3）勒纳垄断势力指数： </a:t>
            </a:r>
            <a:r>
              <a:rPr sz="1250" b="0">
                <a:solidFill>
                  <a:srgbClr val="1E293B"/>
                </a:solidFill>
                <a:latin typeface="Times New Roman"/>
                <a:ea typeface="宋体"/>
              </a:rPr>
              <a:t>L = \frac{P - MC}{P} = \frac{1}{|E_p|} \quad (价格偏离边际成本的溢价程度与需求价格弹性成反比！)</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垄断三大社会经济弊端与案例6-1</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（1）资源配置低效（无谓损失 DWL）： </a:t>
            </a:r>
            <a:r>
              <a:rPr sz="1250" b="0">
                <a:solidFill>
                  <a:srgbClr val="1E293B"/>
                </a:solidFill>
                <a:latin typeface="Times New Roman"/>
                <a:ea typeface="宋体"/>
              </a:rPr>
              <a:t>限制产量并将价格抬高至边际成本之上，造成社会纯福利净损失三角形。</a:t>
            </a:r>
          </a:p>
          <a:p>
            <a:pPr>
              <a:lnSpc>
                <a:spcPct val="120000"/>
              </a:lnSpc>
              <a:spcAft>
                <a:spcPts val="600"/>
              </a:spcAft>
            </a:pPr>
            <a:r>
              <a:rPr sz="1250" b="1">
                <a:solidFill>
                  <a:srgbClr val="2E86C1"/>
                </a:solidFill>
                <a:latin typeface="Times New Roman"/>
                <a:ea typeface="宋体"/>
              </a:rPr>
              <a:t>（2）缺乏创新动力与 X-非效率： </a:t>
            </a:r>
            <a:r>
              <a:rPr sz="1250" b="0">
                <a:solidFill>
                  <a:srgbClr val="1E293B"/>
                </a:solidFill>
                <a:latin typeface="Times New Roman"/>
                <a:ea typeface="宋体"/>
              </a:rPr>
              <a:t>缺乏外部竞争压力导致企业内部管理松懈、官僚浪费严重。</a:t>
            </a:r>
          </a:p>
          <a:p>
            <a:pPr>
              <a:lnSpc>
                <a:spcPct val="120000"/>
              </a:lnSpc>
              <a:spcAft>
                <a:spcPts val="600"/>
              </a:spcAft>
            </a:pPr>
            <a:r>
              <a:rPr sz="1250" b="1">
                <a:solidFill>
                  <a:srgbClr val="2E86C1"/>
                </a:solidFill>
                <a:latin typeface="Times New Roman"/>
                <a:ea typeface="宋体"/>
              </a:rPr>
              <a:t>（3）寻租腐败浪费： </a:t>
            </a:r>
            <a:r>
              <a:rPr sz="1250" b="0">
                <a:solidFill>
                  <a:srgbClr val="1E293B"/>
                </a:solidFill>
                <a:latin typeface="Times New Roman"/>
                <a:ea typeface="宋体"/>
              </a:rPr>
              <a:t>花费巨资用于游说官员维持垄断特权（案例6-1 殡葬垄断）。</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核心要点：完全垄断以牺牲消费者剩余为代价攫取超额垄断利润，是各国反垄断法强力规制的对象。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垄断竞争条件下的企业行为模式</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探讨垄断竞争市场特征、产品差异化竞争、长短期均衡演进与多尔夫曼-斯泰纳广告定理。</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第6章 市场结构和企业行为 · 权威教材精细化教学架构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垄断竞争条件下的企业行为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一、垄断竞争特征、长短期均衡与过剩产能</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垄断竞争三大核心特征</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（1）厂商数目众多： </a:t>
            </a:r>
            <a:r>
              <a:rPr sz="1250" b="0">
                <a:solidFill>
                  <a:srgbClr val="1E293B"/>
                </a:solidFill>
                <a:latin typeface="Times New Roman"/>
                <a:ea typeface="宋体"/>
              </a:rPr>
              <a:t>行业内存在大量独立运营的中小型企业，彼此间缺乏直接勾结与串谋。</a:t>
            </a:r>
          </a:p>
          <a:p>
            <a:pPr>
              <a:lnSpc>
                <a:spcPct val="120000"/>
              </a:lnSpc>
              <a:spcAft>
                <a:spcPts val="600"/>
              </a:spcAft>
            </a:pPr>
            <a:r>
              <a:rPr sz="1250" b="1">
                <a:solidFill>
                  <a:srgbClr val="1B3A5C"/>
                </a:solidFill>
                <a:latin typeface="Times New Roman"/>
                <a:ea typeface="宋体"/>
              </a:rPr>
              <a:t>（2）产品具有差异性（核心）： </a:t>
            </a:r>
            <a:r>
              <a:rPr sz="1250" b="0">
                <a:solidFill>
                  <a:srgbClr val="1E293B"/>
                </a:solidFill>
                <a:latin typeface="Times New Roman"/>
                <a:ea typeface="宋体"/>
              </a:rPr>
              <a:t>在功能、品牌、包装、售后或地理位置上存在实质或主观认知差异（如各具特色的中西餐厅、服装潮牌）。</a:t>
            </a:r>
          </a:p>
          <a:p>
            <a:pPr>
              <a:lnSpc>
                <a:spcPct val="120000"/>
              </a:lnSpc>
              <a:spcAft>
                <a:spcPts val="600"/>
              </a:spcAft>
            </a:pPr>
            <a:r>
              <a:rPr sz="1250" b="1">
                <a:solidFill>
                  <a:srgbClr val="1B3A5C"/>
                </a:solidFill>
                <a:latin typeface="Times New Roman"/>
                <a:ea typeface="宋体"/>
              </a:rPr>
              <a:t>（3）进出壁垒较低： </a:t>
            </a:r>
            <a:r>
              <a:rPr sz="1250" b="0">
                <a:solidFill>
                  <a:srgbClr val="1E293B"/>
                </a:solidFill>
                <a:latin typeface="Times New Roman"/>
                <a:ea typeface="宋体"/>
              </a:rPr>
              <a:t>资本与技术门槛不高，新厂商较易进入和退出。</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长期均衡演进与过剩产能（Excess Capacity）</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（1）长期超额利润归零： </a:t>
            </a:r>
            <a:r>
              <a:rPr sz="1250" b="0">
                <a:solidFill>
                  <a:srgbClr val="1E293B"/>
                </a:solidFill>
                <a:latin typeface="Times New Roman"/>
                <a:ea typeface="宋体"/>
              </a:rPr>
              <a:t>长期内新品牌不断涌入，使每家厂商面临的主观需求曲线向左下方平移并变得更平坦，直至需求曲线与 LAC 曲线相切（P = LAC, \pi = 0）。</a:t>
            </a:r>
          </a:p>
          <a:p>
            <a:pPr>
              <a:lnSpc>
                <a:spcPct val="120000"/>
              </a:lnSpc>
              <a:spcAft>
                <a:spcPts val="600"/>
              </a:spcAft>
            </a:pPr>
            <a:r>
              <a:rPr sz="1250" b="1">
                <a:solidFill>
                  <a:srgbClr val="2E86C1"/>
                </a:solidFill>
                <a:latin typeface="Times New Roman"/>
                <a:ea typeface="宋体"/>
              </a:rPr>
              <a:t>（2）过剩产能存在定理： </a:t>
            </a:r>
            <a:r>
              <a:rPr sz="1250" b="0">
                <a:solidFill>
                  <a:srgbClr val="1E293B"/>
                </a:solidFill>
                <a:latin typeface="Times New Roman"/>
                <a:ea typeface="宋体"/>
              </a:rPr>
              <a:t>切点必然落在 LAC 曲线向右下方倾斜的下降段（而非最低点！），说明企业未达到最低成本有效规模，存在过剩产能。</a:t>
            </a:r>
          </a:p>
          <a:p>
            <a:pPr>
              <a:lnSpc>
                <a:spcPct val="120000"/>
              </a:lnSpc>
              <a:spcAft>
                <a:spcPts val="600"/>
              </a:spcAft>
            </a:pPr>
            <a:r>
              <a:rPr sz="1250" b="1">
                <a:solidFill>
                  <a:srgbClr val="2E86C1"/>
                </a:solidFill>
                <a:latin typeface="Times New Roman"/>
                <a:ea typeface="宋体"/>
              </a:rPr>
              <a:t>（3）多样性福利补偿： </a:t>
            </a:r>
            <a:r>
              <a:rPr sz="1250" b="0">
                <a:solidFill>
                  <a:srgbClr val="1E293B"/>
                </a:solidFill>
                <a:latin typeface="Times New Roman"/>
                <a:ea typeface="宋体"/>
              </a:rPr>
              <a:t>消费者虽支付了略高于最低成本的价格，但换取了丰富多彩的产品多样性满足。</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核心要点：垄断竞争的过剩产能是人类社会为了享受消费多样性与个性化体验所支付的合理'多样性溢价'。</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垄断竞争条件下的企业行为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二、产品差异化非价格竞争与广告定理应用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非价格竞争三大核心手段</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（1）产品品质与设计差异化： </a:t>
            </a:r>
            <a:r>
              <a:rPr sz="1250" b="0">
                <a:solidFill>
                  <a:srgbClr val="1E293B"/>
                </a:solidFill>
                <a:latin typeface="Times New Roman"/>
                <a:ea typeface="宋体"/>
              </a:rPr>
              <a:t>通过工业设计、核心用料、口味与功能创新构筑独特卖点（USP）。</a:t>
            </a:r>
          </a:p>
          <a:p>
            <a:pPr>
              <a:lnSpc>
                <a:spcPct val="120000"/>
              </a:lnSpc>
              <a:spcAft>
                <a:spcPts val="600"/>
              </a:spcAft>
            </a:pPr>
            <a:r>
              <a:rPr sz="1250" b="1">
                <a:solidFill>
                  <a:srgbClr val="1B3A5C"/>
                </a:solidFill>
                <a:latin typeface="Times New Roman"/>
                <a:ea typeface="宋体"/>
              </a:rPr>
              <a:t>（2）销售渠道与服务差异化： </a:t>
            </a:r>
            <a:r>
              <a:rPr sz="1250" b="0">
                <a:solidFill>
                  <a:srgbClr val="1E293B"/>
                </a:solidFill>
                <a:latin typeface="Times New Roman"/>
                <a:ea typeface="宋体"/>
              </a:rPr>
              <a:t>提供极致送货上门体验、无忧退换与终身质保。</a:t>
            </a:r>
          </a:p>
          <a:p>
            <a:pPr>
              <a:lnSpc>
                <a:spcPct val="120000"/>
              </a:lnSpc>
              <a:spcAft>
                <a:spcPts val="600"/>
              </a:spcAft>
            </a:pPr>
            <a:r>
              <a:rPr sz="1250" b="1">
                <a:solidFill>
                  <a:srgbClr val="1B3A5C"/>
                </a:solidFill>
                <a:latin typeface="Times New Roman"/>
                <a:ea typeface="宋体"/>
              </a:rPr>
              <a:t>（3）品牌形象塑造与心理溢价： </a:t>
            </a:r>
            <a:r>
              <a:rPr sz="1250" b="0">
                <a:solidFill>
                  <a:srgbClr val="1E293B"/>
                </a:solidFill>
                <a:latin typeface="Times New Roman"/>
                <a:ea typeface="宋体"/>
              </a:rPr>
              <a:t>通过精准广告营销在消费者心智中牢固占据'高端、安全、时尚'等独特认知定位。</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多尔夫曼-斯泰纳广告定理实操（例6-2/6-3）</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（1）最优广告占比定理： </a:t>
            </a:r>
            <a:r>
              <a:rPr sz="1250" b="0">
                <a:solidFill>
                  <a:srgbClr val="1E293B"/>
                </a:solidFill>
                <a:latin typeface="Times New Roman"/>
                <a:ea typeface="宋体"/>
              </a:rPr>
              <a:t>\frac{A^*}{TR} = \frac{E_a}{|E_p|} \quad (广告费占营收比重 = 广告弹性 / 价格弹性绝对值)</a:t>
            </a:r>
          </a:p>
          <a:p>
            <a:pPr>
              <a:lnSpc>
                <a:spcPct val="120000"/>
              </a:lnSpc>
              <a:spcAft>
                <a:spcPts val="600"/>
              </a:spcAft>
            </a:pPr>
            <a:r>
              <a:rPr sz="1250" b="1">
                <a:solidFill>
                  <a:srgbClr val="2E86C1"/>
                </a:solidFill>
                <a:latin typeface="Times New Roman"/>
                <a:ea typeface="宋体"/>
              </a:rPr>
              <a:t>（2）垄断竞争企业实操： </a:t>
            </a:r>
            <a:r>
              <a:rPr sz="1250" b="0">
                <a:solidFill>
                  <a:srgbClr val="1E293B"/>
                </a:solidFill>
                <a:latin typeface="Times New Roman"/>
                <a:ea typeface="宋体"/>
              </a:rPr>
              <a:t>由于产品具有差异性（|E_p| 较小）且受品牌认知影响大（E_a 较高），垄断竞争企业普遍比完全竞争企业更热衷于进行高强度的广告营销投入！</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核心要点：在垄断竞争市场中，非价格竞争是企业跳出同质化红海、建立自主定价护城河的决胜关键。</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第5节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寡头垄断条件下的企业行为模式</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精讲寡头相互依存特征、斯威齐折弯需求曲线与价格刚性、博弈论纳什均衡及卡特尔共谋。</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第6章 市场结构和企业行为 · 权威教材精细化教学架构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寡头垄断条件下的企业行为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一、斯威齐折弯需求曲线模型与价格刚性解释</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pic>
        <p:nvPicPr>
          <p:cNvPr id="9" name="Picture 8" descr="chart_6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跟跌不跟涨假设与边际收入垂直断崖</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（1）寡头核心心理预期（跟跌不跟涨）： </a:t>
            </a:r>
            <a:r>
              <a:rPr sz="1200" b="0">
                <a:solidFill>
                  <a:srgbClr val="1E293B"/>
                </a:solidFill>
                <a:latin typeface="Times New Roman"/>
                <a:ea typeface="宋体"/>
              </a:rPr>
              <a:t>若本企业提价，对手绝不跟进以抢占市场（需求富有弹性 d）；若本企业降价，对手被迫全部跟进打价格战（需求缺乏弹性 D）。</a:t>
            </a:r>
          </a:p>
          <a:p>
            <a:pPr>
              <a:lnSpc>
                <a:spcPct val="120000"/>
              </a:lnSpc>
              <a:spcAft>
                <a:spcPts val="500"/>
              </a:spcAft>
            </a:pPr>
            <a:r>
              <a:rPr sz="1200" b="1">
                <a:solidFill>
                  <a:srgbClr val="1B3A5C"/>
                </a:solidFill>
                <a:latin typeface="Times New Roman"/>
                <a:ea typeface="宋体"/>
              </a:rPr>
              <a:t>（2）折弯需求曲线： </a:t>
            </a:r>
            <a:r>
              <a:rPr sz="1200" b="0">
                <a:solidFill>
                  <a:srgbClr val="1E293B"/>
                </a:solidFill>
                <a:latin typeface="Times New Roman"/>
                <a:ea typeface="宋体"/>
              </a:rPr>
              <a:t>在现行价格 P_0 处形成拐点，拐点上方平坦弹性大，拐点下方陡峭弹性小。</a:t>
            </a:r>
          </a:p>
          <a:p>
            <a:pPr>
              <a:lnSpc>
                <a:spcPct val="120000"/>
              </a:lnSpc>
              <a:spcAft>
                <a:spcPts val="500"/>
              </a:spcAft>
            </a:pPr>
            <a:r>
              <a:rPr sz="1200" b="1">
                <a:solidFill>
                  <a:srgbClr val="1B3A5C"/>
                </a:solidFill>
                <a:latin typeface="Times New Roman"/>
                <a:ea typeface="宋体"/>
              </a:rPr>
              <a:t>（3）边际收入垂直断崖 (BC 垂直间断段)： </a:t>
            </a:r>
            <a:r>
              <a:rPr sz="1200" b="0">
                <a:solidFill>
                  <a:srgbClr val="1E293B"/>
                </a:solidFill>
                <a:latin typeface="Times New Roman"/>
                <a:ea typeface="宋体"/>
              </a:rPr>
              <a:t>对应拐点处，边际收入曲线 MR 发生垂直断裂，形成巨大垂直落差。</a:t>
            </a:r>
          </a:p>
          <a:p>
            <a:pPr>
              <a:lnSpc>
                <a:spcPct val="120000"/>
              </a:lnSpc>
              <a:spcAft>
                <a:spcPts val="500"/>
              </a:spcAft>
            </a:pPr>
            <a:r>
              <a:rPr sz="1200" b="1">
                <a:solidFill>
                  <a:srgbClr val="1B3A5C"/>
                </a:solidFill>
                <a:latin typeface="Times New Roman"/>
                <a:ea typeface="宋体"/>
              </a:rPr>
              <a:t>（4）价格刚性解释： </a:t>
            </a:r>
            <a:r>
              <a:rPr sz="1200" b="0">
                <a:solidFill>
                  <a:srgbClr val="1E293B"/>
                </a:solidFill>
                <a:latin typeface="Times New Roman"/>
                <a:ea typeface="宋体"/>
              </a:rPr>
              <a:t>只要边际成本 MC 曲线在垂直断裂区间内上下波动，企业最优价格 P_0 与产量 Q_0 均保持绝对不变！</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理论精要：斯威齐模型深刻解释了为何寡头市场普遍厌恶价格战、倾向于维持价格粘性与转入非价格竞争。</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寡头垄断条件下的企业行为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二、价格领导模式（Price Leadership）两大运作形态</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支配型价格领导（Dominant Firm Model）</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（1）市场格局： </a:t>
            </a:r>
            <a:r>
              <a:rPr sz="1250" b="0">
                <a:solidFill>
                  <a:srgbClr val="1E293B"/>
                </a:solidFill>
                <a:latin typeface="Times New Roman"/>
                <a:ea typeface="宋体"/>
              </a:rPr>
              <a:t>行业中存在一家占据 60%~80% 绝对市场份额的超级巨头，以及若干家跟随型小企业。</a:t>
            </a:r>
          </a:p>
          <a:p>
            <a:pPr>
              <a:lnSpc>
                <a:spcPct val="120000"/>
              </a:lnSpc>
              <a:spcAft>
                <a:spcPts val="600"/>
              </a:spcAft>
            </a:pPr>
            <a:r>
              <a:rPr sz="1250" b="1">
                <a:solidFill>
                  <a:srgbClr val="1B3A5C"/>
                </a:solidFill>
                <a:latin typeface="Times New Roman"/>
                <a:ea typeface="宋体"/>
              </a:rPr>
              <a:t>（2）领导者定价机制： </a:t>
            </a:r>
            <a:r>
              <a:rPr sz="1250" b="0">
                <a:solidFill>
                  <a:srgbClr val="1E293B"/>
                </a:solidFill>
                <a:latin typeface="Times New Roman"/>
                <a:ea typeface="宋体"/>
              </a:rPr>
              <a:t>支配厂商预测并扣除所有小企业的供给总和后，面对剩余需求曲线按自身 MR=MC 制定最优价格。</a:t>
            </a:r>
          </a:p>
          <a:p>
            <a:pPr>
              <a:lnSpc>
                <a:spcPct val="120000"/>
              </a:lnSpc>
              <a:spcAft>
                <a:spcPts val="600"/>
              </a:spcAft>
            </a:pPr>
            <a:r>
              <a:rPr sz="1250" b="1">
                <a:solidFill>
                  <a:srgbClr val="1B3A5C"/>
                </a:solidFill>
                <a:latin typeface="Times New Roman"/>
                <a:ea typeface="宋体"/>
              </a:rPr>
              <a:t>（3）跟随者行为： </a:t>
            </a:r>
            <a:r>
              <a:rPr sz="1250" b="0">
                <a:solidFill>
                  <a:srgbClr val="1E293B"/>
                </a:solidFill>
                <a:latin typeface="Times New Roman"/>
                <a:ea typeface="宋体"/>
              </a:rPr>
              <a:t>小企业完全作为价格接受者，在巨头制定的价格下按自身 P=MC 提供配套产量。</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晴雨表型价格领导（Barometric Firm Model）</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（1）运作机制： </a:t>
            </a:r>
            <a:r>
              <a:rPr sz="1250" b="0">
                <a:solidFill>
                  <a:srgbClr val="1E293B"/>
                </a:solidFill>
                <a:latin typeface="Times New Roman"/>
                <a:ea typeface="宋体"/>
              </a:rPr>
              <a:t>并不依赖市场份额绝对最大，而是由行业中最具市场敏感度、信息最灵通的知名企业率先根据宏观成本变动调整价格。</a:t>
            </a:r>
          </a:p>
          <a:p>
            <a:pPr>
              <a:lnSpc>
                <a:spcPct val="120000"/>
              </a:lnSpc>
              <a:spcAft>
                <a:spcPts val="600"/>
              </a:spcAft>
            </a:pPr>
            <a:r>
              <a:rPr sz="1250" b="1">
                <a:solidFill>
                  <a:srgbClr val="2E86C1"/>
                </a:solidFill>
                <a:latin typeface="Times New Roman"/>
                <a:ea typeface="宋体"/>
              </a:rPr>
              <a:t>（2）行业默契跟随： </a:t>
            </a:r>
            <a:r>
              <a:rPr sz="1250" b="0">
                <a:solidFill>
                  <a:srgbClr val="1E293B"/>
                </a:solidFill>
                <a:latin typeface="Times New Roman"/>
                <a:ea typeface="宋体"/>
              </a:rPr>
              <a:t>其他寡头厂商认可该企业的晴雨表风向标作用，自发跟随调价，实现非公开的默契协同。</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核心要点：价格领导模式在不违反反垄断法关于禁止显性串谋的前提下，维持了寡头市场价格秩序的相对稳定。</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寡头垄断条件下的企业行为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三、博弈论基础、收益矩阵与囚徒困境纳什均衡</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囚徒困境（Prisoner's Dilemma）收益矩阵模型（例6-5）</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1B3A5C"/>
                </a:solidFill>
                <a:latin typeface="Times New Roman"/>
                <a:ea typeface="宋体"/>
              </a:rPr>
              <a:t>（1）博弈三要素： </a:t>
            </a:r>
            <a:r>
              <a:rPr sz="1150" b="0">
                <a:solidFill>
                  <a:srgbClr val="1E293B"/>
                </a:solidFill>
                <a:latin typeface="Times New Roman"/>
                <a:ea typeface="宋体"/>
              </a:rPr>
              <a:t>参与人（寡头企业 A 与 B）、可选战略（高价合作 vs 降价打折）、支付矩阵。</a:t>
            </a:r>
          </a:p>
          <a:p>
            <a:pPr>
              <a:lnSpc>
                <a:spcPct val="120000"/>
              </a:lnSpc>
              <a:spcAft>
                <a:spcPts val="300"/>
              </a:spcAft>
            </a:pPr>
            <a:r>
              <a:rPr sz="1150" b="1">
                <a:solidFill>
                  <a:srgbClr val="1B3A5C"/>
                </a:solidFill>
                <a:latin typeface="Times New Roman"/>
                <a:ea typeface="宋体"/>
              </a:rPr>
              <a:t>（2）经典收益矩阵示例： </a:t>
            </a:r>
            <a:r>
              <a:rPr sz="1150" b="0">
                <a:solidFill>
                  <a:srgbClr val="1E293B"/>
                </a:solidFill>
                <a:latin typeface="Times New Roman"/>
                <a:ea typeface="宋体"/>
              </a:rPr>
              <a:t/>
            </a:r>
          </a:p>
          <a:p>
            <a:pPr>
              <a:lnSpc>
                <a:spcPct val="120000"/>
              </a:lnSpc>
              <a:spcAft>
                <a:spcPts val="300"/>
              </a:spcAft>
            </a:pPr>
            <a:r>
              <a:rPr sz="1150" b="1">
                <a:solidFill>
                  <a:srgbClr val="1B3A5C"/>
                </a:solidFill>
                <a:latin typeface="Times New Roman"/>
                <a:ea typeface="宋体"/>
              </a:rPr>
              <a:t>   • 双方合作维持高价： </a:t>
            </a:r>
            <a:r>
              <a:rPr sz="1150" b="0">
                <a:solidFill>
                  <a:srgbClr val="1E293B"/>
                </a:solidFill>
                <a:latin typeface="Times New Roman"/>
                <a:ea typeface="宋体"/>
              </a:rPr>
              <a:t>各获利 1000 万元（全行业总利润最大化 2000 万）。</a:t>
            </a:r>
          </a:p>
          <a:p>
            <a:pPr>
              <a:lnSpc>
                <a:spcPct val="120000"/>
              </a:lnSpc>
              <a:spcAft>
                <a:spcPts val="300"/>
              </a:spcAft>
            </a:pPr>
            <a:r>
              <a:rPr sz="1150" b="1">
                <a:solidFill>
                  <a:srgbClr val="1B3A5C"/>
                </a:solidFill>
                <a:latin typeface="Times New Roman"/>
                <a:ea typeface="宋体"/>
              </a:rPr>
              <a:t>   • 一方降价偷袭、一方坚守： </a:t>
            </a:r>
            <a:r>
              <a:rPr sz="1150" b="0">
                <a:solidFill>
                  <a:srgbClr val="1E293B"/>
                </a:solidFill>
                <a:latin typeface="Times New Roman"/>
                <a:ea typeface="宋体"/>
              </a:rPr>
              <a:t>降价方抢占市场获利 1500 万元，坚守高价方亏损 200 万元。</a:t>
            </a:r>
          </a:p>
          <a:p>
            <a:pPr>
              <a:lnSpc>
                <a:spcPct val="120000"/>
              </a:lnSpc>
              <a:spcAft>
                <a:spcPts val="300"/>
              </a:spcAft>
            </a:pPr>
            <a:r>
              <a:rPr sz="1150" b="1">
                <a:solidFill>
                  <a:srgbClr val="1B3A5C"/>
                </a:solidFill>
                <a:latin typeface="Times New Roman"/>
                <a:ea typeface="宋体"/>
              </a:rPr>
              <a:t>   • 双方均降价打价格战： </a:t>
            </a:r>
            <a:r>
              <a:rPr sz="1150" b="0">
                <a:solidFill>
                  <a:srgbClr val="1E293B"/>
                </a:solidFill>
                <a:latin typeface="Times New Roman"/>
                <a:ea typeface="宋体"/>
              </a:rPr>
              <a:t>两败俱伤，各仅获利 200 万元。</a:t>
            </a:r>
          </a:p>
          <a:p>
            <a:pPr>
              <a:lnSpc>
                <a:spcPct val="120000"/>
              </a:lnSpc>
              <a:spcAft>
                <a:spcPts val="300"/>
              </a:spcAft>
            </a:pPr>
            <a:r>
              <a:rPr sz="1150" b="1">
                <a:solidFill>
                  <a:srgbClr val="1B3A5C"/>
                </a:solidFill>
                <a:latin typeface="Times New Roman"/>
                <a:ea typeface="宋体"/>
              </a:rPr>
              <a:t>（3）占优策略（Dominant Strategy）： </a:t>
            </a:r>
            <a:r>
              <a:rPr sz="1150" b="0">
                <a:solidFill>
                  <a:srgbClr val="1E293B"/>
                </a:solidFill>
                <a:latin typeface="Times New Roman"/>
                <a:ea typeface="宋体"/>
              </a:rPr>
              <a:t>无论对方如何选择，自身降价打折的收益总是显著更高！</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纳什均衡（Nash Equilibrium）的经济学启示</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（1）均衡结果： </a:t>
            </a:r>
            <a:r>
              <a:rPr sz="1250" b="0">
                <a:solidFill>
                  <a:srgbClr val="1E293B"/>
                </a:solidFill>
                <a:latin typeface="Times New Roman"/>
                <a:ea typeface="宋体"/>
              </a:rPr>
              <a:t>最终双方均选择降价打折（各得 200 万），陷入恶性内卷的非合作纳什均衡。</a:t>
            </a:r>
          </a:p>
          <a:p>
            <a:pPr>
              <a:lnSpc>
                <a:spcPct val="120000"/>
              </a:lnSpc>
              <a:spcAft>
                <a:spcPts val="600"/>
              </a:spcAft>
            </a:pPr>
            <a:r>
              <a:rPr sz="1250" b="1">
                <a:solidFill>
                  <a:srgbClr val="2E86C1"/>
                </a:solidFill>
                <a:latin typeface="Times New Roman"/>
                <a:ea typeface="宋体"/>
              </a:rPr>
              <a:t>（2）个体理性与集体理性的深刻冲突： </a:t>
            </a:r>
            <a:r>
              <a:rPr sz="1250" b="0">
                <a:solidFill>
                  <a:srgbClr val="1E293B"/>
                </a:solidFill>
                <a:latin typeface="Times New Roman"/>
                <a:ea typeface="宋体"/>
              </a:rPr>
              <a:t>追求个体利益最大化的单边理性行为，最终导致集体福利大幅缩水。</a:t>
            </a:r>
          </a:p>
          <a:p>
            <a:pPr>
              <a:lnSpc>
                <a:spcPct val="120000"/>
              </a:lnSpc>
              <a:spcAft>
                <a:spcPts val="600"/>
              </a:spcAft>
            </a:pPr>
            <a:r>
              <a:rPr sz="1250" b="1">
                <a:solidFill>
                  <a:srgbClr val="2E86C1"/>
                </a:solidFill>
                <a:latin typeface="Times New Roman"/>
                <a:ea typeface="宋体"/>
              </a:rPr>
              <a:t>（3）案例6-2 烟草广告禁令启示： </a:t>
            </a:r>
            <a:r>
              <a:rPr sz="1250" b="0">
                <a:solidFill>
                  <a:srgbClr val="1E293B"/>
                </a:solidFill>
                <a:latin typeface="Times New Roman"/>
                <a:ea typeface="宋体"/>
              </a:rPr>
              <a:t>政府出台全面禁令反向帮助各大烟草巨头摆脱了广告军备竞赛的囚徒困境，大幅提升了行业整体利润！</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核心要点：博弈论揭示了寡头战略互动的本质，是现代管理经济学解析竞争战略最核心的数理分析工具。</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寡头垄断条件下的企业行为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四、卡特尔（OPEC）共谋限产与内在背叛动力</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卡特尔（Cartel）公开价格同盟机制</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（1）同盟目标： </a:t>
            </a:r>
            <a:r>
              <a:rPr sz="1250" b="0">
                <a:solidFill>
                  <a:srgbClr val="1E293B"/>
                </a:solidFill>
                <a:latin typeface="Times New Roman"/>
                <a:ea typeface="宋体"/>
              </a:rPr>
              <a:t>寡头企业联合组建卡特尔组织，统一协调全行业产量配额与最低售价，模拟完全垄断总利润。</a:t>
            </a:r>
          </a:p>
          <a:p>
            <a:pPr>
              <a:lnSpc>
                <a:spcPct val="120000"/>
              </a:lnSpc>
              <a:spcAft>
                <a:spcPts val="600"/>
              </a:spcAft>
            </a:pPr>
            <a:r>
              <a:rPr sz="1250" b="1">
                <a:solidFill>
                  <a:srgbClr val="1B3A5C"/>
                </a:solidFill>
                <a:latin typeface="Times New Roman"/>
                <a:ea typeface="宋体"/>
              </a:rPr>
              <a:t>（2）配额分配原则： </a:t>
            </a:r>
            <a:r>
              <a:rPr sz="1250" b="0">
                <a:solidFill>
                  <a:srgbClr val="1E293B"/>
                </a:solidFill>
                <a:latin typeface="Times New Roman"/>
                <a:ea typeface="宋体"/>
              </a:rPr>
              <a:t>按各成员边际成本相等的原则分配产量配额（MC_1 = MC_2 = ... = MR_cartel）。</a:t>
            </a:r>
          </a:p>
          <a:p>
            <a:pPr>
              <a:lnSpc>
                <a:spcPct val="120000"/>
              </a:lnSpc>
              <a:spcAft>
                <a:spcPts val="600"/>
              </a:spcAft>
            </a:pPr>
            <a:r>
              <a:rPr sz="1250" b="1">
                <a:solidFill>
                  <a:srgbClr val="1B3A5C"/>
                </a:solidFill>
                <a:latin typeface="Times New Roman"/>
                <a:ea typeface="宋体"/>
              </a:rPr>
              <a:t>（3）典型实证： </a:t>
            </a:r>
            <a:r>
              <a:rPr sz="1250" b="0">
                <a:solidFill>
                  <a:srgbClr val="1E293B"/>
                </a:solidFill>
                <a:latin typeface="Times New Roman"/>
                <a:ea typeface="宋体"/>
              </a:rPr>
              <a:t>石油输出国组织（OPEC）通过定期部长级会议协调全球原油产量。</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内在背叛冲动与卡特尔破裂必然性（例6-4）</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（1）单边偷产暴利诱惑： </a:t>
            </a:r>
            <a:r>
              <a:rPr sz="1250" b="0">
                <a:solidFill>
                  <a:srgbClr val="1E293B"/>
                </a:solidFill>
                <a:latin typeface="Times New Roman"/>
                <a:ea typeface="宋体"/>
              </a:rPr>
              <a:t>在同盟维系的高油价下，单个成员边际收益 P 远高于其边际生产成本 MC，偷偷超配额增产可攫取巨额边际暴利！</a:t>
            </a:r>
          </a:p>
          <a:p>
            <a:pPr>
              <a:lnSpc>
                <a:spcPct val="120000"/>
              </a:lnSpc>
              <a:spcAft>
                <a:spcPts val="600"/>
              </a:spcAft>
            </a:pPr>
            <a:r>
              <a:rPr sz="1250" b="1">
                <a:solidFill>
                  <a:srgbClr val="2E86C1"/>
                </a:solidFill>
                <a:latin typeface="Times New Roman"/>
                <a:ea typeface="宋体"/>
              </a:rPr>
              <a:t>（2）信任崩塌与同盟瓦解： </a:t>
            </a:r>
            <a:r>
              <a:rPr sz="1250" b="0">
                <a:solidFill>
                  <a:srgbClr val="1E293B"/>
                </a:solidFill>
                <a:latin typeface="Times New Roman"/>
                <a:ea typeface="宋体"/>
              </a:rPr>
              <a:t>一旦个别成员偷产降价，其他成员出于自保竞相超产，同盟限产保价协议彻底瓦解（如国际油价多次闪崩）。</a:t>
            </a:r>
          </a:p>
          <a:p>
            <a:pPr>
              <a:lnSpc>
                <a:spcPct val="120000"/>
              </a:lnSpc>
              <a:spcAft>
                <a:spcPts val="600"/>
              </a:spcAft>
            </a:pPr>
            <a:r>
              <a:rPr sz="1250" b="1">
                <a:solidFill>
                  <a:srgbClr val="2E86C1"/>
                </a:solidFill>
                <a:latin typeface="Times New Roman"/>
                <a:ea typeface="宋体"/>
              </a:rPr>
              <a:t>（3）维系成功的关键： </a:t>
            </a:r>
            <a:r>
              <a:rPr sz="1250" b="0">
                <a:solidFill>
                  <a:srgbClr val="1E293B"/>
                </a:solidFill>
                <a:latin typeface="Times New Roman"/>
                <a:ea typeface="宋体"/>
              </a:rPr>
              <a:t>必须建立极其严密的监督核查机制与可信的违约报复惩罚机制。</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核心要点：卡特尔的内在不稳定性再次印证了囚徒困境定律：缺乏强制约束的共谋同盟终将走向解体。</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第6 &amp; 7节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销售收入最大化与可竞争市场理论</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解析鲍莫尔销售收入最大化模型、经理人激励偏离，以及可竞争市场打了就跑威慑。</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第6章 市场结构和企业行为 · 权威教材精细化教学架构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销售收入最大化的企业行为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一、鲍莫尔（Baumol）销售收入最大化模型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职业经理人激励与目标函数偏离</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（1）所有权与经营权分离： </a:t>
            </a:r>
            <a:r>
              <a:rPr sz="1250" b="0">
                <a:solidFill>
                  <a:srgbClr val="1E293B"/>
                </a:solidFill>
                <a:latin typeface="Times New Roman"/>
                <a:ea typeface="宋体"/>
              </a:rPr>
              <a:t>现代巨型企业由职业经理人实际掌舵，其薪酬待遇、社会地位、声望及掌控预算与企业营收规模高度正相关。</a:t>
            </a:r>
          </a:p>
          <a:p>
            <a:pPr>
              <a:lnSpc>
                <a:spcPct val="120000"/>
              </a:lnSpc>
              <a:spcAft>
                <a:spcPts val="600"/>
              </a:spcAft>
            </a:pPr>
            <a:r>
              <a:rPr sz="1250" b="1">
                <a:solidFill>
                  <a:srgbClr val="1B3A5C"/>
                </a:solidFill>
                <a:latin typeface="Times New Roman"/>
                <a:ea typeface="宋体"/>
              </a:rPr>
              <a:t>（2）销售收入最大化假说： </a:t>
            </a:r>
            <a:r>
              <a:rPr sz="1250" b="0">
                <a:solidFill>
                  <a:srgbClr val="1E293B"/>
                </a:solidFill>
                <a:latin typeface="Times New Roman"/>
                <a:ea typeface="宋体"/>
              </a:rPr>
              <a:t>在保证股东最低可接受利润回报的前提下，经理人倾向于最大化企业总销售收入 TR(Q)。</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约束最优化数学模型与对比</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（1）最优化模型： </a:t>
            </a:r>
            <a:r>
              <a:rPr sz="1250" b="0">
                <a:solidFill>
                  <a:srgbClr val="1E293B"/>
                </a:solidFill>
                <a:latin typeface="Times New Roman"/>
                <a:ea typeface="宋体"/>
              </a:rPr>
              <a:t>\max TR(Q) = P \cdot Q \quad s.t. \quad \pi(Q) \ge \pi_{min}</a:t>
            </a:r>
          </a:p>
          <a:p>
            <a:pPr>
              <a:lnSpc>
                <a:spcPct val="120000"/>
              </a:lnSpc>
              <a:spcAft>
                <a:spcPts val="600"/>
              </a:spcAft>
            </a:pPr>
            <a:r>
              <a:rPr sz="1250" b="1">
                <a:solidFill>
                  <a:srgbClr val="2E86C1"/>
                </a:solidFill>
                <a:latin typeface="Times New Roman"/>
                <a:ea typeface="宋体"/>
              </a:rPr>
              <a:t>（2）产销量对比定理： </a:t>
            </a:r>
            <a:r>
              <a:rPr sz="1250" b="0">
                <a:solidFill>
                  <a:srgbClr val="1E293B"/>
                </a:solidFill>
                <a:latin typeface="Times New Roman"/>
                <a:ea typeface="宋体"/>
              </a:rPr>
              <a:t>销售收入最大化产销量 Q_{sales}^* 必然大于纯利润最大化产销量 Q_{\pi}^*，且销售价格 P_{sales}^* 必然低于利润最大化价格 P_{\pi}^*！</a:t>
            </a:r>
          </a:p>
          <a:p>
            <a:pPr>
              <a:lnSpc>
                <a:spcPct val="120000"/>
              </a:lnSpc>
              <a:spcAft>
                <a:spcPts val="600"/>
              </a:spcAft>
            </a:pPr>
            <a:r>
              <a:rPr sz="1250" b="1">
                <a:solidFill>
                  <a:srgbClr val="2E86C1"/>
                </a:solidFill>
                <a:latin typeface="Times New Roman"/>
                <a:ea typeface="宋体"/>
              </a:rPr>
              <a:t>（3）生活中的经济学6-3： </a:t>
            </a:r>
            <a:r>
              <a:rPr sz="1250" b="0">
                <a:solidFill>
                  <a:srgbClr val="1E293B"/>
                </a:solidFill>
                <a:latin typeface="Times New Roman"/>
                <a:ea typeface="宋体"/>
              </a:rPr>
              <a:t>互联网大厂与新势力造车在资本约束下疯狂烧钱补贴抢占 GMV 与市场份额，正是典型的销售收入最大化战略实践。</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核心要点：鲍莫尔模型深刻揭示了现代巨型企业在规模扩张、市场份额诉求与股东利润底线之间的动态权衡。</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第7节 经济全球化与竞争</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二、可竞争市场理论与潜在进入吓阻战略</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鲍莫尔可竞争市场理论（Contestable Markets）</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（1）核心理论颠覆： </a:t>
            </a:r>
            <a:r>
              <a:rPr sz="1250" b="0">
                <a:solidFill>
                  <a:srgbClr val="1E293B"/>
                </a:solidFill>
                <a:latin typeface="Times New Roman"/>
                <a:ea typeface="宋体"/>
              </a:rPr>
              <a:t>传统理论认为垄断程度取决于现有厂商数量；可竞争市场理论指出：决定垄断定价权的关键在于市场是否存在沉没成本与退出壁垒！</a:t>
            </a:r>
          </a:p>
          <a:p>
            <a:pPr>
              <a:lnSpc>
                <a:spcPct val="120000"/>
              </a:lnSpc>
              <a:spcAft>
                <a:spcPts val="600"/>
              </a:spcAft>
            </a:pPr>
            <a:r>
              <a:rPr sz="1250" b="1">
                <a:solidFill>
                  <a:srgbClr val="1B3A5C"/>
                </a:solidFill>
                <a:latin typeface="Times New Roman"/>
                <a:ea typeface="宋体"/>
              </a:rPr>
              <a:t>（2）'打了就跑'威慑（Hit-and-Run Entry）： </a:t>
            </a:r>
            <a:r>
              <a:rPr sz="1250" b="0">
                <a:solidFill>
                  <a:srgbClr val="1E293B"/>
                </a:solidFill>
                <a:latin typeface="Times New Roman"/>
                <a:ea typeface="宋体"/>
              </a:rPr>
              <a:t>只要没有沉没成本，潜在竞争者在发现超额利润时可迅速切入，在降价前安全获利退出。</a:t>
            </a:r>
          </a:p>
          <a:p>
            <a:pPr>
              <a:lnSpc>
                <a:spcPct val="120000"/>
              </a:lnSpc>
              <a:spcAft>
                <a:spcPts val="600"/>
              </a:spcAft>
            </a:pPr>
            <a:r>
              <a:rPr sz="1250" b="1">
                <a:solidFill>
                  <a:srgbClr val="1B3A5C"/>
                </a:solidFill>
                <a:latin typeface="Times New Roman"/>
                <a:ea typeface="宋体"/>
              </a:rPr>
              <a:t>（3）市场绩效： </a:t>
            </a:r>
            <a:r>
              <a:rPr sz="1250" b="0">
                <a:solidFill>
                  <a:srgbClr val="1E293B"/>
                </a:solidFill>
                <a:latin typeface="Times New Roman"/>
                <a:ea typeface="宋体"/>
              </a:rPr>
              <a:t>即便市场上只有一家在位巨头，在零沉没成本威胁下，该巨头也必须按 P = AC 定价，无法攫取垄断暴利！</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进入吓阻与超额产能投资（案例6-4/6-5）</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（1）专用重资产威慑： </a:t>
            </a:r>
            <a:r>
              <a:rPr sz="1250" b="0">
                <a:solidFill>
                  <a:srgbClr val="1E293B"/>
                </a:solidFill>
                <a:latin typeface="Times New Roman"/>
                <a:ea typeface="宋体"/>
              </a:rPr>
              <a:t>在位巨头通过提前建设过剩专用产能，向潜在进入者发出可信的'誓死打价格战'战略威胁。</a:t>
            </a:r>
          </a:p>
          <a:p>
            <a:pPr>
              <a:lnSpc>
                <a:spcPct val="120000"/>
              </a:lnSpc>
              <a:spcAft>
                <a:spcPts val="600"/>
              </a:spcAft>
            </a:pPr>
            <a:r>
              <a:rPr sz="1250" b="1">
                <a:solidFill>
                  <a:srgbClr val="2E86C1"/>
                </a:solidFill>
                <a:latin typeface="Times New Roman"/>
                <a:ea typeface="宋体"/>
              </a:rPr>
              <a:t>（2）国际快递案例： </a:t>
            </a:r>
            <a:r>
              <a:rPr sz="1250" b="0">
                <a:solidFill>
                  <a:srgbClr val="1E293B"/>
                </a:solidFill>
                <a:latin typeface="Times New Roman"/>
                <a:ea typeface="宋体"/>
              </a:rPr>
              <a:t>UPS 与顺丰构建全货机机队与枢纽中心，以重资产护城河有效吓阻潜在竞争对手进入。</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核心要点：现代产业竞争不仅来自于场内的现存对手，更来自于零沉没成本门槛下的潜在'门口野蛮人'。</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【第6章】市场结构和企业行为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四大市场结构分类</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厂商数、差异度、进出壁垒三大判定维度</a:t>
            </a:r>
          </a:p>
          <a:p>
            <a:pPr algn="l">
              <a:lnSpc>
                <a:spcPct val="120000"/>
              </a:lnSpc>
              <a:spcAft>
                <a:spcPts val="400"/>
              </a:spcAft>
            </a:pPr>
            <a:r>
              <a:rPr sz="1150" b="0">
                <a:solidFill>
                  <a:srgbClr val="1E293B"/>
                </a:solidFill>
                <a:latin typeface="Times New Roman"/>
                <a:ea typeface="宋体"/>
              </a:rPr>
              <a:t>- 完全竞争实现最高生产与配置效率</a:t>
            </a:r>
          </a:p>
          <a:p>
            <a:pPr algn="l">
              <a:lnSpc>
                <a:spcPct val="120000"/>
              </a:lnSpc>
              <a:spcAft>
                <a:spcPts val="400"/>
              </a:spcAft>
            </a:pPr>
            <a:r>
              <a:rPr sz="1150" b="0">
                <a:solidFill>
                  <a:srgbClr val="1E293B"/>
                </a:solidFill>
                <a:latin typeface="Times New Roman"/>
                <a:ea typeface="宋体"/>
              </a:rPr>
              <a:t>- 完全垄断通过限产提价攫取超额暴利</a:t>
            </a:r>
          </a:p>
          <a:p>
            <a:pPr algn="l">
              <a:lnSpc>
                <a:spcPct val="120000"/>
              </a:lnSpc>
              <a:spcAft>
                <a:spcPts val="400"/>
              </a:spcAft>
            </a:pPr>
            <a:r>
              <a:rPr sz="1150" b="0">
                <a:solidFill>
                  <a:srgbClr val="1E293B"/>
                </a:solidFill>
                <a:latin typeface="Times New Roman"/>
                <a:ea typeface="宋体"/>
              </a:rPr>
              <a:t>- 垄断竞争存在过剩产能但提供多样性</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垄断与无谓损失</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规模经济、专利与特许经营构筑五大壁垒</a:t>
            </a:r>
          </a:p>
          <a:p>
            <a:pPr algn="l">
              <a:lnSpc>
                <a:spcPct val="120000"/>
              </a:lnSpc>
              <a:spcAft>
                <a:spcPts val="400"/>
              </a:spcAft>
            </a:pPr>
            <a:r>
              <a:rPr sz="1150" b="0">
                <a:solidFill>
                  <a:srgbClr val="1E293B"/>
                </a:solidFill>
                <a:latin typeface="Times New Roman"/>
                <a:ea typeface="宋体"/>
              </a:rPr>
              <a:t>- MR = MC 定价必然导致 P &gt; MC 溢价</a:t>
            </a:r>
          </a:p>
          <a:p>
            <a:pPr algn="l">
              <a:lnSpc>
                <a:spcPct val="120000"/>
              </a:lnSpc>
              <a:spcAft>
                <a:spcPts val="400"/>
              </a:spcAft>
            </a:pPr>
            <a:r>
              <a:rPr sz="1150" b="0">
                <a:solidFill>
                  <a:srgbClr val="1E293B"/>
                </a:solidFill>
                <a:latin typeface="Times New Roman"/>
                <a:ea typeface="宋体"/>
              </a:rPr>
              <a:t>- DWL 几何三角形量化社会净福利净损失</a:t>
            </a:r>
          </a:p>
          <a:p>
            <a:pPr algn="l">
              <a:lnSpc>
                <a:spcPct val="120000"/>
              </a:lnSpc>
              <a:spcAft>
                <a:spcPts val="400"/>
              </a:spcAft>
            </a:pPr>
            <a:r>
              <a:rPr sz="1150" b="0">
                <a:solidFill>
                  <a:srgbClr val="1E293B"/>
                </a:solidFill>
                <a:latin typeface="Times New Roman"/>
                <a:ea typeface="宋体"/>
              </a:rPr>
              <a:t>- 反垄断法强力规制滥用市场支配地位</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寡头博弈与价格刚性</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跟跌不跟涨假设推导折弯需求曲线</a:t>
            </a:r>
          </a:p>
          <a:p>
            <a:pPr algn="l">
              <a:lnSpc>
                <a:spcPct val="120000"/>
              </a:lnSpc>
              <a:spcAft>
                <a:spcPts val="400"/>
              </a:spcAft>
            </a:pPr>
            <a:r>
              <a:rPr sz="1150" b="0">
                <a:solidFill>
                  <a:srgbClr val="1E293B"/>
                </a:solidFill>
                <a:latin typeface="Times New Roman"/>
                <a:ea typeface="宋体"/>
              </a:rPr>
              <a:t>- MC 垂直断崖解释寡头市场价格刚性</a:t>
            </a:r>
          </a:p>
          <a:p>
            <a:pPr algn="l">
              <a:lnSpc>
                <a:spcPct val="120000"/>
              </a:lnSpc>
              <a:spcAft>
                <a:spcPts val="400"/>
              </a:spcAft>
            </a:pPr>
            <a:r>
              <a:rPr sz="1150" b="0">
                <a:solidFill>
                  <a:srgbClr val="1E293B"/>
                </a:solidFill>
                <a:latin typeface="Times New Roman"/>
                <a:ea typeface="宋体"/>
              </a:rPr>
              <a:t>- 囚徒困境与占优策略纳什均衡</a:t>
            </a:r>
          </a:p>
          <a:p>
            <a:pPr algn="l">
              <a:lnSpc>
                <a:spcPct val="120000"/>
              </a:lnSpc>
              <a:spcAft>
                <a:spcPts val="400"/>
              </a:spcAft>
            </a:pPr>
            <a:r>
              <a:rPr sz="1150" b="0">
                <a:solidFill>
                  <a:srgbClr val="1E293B"/>
                </a:solidFill>
                <a:latin typeface="Times New Roman"/>
                <a:ea typeface="宋体"/>
              </a:rPr>
              <a:t>- 卡特尔内在背叛冲动导致同盟瓦解</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前沿竞争战略模式</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多尔夫曼广告定理：A/TR = Ea / |Ep|</a:t>
            </a:r>
          </a:p>
          <a:p>
            <a:pPr algn="l">
              <a:lnSpc>
                <a:spcPct val="120000"/>
              </a:lnSpc>
              <a:spcAft>
                <a:spcPts val="400"/>
              </a:spcAft>
            </a:pPr>
            <a:r>
              <a:rPr sz="1150" b="0">
                <a:solidFill>
                  <a:srgbClr val="1E293B"/>
                </a:solidFill>
                <a:latin typeface="Times New Roman"/>
                <a:ea typeface="宋体"/>
              </a:rPr>
              <a:t>- 鲍莫尔销售收入最大化经理人行为</a:t>
            </a:r>
          </a:p>
          <a:p>
            <a:pPr algn="l">
              <a:lnSpc>
                <a:spcPct val="120000"/>
              </a:lnSpc>
              <a:spcAft>
                <a:spcPts val="400"/>
              </a:spcAft>
            </a:pPr>
            <a:r>
              <a:rPr sz="1150" b="0">
                <a:solidFill>
                  <a:srgbClr val="1E293B"/>
                </a:solidFill>
                <a:latin typeface="Times New Roman"/>
                <a:ea typeface="宋体"/>
              </a:rPr>
              <a:t>- 可竞争市场与打了就跑进入威胁</a:t>
            </a:r>
          </a:p>
          <a:p>
            <a:pPr algn="l">
              <a:lnSpc>
                <a:spcPct val="120000"/>
              </a:lnSpc>
              <a:spcAft>
                <a:spcPts val="400"/>
              </a:spcAft>
            </a:pPr>
            <a:r>
              <a:rPr sz="1150" b="0">
                <a:solidFill>
                  <a:srgbClr val="1E293B"/>
                </a:solidFill>
                <a:latin typeface="Times New Roman"/>
                <a:ea typeface="宋体"/>
              </a:rPr>
              <a:t>- 专用沉没资产构筑可信进入吓阻</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战略结语：市场结构决定企业战略生存空间，深刻洞悉博弈互动规律是寡头企业在存量搏杀中立于不败之地的定海神针。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【第6章】课后复习思考题与作业题精选（对标课本）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23</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 </a:t>
            </a:r>
            <a:r>
              <a:rPr sz="1150" b="0">
                <a:solidFill>
                  <a:srgbClr val="1E293B"/>
                </a:solidFill>
                <a:latin typeface="Times New Roman"/>
                <a:ea typeface="宋体"/>
              </a:rPr>
              <a:t>【思考题1】划分市场结构的依据是什么？试比较完全竞争、完全垄断、垄断竞争和寡头垄断四种市场结构的主要特征。</a:t>
            </a:r>
          </a:p>
          <a:p>
            <a:pPr>
              <a:lnSpc>
                <a:spcPct val="120000"/>
              </a:lnSpc>
              <a:spcAft>
                <a:spcPts val="400"/>
              </a:spcAft>
            </a:pPr>
            <a:r>
              <a:rPr sz="1150" b="1">
                <a:solidFill>
                  <a:srgbClr val="2E86C1"/>
                </a:solidFill>
                <a:latin typeface="Times New Roman"/>
                <a:ea typeface="宋体"/>
              </a:rPr>
              <a:t>2. </a:t>
            </a:r>
            <a:r>
              <a:rPr sz="1150" b="0">
                <a:solidFill>
                  <a:srgbClr val="1E293B"/>
                </a:solidFill>
                <a:latin typeface="Times New Roman"/>
                <a:ea typeface="宋体"/>
              </a:rPr>
              <a:t>【思考题2】为什么完全竞争企业在长期均衡时经济利润只能为零？为什么说完全竞争市场实现了资源的最优配置？</a:t>
            </a:r>
          </a:p>
          <a:p>
            <a:pPr>
              <a:lnSpc>
                <a:spcPct val="120000"/>
              </a:lnSpc>
              <a:spcAft>
                <a:spcPts val="400"/>
              </a:spcAft>
            </a:pPr>
            <a:r>
              <a:rPr sz="1150" b="1">
                <a:solidFill>
                  <a:srgbClr val="2E86C1"/>
                </a:solidFill>
                <a:latin typeface="Times New Roman"/>
                <a:ea typeface="宋体"/>
              </a:rPr>
              <a:t>3. </a:t>
            </a:r>
            <a:r>
              <a:rPr sz="1150" b="0">
                <a:solidFill>
                  <a:srgbClr val="1E293B"/>
                </a:solidFill>
                <a:latin typeface="Times New Roman"/>
                <a:ea typeface="宋体"/>
              </a:rPr>
              <a:t>【思考题3】斯威齐的折弯需求曲线模型是怎样解释寡头垄断市场上的价格刚性现象的？</a:t>
            </a:r>
          </a:p>
          <a:p>
            <a:pPr>
              <a:lnSpc>
                <a:spcPct val="120000"/>
              </a:lnSpc>
              <a:spcAft>
                <a:spcPts val="400"/>
              </a:spcAft>
            </a:pPr>
            <a:r>
              <a:rPr sz="1150" b="1">
                <a:solidFill>
                  <a:srgbClr val="2E86C1"/>
                </a:solidFill>
                <a:latin typeface="Times New Roman"/>
                <a:ea typeface="宋体"/>
              </a:rPr>
              <a:t>4. </a:t>
            </a:r>
            <a:r>
              <a:rPr sz="1150" b="0">
                <a:solidFill>
                  <a:srgbClr val="1E293B"/>
                </a:solidFill>
                <a:latin typeface="Times New Roman"/>
                <a:ea typeface="宋体"/>
              </a:rPr>
              <a:t>【思考题4】什么是纳什均衡？在寡头博弈中，为什么卡特尔协议往往极易从内部走向破裂？</a:t>
            </a:r>
          </a:p>
          <a:p>
            <a:pPr>
              <a:lnSpc>
                <a:spcPct val="120000"/>
              </a:lnSpc>
              <a:spcAft>
                <a:spcPts val="400"/>
              </a:spcAft>
            </a:pPr>
            <a:r>
              <a:rPr sz="1150" b="1">
                <a:solidFill>
                  <a:srgbClr val="2E86C1"/>
                </a:solidFill>
                <a:latin typeface="Times New Roman"/>
                <a:ea typeface="宋体"/>
              </a:rPr>
              <a:t>5. </a:t>
            </a:r>
            <a:r>
              <a:rPr sz="1150" b="0">
                <a:solidFill>
                  <a:srgbClr val="1E293B"/>
                </a:solidFill>
                <a:latin typeface="Times New Roman"/>
                <a:ea typeface="宋体"/>
              </a:rPr>
              <a:t>【思考题5】什么是可竞争市场？为什么说只要不存在沉没成本，潜在进入者的威胁就能有效约束垄断企业的高价行为？</a:t>
            </a:r>
          </a:p>
          <a:p>
            <a:pPr>
              <a:lnSpc>
                <a:spcPct val="120000"/>
              </a:lnSpc>
              <a:spcAft>
                <a:spcPts val="400"/>
              </a:spcAft>
            </a:pPr>
            <a:r>
              <a:rPr sz="1150" b="1">
                <a:solidFill>
                  <a:srgbClr val="2E86C1"/>
                </a:solidFill>
                <a:latin typeface="Times New Roman"/>
                <a:ea typeface="宋体"/>
              </a:rPr>
              <a:t>6. </a:t>
            </a:r>
            <a:r>
              <a:rPr sz="1150" b="0">
                <a:solidFill>
                  <a:srgbClr val="1E293B"/>
                </a:solidFill>
                <a:latin typeface="Times New Roman"/>
                <a:ea typeface="宋体"/>
              </a:rPr>
              <a:t>【作业题1】某完全垄断企业的需求函数为 P = 100 - 2Q，总成本函数为 TC = 20Q + 0.5Q^2。求该垄断企业利润最大化的价格、产量、垄断利润及社会无谓损失 DWL。</a:t>
            </a:r>
          </a:p>
          <a:p>
            <a:pPr>
              <a:lnSpc>
                <a:spcPct val="120000"/>
              </a:lnSpc>
              <a:spcAft>
                <a:spcPts val="400"/>
              </a:spcAft>
            </a:pPr>
            <a:r>
              <a:rPr sz="1150" b="1">
                <a:solidFill>
                  <a:srgbClr val="2E86C1"/>
                </a:solidFill>
                <a:latin typeface="Times New Roman"/>
                <a:ea typeface="宋体"/>
              </a:rPr>
              <a:t>7. </a:t>
            </a:r>
            <a:r>
              <a:rPr sz="1150" b="0">
                <a:solidFill>
                  <a:srgbClr val="1E293B"/>
                </a:solidFill>
                <a:latin typeface="Times New Roman"/>
                <a:ea typeface="宋体"/>
              </a:rPr>
              <a:t>【作业题2】甲乙两家寡头企业生产同质产品，各自可选择高价或低价战略。收益矩阵如下：若双方均高价各得80万；均低价各得30万；一方高价一方低价则降价方得120万、高价方得0。求纳什均衡并给出管理启示。</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