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01</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第1章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市场供求及其运行机制</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需求（需求法则、七大影响因素、点移动与需求线平移）</a:t>
            </a:r>
          </a:p>
          <a:p>
            <a:pPr algn="l">
              <a:lnSpc>
                <a:spcPct val="120000"/>
              </a:lnSpc>
              <a:spcAft>
                <a:spcPts val="600"/>
              </a:spcAft>
            </a:pPr>
            <a:r>
              <a:rPr sz="1300" b="0">
                <a:solidFill>
                  <a:srgbClr val="1E293B"/>
                </a:solidFill>
                <a:latin typeface="Times New Roman"/>
                <a:ea typeface="宋体"/>
              </a:rPr>
              <a:t>- 第2节 供给（供给法则、六大影响因素、点移动与供给线平移）</a:t>
            </a:r>
          </a:p>
          <a:p>
            <a:pPr algn="l">
              <a:lnSpc>
                <a:spcPct val="120000"/>
              </a:lnSpc>
              <a:spcAft>
                <a:spcPts val="600"/>
              </a:spcAft>
            </a:pPr>
            <a:r>
              <a:rPr sz="1300" b="0">
                <a:solidFill>
                  <a:srgbClr val="1E293B"/>
                </a:solidFill>
                <a:latin typeface="Times New Roman"/>
                <a:ea typeface="宋体"/>
              </a:rPr>
              <a:t>- 第3节 供求法则和需求—供给分析（市场均衡、税收转嫁、价格管制与蛛网模型）</a:t>
            </a:r>
          </a:p>
          <a:p>
            <a:pPr algn="l">
              <a:lnSpc>
                <a:spcPct val="120000"/>
              </a:lnSpc>
              <a:spcAft>
                <a:spcPts val="600"/>
              </a:spcAft>
            </a:pPr>
            <a:r>
              <a:rPr sz="1300" b="0">
                <a:solidFill>
                  <a:srgbClr val="1E293B"/>
                </a:solidFill>
                <a:latin typeface="Times New Roman"/>
                <a:ea typeface="宋体"/>
              </a:rPr>
              <a:t>- 第4节 消费者选择理论（基数/序数效用、无差异曲线、预算线与消费者均衡切点）</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【第1章】市场供求及其运行机制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需求机制与影响因素</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需求定义：购买欲望+支付能力</a:t>
            </a:r>
          </a:p>
          <a:p>
            <a:pPr algn="l">
              <a:lnSpc>
                <a:spcPct val="120000"/>
              </a:lnSpc>
              <a:spcAft>
                <a:spcPts val="500"/>
              </a:spcAft>
            </a:pPr>
            <a:r>
              <a:rPr sz="1250" b="0">
                <a:solidFill>
                  <a:srgbClr val="1E293B"/>
                </a:solidFill>
                <a:latin typeface="Times New Roman"/>
                <a:ea typeface="宋体"/>
              </a:rPr>
              <a:t>- 需求法则：价格与需求量反向变动</a:t>
            </a:r>
          </a:p>
          <a:p>
            <a:pPr algn="l">
              <a:lnSpc>
                <a:spcPct val="120000"/>
              </a:lnSpc>
              <a:spcAft>
                <a:spcPts val="500"/>
              </a:spcAft>
            </a:pPr>
            <a:r>
              <a:rPr sz="1250" b="0">
                <a:solidFill>
                  <a:srgbClr val="1E293B"/>
                </a:solidFill>
                <a:latin typeface="Times New Roman"/>
                <a:ea typeface="宋体"/>
              </a:rPr>
              <a:t>- 七大因素：价格/收入/相关品/偏好等</a:t>
            </a:r>
          </a:p>
          <a:p>
            <a:pPr algn="l">
              <a:lnSpc>
                <a:spcPct val="120000"/>
              </a:lnSpc>
              <a:spcAft>
                <a:spcPts val="500"/>
              </a:spcAft>
            </a:pPr>
            <a:r>
              <a:rPr sz="1250" b="0">
                <a:solidFill>
                  <a:srgbClr val="1E293B"/>
                </a:solidFill>
                <a:latin typeface="Times New Roman"/>
                <a:ea typeface="宋体"/>
              </a:rPr>
              <a:t>- 变动区分：点移动 vs 曲线平移</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供给机制与生产行为</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供给定义：出售愿望+供货能力</a:t>
            </a:r>
          </a:p>
          <a:p>
            <a:pPr algn="l">
              <a:lnSpc>
                <a:spcPct val="120000"/>
              </a:lnSpc>
              <a:spcAft>
                <a:spcPts val="500"/>
              </a:spcAft>
            </a:pPr>
            <a:r>
              <a:rPr sz="1250" b="0">
                <a:solidFill>
                  <a:srgbClr val="1E293B"/>
                </a:solidFill>
                <a:latin typeface="Times New Roman"/>
                <a:ea typeface="宋体"/>
              </a:rPr>
              <a:t>- 供给法则：价格与供给量同向变动</a:t>
            </a:r>
          </a:p>
          <a:p>
            <a:pPr algn="l">
              <a:lnSpc>
                <a:spcPct val="120000"/>
              </a:lnSpc>
              <a:spcAft>
                <a:spcPts val="500"/>
              </a:spcAft>
            </a:pPr>
            <a:r>
              <a:rPr sz="1250" b="0">
                <a:solidFill>
                  <a:srgbClr val="1E293B"/>
                </a:solidFill>
                <a:latin typeface="Times New Roman"/>
                <a:ea typeface="宋体"/>
              </a:rPr>
              <a:t>- 六大因素：成本/技术/相关品/预期等</a:t>
            </a:r>
          </a:p>
          <a:p>
            <a:pPr algn="l">
              <a:lnSpc>
                <a:spcPct val="120000"/>
              </a:lnSpc>
              <a:spcAft>
                <a:spcPts val="500"/>
              </a:spcAft>
            </a:pPr>
            <a:r>
              <a:rPr sz="1250" b="0">
                <a:solidFill>
                  <a:srgbClr val="1E293B"/>
                </a:solidFill>
                <a:latin typeface="Times New Roman"/>
                <a:ea typeface="宋体"/>
              </a:rPr>
              <a:t>- 变动区分：供给量变动 vs 供给变动</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均衡价格与政府干预</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市场均衡：供求曲线交点 (P*, Q*)</a:t>
            </a:r>
          </a:p>
          <a:p>
            <a:pPr algn="l">
              <a:lnSpc>
                <a:spcPct val="120000"/>
              </a:lnSpc>
              <a:spcAft>
                <a:spcPts val="500"/>
              </a:spcAft>
            </a:pPr>
            <a:r>
              <a:rPr sz="1250" b="0">
                <a:solidFill>
                  <a:srgbClr val="1E293B"/>
                </a:solidFill>
                <a:latin typeface="Times New Roman"/>
                <a:ea typeface="宋体"/>
              </a:rPr>
              <a:t>- 供求定理：四种变动方向精准推导</a:t>
            </a:r>
          </a:p>
          <a:p>
            <a:pPr algn="l">
              <a:lnSpc>
                <a:spcPct val="120000"/>
              </a:lnSpc>
              <a:spcAft>
                <a:spcPts val="500"/>
              </a:spcAft>
            </a:pPr>
            <a:r>
              <a:rPr sz="1250" b="0">
                <a:solidFill>
                  <a:srgbClr val="1E293B"/>
                </a:solidFill>
                <a:latin typeface="Times New Roman"/>
                <a:ea typeface="宋体"/>
              </a:rPr>
              <a:t>- 政府税收：税负转嫁与弹性分摊比率</a:t>
            </a:r>
          </a:p>
          <a:p>
            <a:pPr algn="l">
              <a:lnSpc>
                <a:spcPct val="120000"/>
              </a:lnSpc>
              <a:spcAft>
                <a:spcPts val="500"/>
              </a:spcAft>
            </a:pPr>
            <a:r>
              <a:rPr sz="1250" b="0">
                <a:solidFill>
                  <a:srgbClr val="1E293B"/>
                </a:solidFill>
                <a:latin typeface="Times New Roman"/>
                <a:ea typeface="宋体"/>
              </a:rPr>
              <a:t>- 价格管制：最高限价/最低支持价格弊端</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消费者选择与均衡</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无差异曲线：凸向原点与 MRS 递减</a:t>
            </a:r>
          </a:p>
          <a:p>
            <a:pPr algn="l">
              <a:lnSpc>
                <a:spcPct val="120000"/>
              </a:lnSpc>
              <a:spcAft>
                <a:spcPts val="500"/>
              </a:spcAft>
            </a:pPr>
            <a:r>
              <a:rPr sz="1250" b="0">
                <a:solidFill>
                  <a:srgbClr val="1E293B"/>
                </a:solidFill>
                <a:latin typeface="Times New Roman"/>
                <a:ea typeface="宋体"/>
              </a:rPr>
              <a:t>- 预算约束线：收入与相对价格界限</a:t>
            </a:r>
          </a:p>
          <a:p>
            <a:pPr algn="l">
              <a:lnSpc>
                <a:spcPct val="120000"/>
              </a:lnSpc>
              <a:spcAft>
                <a:spcPts val="500"/>
              </a:spcAft>
            </a:pPr>
            <a:r>
              <a:rPr sz="1250" b="0">
                <a:solidFill>
                  <a:srgbClr val="1E293B"/>
                </a:solidFill>
                <a:latin typeface="Times New Roman"/>
                <a:ea typeface="宋体"/>
              </a:rPr>
              <a:t>- 均衡切点：MRS = Px/Py = 相对价格</a:t>
            </a:r>
          </a:p>
          <a:p>
            <a:pPr algn="l">
              <a:lnSpc>
                <a:spcPct val="120000"/>
              </a:lnSpc>
              <a:spcAft>
                <a:spcPts val="500"/>
              </a:spcAft>
            </a:pPr>
            <a:r>
              <a:rPr sz="1250" b="0">
                <a:solidFill>
                  <a:srgbClr val="1E293B"/>
                </a:solidFill>
                <a:latin typeface="Times New Roman"/>
                <a:ea typeface="宋体"/>
              </a:rPr>
              <a:t>- 等边际效用：MUx/Px = MUy/Py</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核心逻辑：市场机制通过供求双方自发的自利竞争形成出清价格，指导全社会稀缺资源的高效配置。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需求（Demand）</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系统阐释需求概念、需求法则、七大决定因素及点移动与曲线平移的本质区别。</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第1章 市场供求及其运行机制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一、需求的概念与需求规律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需求与需求量的严格经济学界定</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（1）需求的本质： </a:t>
            </a:r>
            <a:r>
              <a:rPr sz="1250" b="0">
                <a:solidFill>
                  <a:srgbClr val="1E293B"/>
                </a:solidFill>
                <a:latin typeface="Times New Roman"/>
                <a:ea typeface="宋体"/>
              </a:rPr>
              <a:t>消费者在一定时期内，在各种可能的价格水平下，愿意并且能够购买的商品或服务数量。</a:t>
            </a:r>
          </a:p>
          <a:p>
            <a:pPr>
              <a:lnSpc>
                <a:spcPct val="120000"/>
              </a:lnSpc>
              <a:spcAft>
                <a:spcPts val="600"/>
              </a:spcAft>
            </a:pPr>
            <a:r>
              <a:rPr sz="1250" b="1">
                <a:solidFill>
                  <a:srgbClr val="1B3A5C"/>
                </a:solidFill>
                <a:latin typeface="Times New Roman"/>
                <a:ea typeface="宋体"/>
              </a:rPr>
              <a:t>（2）有效需求两要素： </a:t>
            </a:r>
            <a:r>
              <a:rPr sz="1250" b="0">
                <a:solidFill>
                  <a:srgbClr val="1E293B"/>
                </a:solidFill>
                <a:latin typeface="Times New Roman"/>
                <a:ea typeface="宋体"/>
              </a:rPr>
              <a:t>① 购买欲望（Want）+ ② 支付能力（Ability to Pay），二者缺一不可。</a:t>
            </a:r>
          </a:p>
          <a:p>
            <a:pPr>
              <a:lnSpc>
                <a:spcPct val="120000"/>
              </a:lnSpc>
              <a:spcAft>
                <a:spcPts val="600"/>
              </a:spcAft>
            </a:pPr>
            <a:r>
              <a:rPr sz="1250" b="1">
                <a:solidFill>
                  <a:srgbClr val="1B3A5C"/>
                </a:solidFill>
                <a:latin typeface="Times New Roman"/>
                <a:ea typeface="宋体"/>
              </a:rPr>
              <a:t>（3）需求量的定义： </a:t>
            </a:r>
            <a:r>
              <a:rPr sz="1250" b="0">
                <a:solidFill>
                  <a:srgbClr val="1E293B"/>
                </a:solidFill>
                <a:latin typeface="Times New Roman"/>
                <a:ea typeface="宋体"/>
              </a:rPr>
              <a:t>在某一特定价格水平下，消费者计划购买的具体商品数量（对应曲线上某一具体坐标点）。</a:t>
            </a:r>
          </a:p>
          <a:p>
            <a:pPr>
              <a:lnSpc>
                <a:spcPct val="120000"/>
              </a:lnSpc>
              <a:spcAft>
                <a:spcPts val="600"/>
              </a:spcAft>
            </a:pPr>
            <a:r>
              <a:rPr sz="1250" b="1">
                <a:solidFill>
                  <a:srgbClr val="1B3A5C"/>
                </a:solidFill>
                <a:latin typeface="Times New Roman"/>
                <a:ea typeface="宋体"/>
              </a:rPr>
              <a:t>（4）需求规律（Law of Demand）： </a:t>
            </a:r>
            <a:r>
              <a:rPr sz="1250" b="0">
                <a:solidFill>
                  <a:srgbClr val="1E293B"/>
                </a:solidFill>
                <a:latin typeface="Times New Roman"/>
                <a:ea typeface="宋体"/>
              </a:rPr>
              <a:t>在其他条件不变的假定下，商品价格上升，需求量减少；商品价格下降，需求量增加（反向变动）。</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需求函数与需求曲线形态</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（1）广义需求函数： </a:t>
            </a:r>
            <a:r>
              <a:rPr sz="1250" b="0">
                <a:solidFill>
                  <a:srgbClr val="1E293B"/>
                </a:solidFill>
                <a:latin typeface="Times New Roman"/>
                <a:ea typeface="宋体"/>
              </a:rPr>
              <a:t>Q_d = f(P, I, P_r, T, E, A, N)，其中 P 为自身价格，I 为收入，P_r 为相关品价格。</a:t>
            </a:r>
          </a:p>
          <a:p>
            <a:pPr>
              <a:lnSpc>
                <a:spcPct val="120000"/>
              </a:lnSpc>
              <a:spcAft>
                <a:spcPts val="600"/>
              </a:spcAft>
            </a:pPr>
            <a:r>
              <a:rPr sz="1250" b="1">
                <a:solidFill>
                  <a:srgbClr val="2E86C1"/>
                </a:solidFill>
                <a:latin typeface="Times New Roman"/>
                <a:ea typeface="宋体"/>
              </a:rPr>
              <a:t>（2）线性需求方程： </a:t>
            </a:r>
            <a:r>
              <a:rPr sz="1250" b="0">
                <a:solidFill>
                  <a:srgbClr val="1E293B"/>
                </a:solidFill>
                <a:latin typeface="Times New Roman"/>
                <a:ea typeface="宋体"/>
              </a:rPr>
              <a:t>Q_d = \alpha - \beta P \quad (\alpha, \beta &gt; 0)，其中 \beta 反映需求量对价格变动的敏感度。</a:t>
            </a:r>
          </a:p>
          <a:p>
            <a:pPr>
              <a:lnSpc>
                <a:spcPct val="120000"/>
              </a:lnSpc>
              <a:spcAft>
                <a:spcPts val="600"/>
              </a:spcAft>
            </a:pPr>
            <a:r>
              <a:rPr sz="1250" b="1">
                <a:solidFill>
                  <a:srgbClr val="2E86C1"/>
                </a:solidFill>
                <a:latin typeface="Times New Roman"/>
                <a:ea typeface="宋体"/>
              </a:rPr>
              <a:t>（3）反需求函数形式： </a:t>
            </a:r>
            <a:r>
              <a:rPr sz="1250" b="0">
                <a:solidFill>
                  <a:srgbClr val="1E293B"/>
                </a:solidFill>
                <a:latin typeface="Times New Roman"/>
                <a:ea typeface="宋体"/>
              </a:rPr>
              <a:t>P = a - b Q_d，在坐标系中纵轴为价格 P，横轴为需求量 Q，呈现向右下方倾斜的特征。</a:t>
            </a:r>
          </a:p>
          <a:p>
            <a:pPr>
              <a:lnSpc>
                <a:spcPct val="120000"/>
              </a:lnSpc>
              <a:spcAft>
                <a:spcPts val="600"/>
              </a:spcAft>
            </a:pPr>
            <a:r>
              <a:rPr sz="1250" b="1">
                <a:solidFill>
                  <a:srgbClr val="2E86C1"/>
                </a:solidFill>
                <a:latin typeface="Times New Roman"/>
                <a:ea typeface="宋体"/>
              </a:rPr>
              <a:t>（4）斜率为负的微观根源： </a:t>
            </a:r>
            <a:r>
              <a:rPr sz="1250" b="0">
                <a:solidFill>
                  <a:srgbClr val="1E293B"/>
                </a:solidFill>
                <a:latin typeface="Times New Roman"/>
                <a:ea typeface="宋体"/>
              </a:rPr>
              <a:t>边际效用递减规律、收入效应与替代效应共同决定。</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核心要点：需求规律是市场经济的第一大基本法则，负斜率需求曲线反映了消费者理性选择的普遍行为特征。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二、影响需求量的七大关键因素全景细分（一）</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1. 商品自身价格 (P)</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（1）自身价格变量： </a:t>
            </a:r>
            <a:r>
              <a:rPr sz="1200" b="0">
                <a:solidFill>
                  <a:srgbClr val="1E293B"/>
                </a:solidFill>
                <a:latin typeface="Times New Roman"/>
                <a:ea typeface="宋体"/>
              </a:rPr>
              <a:t>商品自身价格是决定消费者当期购买量最直接、最核心的内生变量。</a:t>
            </a:r>
          </a:p>
          <a:p>
            <a:pPr>
              <a:lnSpc>
                <a:spcPct val="120000"/>
              </a:lnSpc>
              <a:spcAft>
                <a:spcPts val="500"/>
              </a:spcAft>
            </a:pPr>
            <a:r>
              <a:rPr sz="1200" b="1">
                <a:solidFill>
                  <a:srgbClr val="1B3A5C"/>
                </a:solidFill>
                <a:latin typeface="Times New Roman"/>
                <a:ea typeface="宋体"/>
              </a:rPr>
              <a:t>（2）变动机制： </a:t>
            </a:r>
            <a:r>
              <a:rPr sz="1200" b="0">
                <a:solidFill>
                  <a:srgbClr val="1E293B"/>
                </a:solidFill>
                <a:latin typeface="Times New Roman"/>
                <a:ea typeface="宋体"/>
              </a:rPr>
              <a:t>价格变动引起需求量沿既定需求曲线上下滑动（点移动）。</a:t>
            </a:r>
          </a:p>
          <a:p>
            <a:pPr>
              <a:lnSpc>
                <a:spcPct val="120000"/>
              </a:lnSpc>
              <a:spcAft>
                <a:spcPts val="500"/>
              </a:spcAft>
            </a:pPr>
            <a:r>
              <a:rPr sz="1200" b="1">
                <a:solidFill>
                  <a:srgbClr val="1B3A5C"/>
                </a:solidFill>
                <a:latin typeface="Times New Roman"/>
                <a:ea typeface="宋体"/>
              </a:rPr>
              <a:t>（3）价格信号传导： </a:t>
            </a:r>
            <a:r>
              <a:rPr sz="1200" b="0">
                <a:solidFill>
                  <a:srgbClr val="1E293B"/>
                </a:solidFill>
                <a:latin typeface="Times New Roman"/>
                <a:ea typeface="宋体"/>
              </a:rPr>
              <a:t>通过价格涨跌自发调节消费者的预算分配与边际效用权衡。</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2. 消费者收入水平 (I)</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（2）消费者可支配收入： </a:t>
            </a:r>
            <a:r>
              <a:rPr sz="1200" b="0">
                <a:solidFill>
                  <a:srgbClr val="1E293B"/>
                </a:solidFill>
                <a:latin typeface="Times New Roman"/>
                <a:ea typeface="宋体"/>
              </a:rPr>
              <a:t>收入变化引起消费者支付能力与总预算边界扩张或收缩。</a:t>
            </a:r>
          </a:p>
          <a:p>
            <a:pPr>
              <a:lnSpc>
                <a:spcPct val="120000"/>
              </a:lnSpc>
              <a:spcAft>
                <a:spcPts val="500"/>
              </a:spcAft>
            </a:pPr>
            <a:r>
              <a:rPr sz="1200" b="1">
                <a:solidFill>
                  <a:srgbClr val="2E86C1"/>
                </a:solidFill>
                <a:latin typeface="Times New Roman"/>
                <a:ea typeface="宋体"/>
              </a:rPr>
              <a:t>（3）正常品（Normal Goods）： </a:t>
            </a:r>
            <a:r>
              <a:rPr sz="1200" b="0">
                <a:solidFill>
                  <a:srgbClr val="1E293B"/>
                </a:solidFill>
                <a:latin typeface="Times New Roman"/>
                <a:ea typeface="宋体"/>
              </a:rPr>
              <a:t>收入增加使需求曲线整体向右上方平移（如高品质食品、新能源车）。</a:t>
            </a:r>
          </a:p>
          <a:p>
            <a:pPr>
              <a:lnSpc>
                <a:spcPct val="120000"/>
              </a:lnSpc>
              <a:spcAft>
                <a:spcPts val="500"/>
              </a:spcAft>
            </a:pPr>
            <a:r>
              <a:rPr sz="1200" b="1">
                <a:solidFill>
                  <a:srgbClr val="2E86C1"/>
                </a:solidFill>
                <a:latin typeface="Times New Roman"/>
                <a:ea typeface="宋体"/>
              </a:rPr>
              <a:t>（4）劣等品（Inferior Goods）： </a:t>
            </a:r>
            <a:r>
              <a:rPr sz="1200" b="0">
                <a:solidFill>
                  <a:srgbClr val="1E293B"/>
                </a:solidFill>
                <a:latin typeface="Times New Roman"/>
                <a:ea typeface="宋体"/>
              </a:rPr>
              <a:t>收入增加反而导致需求曲线向左下方平移（如低端杂牌二手品）。</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3. 市场消费群体规模 (N)</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（3）人口总量与结构： </a:t>
            </a:r>
            <a:r>
              <a:rPr sz="1200" b="0">
                <a:solidFill>
                  <a:srgbClr val="1E293B"/>
                </a:solidFill>
                <a:latin typeface="Times New Roman"/>
                <a:ea typeface="宋体"/>
              </a:rPr>
              <a:t>市场人口总数增加、城市化率提升直接扩大市场总容量。</a:t>
            </a:r>
          </a:p>
          <a:p>
            <a:pPr>
              <a:lnSpc>
                <a:spcPct val="120000"/>
              </a:lnSpc>
              <a:spcAft>
                <a:spcPts val="500"/>
              </a:spcAft>
            </a:pPr>
            <a:r>
              <a:rPr sz="1200" b="1">
                <a:solidFill>
                  <a:srgbClr val="1A8C5D"/>
                </a:solidFill>
                <a:latin typeface="Times New Roman"/>
                <a:ea typeface="宋体"/>
              </a:rPr>
              <a:t>（5）人口结构演变： </a:t>
            </a:r>
            <a:r>
              <a:rPr sz="1200" b="0">
                <a:solidFill>
                  <a:srgbClr val="1E293B"/>
                </a:solidFill>
                <a:latin typeface="Times New Roman"/>
                <a:ea typeface="宋体"/>
              </a:rPr>
              <a:t>人口老龄化驱动银发康养需求右移；新生儿数量驱动母婴消费需求变动。</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核心要点：自身价格决定曲线上点的移动，而收入水平与人口规模是驱动整条需求曲线空间平移的关键宏观外生变量。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二、影响需求量的七大关键因素全景细分（二）</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4. 相关商品价格 (Pr)</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（4）替代品价格 (P_sub)： </a:t>
            </a:r>
            <a:r>
              <a:rPr sz="1200" b="0">
                <a:solidFill>
                  <a:srgbClr val="1E293B"/>
                </a:solidFill>
                <a:latin typeface="Times New Roman"/>
                <a:ea typeface="宋体"/>
              </a:rPr>
              <a:t>替代品（如牛肉与羊肉）价格上涨，促使本商品需求曲线向右上方平移。</a:t>
            </a:r>
          </a:p>
          <a:p>
            <a:pPr>
              <a:lnSpc>
                <a:spcPct val="120000"/>
              </a:lnSpc>
              <a:spcAft>
                <a:spcPts val="500"/>
              </a:spcAft>
            </a:pPr>
            <a:r>
              <a:rPr sz="1200" b="1">
                <a:solidFill>
                  <a:srgbClr val="1B3A5C"/>
                </a:solidFill>
                <a:latin typeface="Times New Roman"/>
                <a:ea typeface="宋体"/>
              </a:rPr>
              <a:t>（5）互补品价格 (P_com)： </a:t>
            </a:r>
            <a:r>
              <a:rPr sz="1200" b="0">
                <a:solidFill>
                  <a:srgbClr val="1E293B"/>
                </a:solidFill>
                <a:latin typeface="Times New Roman"/>
                <a:ea typeface="宋体"/>
              </a:rPr>
              <a:t>互补品（如汽油与燃油车）价格上涨，促使本商品需求曲线向左下方平移。</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5. 消费者偏好 (T)</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（6）消费者主观偏好： </a:t>
            </a:r>
            <a:r>
              <a:rPr sz="1200" b="0">
                <a:solidFill>
                  <a:srgbClr val="1E293B"/>
                </a:solidFill>
                <a:latin typeface="Times New Roman"/>
                <a:ea typeface="宋体"/>
              </a:rPr>
              <a:t>时尚潮流、健康饮食观念、环保意识演进直接改变消费者的主观效用评价。</a:t>
            </a:r>
          </a:p>
          <a:p>
            <a:pPr>
              <a:lnSpc>
                <a:spcPct val="120000"/>
              </a:lnSpc>
              <a:spcAft>
                <a:spcPts val="500"/>
              </a:spcAft>
            </a:pPr>
            <a:r>
              <a:rPr sz="1200" b="1">
                <a:solidFill>
                  <a:srgbClr val="2E86C1"/>
                </a:solidFill>
                <a:latin typeface="Times New Roman"/>
                <a:ea typeface="宋体"/>
              </a:rPr>
              <a:t>• 偏好增强： </a:t>
            </a:r>
            <a:r>
              <a:rPr sz="1200" b="0">
                <a:solidFill>
                  <a:srgbClr val="1E293B"/>
                </a:solidFill>
                <a:latin typeface="Times New Roman"/>
                <a:ea typeface="宋体"/>
              </a:rPr>
              <a:t>使商品在任何既定价格下的需求量均大幅增加，需求线右移。</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6. 未来预期与广告促销</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（7）未来价格与供给预期 (E)： </a:t>
            </a:r>
            <a:r>
              <a:rPr sz="1200" b="0">
                <a:solidFill>
                  <a:srgbClr val="1E293B"/>
                </a:solidFill>
                <a:latin typeface="Times New Roman"/>
                <a:ea typeface="宋体"/>
              </a:rPr>
              <a:t>预期未来涨价引发抢购，当期需求右移；预期降价则推迟购买。</a:t>
            </a:r>
          </a:p>
          <a:p>
            <a:pPr>
              <a:lnSpc>
                <a:spcPct val="120000"/>
              </a:lnSpc>
              <a:spcAft>
                <a:spcPts val="500"/>
              </a:spcAft>
            </a:pPr>
            <a:r>
              <a:rPr sz="1200" b="1">
                <a:solidFill>
                  <a:srgbClr val="1A8C5D"/>
                </a:solidFill>
                <a:latin typeface="Times New Roman"/>
                <a:ea typeface="宋体"/>
              </a:rPr>
              <a:t>• 广告与品牌营销 (A)： </a:t>
            </a:r>
            <a:r>
              <a:rPr sz="1200" b="0">
                <a:solidFill>
                  <a:srgbClr val="1E293B"/>
                </a:solidFill>
                <a:latin typeface="Times New Roman"/>
                <a:ea typeface="宋体"/>
              </a:rPr>
              <a:t>广告通过传递信息与塑造品牌形象，有效拉升市场整体需求曲线。</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核心要点：跨品类价格联动、偏好演化与未来预期构成了企业在进行市场需求研判时不可忽视的外部生态系统。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三、需求量的变动 vs 需求的变动（核心概念辨析）</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需求量的变动（Change in Quantity Demanded）</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（1）诱发原因： </a:t>
            </a:r>
            <a:r>
              <a:rPr sz="1250" b="0">
                <a:solidFill>
                  <a:srgbClr val="1E293B"/>
                </a:solidFill>
                <a:latin typeface="Times New Roman"/>
                <a:ea typeface="宋体"/>
              </a:rPr>
              <a:t>仅由商品自身价格（P）变动引起，其他一切非价格因素假定严格保持不变。</a:t>
            </a:r>
          </a:p>
          <a:p>
            <a:pPr>
              <a:lnSpc>
                <a:spcPct val="120000"/>
              </a:lnSpc>
              <a:spcAft>
                <a:spcPts val="600"/>
              </a:spcAft>
            </a:pPr>
            <a:r>
              <a:rPr sz="1250" b="1">
                <a:solidFill>
                  <a:srgbClr val="1B3A5C"/>
                </a:solidFill>
                <a:latin typeface="Times New Roman"/>
                <a:ea typeface="宋体"/>
              </a:rPr>
              <a:t>（2）几何表现： </a:t>
            </a:r>
            <a:r>
              <a:rPr sz="1250" b="0">
                <a:solidFill>
                  <a:srgbClr val="1E293B"/>
                </a:solidFill>
                <a:latin typeface="Times New Roman"/>
                <a:ea typeface="宋体"/>
              </a:rPr>
              <a:t>在同一条既定需求曲线上沿着曲线上下滑动（Movement along the curve）。</a:t>
            </a:r>
          </a:p>
          <a:p>
            <a:pPr>
              <a:lnSpc>
                <a:spcPct val="120000"/>
              </a:lnSpc>
              <a:spcAft>
                <a:spcPts val="600"/>
              </a:spcAft>
            </a:pPr>
            <a:r>
              <a:rPr sz="1250" b="1">
                <a:solidFill>
                  <a:srgbClr val="1B3A5C"/>
                </a:solidFill>
                <a:latin typeface="Times New Roman"/>
                <a:ea typeface="宋体"/>
              </a:rPr>
              <a:t>（3）典型实例： </a:t>
            </a:r>
            <a:r>
              <a:rPr sz="1250" b="0">
                <a:solidFill>
                  <a:srgbClr val="1E293B"/>
                </a:solidFill>
                <a:latin typeface="Times New Roman"/>
                <a:ea typeface="宋体"/>
              </a:rPr>
              <a:t>航空公司将经济舱机票从 1000 元降至 600 元，购票人数从 120 人增加到 180 人。</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需求的变动（Change in Demand）</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（1）诱发原因： </a:t>
            </a:r>
            <a:r>
              <a:rPr sz="1250" b="0">
                <a:solidFill>
                  <a:srgbClr val="1E293B"/>
                </a:solidFill>
                <a:latin typeface="Times New Roman"/>
                <a:ea typeface="宋体"/>
              </a:rPr>
              <a:t>商品自身价格保持不变，由于收入、偏好、相关品价格、预期或广告等外生变量发生变化。</a:t>
            </a:r>
          </a:p>
          <a:p>
            <a:pPr>
              <a:lnSpc>
                <a:spcPct val="120000"/>
              </a:lnSpc>
              <a:spcAft>
                <a:spcPts val="600"/>
              </a:spcAft>
            </a:pPr>
            <a:r>
              <a:rPr sz="1250" b="1">
                <a:solidFill>
                  <a:srgbClr val="2E86C1"/>
                </a:solidFill>
                <a:latin typeface="Times New Roman"/>
                <a:ea typeface="宋体"/>
              </a:rPr>
              <a:t>（2）几何表现： </a:t>
            </a:r>
            <a:r>
              <a:rPr sz="1250" b="0">
                <a:solidFill>
                  <a:srgbClr val="1E293B"/>
                </a:solidFill>
                <a:latin typeface="Times New Roman"/>
                <a:ea typeface="宋体"/>
              </a:rPr>
              <a:t>整条需求曲线向右上方平移（需求增加）或向左下方平移（需求减少）。</a:t>
            </a:r>
          </a:p>
          <a:p>
            <a:pPr>
              <a:lnSpc>
                <a:spcPct val="120000"/>
              </a:lnSpc>
              <a:spcAft>
                <a:spcPts val="600"/>
              </a:spcAft>
            </a:pPr>
            <a:r>
              <a:rPr sz="1250" b="1">
                <a:solidFill>
                  <a:srgbClr val="2E86C1"/>
                </a:solidFill>
                <a:latin typeface="Times New Roman"/>
                <a:ea typeface="宋体"/>
              </a:rPr>
              <a:t>（3）典型实例： </a:t>
            </a:r>
            <a:r>
              <a:rPr sz="1250" b="0">
                <a:solidFill>
                  <a:srgbClr val="1E293B"/>
                </a:solidFill>
                <a:latin typeface="Times New Roman"/>
                <a:ea typeface="宋体"/>
              </a:rPr>
              <a:t>居民人均可支配收入大幅提高，使得在任何既定汽车价格下，汽车购置需求量均比以往增加 30%。</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核心要点：严禁混淆'点移动'与'线移动'，混淆二者是初学者和非专业管理者在市场营销研判中常犯的重大逻辑错误。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四、生活中的经济学 1-1：降价与需求刺激实战启示</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超市生鲜晚间折价出清策略</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（1）商业场景： </a:t>
            </a:r>
            <a:r>
              <a:rPr sz="1250" b="0">
                <a:solidFill>
                  <a:srgbClr val="1E293B"/>
                </a:solidFill>
                <a:latin typeface="Times New Roman"/>
                <a:ea typeface="宋体"/>
              </a:rPr>
              <a:t>大型连锁超市每晚 8 点后对生鲜熟食、叶菜水果实行阶梯打折（7折、5折甚至买一送一）。</a:t>
            </a:r>
          </a:p>
          <a:p>
            <a:pPr>
              <a:lnSpc>
                <a:spcPct val="120000"/>
              </a:lnSpc>
              <a:spcAft>
                <a:spcPts val="600"/>
              </a:spcAft>
            </a:pPr>
            <a:r>
              <a:rPr sz="1250" b="1">
                <a:solidFill>
                  <a:srgbClr val="1B3A5C"/>
                </a:solidFill>
                <a:latin typeface="Times New Roman"/>
                <a:ea typeface="宋体"/>
              </a:rPr>
              <a:t>（2）需求法则应用： </a:t>
            </a:r>
            <a:r>
              <a:rPr sz="1250" b="0">
                <a:solidFill>
                  <a:srgbClr val="1E293B"/>
                </a:solidFill>
                <a:latin typeface="Times New Roman"/>
                <a:ea typeface="宋体"/>
              </a:rPr>
              <a:t>生鲜保质期极短，次日价值归零。通过降价沿着需求曲线向下滑动，大幅刺激对价格敏感的工薪族与老年客群需求量。</a:t>
            </a:r>
          </a:p>
          <a:p>
            <a:pPr>
              <a:lnSpc>
                <a:spcPct val="120000"/>
              </a:lnSpc>
              <a:spcAft>
                <a:spcPts val="600"/>
              </a:spcAft>
            </a:pPr>
            <a:r>
              <a:rPr sz="1250" b="1">
                <a:solidFill>
                  <a:srgbClr val="1B3A5C"/>
                </a:solidFill>
                <a:latin typeface="Times New Roman"/>
                <a:ea typeface="宋体"/>
              </a:rPr>
              <a:t>（3）管理成果： </a:t>
            </a:r>
            <a:r>
              <a:rPr sz="1250" b="0">
                <a:solidFill>
                  <a:srgbClr val="1E293B"/>
                </a:solidFill>
                <a:latin typeface="Times New Roman"/>
                <a:ea typeface="宋体"/>
              </a:rPr>
              <a:t>在闭店前实现存货零损耗出清，最大化回收增量现金流。</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品牌高端化与打破降价依赖</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（1）降价的局限性： </a:t>
            </a:r>
            <a:r>
              <a:rPr sz="1250" b="0">
                <a:solidFill>
                  <a:srgbClr val="1E293B"/>
                </a:solidFill>
                <a:latin typeface="Times New Roman"/>
                <a:ea typeface="宋体"/>
              </a:rPr>
              <a:t>长期单向降价会侵蚀品牌调性，恶化消费者对品质的心理预期（吉芬化风险）。</a:t>
            </a:r>
          </a:p>
          <a:p>
            <a:pPr>
              <a:lnSpc>
                <a:spcPct val="120000"/>
              </a:lnSpc>
              <a:spcAft>
                <a:spcPts val="600"/>
              </a:spcAft>
            </a:pPr>
            <a:r>
              <a:rPr sz="1250" b="1">
                <a:solidFill>
                  <a:srgbClr val="2E86C1"/>
                </a:solidFill>
                <a:latin typeface="Times New Roman"/>
                <a:ea typeface="宋体"/>
              </a:rPr>
              <a:t>（2）战略建议： </a:t>
            </a:r>
            <a:r>
              <a:rPr sz="1250" b="0">
                <a:solidFill>
                  <a:srgbClr val="1E293B"/>
                </a:solidFill>
                <a:latin typeface="Times New Roman"/>
                <a:ea typeface="宋体"/>
              </a:rPr>
              <a:t>企业应通过提升产品品质、技术创新与品牌塑造，实现需求曲线向右上方平移，从而在维持高价的同时实现销量扩张。</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核心要点：短期促销靠价格杠杆刺激需求量，长期增长靠产品力拉动整条需求曲线右移。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供给（Supply）</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系统阐释供给概念、供给法则、六大决定因素及供给量变动与供给变动的差异。</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第1章 市场供求及其运行机制 · 权威教材精细化教学架构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供给</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一、供给的概念、法则与供给函数</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供给与供给规律的经济学界定</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（1）供给的本质： </a:t>
            </a:r>
            <a:r>
              <a:rPr sz="1250" b="0">
                <a:solidFill>
                  <a:srgbClr val="1E293B"/>
                </a:solidFill>
                <a:latin typeface="Times New Roman"/>
                <a:ea typeface="宋体"/>
              </a:rPr>
              <a:t>生产者在一定时期内，在各种可能的价格水平下，愿意并且能够提供出售的商品或服务数量。</a:t>
            </a:r>
          </a:p>
          <a:p>
            <a:pPr>
              <a:lnSpc>
                <a:spcPct val="120000"/>
              </a:lnSpc>
              <a:spcAft>
                <a:spcPts val="600"/>
              </a:spcAft>
            </a:pPr>
            <a:r>
              <a:rPr sz="1250" b="1">
                <a:solidFill>
                  <a:srgbClr val="1B3A5C"/>
                </a:solidFill>
                <a:latin typeface="Times New Roman"/>
                <a:ea typeface="宋体"/>
              </a:rPr>
              <a:t>（2）有效供给两要素： </a:t>
            </a:r>
            <a:r>
              <a:rPr sz="1250" b="0">
                <a:solidFill>
                  <a:srgbClr val="1E293B"/>
                </a:solidFill>
                <a:latin typeface="Times New Roman"/>
                <a:ea typeface="宋体"/>
              </a:rPr>
              <a:t>① 供给意愿 + ② 供货与生产能力，二者缺一不可。</a:t>
            </a:r>
          </a:p>
          <a:p>
            <a:pPr>
              <a:lnSpc>
                <a:spcPct val="120000"/>
              </a:lnSpc>
              <a:spcAft>
                <a:spcPts val="600"/>
              </a:spcAft>
            </a:pPr>
            <a:r>
              <a:rPr sz="1250" b="1">
                <a:solidFill>
                  <a:srgbClr val="1B3A5C"/>
                </a:solidFill>
                <a:latin typeface="Times New Roman"/>
                <a:ea typeface="宋体"/>
              </a:rPr>
              <a:t>（3）供给规律（Law of Supply）： </a:t>
            </a:r>
            <a:r>
              <a:rPr sz="1250" b="0">
                <a:solidFill>
                  <a:srgbClr val="1E293B"/>
                </a:solidFill>
                <a:latin typeface="Times New Roman"/>
                <a:ea typeface="宋体"/>
              </a:rPr>
              <a:t>在其他条件不变时，商品价格上涨，供给量增加；价格下跌，供给量减少（同向变动）。</a:t>
            </a:r>
          </a:p>
          <a:p>
            <a:pPr>
              <a:lnSpc>
                <a:spcPct val="120000"/>
              </a:lnSpc>
              <a:spcAft>
                <a:spcPts val="600"/>
              </a:spcAft>
            </a:pPr>
            <a:r>
              <a:rPr sz="1250" b="1">
                <a:solidFill>
                  <a:srgbClr val="1B3A5C"/>
                </a:solidFill>
                <a:latin typeface="Times New Roman"/>
                <a:ea typeface="宋体"/>
              </a:rPr>
              <a:t>（4）供给曲线形态： </a:t>
            </a:r>
            <a:r>
              <a:rPr sz="1250" b="0">
                <a:solidFill>
                  <a:srgbClr val="1E293B"/>
                </a:solidFill>
                <a:latin typeface="Times New Roman"/>
                <a:ea typeface="宋体"/>
              </a:rPr>
              <a:t>在 (Q, P) 坐标系中向右上方倾斜，反映了生产边际成本递增对价格补偿的客观要求。</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供给函数与反供给方程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（1）广义供给函数： </a:t>
            </a:r>
            <a:r>
              <a:rPr sz="1250" b="0">
                <a:solidFill>
                  <a:srgbClr val="1E293B"/>
                </a:solidFill>
                <a:latin typeface="Times New Roman"/>
                <a:ea typeface="宋体"/>
              </a:rPr>
              <a:t>Q_s = f(P, P_i, Tech, P_r, E_p, N_f) \quad (P: 自身价格, P_i: 要素价格, Tech: 技术水平)</a:t>
            </a:r>
          </a:p>
          <a:p>
            <a:pPr>
              <a:lnSpc>
                <a:spcPct val="120000"/>
              </a:lnSpc>
              <a:spcAft>
                <a:spcPts val="600"/>
              </a:spcAft>
            </a:pPr>
            <a:r>
              <a:rPr sz="1250" b="1">
                <a:solidFill>
                  <a:srgbClr val="2E86C1"/>
                </a:solidFill>
                <a:latin typeface="Times New Roman"/>
                <a:ea typeface="宋体"/>
              </a:rPr>
              <a:t>（2）线性供给方程： </a:t>
            </a:r>
            <a:r>
              <a:rPr sz="1250" b="0">
                <a:solidFill>
                  <a:srgbClr val="1E293B"/>
                </a:solidFill>
                <a:latin typeface="Times New Roman"/>
                <a:ea typeface="宋体"/>
              </a:rPr>
              <a:t>Q_s = -c + d P \quad (c, d &gt; 0)，其中 d 反映供给量对自身价格变动的响应灵敏度。</a:t>
            </a:r>
          </a:p>
          <a:p>
            <a:pPr>
              <a:lnSpc>
                <a:spcPct val="120000"/>
              </a:lnSpc>
              <a:spcAft>
                <a:spcPts val="600"/>
              </a:spcAft>
            </a:pPr>
            <a:r>
              <a:rPr sz="1250" b="1">
                <a:solidFill>
                  <a:srgbClr val="2E86C1"/>
                </a:solidFill>
                <a:latin typeface="Times New Roman"/>
                <a:ea typeface="宋体"/>
              </a:rPr>
              <a:t>（3）反供给函数形式： </a:t>
            </a:r>
            <a:r>
              <a:rPr sz="1250" b="0">
                <a:solidFill>
                  <a:srgbClr val="1E293B"/>
                </a:solidFill>
                <a:latin typeface="Times New Roman"/>
                <a:ea typeface="宋体"/>
              </a:rPr>
              <a:t>P = e + f Q_s \quad (斜率为正，截距 e 反映最低开工启动价格)。</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核心要点：供给曲线向右上方倾斜是微观企业利润最大化动机在边际成本递增环境下的必然几何表现。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供给</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二、影响供给量的六大关键因素全景细分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1. 自身价格与要素成本</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（1）商品自身价格 (P)： </a:t>
            </a:r>
            <a:r>
              <a:rPr sz="1200" b="0">
                <a:solidFill>
                  <a:srgbClr val="1E293B"/>
                </a:solidFill>
                <a:latin typeface="Times New Roman"/>
                <a:ea typeface="宋体"/>
              </a:rPr>
              <a:t>引起供给量沿既定供给曲线滑动（点移动）。</a:t>
            </a:r>
          </a:p>
          <a:p>
            <a:pPr>
              <a:lnSpc>
                <a:spcPct val="120000"/>
              </a:lnSpc>
              <a:spcAft>
                <a:spcPts val="500"/>
              </a:spcAft>
            </a:pPr>
            <a:r>
              <a:rPr sz="1200" b="1">
                <a:solidFill>
                  <a:srgbClr val="1B3A5C"/>
                </a:solidFill>
                <a:latin typeface="Times New Roman"/>
                <a:ea typeface="宋体"/>
              </a:rPr>
              <a:t>（2）生产投入要素价格 (P_input)： </a:t>
            </a:r>
            <a:r>
              <a:rPr sz="1200" b="0">
                <a:solidFill>
                  <a:srgbClr val="1E293B"/>
                </a:solidFill>
                <a:latin typeface="Times New Roman"/>
                <a:ea typeface="宋体"/>
              </a:rPr>
              <a:t>原材料价格与工人工资上涨使企业边际成本线抬升，供给曲线整体向左上方平移（供给减少）。</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2. 技术革新与相关品价格</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（3）生产技术与管理水平 (Tech)： </a:t>
            </a:r>
            <a:r>
              <a:rPr sz="1200" b="0">
                <a:solidFill>
                  <a:srgbClr val="1E293B"/>
                </a:solidFill>
                <a:latin typeface="Times New Roman"/>
                <a:ea typeface="宋体"/>
              </a:rPr>
              <a:t>自动化与工艺革新大幅降低单位制造成本，推动供给曲线向右下方平移。</a:t>
            </a:r>
          </a:p>
          <a:p>
            <a:pPr>
              <a:lnSpc>
                <a:spcPct val="120000"/>
              </a:lnSpc>
              <a:spcAft>
                <a:spcPts val="500"/>
              </a:spcAft>
            </a:pPr>
            <a:r>
              <a:rPr sz="1200" b="1">
                <a:solidFill>
                  <a:srgbClr val="2E86C1"/>
                </a:solidFill>
                <a:latin typeface="Times New Roman"/>
                <a:ea typeface="宋体"/>
              </a:rPr>
              <a:t>（4）相关产品价格 (P_related)： </a:t>
            </a:r>
            <a:r>
              <a:rPr sz="1200" b="0">
                <a:solidFill>
                  <a:srgbClr val="1E293B"/>
                </a:solidFill>
                <a:latin typeface="Times New Roman"/>
                <a:ea typeface="宋体"/>
              </a:rPr>
              <a:t>替代生产物价格大涨促使厂商转产他物，本产品供给曲线左移。</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3. 未来预期与厂商数量</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（5）生产者对未来预期 (E_p)： </a:t>
            </a:r>
            <a:r>
              <a:rPr sz="1200" b="0">
                <a:solidFill>
                  <a:srgbClr val="1E293B"/>
                </a:solidFill>
                <a:latin typeface="Times New Roman"/>
                <a:ea typeface="宋体"/>
              </a:rPr>
              <a:t>预期未来跌价促使厂商抛售当期存货；预期未来暴涨则囤积惜售。</a:t>
            </a:r>
          </a:p>
          <a:p>
            <a:pPr>
              <a:lnSpc>
                <a:spcPct val="120000"/>
              </a:lnSpc>
              <a:spcAft>
                <a:spcPts val="500"/>
              </a:spcAft>
            </a:pPr>
            <a:r>
              <a:rPr sz="1200" b="1">
                <a:solidFill>
                  <a:srgbClr val="1A8C5D"/>
                </a:solidFill>
                <a:latin typeface="Times New Roman"/>
                <a:ea typeface="宋体"/>
              </a:rPr>
              <a:t>（6）行业内生产者数量 (N_firm)： </a:t>
            </a:r>
            <a:r>
              <a:rPr sz="1200" b="0">
                <a:solidFill>
                  <a:srgbClr val="1E293B"/>
                </a:solidFill>
                <a:latin typeface="Times New Roman"/>
                <a:ea typeface="宋体"/>
              </a:rPr>
              <a:t>新资本涌入建厂加剧供给竞争，推动行业总供给曲线显著向右平移。</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核心要点：技术进步是推动现代工业品供给曲线持续向右下方平移、降低全社会消费成本的最核心驱动力。</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供给</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三、供给量的变动 vs 供给的变动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供给量的变动（Change in Quantity Supplied）</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（1）驱动因素： </a:t>
            </a:r>
            <a:r>
              <a:rPr sz="1250" b="0">
                <a:solidFill>
                  <a:srgbClr val="1E293B"/>
                </a:solidFill>
                <a:latin typeface="Times New Roman"/>
                <a:ea typeface="宋体"/>
              </a:rPr>
              <a:t>仅由商品自身价格变化驱动，要素价格与技术等外生变量固定。</a:t>
            </a:r>
          </a:p>
          <a:p>
            <a:pPr>
              <a:lnSpc>
                <a:spcPct val="120000"/>
              </a:lnSpc>
              <a:spcAft>
                <a:spcPts val="600"/>
              </a:spcAft>
            </a:pPr>
            <a:r>
              <a:rPr sz="1250" b="1">
                <a:solidFill>
                  <a:srgbClr val="1B3A5C"/>
                </a:solidFill>
                <a:latin typeface="Times New Roman"/>
                <a:ea typeface="宋体"/>
              </a:rPr>
              <a:t>（2）图形特征： </a:t>
            </a:r>
            <a:r>
              <a:rPr sz="1250" b="0">
                <a:solidFill>
                  <a:srgbClr val="1E293B"/>
                </a:solidFill>
                <a:latin typeface="Times New Roman"/>
                <a:ea typeface="宋体"/>
              </a:rPr>
              <a:t>供给量在同一条倾斜的供给曲线上滑动（Point Movement）。</a:t>
            </a:r>
          </a:p>
          <a:p>
            <a:pPr>
              <a:lnSpc>
                <a:spcPct val="120000"/>
              </a:lnSpc>
              <a:spcAft>
                <a:spcPts val="600"/>
              </a:spcAft>
            </a:pPr>
            <a:r>
              <a:rPr sz="1250" b="1">
                <a:solidFill>
                  <a:srgbClr val="1B3A5C"/>
                </a:solidFill>
                <a:latin typeface="Times New Roman"/>
                <a:ea typeface="宋体"/>
              </a:rPr>
              <a:t>（3）经济逻辑： </a:t>
            </a:r>
            <a:r>
              <a:rPr sz="1250" b="0">
                <a:solidFill>
                  <a:srgbClr val="1E293B"/>
                </a:solidFill>
                <a:latin typeface="Times New Roman"/>
                <a:ea typeface="宋体"/>
              </a:rPr>
              <a:t>价格上涨使原本无利可图的高边际成本产能得以开工释放。</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供给的变动（Change in Supply）</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（1）驱动因素： </a:t>
            </a:r>
            <a:r>
              <a:rPr sz="1250" b="0">
                <a:solidFill>
                  <a:srgbClr val="1E293B"/>
                </a:solidFill>
                <a:latin typeface="Times New Roman"/>
                <a:ea typeface="宋体"/>
              </a:rPr>
              <a:t>商品自身价格不变，要素价格、生产技术或政策税费发生根本性改善或恶化。</a:t>
            </a:r>
          </a:p>
          <a:p>
            <a:pPr>
              <a:lnSpc>
                <a:spcPct val="120000"/>
              </a:lnSpc>
              <a:spcAft>
                <a:spcPts val="600"/>
              </a:spcAft>
            </a:pPr>
            <a:r>
              <a:rPr sz="1250" b="1">
                <a:solidFill>
                  <a:srgbClr val="2E86C1"/>
                </a:solidFill>
                <a:latin typeface="Times New Roman"/>
                <a:ea typeface="宋体"/>
              </a:rPr>
              <a:t>（2）图形特征： </a:t>
            </a:r>
            <a:r>
              <a:rPr sz="1250" b="0">
                <a:solidFill>
                  <a:srgbClr val="1E293B"/>
                </a:solidFill>
                <a:latin typeface="Times New Roman"/>
                <a:ea typeface="宋体"/>
              </a:rPr>
              <a:t>整条供给曲线整体向右平移（供给增加 S_1 \to S_2）或向左平移（S_1 \to S_3）。</a:t>
            </a:r>
          </a:p>
          <a:p>
            <a:pPr>
              <a:lnSpc>
                <a:spcPct val="120000"/>
              </a:lnSpc>
              <a:spcAft>
                <a:spcPts val="600"/>
              </a:spcAft>
            </a:pPr>
            <a:r>
              <a:rPr sz="1250" b="1">
                <a:solidFill>
                  <a:srgbClr val="2E86C1"/>
                </a:solidFill>
                <a:latin typeface="Times New Roman"/>
                <a:ea typeface="宋体"/>
              </a:rPr>
              <a:t>（3）典型实证： </a:t>
            </a:r>
            <a:r>
              <a:rPr sz="1250" b="0">
                <a:solidFill>
                  <a:srgbClr val="1E293B"/>
                </a:solidFill>
                <a:latin typeface="Times New Roman"/>
                <a:ea typeface="宋体"/>
              </a:rPr>
              <a:t>光伏面板转换效率突破与自动化组装普及，使各价位下的光伏组件供给能力呈爆发式右移。</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核心要点：准确把握供给曲线的平移驱动机制，是制造业企业规划长期产能与供应链战略的基本前提。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供求法则和需求—供给分析</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精解市场出清均衡、供求四定理、政府税收与价格管制冲击，以及动态蛛网波动模型。</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第1章 市场供求及其运行机制 · 权威教材精细化教学架构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供求法则和需求—供给分析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一、市场均衡形成与供求变动四定理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pic>
        <p:nvPicPr>
          <p:cNvPr id="9" name="Picture 8" descr="chart_1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供求四定理数理判定</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（1）均衡点 E (P*, Q*)： </a:t>
            </a:r>
            <a:r>
              <a:rPr sz="1200" b="0">
                <a:solidFill>
                  <a:srgbClr val="1E293B"/>
                </a:solidFill>
                <a:latin typeface="Times New Roman"/>
                <a:ea typeface="宋体"/>
              </a:rPr>
              <a:t>需求曲线 D 与供给曲线 S 的交点，实现市场出清，既无过剩也无短缺。</a:t>
            </a:r>
          </a:p>
          <a:p>
            <a:pPr>
              <a:lnSpc>
                <a:spcPct val="120000"/>
              </a:lnSpc>
              <a:spcAft>
                <a:spcPts val="500"/>
              </a:spcAft>
            </a:pPr>
            <a:r>
              <a:rPr sz="1200" b="1">
                <a:solidFill>
                  <a:srgbClr val="1B3A5C"/>
                </a:solidFill>
                <a:latin typeface="Times New Roman"/>
                <a:ea typeface="宋体"/>
              </a:rPr>
              <a:t>（2）定理一（需求增加）： </a:t>
            </a:r>
            <a:r>
              <a:rPr sz="1200" b="0">
                <a:solidFill>
                  <a:srgbClr val="1E293B"/>
                </a:solidFill>
                <a:latin typeface="Times New Roman"/>
                <a:ea typeface="宋体"/>
              </a:rPr>
              <a:t>D 右移 \implies 均衡价格 P^* 上涨 \uparrow，均衡交易量 Q^* 增加 \uparrow。</a:t>
            </a:r>
          </a:p>
          <a:p>
            <a:pPr>
              <a:lnSpc>
                <a:spcPct val="120000"/>
              </a:lnSpc>
              <a:spcAft>
                <a:spcPts val="500"/>
              </a:spcAft>
            </a:pPr>
            <a:r>
              <a:rPr sz="1200" b="1">
                <a:solidFill>
                  <a:srgbClr val="1B3A5C"/>
                </a:solidFill>
                <a:latin typeface="Times New Roman"/>
                <a:ea typeface="宋体"/>
              </a:rPr>
              <a:t>（3）定理二（需求减少）： </a:t>
            </a:r>
            <a:r>
              <a:rPr sz="1200" b="0">
                <a:solidFill>
                  <a:srgbClr val="1E293B"/>
                </a:solidFill>
                <a:latin typeface="Times New Roman"/>
                <a:ea typeface="宋体"/>
              </a:rPr>
              <a:t>D 左移 \implies 均衡价格 P^* 下跌 \downarrow，均衡交易量 Q^* 减少 \downarrow。</a:t>
            </a:r>
          </a:p>
          <a:p>
            <a:pPr>
              <a:lnSpc>
                <a:spcPct val="120000"/>
              </a:lnSpc>
              <a:spcAft>
                <a:spcPts val="500"/>
              </a:spcAft>
            </a:pPr>
            <a:r>
              <a:rPr sz="1200" b="1">
                <a:solidFill>
                  <a:srgbClr val="1B3A5C"/>
                </a:solidFill>
                <a:latin typeface="Times New Roman"/>
                <a:ea typeface="宋体"/>
              </a:rPr>
              <a:t>（4）定理三（供给增加）： </a:t>
            </a:r>
            <a:r>
              <a:rPr sz="1200" b="0">
                <a:solidFill>
                  <a:srgbClr val="1E293B"/>
                </a:solidFill>
                <a:latin typeface="Times New Roman"/>
                <a:ea typeface="宋体"/>
              </a:rPr>
              <a:t>S 右移 \implies 均衡价格 P^* 下跌 \downarrow，均衡交易量 Q^* 增加 \uparrow。</a:t>
            </a:r>
          </a:p>
          <a:p>
            <a:pPr>
              <a:lnSpc>
                <a:spcPct val="120000"/>
              </a:lnSpc>
              <a:spcAft>
                <a:spcPts val="500"/>
              </a:spcAft>
            </a:pPr>
            <a:r>
              <a:rPr sz="1200" b="1">
                <a:solidFill>
                  <a:srgbClr val="1B3A5C"/>
                </a:solidFill>
                <a:latin typeface="Times New Roman"/>
                <a:ea typeface="宋体"/>
              </a:rPr>
              <a:t>（5）定理四（供给减少）： </a:t>
            </a:r>
            <a:r>
              <a:rPr sz="1200" b="0">
                <a:solidFill>
                  <a:srgbClr val="1E293B"/>
                </a:solidFill>
                <a:latin typeface="Times New Roman"/>
                <a:ea typeface="宋体"/>
              </a:rPr>
              <a:t>S 左移 \implies 均衡价格 P^* 上涨 \uparrow，均衡交易量 Q^* 减少 \downarrow。</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理论精要：亚当·斯密'看不见的手'通过价格的自发上下波动，引导市场自发消除过剩或短缺，回归最优均衡。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供求法则和需求—供给分析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二、市场均衡的代数方程联立求解与动态稳定性</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供求方程联立求解实操</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（1）已知方程组： </a:t>
            </a:r>
            <a:r>
              <a:rPr sz="1250" b="0">
                <a:solidFill>
                  <a:srgbClr val="1E293B"/>
                </a:solidFill>
                <a:latin typeface="Times New Roman"/>
                <a:ea typeface="宋体"/>
              </a:rPr>
              <a:t>需求方程 Q_d = 800 - 100P，供给方程 Q_s = -400 + 200P。</a:t>
            </a:r>
          </a:p>
          <a:p>
            <a:pPr>
              <a:lnSpc>
                <a:spcPct val="120000"/>
              </a:lnSpc>
              <a:spcAft>
                <a:spcPts val="600"/>
              </a:spcAft>
            </a:pPr>
            <a:r>
              <a:rPr sz="1250" b="1">
                <a:solidFill>
                  <a:srgbClr val="1B3A5C"/>
                </a:solidFill>
                <a:latin typeface="Times New Roman"/>
                <a:ea typeface="宋体"/>
              </a:rPr>
              <a:t>（2）市场出清条件： </a:t>
            </a:r>
            <a:r>
              <a:rPr sz="1250" b="0">
                <a:solidFill>
                  <a:srgbClr val="1E293B"/>
                </a:solidFill>
                <a:latin typeface="Times New Roman"/>
                <a:ea typeface="宋体"/>
              </a:rPr>
              <a:t>令 Q_d = Q_s \implies 800 - 100P = -400 + 200P \implies 300P = 1200。</a:t>
            </a:r>
          </a:p>
          <a:p>
            <a:pPr>
              <a:lnSpc>
                <a:spcPct val="120000"/>
              </a:lnSpc>
              <a:spcAft>
                <a:spcPts val="600"/>
              </a:spcAft>
            </a:pPr>
            <a:r>
              <a:rPr sz="1250" b="1">
                <a:solidFill>
                  <a:srgbClr val="1B3A5C"/>
                </a:solidFill>
                <a:latin typeface="Times New Roman"/>
                <a:ea typeface="宋体"/>
              </a:rPr>
              <a:t>（3）均衡解： </a:t>
            </a:r>
            <a:r>
              <a:rPr sz="1250" b="0">
                <a:solidFill>
                  <a:srgbClr val="1E293B"/>
                </a:solidFill>
                <a:latin typeface="Times New Roman"/>
                <a:ea typeface="宋体"/>
              </a:rPr>
              <a:t>均衡价格 P^* = 4.00 元/件，代入求得均衡交易量 Q^* = 800 - 100(4) = 400 单位。</a:t>
            </a:r>
          </a:p>
          <a:p>
            <a:pPr>
              <a:lnSpc>
                <a:spcPct val="120000"/>
              </a:lnSpc>
              <a:spcAft>
                <a:spcPts val="600"/>
              </a:spcAft>
            </a:pPr>
            <a:r>
              <a:rPr sz="1250" b="1">
                <a:solidFill>
                  <a:srgbClr val="1B3A5C"/>
                </a:solidFill>
                <a:latin typeface="Times New Roman"/>
                <a:ea typeface="宋体"/>
              </a:rPr>
              <a:t>（4）失衡调节验证： </a:t>
            </a:r>
            <a:r>
              <a:rPr sz="1250" b="0">
                <a:solidFill>
                  <a:srgbClr val="1E293B"/>
                </a:solidFill>
                <a:latin typeface="Times New Roman"/>
                <a:ea typeface="宋体"/>
              </a:rPr>
              <a:t>若现行市价 P=5元 \implies Q_d=300, Q_s=600 \implies 市场过剩 300 单位，厂商竞争降价促使价格回落至 4元。</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瓦尔拉斯与马歇尔稳定性机制</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（1）瓦尔拉斯价格调整机制： </a:t>
            </a:r>
            <a:r>
              <a:rPr sz="1250" b="0">
                <a:solidFill>
                  <a:srgbClr val="1E293B"/>
                </a:solidFill>
                <a:latin typeface="Times New Roman"/>
                <a:ea typeface="宋体"/>
              </a:rPr>
              <a:t>供不应求（超额需求）推高价格，供过于求（超额供给）压低价格。</a:t>
            </a:r>
          </a:p>
          <a:p>
            <a:pPr>
              <a:lnSpc>
                <a:spcPct val="120000"/>
              </a:lnSpc>
              <a:spcAft>
                <a:spcPts val="600"/>
              </a:spcAft>
            </a:pPr>
            <a:r>
              <a:rPr sz="1250" b="1">
                <a:solidFill>
                  <a:srgbClr val="2E86C1"/>
                </a:solidFill>
                <a:latin typeface="Times New Roman"/>
                <a:ea typeface="宋体"/>
              </a:rPr>
              <a:t>（2）马歇尔数量调整机制： </a:t>
            </a:r>
            <a:r>
              <a:rPr sz="1250" b="0">
                <a:solidFill>
                  <a:srgbClr val="1E293B"/>
                </a:solidFill>
                <a:latin typeface="Times New Roman"/>
                <a:ea typeface="宋体"/>
              </a:rPr>
              <a:t>需求价格高于供给价格刺激扩产，需求价格低于供给价格促使减产。</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核心要点：代数方程联立求解将定性供求逻辑转化为精确可测的量化决策结果。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供求法则和需求—供给分析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三、政府税收干预、税负转嫁与无谓损失（DWL）</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pic>
        <p:nvPicPr>
          <p:cNvPr id="9" name="Picture 8" descr="chart_1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从量税税负转嫁与弹性分摊法则</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（1）法定纳税人 vs 实际负税人： </a:t>
            </a:r>
            <a:r>
              <a:rPr sz="1200" b="0">
                <a:solidFill>
                  <a:srgbClr val="1E293B"/>
                </a:solidFill>
                <a:latin typeface="Times New Roman"/>
                <a:ea typeface="宋体"/>
              </a:rPr>
              <a:t>政府向生产者征收从量税 t，导致供给曲线向上平移 t 个单位（S \to S_t）。</a:t>
            </a:r>
          </a:p>
          <a:p>
            <a:pPr>
              <a:lnSpc>
                <a:spcPct val="120000"/>
              </a:lnSpc>
              <a:spcAft>
                <a:spcPts val="500"/>
              </a:spcAft>
            </a:pPr>
            <a:r>
              <a:rPr sz="1200" b="1">
                <a:solidFill>
                  <a:srgbClr val="1B3A5C"/>
                </a:solidFill>
                <a:latin typeface="Times New Roman"/>
                <a:ea typeface="宋体"/>
              </a:rPr>
              <a:t>（2）消费者支付价与生产者实得价： </a:t>
            </a:r>
            <a:r>
              <a:rPr sz="1200" b="0">
                <a:solidFill>
                  <a:srgbClr val="1E293B"/>
                </a:solidFill>
                <a:latin typeface="Times New Roman"/>
                <a:ea typeface="宋体"/>
              </a:rPr>
              <a:t>消费者支付价上升为 P_c，生产者扣税后实得价下降为 P_s = P_c - t。</a:t>
            </a:r>
          </a:p>
          <a:p>
            <a:pPr>
              <a:lnSpc>
                <a:spcPct val="120000"/>
              </a:lnSpc>
              <a:spcAft>
                <a:spcPts val="500"/>
              </a:spcAft>
            </a:pPr>
            <a:r>
              <a:rPr sz="1200" b="1">
                <a:solidFill>
                  <a:srgbClr val="1B3A5C"/>
                </a:solidFill>
                <a:latin typeface="Times New Roman"/>
                <a:ea typeface="宋体"/>
              </a:rPr>
              <a:t>（3）税负转嫁分摊定理： </a:t>
            </a:r>
            <a:r>
              <a:rPr sz="1200" b="0">
                <a:solidFill>
                  <a:srgbClr val="1E293B"/>
                </a:solidFill>
                <a:latin typeface="Times New Roman"/>
                <a:ea typeface="宋体"/>
              </a:rPr>
              <a:t>消费者税负 / 生产者税负 = E_s / |E_p|（税负主要由需求弹性较小的一方承担！）。</a:t>
            </a:r>
          </a:p>
          <a:p>
            <a:pPr>
              <a:lnSpc>
                <a:spcPct val="120000"/>
              </a:lnSpc>
              <a:spcAft>
                <a:spcPts val="500"/>
              </a:spcAft>
            </a:pPr>
            <a:r>
              <a:rPr sz="1200" b="1">
                <a:solidFill>
                  <a:srgbClr val="1B3A5C"/>
                </a:solidFill>
                <a:latin typeface="Times New Roman"/>
                <a:ea typeface="宋体"/>
              </a:rPr>
              <a:t>（4）社会无谓损失（Deadweight Loss）： </a:t>
            </a:r>
            <a:r>
              <a:rPr sz="1200" b="0">
                <a:solidFill>
                  <a:srgbClr val="1E293B"/>
                </a:solidFill>
                <a:latin typeface="Times New Roman"/>
                <a:ea typeface="宋体"/>
              </a:rPr>
              <a:t>三角形 DWL 区域代表由于交易量被税收扭曲萎缩（Q_t &lt; Q_0）所损失的社会纯福利！</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理论精要：税负转嫁不受政府立法指定影响，而是完全取决于买卖双方在市场上的相对价格弹性力量对比。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供求法则和需求—供给分析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四、政府价格管制（一）：最高限价（价格上限）经济效应</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最高限价（Price Ceiling）政策机制</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（1）政策出台目的： </a:t>
            </a:r>
            <a:r>
              <a:rPr sz="1250" b="0">
                <a:solidFill>
                  <a:srgbClr val="1E293B"/>
                </a:solidFill>
                <a:latin typeface="Times New Roman"/>
                <a:ea typeface="宋体"/>
              </a:rPr>
              <a:t>平抑生活必需品暴涨，保护低收入群体基本生活福利（如战时粮食、平价药品、廉租房）。</a:t>
            </a:r>
          </a:p>
          <a:p>
            <a:pPr>
              <a:lnSpc>
                <a:spcPct val="120000"/>
              </a:lnSpc>
              <a:spcAft>
                <a:spcPts val="600"/>
              </a:spcAft>
            </a:pPr>
            <a:r>
              <a:rPr sz="1250" b="1">
                <a:solidFill>
                  <a:srgbClr val="1B3A5C"/>
                </a:solidFill>
                <a:latin typeface="Times New Roman"/>
                <a:ea typeface="宋体"/>
              </a:rPr>
              <a:t>（2）实施生效前提： </a:t>
            </a:r>
            <a:r>
              <a:rPr sz="1250" b="0">
                <a:solidFill>
                  <a:srgbClr val="1E293B"/>
                </a:solidFill>
                <a:latin typeface="Times New Roman"/>
                <a:ea typeface="宋体"/>
              </a:rPr>
              <a:t>法定最高限价 P_c 必须严格低于自由市场出清均衡价 P^*，否则限价形同虚设。</a:t>
            </a:r>
          </a:p>
          <a:p>
            <a:pPr>
              <a:lnSpc>
                <a:spcPct val="120000"/>
              </a:lnSpc>
              <a:spcAft>
                <a:spcPts val="600"/>
              </a:spcAft>
            </a:pPr>
            <a:r>
              <a:rPr sz="1250" b="1">
                <a:solidFill>
                  <a:srgbClr val="1B3A5C"/>
                </a:solidFill>
                <a:latin typeface="Times New Roman"/>
                <a:ea typeface="宋体"/>
              </a:rPr>
              <a:t>（3）直接供求缺口： </a:t>
            </a:r>
            <a:r>
              <a:rPr sz="1250" b="0">
                <a:solidFill>
                  <a:srgbClr val="1E293B"/>
                </a:solidFill>
                <a:latin typeface="Times New Roman"/>
                <a:ea typeface="宋体"/>
              </a:rPr>
              <a:t>低价抑制生产供给意愿（Q_s 萎缩），同时刺激消费需求膨胀（Q_d 爆发），造成持久供不应求。</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最高限价引致的五大衍生严重弊端</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2E86C1"/>
                </a:solidFill>
                <a:latin typeface="Times New Roman"/>
                <a:ea typeface="宋体"/>
              </a:rPr>
              <a:t>（1）排队与配额配给制： </a:t>
            </a:r>
            <a:r>
              <a:rPr sz="1150" b="0">
                <a:solidFill>
                  <a:srgbClr val="1E293B"/>
                </a:solidFill>
                <a:latin typeface="Times New Roman"/>
                <a:ea typeface="宋体"/>
              </a:rPr>
              <a:t>消费者被迫耗费大量时间排长队，或政府实行凭票配给。</a:t>
            </a:r>
          </a:p>
          <a:p>
            <a:pPr>
              <a:lnSpc>
                <a:spcPct val="120000"/>
              </a:lnSpc>
              <a:spcAft>
                <a:spcPts val="300"/>
              </a:spcAft>
            </a:pPr>
            <a:r>
              <a:rPr sz="1150" b="1">
                <a:solidFill>
                  <a:srgbClr val="2E86C1"/>
                </a:solidFill>
                <a:latin typeface="Times New Roman"/>
                <a:ea typeface="宋体"/>
              </a:rPr>
              <a:t>（2）黑市地下交易滋生： </a:t>
            </a:r>
            <a:r>
              <a:rPr sz="1150" b="0">
                <a:solidFill>
                  <a:srgbClr val="1E293B"/>
                </a:solidFill>
                <a:latin typeface="Times New Roman"/>
                <a:ea typeface="宋体"/>
              </a:rPr>
              <a:t>黑市黄牛高价倒卖，实际黑市成交价往往远高于原市场自由均衡价。</a:t>
            </a:r>
          </a:p>
          <a:p>
            <a:pPr>
              <a:lnSpc>
                <a:spcPct val="120000"/>
              </a:lnSpc>
              <a:spcAft>
                <a:spcPts val="300"/>
              </a:spcAft>
            </a:pPr>
            <a:r>
              <a:rPr sz="1150" b="1">
                <a:solidFill>
                  <a:srgbClr val="2E86C1"/>
                </a:solidFill>
                <a:latin typeface="Times New Roman"/>
                <a:ea typeface="宋体"/>
              </a:rPr>
              <a:t>（3）产品质量变相劣化： </a:t>
            </a:r>
            <a:r>
              <a:rPr sz="1150" b="0">
                <a:solidFill>
                  <a:srgbClr val="1E293B"/>
                </a:solidFill>
                <a:latin typeface="Times New Roman"/>
                <a:ea typeface="宋体"/>
              </a:rPr>
              <a:t>厂商在限价下无法盈利，转而偷工减料、降低服务标准。</a:t>
            </a:r>
          </a:p>
          <a:p>
            <a:pPr>
              <a:lnSpc>
                <a:spcPct val="120000"/>
              </a:lnSpc>
              <a:spcAft>
                <a:spcPts val="300"/>
              </a:spcAft>
            </a:pPr>
            <a:r>
              <a:rPr sz="1150" b="1">
                <a:solidFill>
                  <a:srgbClr val="2E86C1"/>
                </a:solidFill>
                <a:latin typeface="Times New Roman"/>
                <a:ea typeface="宋体"/>
              </a:rPr>
              <a:t>（4）寻租腐败与权力干预： </a:t>
            </a:r>
            <a:r>
              <a:rPr sz="1150" b="0">
                <a:solidFill>
                  <a:srgbClr val="1E293B"/>
                </a:solidFill>
                <a:latin typeface="Times New Roman"/>
                <a:ea typeface="宋体"/>
              </a:rPr>
              <a:t>掌握紧缺配额指标审批权的官员产生权力寻租空间。</a:t>
            </a:r>
          </a:p>
          <a:p>
            <a:pPr>
              <a:lnSpc>
                <a:spcPct val="120000"/>
              </a:lnSpc>
              <a:spcAft>
                <a:spcPts val="300"/>
              </a:spcAft>
            </a:pPr>
            <a:r>
              <a:rPr sz="1150" b="1">
                <a:solidFill>
                  <a:srgbClr val="2E86C1"/>
                </a:solidFill>
                <a:latin typeface="Times New Roman"/>
                <a:ea typeface="宋体"/>
              </a:rPr>
              <a:t>（5）社会效率净损失： </a:t>
            </a:r>
            <a:r>
              <a:rPr sz="1150" b="0">
                <a:solidFill>
                  <a:srgbClr val="1E293B"/>
                </a:solidFill>
                <a:latin typeface="Times New Roman"/>
                <a:ea typeface="宋体"/>
              </a:rPr>
              <a:t>商品未能配置给支付意愿最高的最急需消费者。</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核心要点：最高限价虽然出于善意保护消费者，但若无政府配套财政补贴与保供，必然导致普遍短缺与黑市泛滥。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供求法则和需求—供给分析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四、政府价格管制（二）：最低支持价格（价格下限）经济效应</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最低支持价格（Price Floor）政策机制</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（1）政策出台目的： </a:t>
            </a:r>
            <a:r>
              <a:rPr sz="1250" b="0">
                <a:solidFill>
                  <a:srgbClr val="1E293B"/>
                </a:solidFill>
                <a:latin typeface="Times New Roman"/>
                <a:ea typeface="宋体"/>
              </a:rPr>
              <a:t>保障特定弱势生产者利益（如农产品保护价托市收购、法定最低工资标准）。</a:t>
            </a:r>
          </a:p>
          <a:p>
            <a:pPr>
              <a:lnSpc>
                <a:spcPct val="120000"/>
              </a:lnSpc>
              <a:spcAft>
                <a:spcPts val="600"/>
              </a:spcAft>
            </a:pPr>
            <a:r>
              <a:rPr sz="1250" b="1">
                <a:solidFill>
                  <a:srgbClr val="1B3A5C"/>
                </a:solidFill>
                <a:latin typeface="Times New Roman"/>
                <a:ea typeface="宋体"/>
              </a:rPr>
              <a:t>（2）实施生效前提： </a:t>
            </a:r>
            <a:r>
              <a:rPr sz="1250" b="0">
                <a:solidFill>
                  <a:srgbClr val="1E293B"/>
                </a:solidFill>
                <a:latin typeface="Times New Roman"/>
                <a:ea typeface="宋体"/>
              </a:rPr>
              <a:t>法定支持价 P_f 必须严格高于自由市场出清均衡价 P^*。</a:t>
            </a:r>
          </a:p>
          <a:p>
            <a:pPr>
              <a:lnSpc>
                <a:spcPct val="120000"/>
              </a:lnSpc>
              <a:spcAft>
                <a:spcPts val="600"/>
              </a:spcAft>
            </a:pPr>
            <a:r>
              <a:rPr sz="1250" b="1">
                <a:solidFill>
                  <a:srgbClr val="1B3A5C"/>
                </a:solidFill>
                <a:latin typeface="Times New Roman"/>
                <a:ea typeface="宋体"/>
              </a:rPr>
              <a:t>（3）直接市场表象： </a:t>
            </a:r>
            <a:r>
              <a:rPr sz="1250" b="0">
                <a:solidFill>
                  <a:srgbClr val="1E293B"/>
                </a:solidFill>
                <a:latin typeface="Times New Roman"/>
                <a:ea typeface="宋体"/>
              </a:rPr>
              <a:t>高价刺激生产者盲目扩产（Q_s 飙升），而消费者购买量急剧萎缩（Q_d 骤减），造成严重产品过剩。</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最低支持价格的三大严重后果</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（1）市场严重过剩与库存积压： </a:t>
            </a:r>
            <a:r>
              <a:rPr sz="1250" b="0">
                <a:solidFill>
                  <a:srgbClr val="1E293B"/>
                </a:solidFill>
                <a:latin typeface="Times New Roman"/>
                <a:ea typeface="宋体"/>
              </a:rPr>
              <a:t>大量过剩商品积压在仓库无法被市场自发消化。</a:t>
            </a:r>
          </a:p>
          <a:p>
            <a:pPr>
              <a:lnSpc>
                <a:spcPct val="120000"/>
              </a:lnSpc>
              <a:spcAft>
                <a:spcPts val="600"/>
              </a:spcAft>
            </a:pPr>
            <a:r>
              <a:rPr sz="1250" b="1">
                <a:solidFill>
                  <a:srgbClr val="2E86C1"/>
                </a:solidFill>
                <a:latin typeface="Times New Roman"/>
                <a:ea typeface="宋体"/>
              </a:rPr>
              <a:t>（2）沉重的政府财政收购包袱： </a:t>
            </a:r>
            <a:r>
              <a:rPr sz="1250" b="0">
                <a:solidFill>
                  <a:srgbClr val="1E293B"/>
                </a:solidFill>
                <a:latin typeface="Times New Roman"/>
                <a:ea typeface="宋体"/>
              </a:rPr>
              <a:t>为维持保护价，政府必须动用巨额财政纳税人资金兜底收购并承担仓储陈化损失。</a:t>
            </a:r>
          </a:p>
          <a:p>
            <a:pPr>
              <a:lnSpc>
                <a:spcPct val="120000"/>
              </a:lnSpc>
              <a:spcAft>
                <a:spcPts val="600"/>
              </a:spcAft>
            </a:pPr>
            <a:r>
              <a:rPr sz="1250" b="1">
                <a:solidFill>
                  <a:srgbClr val="2E86C1"/>
                </a:solidFill>
                <a:latin typeface="Times New Roman"/>
                <a:ea typeface="宋体"/>
              </a:rPr>
              <a:t>（3）劳动力市场隐性失业风险： </a:t>
            </a:r>
            <a:r>
              <a:rPr sz="1250" b="0">
                <a:solidFill>
                  <a:srgbClr val="1E293B"/>
                </a:solidFill>
                <a:latin typeface="Times New Roman"/>
                <a:ea typeface="宋体"/>
              </a:rPr>
              <a:t>过高的法定最低工资标准可能迫使中小企业减少用工或加速机器人替代，导致低技能劳动力失业。</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核心要点：价格管制必须审慎权衡公平与效率，脱离市场规律的干预往往带来高昂的财政与社会沉没成本。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供求法则和需求—供给分析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五、蛛网模型（Cobweb Model）——生产滞后期的动态波动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1. 收敛型蛛网（D 弹性 &gt; S 弹性）</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（1）斜率特征： </a:t>
            </a:r>
            <a:r>
              <a:rPr sz="1200" b="0">
                <a:solidFill>
                  <a:srgbClr val="1E293B"/>
                </a:solidFill>
                <a:latin typeface="Times New Roman"/>
                <a:ea typeface="宋体"/>
              </a:rPr>
              <a:t>需求曲线斜率绝对值 &lt; 供给曲线斜率绝对值（需求弹性大于供给弹性）。</a:t>
            </a:r>
          </a:p>
          <a:p>
            <a:pPr>
              <a:lnSpc>
                <a:spcPct val="120000"/>
              </a:lnSpc>
              <a:spcAft>
                <a:spcPts val="500"/>
              </a:spcAft>
            </a:pPr>
            <a:r>
              <a:rPr sz="1200" b="1">
                <a:solidFill>
                  <a:srgbClr val="1B3A5C"/>
                </a:solidFill>
                <a:latin typeface="Times New Roman"/>
                <a:ea typeface="宋体"/>
              </a:rPr>
              <a:t>（2）动态收敛路径： </a:t>
            </a:r>
            <a:r>
              <a:rPr sz="1200" b="0">
                <a:solidFill>
                  <a:srgbClr val="1E293B"/>
                </a:solidFill>
                <a:latin typeface="Times New Roman"/>
                <a:ea typeface="宋体"/>
              </a:rPr>
              <a:t>价格偏离均衡后，波动幅度一期比一期缩小，最终自发螺旋收敛至均衡点 E。</a:t>
            </a:r>
          </a:p>
          <a:p>
            <a:pPr>
              <a:lnSpc>
                <a:spcPct val="120000"/>
              </a:lnSpc>
              <a:spcAft>
                <a:spcPts val="500"/>
              </a:spcAft>
            </a:pPr>
            <a:r>
              <a:rPr sz="1200" b="1">
                <a:solidFill>
                  <a:srgbClr val="1B3A5C"/>
                </a:solidFill>
                <a:latin typeface="Times New Roman"/>
                <a:ea typeface="宋体"/>
              </a:rPr>
              <a:t>（3）经济学含义： </a:t>
            </a:r>
            <a:r>
              <a:rPr sz="1200" b="0">
                <a:solidFill>
                  <a:srgbClr val="1E293B"/>
                </a:solidFill>
                <a:latin typeface="Times New Roman"/>
                <a:ea typeface="宋体"/>
              </a:rPr>
              <a:t>市场具备极强的自我修复与自我稳定机制。</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2. 发散型蛛网（D 弹性 &lt; S 弹性）</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（1）斜率特征： </a:t>
            </a:r>
            <a:r>
              <a:rPr sz="1200" b="0">
                <a:solidFill>
                  <a:srgbClr val="1E293B"/>
                </a:solidFill>
                <a:latin typeface="Times New Roman"/>
                <a:ea typeface="宋体"/>
              </a:rPr>
              <a:t>需求曲线斜率绝对值 &gt; 供给曲线斜率绝对值（需求弹性小于供给弹性）。</a:t>
            </a:r>
          </a:p>
          <a:p>
            <a:pPr>
              <a:lnSpc>
                <a:spcPct val="120000"/>
              </a:lnSpc>
              <a:spcAft>
                <a:spcPts val="500"/>
              </a:spcAft>
            </a:pPr>
            <a:r>
              <a:rPr sz="1200" b="1">
                <a:solidFill>
                  <a:srgbClr val="2E86C1"/>
                </a:solidFill>
                <a:latin typeface="Times New Roman"/>
                <a:ea typeface="宋体"/>
              </a:rPr>
              <a:t>（2）动态发散路径： </a:t>
            </a:r>
            <a:r>
              <a:rPr sz="1200" b="0">
                <a:solidFill>
                  <a:srgbClr val="1E293B"/>
                </a:solidFill>
                <a:latin typeface="Times New Roman"/>
                <a:ea typeface="宋体"/>
              </a:rPr>
              <a:t>价格与产量的波动幅度一期比一期剧烈放大，远离均衡点。</a:t>
            </a:r>
          </a:p>
          <a:p>
            <a:pPr>
              <a:lnSpc>
                <a:spcPct val="120000"/>
              </a:lnSpc>
              <a:spcAft>
                <a:spcPts val="500"/>
              </a:spcAft>
            </a:pPr>
            <a:r>
              <a:rPr sz="1200" b="1">
                <a:solidFill>
                  <a:srgbClr val="2E86C1"/>
                </a:solidFill>
                <a:latin typeface="Times New Roman"/>
                <a:ea typeface="宋体"/>
              </a:rPr>
              <a:t>（3）经济学含义： </a:t>
            </a:r>
            <a:r>
              <a:rPr sz="1200" b="0">
                <a:solidFill>
                  <a:srgbClr val="1E293B"/>
                </a:solidFill>
                <a:latin typeface="Times New Roman"/>
                <a:ea typeface="宋体"/>
              </a:rPr>
              <a:t>价格暴涨暴跌无法自发平抑，需政府介入设立风险基金。</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3. 封闭型蛛网（D 弹性 = S 弹性）</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（1）斜率特征： </a:t>
            </a:r>
            <a:r>
              <a:rPr sz="1200" b="0">
                <a:solidFill>
                  <a:srgbClr val="1E293B"/>
                </a:solidFill>
                <a:latin typeface="Times New Roman"/>
                <a:ea typeface="宋体"/>
              </a:rPr>
              <a:t>需求曲线斜率绝对值 = 供给曲线斜率绝对值。</a:t>
            </a:r>
          </a:p>
          <a:p>
            <a:pPr>
              <a:lnSpc>
                <a:spcPct val="120000"/>
              </a:lnSpc>
              <a:spcAft>
                <a:spcPts val="500"/>
              </a:spcAft>
            </a:pPr>
            <a:r>
              <a:rPr sz="1200" b="1">
                <a:solidFill>
                  <a:srgbClr val="1A8C5D"/>
                </a:solidFill>
                <a:latin typeface="Times New Roman"/>
                <a:ea typeface="宋体"/>
              </a:rPr>
              <a:t>（2）闭环振荡路径： </a:t>
            </a:r>
            <a:r>
              <a:rPr sz="1200" b="0">
                <a:solidFill>
                  <a:srgbClr val="1E293B"/>
                </a:solidFill>
                <a:latin typeface="Times New Roman"/>
                <a:ea typeface="宋体"/>
              </a:rPr>
              <a:t>价格与产量在既定周期内按恒定振幅无限周而复始循环波动。</a:t>
            </a:r>
          </a:p>
          <a:p>
            <a:pPr>
              <a:lnSpc>
                <a:spcPct val="120000"/>
              </a:lnSpc>
              <a:spcAft>
                <a:spcPts val="500"/>
              </a:spcAft>
            </a:pPr>
            <a:r>
              <a:rPr sz="1200" b="1">
                <a:solidFill>
                  <a:srgbClr val="1A8C5D"/>
                </a:solidFill>
                <a:latin typeface="Times New Roman"/>
                <a:ea typeface="宋体"/>
              </a:rPr>
              <a:t>（3）经典现实： </a:t>
            </a:r>
            <a:r>
              <a:rPr sz="1200" b="0">
                <a:solidFill>
                  <a:srgbClr val="1E293B"/>
                </a:solidFill>
                <a:latin typeface="Times New Roman"/>
                <a:ea typeface="宋体"/>
              </a:rPr>
              <a:t>农业'猪周期'因生猪繁育滞后性呈现典型蛛网波动特征。</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核心要点：蛛网模型深刻揭示了生产存在时间滞后期的农牧业周期性波动根源，为企业跨周期排产提供理论支撑。</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消费者选择理论</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解析效用论、无差异曲线、预算约束线及消费者最优选择均衡条件的数理证明。</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第1章 市场供求及其运行机制 · 权威教材精细化教学架构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消费者选择理论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一、基数效用论与边际效用递减规律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欲望、效用与总效用函数</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（1）效用（Utility）定义： </a:t>
            </a:r>
            <a:r>
              <a:rPr sz="1250" b="0">
                <a:solidFill>
                  <a:srgbClr val="1E293B"/>
                </a:solidFill>
                <a:latin typeface="Times New Roman"/>
                <a:ea typeface="宋体"/>
              </a:rPr>
              <a:t>消费者从消费某种商品或服务中所获得的满足感与主观心理评价。</a:t>
            </a:r>
          </a:p>
          <a:p>
            <a:pPr>
              <a:lnSpc>
                <a:spcPct val="120000"/>
              </a:lnSpc>
              <a:spcAft>
                <a:spcPts val="600"/>
              </a:spcAft>
            </a:pPr>
            <a:r>
              <a:rPr sz="1250" b="1">
                <a:solidFill>
                  <a:srgbClr val="1B3A5C"/>
                </a:solidFill>
                <a:latin typeface="Times New Roman"/>
                <a:ea typeface="宋体"/>
              </a:rPr>
              <a:t>（2）总效用函数 TU(Q)： </a:t>
            </a:r>
            <a:r>
              <a:rPr sz="1250" b="0">
                <a:solidFill>
                  <a:srgbClr val="1E293B"/>
                </a:solidFill>
                <a:latin typeface="Times New Roman"/>
                <a:ea typeface="宋体"/>
              </a:rPr>
              <a:t>消费者消费一定数量商品所获得的总满足水平。</a:t>
            </a:r>
          </a:p>
          <a:p>
            <a:pPr>
              <a:lnSpc>
                <a:spcPct val="120000"/>
              </a:lnSpc>
              <a:spcAft>
                <a:spcPts val="600"/>
              </a:spcAft>
            </a:pPr>
            <a:r>
              <a:rPr sz="1250" b="1">
                <a:solidFill>
                  <a:srgbClr val="1B3A5C"/>
                </a:solidFill>
                <a:latin typeface="Times New Roman"/>
                <a:ea typeface="宋体"/>
              </a:rPr>
              <a:t>（3）边际效用 (MU) 公式： </a:t>
            </a:r>
            <a:r>
              <a:rPr sz="1250" b="0">
                <a:solidFill>
                  <a:srgbClr val="1E293B"/>
                </a:solidFill>
                <a:latin typeface="Times New Roman"/>
                <a:ea typeface="宋体"/>
              </a:rPr>
              <a:t>MU = \frac{\Delta TU}{\Delta Q} = \frac{dTU}{dQ}（消费量每增加 1 单位所引起的总效用增量）。</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边际效用递减规律与消费者剩余</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（1）边际效用递减规律： </a:t>
            </a:r>
            <a:r>
              <a:rPr sz="1250" b="0">
                <a:solidFill>
                  <a:srgbClr val="1E293B"/>
                </a:solidFill>
                <a:latin typeface="Times New Roman"/>
                <a:ea typeface="宋体"/>
              </a:rPr>
              <a:t>在一定时间内，随着消费者消费某种商品数量的不断增加，新增每一单位所带来的效用增量不断递减。</a:t>
            </a:r>
          </a:p>
          <a:p>
            <a:pPr>
              <a:lnSpc>
                <a:spcPct val="120000"/>
              </a:lnSpc>
              <a:spcAft>
                <a:spcPts val="600"/>
              </a:spcAft>
            </a:pPr>
            <a:r>
              <a:rPr sz="1250" b="1">
                <a:solidFill>
                  <a:srgbClr val="2E86C1"/>
                </a:solidFill>
                <a:latin typeface="Times New Roman"/>
                <a:ea typeface="宋体"/>
              </a:rPr>
              <a:t>（2）水与钻石价值悖论： </a:t>
            </a:r>
            <a:r>
              <a:rPr sz="1250" b="0">
                <a:solidFill>
                  <a:srgbClr val="1E293B"/>
                </a:solidFill>
                <a:latin typeface="Times New Roman"/>
                <a:ea typeface="宋体"/>
              </a:rPr>
              <a:t>水对生命极其重要但总供应充裕，边际效用极低故价格便宜；钻石虽非生存必需但极其稀缺，边际效用极高故昂贵。</a:t>
            </a:r>
          </a:p>
          <a:p>
            <a:pPr>
              <a:lnSpc>
                <a:spcPct val="120000"/>
              </a:lnSpc>
              <a:spcAft>
                <a:spcPts val="600"/>
              </a:spcAft>
            </a:pPr>
            <a:r>
              <a:rPr sz="1250" b="1">
                <a:solidFill>
                  <a:srgbClr val="2E86C1"/>
                </a:solidFill>
                <a:latin typeface="Times New Roman"/>
                <a:ea typeface="宋体"/>
              </a:rPr>
              <a:t>（3）消费者剩余（Consumer Surplus）： </a:t>
            </a:r>
            <a:r>
              <a:rPr sz="1250" b="0">
                <a:solidFill>
                  <a:srgbClr val="1E293B"/>
                </a:solidFill>
                <a:latin typeface="Times New Roman"/>
                <a:ea typeface="宋体"/>
              </a:rPr>
              <a:t>消费者愿意支付的最高总意愿价格与实际支付的市场总价格之间的差额。</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核心要点：边际效用决定商品的市场价格，而非总效用；边际效用递减规律构成了负斜率需求曲线的心理基础。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消费者选择理论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二、序数效用论与无差异曲线四大基本特征</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无差异曲线（Indifference Curve）的界定</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（1）序数效用概念： </a:t>
            </a:r>
            <a:r>
              <a:rPr sz="1250" b="0">
                <a:solidFill>
                  <a:srgbClr val="1E293B"/>
                </a:solidFill>
                <a:latin typeface="Times New Roman"/>
                <a:ea typeface="宋体"/>
              </a:rPr>
              <a:t>效用无法用绝对数值基数度量，只能通过偏好序列进行第一、第二的排序。</a:t>
            </a:r>
          </a:p>
          <a:p>
            <a:pPr>
              <a:lnSpc>
                <a:spcPct val="120000"/>
              </a:lnSpc>
              <a:spcAft>
                <a:spcPts val="600"/>
              </a:spcAft>
            </a:pPr>
            <a:r>
              <a:rPr sz="1250" b="1">
                <a:solidFill>
                  <a:srgbClr val="1B3A5C"/>
                </a:solidFill>
                <a:latin typeface="Times New Roman"/>
                <a:ea typeface="宋体"/>
              </a:rPr>
              <a:t>（2）无差异曲线定义： </a:t>
            </a:r>
            <a:r>
              <a:rPr sz="1250" b="0">
                <a:solidFill>
                  <a:srgbClr val="1E293B"/>
                </a:solidFill>
                <a:latin typeface="Times New Roman"/>
                <a:ea typeface="宋体"/>
              </a:rPr>
              <a:t>给消费者带来完全相同总效用满足程度的两种商品所有可能消费组合的几何轨迹。</a:t>
            </a:r>
          </a:p>
          <a:p>
            <a:pPr>
              <a:lnSpc>
                <a:spcPct val="120000"/>
              </a:lnSpc>
              <a:spcAft>
                <a:spcPts val="600"/>
              </a:spcAft>
            </a:pPr>
            <a:r>
              <a:rPr sz="1250" b="1">
                <a:solidFill>
                  <a:srgbClr val="1B3A5C"/>
                </a:solidFill>
                <a:latin typeface="Times New Roman"/>
                <a:ea typeface="宋体"/>
              </a:rPr>
              <a:t>（3）边际替代率（MRS）： </a:t>
            </a:r>
            <a:r>
              <a:rPr sz="1250" b="0">
                <a:solidFill>
                  <a:srgbClr val="1E293B"/>
                </a:solidFill>
                <a:latin typeface="Times New Roman"/>
                <a:ea typeface="宋体"/>
              </a:rPr>
              <a:t>MRS_{xy} = -\frac{\Delta Y}{\Delta X} = \frac{MU_x}{MU_y}（维持效用不变时，增加 1 单位 X 商品所愿意放弃的 Y 商品数量）。</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无差异曲线四大基本特征</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（1）特征一（负斜率）： </a:t>
            </a:r>
            <a:r>
              <a:rPr sz="1250" b="0">
                <a:solidFill>
                  <a:srgbClr val="1E293B"/>
                </a:solidFill>
                <a:latin typeface="Times New Roman"/>
                <a:ea typeface="宋体"/>
              </a:rPr>
              <a:t>向右下方倾斜，要增加一种商品消费必须减少另一种商品消费。</a:t>
            </a:r>
          </a:p>
          <a:p>
            <a:pPr>
              <a:lnSpc>
                <a:spcPct val="120000"/>
              </a:lnSpc>
              <a:spcAft>
                <a:spcPts val="600"/>
              </a:spcAft>
            </a:pPr>
            <a:r>
              <a:rPr sz="1250" b="1">
                <a:solidFill>
                  <a:srgbClr val="2E86C1"/>
                </a:solidFill>
                <a:latin typeface="Times New Roman"/>
                <a:ea typeface="宋体"/>
              </a:rPr>
              <a:t>（2）特征二（凸向原点）： </a:t>
            </a:r>
            <a:r>
              <a:rPr sz="1250" b="0">
                <a:solidFill>
                  <a:srgbClr val="1E293B"/>
                </a:solidFill>
                <a:latin typeface="Times New Roman"/>
                <a:ea typeface="宋体"/>
              </a:rPr>
              <a:t>边际替代率递减规律（MRS_{xy} 随 X 增加而持续下降）。</a:t>
            </a:r>
          </a:p>
          <a:p>
            <a:pPr>
              <a:lnSpc>
                <a:spcPct val="120000"/>
              </a:lnSpc>
              <a:spcAft>
                <a:spcPts val="600"/>
              </a:spcAft>
            </a:pPr>
            <a:r>
              <a:rPr sz="1250" b="1">
                <a:solidFill>
                  <a:srgbClr val="2E86C1"/>
                </a:solidFill>
                <a:latin typeface="Times New Roman"/>
                <a:ea typeface="宋体"/>
              </a:rPr>
              <a:t>（3）特征三（永不相交）： </a:t>
            </a:r>
            <a:r>
              <a:rPr sz="1250" b="0">
                <a:solidFill>
                  <a:srgbClr val="1E293B"/>
                </a:solidFill>
                <a:latin typeface="Times New Roman"/>
                <a:ea typeface="宋体"/>
              </a:rPr>
              <a:t>平面上任意两条无差异曲线绝不可能相交（传递性公理保证）。</a:t>
            </a:r>
          </a:p>
          <a:p>
            <a:pPr>
              <a:lnSpc>
                <a:spcPct val="120000"/>
              </a:lnSpc>
              <a:spcAft>
                <a:spcPts val="600"/>
              </a:spcAft>
            </a:pPr>
            <a:r>
              <a:rPr sz="1250" b="1">
                <a:solidFill>
                  <a:srgbClr val="2E86C1"/>
                </a:solidFill>
                <a:latin typeface="Times New Roman"/>
                <a:ea typeface="宋体"/>
              </a:rPr>
              <a:t>（4）特征四（离原点越远效用越高）： </a:t>
            </a:r>
            <a:r>
              <a:rPr sz="1250" b="0">
                <a:solidFill>
                  <a:srgbClr val="1E293B"/>
                </a:solidFill>
                <a:latin typeface="Times New Roman"/>
                <a:ea typeface="宋体"/>
              </a:rPr>
              <a:t>无差异曲线向外平移代表消费更多商品组合，效用层级更高。</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核心要点：无差异曲线是现代微观经济学刻画消费者主观偏好偏好序列的严密几何与数理语言。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消费者选择理论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三、预算约束线与消费者均衡切点证明</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预算约束线（Budget Constraint Line）</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（1）预算方程： </a:t>
            </a:r>
            <a:r>
              <a:rPr sz="1250" b="0">
                <a:solidFill>
                  <a:srgbClr val="1E293B"/>
                </a:solidFill>
                <a:latin typeface="Times New Roman"/>
                <a:ea typeface="宋体"/>
              </a:rPr>
              <a:t>I = P_x X + P_y Y \implies Y = \frac{I}{P_y} - \frac{P_x}{P_y} X</a:t>
            </a:r>
          </a:p>
          <a:p>
            <a:pPr>
              <a:lnSpc>
                <a:spcPct val="120000"/>
              </a:lnSpc>
              <a:spcAft>
                <a:spcPts val="600"/>
              </a:spcAft>
            </a:pPr>
            <a:r>
              <a:rPr sz="1250" b="1">
                <a:solidFill>
                  <a:srgbClr val="1B3A5C"/>
                </a:solidFill>
                <a:latin typeface="Times New Roman"/>
                <a:ea typeface="宋体"/>
              </a:rPr>
              <a:t>（2）几何斜率： </a:t>
            </a:r>
            <a:r>
              <a:rPr sz="1250" b="0">
                <a:solidFill>
                  <a:srgbClr val="1E293B"/>
                </a:solidFill>
                <a:latin typeface="Times New Roman"/>
                <a:ea typeface="宋体"/>
              </a:rPr>
              <a:t>斜率为 -P_x / P_y（反映两种商品在市场上的客观相对交换价格比率）。</a:t>
            </a:r>
          </a:p>
          <a:p>
            <a:pPr>
              <a:lnSpc>
                <a:spcPct val="120000"/>
              </a:lnSpc>
              <a:spcAft>
                <a:spcPts val="600"/>
              </a:spcAft>
            </a:pPr>
            <a:r>
              <a:rPr sz="1250" b="1">
                <a:solidFill>
                  <a:srgbClr val="1B3A5C"/>
                </a:solidFill>
                <a:latin typeface="Times New Roman"/>
                <a:ea typeface="宋体"/>
              </a:rPr>
              <a:t>（3）变动规律： </a:t>
            </a:r>
            <a:r>
              <a:rPr sz="1250" b="0">
                <a:solidFill>
                  <a:srgbClr val="1E293B"/>
                </a:solidFill>
                <a:latin typeface="Times New Roman"/>
                <a:ea typeface="宋体"/>
              </a:rPr>
              <a:t>收入 I 变化使预算线平行移动；单一商品价格变化使预算线绕截距点旋转。</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消费者最优均衡切点定理</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（1）极值切点条件： </a:t>
            </a:r>
            <a:r>
              <a:rPr sz="1250" b="0">
                <a:solidFill>
                  <a:srgbClr val="1E293B"/>
                </a:solidFill>
                <a:latin typeface="Times New Roman"/>
                <a:ea typeface="宋体"/>
              </a:rPr>
              <a:t>无差异曲线与预算约束线相切于点 E^*，切点处两条线的斜率完全相等：</a:t>
            </a:r>
          </a:p>
          <a:p>
            <a:pPr>
              <a:lnSpc>
                <a:spcPct val="120000"/>
              </a:lnSpc>
              <a:spcAft>
                <a:spcPts val="600"/>
              </a:spcAft>
            </a:pPr>
            <a:r>
              <a:rPr sz="1250" b="1">
                <a:solidFill>
                  <a:srgbClr val="2E86C1"/>
                </a:solidFill>
                <a:latin typeface="Times New Roman"/>
                <a:ea typeface="宋体"/>
              </a:rPr>
              <a:t>（2）数学等式： </a:t>
            </a:r>
            <a:r>
              <a:rPr sz="1250" b="0">
                <a:solidFill>
                  <a:srgbClr val="1E293B"/>
                </a:solidFill>
                <a:latin typeface="Times New Roman"/>
                <a:ea typeface="宋体"/>
              </a:rPr>
              <a:t>MRS_{xy} = \frac{P_x}{P_y} \iff \frac{MU_x}{MU_y} = \frac{P_x}{P_y} \iff \frac{MU_x}{P_x} = \frac{MU_y}{P_y} = \lambda</a:t>
            </a:r>
          </a:p>
          <a:p>
            <a:pPr>
              <a:lnSpc>
                <a:spcPct val="120000"/>
              </a:lnSpc>
              <a:spcAft>
                <a:spcPts val="600"/>
              </a:spcAft>
            </a:pPr>
            <a:r>
              <a:rPr sz="1250" b="1">
                <a:solidFill>
                  <a:srgbClr val="2E86C1"/>
                </a:solidFill>
                <a:latin typeface="Times New Roman"/>
                <a:ea typeface="宋体"/>
              </a:rPr>
              <a:t>（3）等边际法则精髓： </a:t>
            </a:r>
            <a:r>
              <a:rPr sz="1250" b="0">
                <a:solidFill>
                  <a:srgbClr val="1E293B"/>
                </a:solidFill>
                <a:latin typeface="Times New Roman"/>
                <a:ea typeface="宋体"/>
              </a:rPr>
              <a:t>消费者花在每一种商品上的最后一元钱所带来的边际效用完全相等！</a:t>
            </a:r>
          </a:p>
          <a:p>
            <a:pPr>
              <a:lnSpc>
                <a:spcPct val="120000"/>
              </a:lnSpc>
              <a:spcAft>
                <a:spcPts val="600"/>
              </a:spcAft>
            </a:pPr>
            <a:r>
              <a:rPr sz="1250" b="1">
                <a:solidFill>
                  <a:srgbClr val="2E86C1"/>
                </a:solidFill>
                <a:latin typeface="Times New Roman"/>
                <a:ea typeface="宋体"/>
              </a:rPr>
              <a:t>（4）例1-2 实操计算： </a:t>
            </a:r>
            <a:r>
              <a:rPr sz="1250" b="0">
                <a:solidFill>
                  <a:srgbClr val="1E293B"/>
                </a:solidFill>
                <a:latin typeface="Times New Roman"/>
                <a:ea typeface="宋体"/>
              </a:rPr>
              <a:t>已知 U=XY, I=100, P_x=5, P_y=10 \implies 最优消费组合为 X^*=10, Y^*=5。</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核心要点：消费者均衡定理证明了理性人如何在有限预算约束下，通过边际效用与市场价格的权衡实现效用最大化。</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【第1章】市场供求及其运行机制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24</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需求机制与规律</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需求是购买欲望与支付能力结合</a:t>
            </a:r>
          </a:p>
          <a:p>
            <a:pPr algn="l">
              <a:lnSpc>
                <a:spcPct val="120000"/>
              </a:lnSpc>
              <a:spcAft>
                <a:spcPts val="400"/>
              </a:spcAft>
            </a:pPr>
            <a:r>
              <a:rPr sz="1150" b="0">
                <a:solidFill>
                  <a:srgbClr val="1E293B"/>
                </a:solidFill>
                <a:latin typeface="Times New Roman"/>
                <a:ea typeface="宋体"/>
              </a:rPr>
              <a:t>- 价格反向变动构成需求基本规律</a:t>
            </a:r>
          </a:p>
          <a:p>
            <a:pPr algn="l">
              <a:lnSpc>
                <a:spcPct val="120000"/>
              </a:lnSpc>
              <a:spcAft>
                <a:spcPts val="400"/>
              </a:spcAft>
            </a:pPr>
            <a:r>
              <a:rPr sz="1150" b="0">
                <a:solidFill>
                  <a:srgbClr val="1E293B"/>
                </a:solidFill>
                <a:latin typeface="Times New Roman"/>
                <a:ea typeface="宋体"/>
              </a:rPr>
              <a:t>- 七大因素决定需求曲线位置移动</a:t>
            </a:r>
          </a:p>
          <a:p>
            <a:pPr algn="l">
              <a:lnSpc>
                <a:spcPct val="120000"/>
              </a:lnSpc>
              <a:spcAft>
                <a:spcPts val="400"/>
              </a:spcAft>
            </a:pPr>
            <a:r>
              <a:rPr sz="1150" b="0">
                <a:solidFill>
                  <a:srgbClr val="1E293B"/>
                </a:solidFill>
                <a:latin typeface="Times New Roman"/>
                <a:ea typeface="宋体"/>
              </a:rPr>
              <a:t>- 点移动与整条曲线移动严格区分</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供给机制与生产</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供给受制于生产成本与技术能力</a:t>
            </a:r>
          </a:p>
          <a:p>
            <a:pPr algn="l">
              <a:lnSpc>
                <a:spcPct val="120000"/>
              </a:lnSpc>
              <a:spcAft>
                <a:spcPts val="400"/>
              </a:spcAft>
            </a:pPr>
            <a:r>
              <a:rPr sz="1150" b="0">
                <a:solidFill>
                  <a:srgbClr val="1E293B"/>
                </a:solidFill>
                <a:latin typeface="Times New Roman"/>
                <a:ea typeface="宋体"/>
              </a:rPr>
              <a:t>- 价格同向变动构成供给基本规律</a:t>
            </a:r>
          </a:p>
          <a:p>
            <a:pPr algn="l">
              <a:lnSpc>
                <a:spcPct val="120000"/>
              </a:lnSpc>
              <a:spcAft>
                <a:spcPts val="400"/>
              </a:spcAft>
            </a:pPr>
            <a:r>
              <a:rPr sz="1150" b="0">
                <a:solidFill>
                  <a:srgbClr val="1E293B"/>
                </a:solidFill>
                <a:latin typeface="Times New Roman"/>
                <a:ea typeface="宋体"/>
              </a:rPr>
              <a:t>- 六大外生因素驱动供给曲线平移</a:t>
            </a:r>
          </a:p>
          <a:p>
            <a:pPr algn="l">
              <a:lnSpc>
                <a:spcPct val="120000"/>
              </a:lnSpc>
              <a:spcAft>
                <a:spcPts val="400"/>
              </a:spcAft>
            </a:pPr>
            <a:r>
              <a:rPr sz="1150" b="0">
                <a:solidFill>
                  <a:srgbClr val="1E293B"/>
                </a:solidFill>
                <a:latin typeface="Times New Roman"/>
                <a:ea typeface="宋体"/>
              </a:rPr>
              <a:t>- 技术革新是长效降本增供引擎</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市场均衡与干预</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供求交点自发形成出清价格 P*</a:t>
            </a:r>
          </a:p>
          <a:p>
            <a:pPr algn="l">
              <a:lnSpc>
                <a:spcPct val="120000"/>
              </a:lnSpc>
              <a:spcAft>
                <a:spcPts val="400"/>
              </a:spcAft>
            </a:pPr>
            <a:r>
              <a:rPr sz="1150" b="0">
                <a:solidFill>
                  <a:srgbClr val="1E293B"/>
                </a:solidFill>
                <a:latin typeface="Times New Roman"/>
                <a:ea typeface="宋体"/>
              </a:rPr>
              <a:t>- 供求四定理预测价格与销量异动</a:t>
            </a:r>
          </a:p>
          <a:p>
            <a:pPr algn="l">
              <a:lnSpc>
                <a:spcPct val="120000"/>
              </a:lnSpc>
              <a:spcAft>
                <a:spcPts val="400"/>
              </a:spcAft>
            </a:pPr>
            <a:r>
              <a:rPr sz="1150" b="0">
                <a:solidFill>
                  <a:srgbClr val="1E293B"/>
                </a:solidFill>
                <a:latin typeface="Times New Roman"/>
                <a:ea typeface="宋体"/>
              </a:rPr>
              <a:t>- 税收转嫁取决于双方相对弹性比</a:t>
            </a:r>
          </a:p>
          <a:p>
            <a:pPr algn="l">
              <a:lnSpc>
                <a:spcPct val="120000"/>
              </a:lnSpc>
              <a:spcAft>
                <a:spcPts val="400"/>
              </a:spcAft>
            </a:pPr>
            <a:r>
              <a:rPr sz="1150" b="0">
                <a:solidFill>
                  <a:srgbClr val="1E293B"/>
                </a:solidFill>
                <a:latin typeface="Times New Roman"/>
                <a:ea typeface="宋体"/>
              </a:rPr>
              <a:t>- 价格管制引致短缺/过剩与死重损失</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消费者选择理论</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无差异曲线刻画主观效用偏好</a:t>
            </a:r>
          </a:p>
          <a:p>
            <a:pPr algn="l">
              <a:lnSpc>
                <a:spcPct val="120000"/>
              </a:lnSpc>
              <a:spcAft>
                <a:spcPts val="400"/>
              </a:spcAft>
            </a:pPr>
            <a:r>
              <a:rPr sz="1150" b="0">
                <a:solidFill>
                  <a:srgbClr val="1E293B"/>
                </a:solidFill>
                <a:latin typeface="Times New Roman"/>
                <a:ea typeface="宋体"/>
              </a:rPr>
              <a:t>- 预算约束线限定客观购买边界</a:t>
            </a:r>
          </a:p>
          <a:p>
            <a:pPr algn="l">
              <a:lnSpc>
                <a:spcPct val="120000"/>
              </a:lnSpc>
              <a:spcAft>
                <a:spcPts val="400"/>
              </a:spcAft>
            </a:pPr>
            <a:r>
              <a:rPr sz="1150" b="0">
                <a:solidFill>
                  <a:srgbClr val="1E293B"/>
                </a:solidFill>
                <a:latin typeface="Times New Roman"/>
                <a:ea typeface="宋体"/>
              </a:rPr>
              <a:t>- 切点定理：MUx/Px = MUy/Py</a:t>
            </a:r>
          </a:p>
          <a:p>
            <a:pPr algn="l">
              <a:lnSpc>
                <a:spcPct val="120000"/>
              </a:lnSpc>
              <a:spcAft>
                <a:spcPts val="400"/>
              </a:spcAft>
            </a:pPr>
            <a:r>
              <a:rPr sz="1150" b="0">
                <a:solidFill>
                  <a:srgbClr val="1E293B"/>
                </a:solidFill>
                <a:latin typeface="Times New Roman"/>
                <a:ea typeface="宋体"/>
              </a:rPr>
              <a:t>- 边际替代率递减决定曲线凸性</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战略结语：供求机制是微观经济运行的中枢神经，深刻理解供求法则与弹性转嫁规律是做出正确企业经营决策的前提。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25</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 </a:t>
            </a:r>
            <a:r>
              <a:rPr sz="1150" b="0">
                <a:solidFill>
                  <a:srgbClr val="1E293B"/>
                </a:solidFill>
                <a:latin typeface="Times New Roman"/>
                <a:ea typeface="宋体"/>
              </a:rPr>
              <a:t>【思考题1】请阐述需求量的变动和需求的变动两者的区别，并分别举例说明哪些因素会导致这两种变动？</a:t>
            </a:r>
          </a:p>
          <a:p>
            <a:pPr>
              <a:lnSpc>
                <a:spcPct val="120000"/>
              </a:lnSpc>
              <a:spcAft>
                <a:spcPts val="400"/>
              </a:spcAft>
            </a:pPr>
            <a:r>
              <a:rPr sz="1150" b="1">
                <a:solidFill>
                  <a:srgbClr val="2E86C1"/>
                </a:solidFill>
                <a:latin typeface="Times New Roman"/>
                <a:ea typeface="宋体"/>
              </a:rPr>
              <a:t>2. </a:t>
            </a:r>
            <a:r>
              <a:rPr sz="1150" b="0">
                <a:solidFill>
                  <a:srgbClr val="1E293B"/>
                </a:solidFill>
                <a:latin typeface="Times New Roman"/>
                <a:ea typeface="宋体"/>
              </a:rPr>
              <a:t>【思考题2】什么是市场均衡？如果政府实施最高限价（价格上限），会对市场运行产生哪些严重的经济后果？</a:t>
            </a:r>
          </a:p>
          <a:p>
            <a:pPr>
              <a:lnSpc>
                <a:spcPct val="120000"/>
              </a:lnSpc>
              <a:spcAft>
                <a:spcPts val="400"/>
              </a:spcAft>
            </a:pPr>
            <a:r>
              <a:rPr sz="1150" b="1">
                <a:solidFill>
                  <a:srgbClr val="2E86C1"/>
                </a:solidFill>
                <a:latin typeface="Times New Roman"/>
                <a:ea typeface="宋体"/>
              </a:rPr>
              <a:t>3. </a:t>
            </a:r>
            <a:r>
              <a:rPr sz="1150" b="0">
                <a:solidFill>
                  <a:srgbClr val="1E293B"/>
                </a:solidFill>
                <a:latin typeface="Times New Roman"/>
                <a:ea typeface="宋体"/>
              </a:rPr>
              <a:t>【思考题3】税负转嫁的程度主要取决于什么因素？请用需求弹性与供给弹性的关系进行数理解释。</a:t>
            </a:r>
          </a:p>
          <a:p>
            <a:pPr>
              <a:lnSpc>
                <a:spcPct val="120000"/>
              </a:lnSpc>
              <a:spcAft>
                <a:spcPts val="400"/>
              </a:spcAft>
            </a:pPr>
            <a:r>
              <a:rPr sz="1150" b="1">
                <a:solidFill>
                  <a:srgbClr val="2E86C1"/>
                </a:solidFill>
                <a:latin typeface="Times New Roman"/>
                <a:ea typeface="宋体"/>
              </a:rPr>
              <a:t>4. </a:t>
            </a:r>
            <a:r>
              <a:rPr sz="1150" b="0">
                <a:solidFill>
                  <a:srgbClr val="1E293B"/>
                </a:solidFill>
                <a:latin typeface="Times New Roman"/>
                <a:ea typeface="宋体"/>
              </a:rPr>
              <a:t>【思考题4】什么是蛛网模型？为什么农产品价格往往会呈现周期性暴涨暴跌的蛛网波动现象？</a:t>
            </a:r>
          </a:p>
          <a:p>
            <a:pPr>
              <a:lnSpc>
                <a:spcPct val="120000"/>
              </a:lnSpc>
              <a:spcAft>
                <a:spcPts val="400"/>
              </a:spcAft>
            </a:pPr>
            <a:r>
              <a:rPr sz="1150" b="1">
                <a:solidFill>
                  <a:srgbClr val="2E86C1"/>
                </a:solidFill>
                <a:latin typeface="Times New Roman"/>
                <a:ea typeface="宋体"/>
              </a:rPr>
              <a:t>5. </a:t>
            </a:r>
            <a:r>
              <a:rPr sz="1150" b="0">
                <a:solidFill>
                  <a:srgbClr val="1E293B"/>
                </a:solidFill>
                <a:latin typeface="Times New Roman"/>
                <a:ea typeface="宋体"/>
              </a:rPr>
              <a:t>【思考题5】什么是无差异曲线？为什么无差异曲线必须凸向原点？请用边际替代率递减规律进行解释。</a:t>
            </a:r>
          </a:p>
          <a:p>
            <a:pPr>
              <a:lnSpc>
                <a:spcPct val="120000"/>
              </a:lnSpc>
              <a:spcAft>
                <a:spcPts val="400"/>
              </a:spcAft>
            </a:pPr>
            <a:r>
              <a:rPr sz="1150" b="1">
                <a:solidFill>
                  <a:srgbClr val="2E86C1"/>
                </a:solidFill>
                <a:latin typeface="Times New Roman"/>
                <a:ea typeface="宋体"/>
              </a:rPr>
              <a:t>6. </a:t>
            </a:r>
            <a:r>
              <a:rPr sz="1150" b="0">
                <a:solidFill>
                  <a:srgbClr val="1E293B"/>
                </a:solidFill>
                <a:latin typeface="Times New Roman"/>
                <a:ea typeface="宋体"/>
              </a:rPr>
              <a:t>【作业题1】某商品市场需求函数为 Q_d = 800 - 100P，供给函数为 Q_s = -400 + 200P。求市场均衡价格与均衡交易量。</a:t>
            </a:r>
          </a:p>
          <a:p>
            <a:pPr>
              <a:lnSpc>
                <a:spcPct val="120000"/>
              </a:lnSpc>
              <a:spcAft>
                <a:spcPts val="400"/>
              </a:spcAft>
            </a:pPr>
            <a:r>
              <a:rPr sz="1150" b="1">
                <a:solidFill>
                  <a:srgbClr val="2E86C1"/>
                </a:solidFill>
                <a:latin typeface="Times New Roman"/>
                <a:ea typeface="宋体"/>
              </a:rPr>
              <a:t>7. </a:t>
            </a:r>
            <a:r>
              <a:rPr sz="1150" b="0">
                <a:solidFill>
                  <a:srgbClr val="1E293B"/>
                </a:solidFill>
                <a:latin typeface="Times New Roman"/>
                <a:ea typeface="宋体"/>
              </a:rPr>
              <a:t>【作业题2】承上题，若政府对每单位商品向生产者征收 1.5 元从量税，求新的市场均衡价格、消费者与生产者各自承担的税负及社会无谓损失 DWL。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