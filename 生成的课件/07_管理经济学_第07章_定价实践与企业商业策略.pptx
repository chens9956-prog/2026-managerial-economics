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07</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五级精细化教学 · 随课本全景课件</a:t>
            </a:r>
          </a:p>
        </p:txBody>
      </p:sp>
      <p:sp>
        <p:nvSpPr>
          <p:cNvPr id="7" name="TextBox 6"/>
          <p:cNvSpPr txBox="1"/>
          <p:nvPr/>
        </p:nvSpPr>
        <p:spPr>
          <a:xfrm>
            <a:off x="5303520" y="164592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第7章</a:t>
            </a:r>
          </a:p>
        </p:txBody>
      </p:sp>
      <p:sp>
        <p:nvSpPr>
          <p:cNvPr id="8" name="TextBox 7"/>
          <p:cNvSpPr txBox="1"/>
          <p:nvPr/>
        </p:nvSpPr>
        <p:spPr>
          <a:xfrm>
            <a:off x="5303520" y="2148840"/>
            <a:ext cx="6217920" cy="109728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定价实践（商业策略与实战算法）</a:t>
            </a:r>
          </a:p>
        </p:txBody>
      </p:sp>
      <p:sp>
        <p:nvSpPr>
          <p:cNvPr id="9" name="Rectangle 8"/>
          <p:cNvSpPr/>
          <p:nvPr/>
        </p:nvSpPr>
        <p:spPr>
          <a:xfrm>
            <a:off x="5349240" y="33375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566160"/>
            <a:ext cx="6217920" cy="29260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第1节 成本加成定价法（最优加成率公式严格证明与商业实务）</a:t>
            </a:r>
          </a:p>
          <a:p>
            <a:pPr algn="l">
              <a:lnSpc>
                <a:spcPct val="120000"/>
              </a:lnSpc>
              <a:spcAft>
                <a:spcPts val="600"/>
              </a:spcAft>
            </a:pPr>
            <a:r>
              <a:rPr sz="1300" b="0">
                <a:solidFill>
                  <a:srgbClr val="1E293B"/>
                </a:solidFill>
                <a:latin typeface="Times New Roman"/>
                <a:ea typeface="宋体"/>
              </a:rPr>
              <a:t>- 第2节 增量分析定价法（低价订单、降价促销与互补替代品联动）</a:t>
            </a:r>
          </a:p>
          <a:p>
            <a:pPr algn="l">
              <a:lnSpc>
                <a:spcPct val="120000"/>
              </a:lnSpc>
              <a:spcAft>
                <a:spcPts val="600"/>
              </a:spcAft>
            </a:pPr>
            <a:r>
              <a:rPr sz="1300" b="0">
                <a:solidFill>
                  <a:srgbClr val="1E293B"/>
                </a:solidFill>
                <a:latin typeface="Times New Roman"/>
                <a:ea typeface="宋体"/>
              </a:rPr>
              <a:t>- 第3节 最优报价的确定（招投标概率期望利润模型）</a:t>
            </a:r>
          </a:p>
          <a:p>
            <a:pPr algn="l">
              <a:lnSpc>
                <a:spcPct val="120000"/>
              </a:lnSpc>
              <a:spcAft>
                <a:spcPts val="600"/>
              </a:spcAft>
            </a:pPr>
            <a:r>
              <a:rPr sz="1300" b="0">
                <a:solidFill>
                  <a:srgbClr val="1E293B"/>
                </a:solidFill>
                <a:latin typeface="Times New Roman"/>
                <a:ea typeface="宋体"/>
              </a:rPr>
              <a:t>- 第4节 差别定价法（一/二/三级价格歧视与逆弹性法则）</a:t>
            </a:r>
          </a:p>
          <a:p>
            <a:pPr algn="l">
              <a:lnSpc>
                <a:spcPct val="120000"/>
              </a:lnSpc>
              <a:spcAft>
                <a:spcPts val="600"/>
              </a:spcAft>
            </a:pPr>
            <a:r>
              <a:rPr sz="1300" b="0">
                <a:solidFill>
                  <a:srgbClr val="1E293B"/>
                </a:solidFill>
                <a:latin typeface="Times New Roman"/>
                <a:ea typeface="宋体"/>
              </a:rPr>
              <a:t>- 第5节 高峰负荷定价法（边际成本分摊与峰谷动态调节）</a:t>
            </a:r>
          </a:p>
          <a:p>
            <a:pPr algn="l">
              <a:lnSpc>
                <a:spcPct val="120000"/>
              </a:lnSpc>
              <a:spcAft>
                <a:spcPts val="600"/>
              </a:spcAft>
            </a:pPr>
            <a:r>
              <a:rPr sz="1300" b="0">
                <a:solidFill>
                  <a:srgbClr val="1E293B"/>
                </a:solidFill>
                <a:latin typeface="Times New Roman"/>
                <a:ea typeface="宋体"/>
              </a:rPr>
              <a:t>- 第6节 多产品定价法（需求关联与生产联产品定价）</a:t>
            </a:r>
          </a:p>
          <a:p>
            <a:pPr algn="l">
              <a:lnSpc>
                <a:spcPct val="120000"/>
              </a:lnSpc>
              <a:spcAft>
                <a:spcPts val="600"/>
              </a:spcAft>
            </a:pPr>
            <a:r>
              <a:rPr sz="1300" b="0">
                <a:solidFill>
                  <a:srgbClr val="1E293B"/>
                </a:solidFill>
                <a:latin typeface="Times New Roman"/>
                <a:ea typeface="宋体"/>
              </a:rPr>
              <a:t>- 第7节 中间产品转移价格的确定（有/无外部市场黄金法则）</a:t>
            </a:r>
          </a:p>
          <a:p>
            <a:pPr algn="l">
              <a:lnSpc>
                <a:spcPct val="120000"/>
              </a:lnSpc>
              <a:spcAft>
                <a:spcPts val="600"/>
              </a:spcAft>
            </a:pPr>
            <a:r>
              <a:rPr sz="1300" b="0">
                <a:solidFill>
                  <a:srgbClr val="1E293B"/>
                </a:solidFill>
                <a:latin typeface="Times New Roman"/>
                <a:ea typeface="宋体"/>
              </a:rPr>
              <a:t>- 本章复习思考题与作业题精解（严格对标课本习题）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【第7章】定价实践 知识架构与五层逻辑体系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45920"/>
            <a:ext cx="2103120" cy="640080"/>
          </a:xfrm>
          <a:prstGeom prst="rect">
            <a:avLst/>
          </a:prstGeom>
          <a:noFill/>
        </p:spPr>
        <p:txBody>
          <a:bodyPr wrap="none" lIns="0" tIns="0" rIns="0" bIns="0">
            <a:spAutoFit/>
          </a:bodyPr>
          <a:lstStyle/>
          <a:p>
            <a:pPr algn="l">
              <a:lnSpc>
                <a:spcPct val="120000"/>
              </a:lnSpc>
            </a:pPr>
            <a:r>
              <a:rPr sz="3800" b="1">
                <a:solidFill>
                  <a:srgbClr val="1B3A5C"/>
                </a:solidFill>
                <a:latin typeface="Times New Roman"/>
                <a:ea typeface="宋体"/>
              </a:rPr>
              <a:t>01</a:t>
            </a:r>
          </a:p>
        </p:txBody>
      </p:sp>
      <p:sp>
        <p:nvSpPr>
          <p:cNvPr id="12" name="TextBox 11"/>
          <p:cNvSpPr txBox="1"/>
          <p:nvPr/>
        </p:nvSpPr>
        <p:spPr>
          <a:xfrm>
            <a:off x="77724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01 最优成本加成率</a:t>
            </a:r>
          </a:p>
        </p:txBody>
      </p:sp>
      <p:sp>
        <p:nvSpPr>
          <p:cNvPr id="13" name="Rectangle 12"/>
          <p:cNvSpPr/>
          <p:nvPr/>
        </p:nvSpPr>
        <p:spPr>
          <a:xfrm>
            <a:off x="777240" y="301752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成本加成公式 P = AC(1+m)</a:t>
            </a:r>
          </a:p>
          <a:p>
            <a:pPr algn="l">
              <a:lnSpc>
                <a:spcPct val="120000"/>
              </a:lnSpc>
              <a:spcAft>
                <a:spcPts val="500"/>
              </a:spcAft>
            </a:pPr>
            <a:r>
              <a:rPr sz="1250" b="0">
                <a:solidFill>
                  <a:srgbClr val="1E293B"/>
                </a:solidFill>
                <a:latin typeface="Times New Roman"/>
                <a:ea typeface="宋体"/>
              </a:rPr>
              <a:t>- 最优加成率 m* = 1 / (|Ep|-1)</a:t>
            </a:r>
          </a:p>
          <a:p>
            <a:pPr algn="l">
              <a:lnSpc>
                <a:spcPct val="120000"/>
              </a:lnSpc>
              <a:spcAft>
                <a:spcPts val="500"/>
              </a:spcAft>
            </a:pPr>
            <a:r>
              <a:rPr sz="1250" b="0">
                <a:solidFill>
                  <a:srgbClr val="1E293B"/>
                </a:solidFill>
                <a:latin typeface="Times New Roman"/>
                <a:ea typeface="宋体"/>
              </a:rPr>
              <a:t>- 弹性越大加成越低，反之越高</a:t>
            </a:r>
          </a:p>
          <a:p>
            <a:pPr algn="l">
              <a:lnSpc>
                <a:spcPct val="120000"/>
              </a:lnSpc>
              <a:spcAft>
                <a:spcPts val="500"/>
              </a:spcAft>
            </a:pPr>
            <a:r>
              <a:rPr sz="1250" b="0">
                <a:solidFill>
                  <a:srgbClr val="1E293B"/>
                </a:solidFill>
                <a:latin typeface="Times New Roman"/>
                <a:ea typeface="宋体"/>
              </a:rPr>
              <a:t>- 将财务实务与经济最优化统摄</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1645920"/>
            <a:ext cx="2103120" cy="640080"/>
          </a:xfrm>
          <a:prstGeom prst="rect">
            <a:avLst/>
          </a:prstGeom>
          <a:noFill/>
        </p:spPr>
        <p:txBody>
          <a:bodyPr wrap="none" lIns="0" tIns="0" rIns="0" bIns="0">
            <a:spAutoFit/>
          </a:bodyPr>
          <a:lstStyle/>
          <a:p>
            <a:pPr algn="l">
              <a:lnSpc>
                <a:spcPct val="120000"/>
              </a:lnSpc>
            </a:pPr>
            <a:r>
              <a:rPr sz="3800" b="1">
                <a:solidFill>
                  <a:srgbClr val="2E86C1"/>
                </a:solidFill>
                <a:latin typeface="Times New Roman"/>
                <a:ea typeface="宋体"/>
              </a:rPr>
              <a:t>02</a:t>
            </a:r>
          </a:p>
        </p:txBody>
      </p:sp>
      <p:sp>
        <p:nvSpPr>
          <p:cNvPr id="18" name="TextBox 17"/>
          <p:cNvSpPr txBox="1"/>
          <p:nvPr/>
        </p:nvSpPr>
        <p:spPr>
          <a:xfrm>
            <a:off x="361188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02 增量与招投标报价</a:t>
            </a:r>
          </a:p>
        </p:txBody>
      </p:sp>
      <p:sp>
        <p:nvSpPr>
          <p:cNvPr id="19" name="Rectangle 18"/>
          <p:cNvSpPr/>
          <p:nvPr/>
        </p:nvSpPr>
        <p:spPr>
          <a:xfrm>
            <a:off x="3611880" y="301752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1188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接受低价新任务准则</a:t>
            </a:r>
          </a:p>
          <a:p>
            <a:pPr algn="l">
              <a:lnSpc>
                <a:spcPct val="120000"/>
              </a:lnSpc>
              <a:spcAft>
                <a:spcPts val="500"/>
              </a:spcAft>
            </a:pPr>
            <a:r>
              <a:rPr sz="1250" b="0">
                <a:solidFill>
                  <a:srgbClr val="1E293B"/>
                </a:solidFill>
                <a:latin typeface="Times New Roman"/>
                <a:ea typeface="宋体"/>
              </a:rPr>
              <a:t>- 互补关联产品联动定价</a:t>
            </a:r>
          </a:p>
          <a:p>
            <a:pPr algn="l">
              <a:lnSpc>
                <a:spcPct val="120000"/>
              </a:lnSpc>
              <a:spcAft>
                <a:spcPts val="500"/>
              </a:spcAft>
            </a:pPr>
            <a:r>
              <a:rPr sz="1250" b="0">
                <a:solidFill>
                  <a:srgbClr val="1E293B"/>
                </a:solidFill>
                <a:latin typeface="Times New Roman"/>
                <a:ea typeface="宋体"/>
              </a:rPr>
              <a:t>- 招投标期望利润最大化</a:t>
            </a:r>
          </a:p>
          <a:p>
            <a:pPr algn="l">
              <a:lnSpc>
                <a:spcPct val="120000"/>
              </a:lnSpc>
              <a:spcAft>
                <a:spcPts val="500"/>
              </a:spcAft>
            </a:pPr>
            <a:r>
              <a:rPr sz="1250" b="0">
                <a:solidFill>
                  <a:srgbClr val="1E293B"/>
                </a:solidFill>
                <a:latin typeface="Times New Roman"/>
                <a:ea typeface="宋体"/>
              </a:rPr>
              <a:t>- E(π) = (P - C) · P(中标)</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1645920"/>
            <a:ext cx="2103120" cy="640080"/>
          </a:xfrm>
          <a:prstGeom prst="rect">
            <a:avLst/>
          </a:prstGeom>
          <a:noFill/>
        </p:spPr>
        <p:txBody>
          <a:bodyPr wrap="none" lIns="0" tIns="0" rIns="0" bIns="0">
            <a:spAutoFit/>
          </a:bodyPr>
          <a:lstStyle/>
          <a:p>
            <a:pPr algn="l">
              <a:lnSpc>
                <a:spcPct val="120000"/>
              </a:lnSpc>
            </a:pPr>
            <a:r>
              <a:rPr sz="3800" b="1">
                <a:solidFill>
                  <a:srgbClr val="1A8C5D"/>
                </a:solidFill>
                <a:latin typeface="Times New Roman"/>
                <a:ea typeface="宋体"/>
              </a:rPr>
              <a:t>03</a:t>
            </a:r>
          </a:p>
        </p:txBody>
      </p:sp>
      <p:sp>
        <p:nvSpPr>
          <p:cNvPr id="24" name="TextBox 23"/>
          <p:cNvSpPr txBox="1"/>
          <p:nvPr/>
        </p:nvSpPr>
        <p:spPr>
          <a:xfrm>
            <a:off x="644652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03 三级差别与高峰定价</a:t>
            </a:r>
          </a:p>
        </p:txBody>
      </p:sp>
      <p:sp>
        <p:nvSpPr>
          <p:cNvPr id="25" name="Rectangle 24"/>
          <p:cNvSpPr/>
          <p:nvPr/>
        </p:nvSpPr>
        <p:spPr>
          <a:xfrm>
            <a:off x="6446520" y="301752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三级差别定价法则 MR1=MR2=MC</a:t>
            </a:r>
          </a:p>
          <a:p>
            <a:pPr algn="l">
              <a:lnSpc>
                <a:spcPct val="120000"/>
              </a:lnSpc>
              <a:spcAft>
                <a:spcPts val="500"/>
              </a:spcAft>
            </a:pPr>
            <a:r>
              <a:rPr sz="1250" b="0">
                <a:solidFill>
                  <a:srgbClr val="1E293B"/>
                </a:solidFill>
                <a:latin typeface="Times New Roman"/>
                <a:ea typeface="宋体"/>
              </a:rPr>
              <a:t>- 逆弹性法则：高弹性低价/低弹性高价</a:t>
            </a:r>
          </a:p>
          <a:p>
            <a:pPr algn="l">
              <a:lnSpc>
                <a:spcPct val="120000"/>
              </a:lnSpc>
              <a:spcAft>
                <a:spcPts val="500"/>
              </a:spcAft>
            </a:pPr>
            <a:r>
              <a:rPr sz="1250" b="0">
                <a:solidFill>
                  <a:srgbClr val="1E293B"/>
                </a:solidFill>
                <a:latin typeface="Times New Roman"/>
                <a:ea typeface="宋体"/>
              </a:rPr>
              <a:t>- 高峰负荷定价由峰期承担全部固定折旧</a:t>
            </a:r>
          </a:p>
          <a:p>
            <a:pPr algn="l">
              <a:lnSpc>
                <a:spcPct val="120000"/>
              </a:lnSpc>
              <a:spcAft>
                <a:spcPts val="500"/>
              </a:spcAft>
            </a:pPr>
            <a:r>
              <a:rPr sz="1250" b="0">
                <a:solidFill>
                  <a:srgbClr val="1E293B"/>
                </a:solidFill>
                <a:latin typeface="Times New Roman"/>
                <a:ea typeface="宋体"/>
              </a:rPr>
              <a:t>- 谷期仅收取短期边际变动成本</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1645920"/>
            <a:ext cx="2103120" cy="640080"/>
          </a:xfrm>
          <a:prstGeom prst="rect">
            <a:avLst/>
          </a:prstGeom>
          <a:noFill/>
        </p:spPr>
        <p:txBody>
          <a:bodyPr wrap="none" lIns="0" tIns="0" rIns="0" bIns="0">
            <a:spAutoFit/>
          </a:bodyPr>
          <a:lstStyle/>
          <a:p>
            <a:pPr algn="l">
              <a:lnSpc>
                <a:spcPct val="120000"/>
              </a:lnSpc>
            </a:pPr>
            <a:r>
              <a:rPr sz="3800" b="1">
                <a:solidFill>
                  <a:srgbClr val="C88C1B"/>
                </a:solidFill>
                <a:latin typeface="Times New Roman"/>
                <a:ea typeface="宋体"/>
              </a:rPr>
              <a:t>04</a:t>
            </a:r>
          </a:p>
        </p:txBody>
      </p:sp>
      <p:sp>
        <p:nvSpPr>
          <p:cNvPr id="30" name="TextBox 29"/>
          <p:cNvSpPr txBox="1"/>
          <p:nvPr/>
        </p:nvSpPr>
        <p:spPr>
          <a:xfrm>
            <a:off x="928116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04 转移定价黄金法则</a:t>
            </a:r>
          </a:p>
        </p:txBody>
      </p:sp>
      <p:sp>
        <p:nvSpPr>
          <p:cNvPr id="31" name="Rectangle 30"/>
          <p:cNvSpPr/>
          <p:nvPr/>
        </p:nvSpPr>
        <p:spPr>
          <a:xfrm>
            <a:off x="9281160" y="301752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有完全竞争外部市场：取外部市价 P</a:t>
            </a:r>
          </a:p>
          <a:p>
            <a:pPr algn="l">
              <a:lnSpc>
                <a:spcPct val="120000"/>
              </a:lnSpc>
              <a:spcAft>
                <a:spcPts val="500"/>
              </a:spcAft>
            </a:pPr>
            <a:r>
              <a:rPr sz="1250" b="0">
                <a:solidFill>
                  <a:srgbClr val="1E293B"/>
                </a:solidFill>
                <a:latin typeface="Times New Roman"/>
                <a:ea typeface="宋体"/>
              </a:rPr>
              <a:t>- 无外部市场：取制造分部边际成本 MC</a:t>
            </a:r>
          </a:p>
          <a:p>
            <a:pPr algn="l">
              <a:lnSpc>
                <a:spcPct val="120000"/>
              </a:lnSpc>
              <a:spcAft>
                <a:spcPts val="500"/>
              </a:spcAft>
            </a:pPr>
            <a:r>
              <a:rPr sz="1250" b="0">
                <a:solidFill>
                  <a:srgbClr val="1E293B"/>
                </a:solidFill>
                <a:latin typeface="Times New Roman"/>
                <a:ea typeface="宋体"/>
              </a:rPr>
              <a:t>- 彻底消除内部转移双重加价扭曲</a:t>
            </a:r>
          </a:p>
          <a:p>
            <a:pPr algn="l">
              <a:lnSpc>
                <a:spcPct val="120000"/>
              </a:lnSpc>
              <a:spcAft>
                <a:spcPts val="500"/>
              </a:spcAft>
            </a:pPr>
            <a:r>
              <a:rPr sz="1250" b="0">
                <a:solidFill>
                  <a:srgbClr val="1E293B"/>
                </a:solidFill>
                <a:latin typeface="Times New Roman"/>
                <a:ea typeface="宋体"/>
              </a:rPr>
              <a:t>- 实现企业整体利润最大化</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核心逻辑：定价实践将微观边际理论与企业商业实操紧密结合，涵盖加成定价、差别定价、峰谷调节与跨部门转移定价。</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第1节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成本加成定价法（Cost-Plus Pricing）</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解析成本加成定价实务步骤，推导最优加成率公式 m*=1/(|Ep|-1) 并对标案例7-1。</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第7章 定价实践 · 权威教材精细化教学架构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成本加成定价法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一、成本加成定价法实务步骤与优缺点辨析</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成本加成定价法实务三步流程</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（1）估算正常产能下的单位平均成本： </a:t>
            </a:r>
            <a:r>
              <a:rPr sz="1250" b="0">
                <a:solidFill>
                  <a:srgbClr val="1E293B"/>
                </a:solidFill>
                <a:latin typeface="Times New Roman"/>
                <a:ea typeface="宋体"/>
              </a:rPr>
              <a:t>AC = AVC + AFC（根据年度预算预计标准产销量分摊全部固定与变动成本）。</a:t>
            </a:r>
          </a:p>
          <a:p>
            <a:pPr>
              <a:lnSpc>
                <a:spcPct val="120000"/>
              </a:lnSpc>
              <a:spcAft>
                <a:spcPts val="600"/>
              </a:spcAft>
            </a:pPr>
            <a:r>
              <a:rPr sz="1250" b="1">
                <a:solidFill>
                  <a:srgbClr val="1B3A5C"/>
                </a:solidFill>
                <a:latin typeface="Times New Roman"/>
                <a:ea typeface="宋体"/>
              </a:rPr>
              <a:t>（2）确定目标成本加成率 m： </a:t>
            </a:r>
            <a:r>
              <a:rPr sz="1250" b="0">
                <a:solidFill>
                  <a:srgbClr val="1E293B"/>
                </a:solidFill>
                <a:latin typeface="Times New Roman"/>
                <a:ea typeface="宋体"/>
              </a:rPr>
              <a:t>根据行业惯例、资本回报率目标或历史经验设定目标加成百分比（如 20%~50%）。</a:t>
            </a:r>
          </a:p>
          <a:p>
            <a:pPr>
              <a:lnSpc>
                <a:spcPct val="120000"/>
              </a:lnSpc>
              <a:spcAft>
                <a:spcPts val="600"/>
              </a:spcAft>
            </a:pPr>
            <a:r>
              <a:rPr sz="1250" b="1">
                <a:solidFill>
                  <a:srgbClr val="1B3A5C"/>
                </a:solidFill>
                <a:latin typeface="Times New Roman"/>
                <a:ea typeface="宋体"/>
              </a:rPr>
              <a:t>（3）制定最终销售价格： </a:t>
            </a:r>
            <a:r>
              <a:rPr sz="1250" b="0">
                <a:solidFill>
                  <a:srgbClr val="1E293B"/>
                </a:solidFill>
                <a:latin typeface="Times New Roman"/>
                <a:ea typeface="宋体"/>
              </a:rPr>
              <a:t>P = AC + AC \cdot m = AC (1 + m)</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商业流行根源与致命财务局限</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（1）商业广泛流行根源： </a:t>
            </a:r>
            <a:r>
              <a:rPr sz="1250" b="0">
                <a:solidFill>
                  <a:srgbClr val="1E293B"/>
                </a:solidFill>
                <a:latin typeface="Times New Roman"/>
                <a:ea typeface="宋体"/>
              </a:rPr>
              <a:t>数据直接来源于财务账目、计算极简便捷、同行业普遍采用可形成隐性默契价格防范恶性价格战。</a:t>
            </a:r>
          </a:p>
          <a:p>
            <a:pPr>
              <a:lnSpc>
                <a:spcPct val="120000"/>
              </a:lnSpc>
              <a:spcAft>
                <a:spcPts val="600"/>
              </a:spcAft>
            </a:pPr>
            <a:r>
              <a:rPr sz="1250" b="1">
                <a:solidFill>
                  <a:srgbClr val="2E86C1"/>
                </a:solidFill>
                <a:latin typeface="Times New Roman"/>
                <a:ea typeface="宋体"/>
              </a:rPr>
              <a:t>（2）致命财务逻辑缺陷： </a:t>
            </a:r>
            <a:r>
              <a:rPr sz="1250" b="0">
                <a:solidFill>
                  <a:srgbClr val="1E293B"/>
                </a:solidFill>
                <a:latin typeface="Times New Roman"/>
                <a:ea typeface="宋体"/>
              </a:rPr>
              <a:t>完全忽视了市场需求弹性与竞争对手反应；陷入'高估成本定高价、需求萎缩销量下降、单位分摊固定成本更高、更加被动提价'的恶性死亡循环！</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核心要点：成本加成法虽然简便实用，但若脱离市场需求弹性则极易导致企业定价陷入死胡同。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成本加成定价法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二、最优加成率公式（m*）严格数学推导与案例7-1</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最优加成率公式严格推导</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（1）边际收入公式展开： </a:t>
            </a:r>
            <a:r>
              <a:rPr sz="1250" b="0">
                <a:solidFill>
                  <a:srgbClr val="1E293B"/>
                </a:solidFill>
                <a:latin typeface="Times New Roman"/>
                <a:ea typeface="宋体"/>
              </a:rPr>
              <a:t>MR = P(1 - \frac{1}{|E_p|})</a:t>
            </a:r>
          </a:p>
          <a:p>
            <a:pPr>
              <a:lnSpc>
                <a:spcPct val="120000"/>
              </a:lnSpc>
              <a:spcAft>
                <a:spcPts val="600"/>
              </a:spcAft>
            </a:pPr>
            <a:r>
              <a:rPr sz="1250" b="1">
                <a:solidFill>
                  <a:srgbClr val="1B3A5C"/>
                </a:solidFill>
                <a:latin typeface="Times New Roman"/>
                <a:ea typeface="宋体"/>
              </a:rPr>
              <a:t>（2）代入利润最大化条件 MR=MC： </a:t>
            </a:r>
            <a:r>
              <a:rPr sz="1250" b="0">
                <a:solidFill>
                  <a:srgbClr val="1E293B"/>
                </a:solidFill>
                <a:latin typeface="Times New Roman"/>
                <a:ea typeface="宋体"/>
              </a:rPr>
              <a:t>P(1 - \frac{1}{|E_p|}) = MC \implies P = MC \cdot \frac{|E_p|}{|E_p| - 1}</a:t>
            </a:r>
          </a:p>
          <a:p>
            <a:pPr>
              <a:lnSpc>
                <a:spcPct val="120000"/>
              </a:lnSpc>
              <a:spcAft>
                <a:spcPts val="600"/>
              </a:spcAft>
            </a:pPr>
            <a:r>
              <a:rPr sz="1250" b="1">
                <a:solidFill>
                  <a:srgbClr val="1B3A5C"/>
                </a:solidFill>
                <a:latin typeface="Times New Roman"/>
                <a:ea typeface="宋体"/>
              </a:rPr>
              <a:t>（3）假定短期内 MC ≈ AC，联立 P = AC(1+m)： </a:t>
            </a:r>
            <a:r>
              <a:rPr sz="1250" b="0">
                <a:solidFill>
                  <a:srgbClr val="1E293B"/>
                </a:solidFill>
                <a:latin typeface="Times New Roman"/>
                <a:ea typeface="宋体"/>
              </a:rPr>
              <a:t>AC(1 + m^*) = AC \cdot \frac{|E_p|}{|E_p| - 1} \implies 1 + m^* = 1 + \frac{1}{|E_p| - 1}</a:t>
            </a:r>
          </a:p>
          <a:p>
            <a:pPr>
              <a:lnSpc>
                <a:spcPct val="120000"/>
              </a:lnSpc>
              <a:spcAft>
                <a:spcPts val="600"/>
              </a:spcAft>
            </a:pPr>
            <a:r>
              <a:rPr sz="1250" b="1">
                <a:solidFill>
                  <a:srgbClr val="1B3A5C"/>
                </a:solidFill>
                <a:latin typeface="Times New Roman"/>
                <a:ea typeface="宋体"/>
              </a:rPr>
              <a:t>（4）最优加成率黄金公式： </a:t>
            </a:r>
            <a:r>
              <a:rPr sz="1250" b="0">
                <a:solidFill>
                  <a:srgbClr val="1E293B"/>
                </a:solidFill>
                <a:latin typeface="Times New Roman"/>
                <a:ea typeface="宋体"/>
              </a:rPr>
              <a:t>m^* = \frac{1}{|E_p| - 1} \implies |E_p|=2 时 m^*=100\%；|E_p|=5 时 m^*=25\%！</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案例7-1：百货公司各品类加成率实证</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（1）日用百货与生鲜粮油： </a:t>
            </a:r>
            <a:r>
              <a:rPr sz="1250" b="0">
                <a:solidFill>
                  <a:srgbClr val="1E293B"/>
                </a:solidFill>
                <a:latin typeface="Times New Roman"/>
                <a:ea typeface="宋体"/>
              </a:rPr>
              <a:t>替代品多且价格弹性极大（|E_p| \ge 4），最优加成率仅设为 10%~20%（薄利多销）。</a:t>
            </a:r>
          </a:p>
          <a:p>
            <a:pPr>
              <a:lnSpc>
                <a:spcPct val="120000"/>
              </a:lnSpc>
              <a:spcAft>
                <a:spcPts val="600"/>
              </a:spcAft>
            </a:pPr>
            <a:r>
              <a:rPr sz="1250" b="1">
                <a:solidFill>
                  <a:srgbClr val="2E86C1"/>
                </a:solidFill>
                <a:latin typeface="Times New Roman"/>
                <a:ea typeface="宋体"/>
              </a:rPr>
              <a:t>（2）高档服饰与高端珠宝： </a:t>
            </a:r>
            <a:r>
              <a:rPr sz="1250" b="0">
                <a:solidFill>
                  <a:srgbClr val="1E293B"/>
                </a:solidFill>
                <a:latin typeface="Times New Roman"/>
                <a:ea typeface="宋体"/>
              </a:rPr>
              <a:t>独特性强且价格弹性极小（|E_p| \approx 1.3），最优加成率高达 200%~300%！</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核心要点：最优加成率公式将经验主义的成本加成与微观边际最优化理论完美统一，弹性越大加成率必须越低。</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第2节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增量分析定价法（Incremental Pricing）</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演练增量分析法在接受特殊低价订单、降价促销争取订单与互补品联动中的实操。</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第7章 定价实践 · 权威教材精细化教学架构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增量分析定价法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一、增量分析定价法原理与接受低价新任务（例7-2）</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增量分析定价法（Incremental Pricing）核心逻辑</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（1）核心决策原则： </a:t>
            </a:r>
            <a:r>
              <a:rPr sz="1250" b="0">
                <a:solidFill>
                  <a:srgbClr val="1E293B"/>
                </a:solidFill>
                <a:latin typeface="Times New Roman"/>
                <a:ea typeface="宋体"/>
              </a:rPr>
              <a:t>仅分析由于采纳某项定价决策所引起的未来增量收入 \Delta TR 与增量成本 \Delta TC。</a:t>
            </a:r>
          </a:p>
          <a:p>
            <a:pPr>
              <a:lnSpc>
                <a:spcPct val="120000"/>
              </a:lnSpc>
              <a:spcAft>
                <a:spcPts val="600"/>
              </a:spcAft>
            </a:pPr>
            <a:r>
              <a:rPr sz="1250" b="1">
                <a:solidFill>
                  <a:srgbClr val="1B3A5C"/>
                </a:solidFill>
                <a:latin typeface="Times New Roman"/>
                <a:ea typeface="宋体"/>
              </a:rPr>
              <a:t>（2）决策判据： </a:t>
            </a:r>
            <a:r>
              <a:rPr sz="1250" b="0">
                <a:solidFill>
                  <a:srgbClr val="1E293B"/>
                </a:solidFill>
                <a:latin typeface="Times New Roman"/>
                <a:ea typeface="宋体"/>
              </a:rPr>
              <a:t>只要增量利润 \Delta \pi = \Delta TR - \Delta TC &gt; 0，该定价方案即为财务可行！</a:t>
            </a:r>
          </a:p>
          <a:p>
            <a:pPr>
              <a:lnSpc>
                <a:spcPct val="120000"/>
              </a:lnSpc>
              <a:spcAft>
                <a:spcPts val="600"/>
              </a:spcAft>
            </a:pPr>
            <a:r>
              <a:rPr sz="1250" b="1">
                <a:solidFill>
                  <a:srgbClr val="1B3A5C"/>
                </a:solidFill>
                <a:latin typeface="Times New Roman"/>
                <a:ea typeface="宋体"/>
              </a:rPr>
              <a:t>（3）严禁分摊沉没成本： </a:t>
            </a:r>
            <a:r>
              <a:rPr sz="1250" b="0">
                <a:solidFill>
                  <a:srgbClr val="1E293B"/>
                </a:solidFill>
                <a:latin typeface="Times New Roman"/>
                <a:ea typeface="宋体"/>
              </a:rPr>
              <a:t>既有固定资产折旧属于沉没成本，绝不能摊入增量成本进行阻碍决策。</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例7-2：外贸追加低价订单决策演算</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（1）决策背景： </a:t>
            </a:r>
            <a:r>
              <a:rPr sz="1250" b="0">
                <a:solidFill>
                  <a:srgbClr val="1E293B"/>
                </a:solidFill>
                <a:latin typeface="Times New Roman"/>
                <a:ea typeface="宋体"/>
              </a:rPr>
              <a:t>企业年产能 10 万件，常态生产 7 万件（闲置 3 万件）。常态单价 100元，平均成本 80元（固定40+变动40）。</a:t>
            </a:r>
          </a:p>
          <a:p>
            <a:pPr>
              <a:lnSpc>
                <a:spcPct val="120000"/>
              </a:lnSpc>
              <a:spcAft>
                <a:spcPts val="600"/>
              </a:spcAft>
            </a:pPr>
            <a:r>
              <a:rPr sz="1250" b="1">
                <a:solidFill>
                  <a:srgbClr val="2E86C1"/>
                </a:solidFill>
                <a:latin typeface="Times New Roman"/>
                <a:ea typeface="宋体"/>
              </a:rPr>
              <a:t>（2）外贸特殊出价： </a:t>
            </a:r>
            <a:r>
              <a:rPr sz="1250" b="0">
                <a:solidFill>
                  <a:srgbClr val="1E293B"/>
                </a:solidFill>
                <a:latin typeface="Times New Roman"/>
                <a:ea typeface="宋体"/>
              </a:rPr>
              <a:t>外商出价 60元 订购 2 万件（出价远低于平均成本 80元！）。</a:t>
            </a:r>
          </a:p>
          <a:p>
            <a:pPr>
              <a:lnSpc>
                <a:spcPct val="120000"/>
              </a:lnSpc>
              <a:spcAft>
                <a:spcPts val="600"/>
              </a:spcAft>
            </a:pPr>
            <a:r>
              <a:rPr sz="1250" b="1">
                <a:solidFill>
                  <a:srgbClr val="2E86C1"/>
                </a:solidFill>
                <a:latin typeface="Times New Roman"/>
                <a:ea typeface="宋体"/>
              </a:rPr>
              <a:t>（3）增量损益测算： </a:t>
            </a:r>
            <a:r>
              <a:rPr sz="1250" b="0">
                <a:solidFill>
                  <a:srgbClr val="1E293B"/>
                </a:solidFill>
                <a:latin typeface="Times New Roman"/>
                <a:ea typeface="宋体"/>
              </a:rPr>
              <a:t>\Delta TR = 60 \times 2 = 120 万元，\Delta TC = 40 \times 2 = 80 万元 \implies \Delta \pi = +40 万元！</a:t>
            </a:r>
          </a:p>
          <a:p>
            <a:pPr>
              <a:lnSpc>
                <a:spcPct val="120000"/>
              </a:lnSpc>
              <a:spcAft>
                <a:spcPts val="600"/>
              </a:spcAft>
            </a:pPr>
            <a:r>
              <a:rPr sz="1250" b="1">
                <a:solidFill>
                  <a:srgbClr val="2E86C1"/>
                </a:solidFill>
                <a:latin typeface="Times New Roman"/>
                <a:ea typeface="宋体"/>
              </a:rPr>
              <a:t>（4）最终决策结论： </a:t>
            </a:r>
            <a:r>
              <a:rPr sz="1250" b="0">
                <a:solidFill>
                  <a:srgbClr val="1E293B"/>
                </a:solidFill>
                <a:latin typeface="Times New Roman"/>
                <a:ea typeface="宋体"/>
              </a:rPr>
              <a:t>只要该外贸订单不冲击国内正价市场，果断接单，为企业增加净现金利润 40 万元！</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核心要点：增量定价打破了'低于平均总成本就拒单'的教条，是产能过剩期盘活闲置资产的利器。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增量分析定价法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二、降价争取订单与互补替代品联动定价（例7-3/7-4）</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互补关联产品联动定价决策（例7-4）</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（1）跨品类联动决策场景： </a:t>
            </a:r>
            <a:r>
              <a:rPr sz="1250" b="0">
                <a:solidFill>
                  <a:srgbClr val="1E293B"/>
                </a:solidFill>
                <a:latin typeface="Times New Roman"/>
                <a:ea typeface="宋体"/>
              </a:rPr>
              <a:t>主设备销售能直接带动后续高毛利耗材与服务生命周期消费。</a:t>
            </a:r>
          </a:p>
          <a:p>
            <a:pPr>
              <a:lnSpc>
                <a:spcPct val="120000"/>
              </a:lnSpc>
              <a:spcAft>
                <a:spcPts val="600"/>
              </a:spcAft>
            </a:pPr>
            <a:r>
              <a:rPr sz="1250" b="1">
                <a:solidFill>
                  <a:srgbClr val="1B3A5C"/>
                </a:solidFill>
                <a:latin typeface="Times New Roman"/>
                <a:ea typeface="宋体"/>
              </a:rPr>
              <a:t>（2）增量联动利润核算： </a:t>
            </a:r>
            <a:r>
              <a:rPr sz="1250" b="0">
                <a:solidFill>
                  <a:srgbClr val="1E293B"/>
                </a:solidFill>
                <a:latin typeface="Times New Roman"/>
                <a:ea typeface="宋体"/>
              </a:rPr>
              <a:t>\Delta \pi_{\text{总}} = \Delta \pi_{\text{主设备}} + \Delta \pi_{\text{后续耗材配件}}</a:t>
            </a:r>
          </a:p>
          <a:p>
            <a:pPr>
              <a:lnSpc>
                <a:spcPct val="120000"/>
              </a:lnSpc>
              <a:spcAft>
                <a:spcPts val="600"/>
              </a:spcAft>
            </a:pPr>
            <a:r>
              <a:rPr sz="1250" b="1">
                <a:solidFill>
                  <a:srgbClr val="1B3A5C"/>
                </a:solidFill>
                <a:latin typeface="Times New Roman"/>
                <a:ea typeface="宋体"/>
              </a:rPr>
              <a:t>（3）管理决策准则： </a:t>
            </a:r>
            <a:r>
              <a:rPr sz="1250" b="0">
                <a:solidFill>
                  <a:srgbClr val="1E293B"/>
                </a:solidFill>
                <a:latin typeface="Times New Roman"/>
                <a:ea typeface="宋体"/>
              </a:rPr>
              <a:t>即便主设备单品账面微亏，只要能带动高额耗材净利润且总增量 \Delta \pi &gt; 0，依然是高明战略。</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案例7-2：日航机票降价与旅游全生态盈利</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（1）商业操作： </a:t>
            </a:r>
            <a:r>
              <a:rPr sz="1250" b="0">
                <a:solidFill>
                  <a:srgbClr val="1E293B"/>
                </a:solidFill>
                <a:latin typeface="Times New Roman"/>
                <a:ea typeface="宋体"/>
              </a:rPr>
              <a:t>日本航空（JAL）将东京至冲绳淡季机票降至保本线以下。</a:t>
            </a:r>
          </a:p>
          <a:p>
            <a:pPr>
              <a:lnSpc>
                <a:spcPct val="120000"/>
              </a:lnSpc>
              <a:spcAft>
                <a:spcPts val="600"/>
              </a:spcAft>
            </a:pPr>
            <a:r>
              <a:rPr sz="1250" b="1">
                <a:solidFill>
                  <a:srgbClr val="2E86C1"/>
                </a:solidFill>
                <a:latin typeface="Times New Roman"/>
                <a:ea typeface="宋体"/>
              </a:rPr>
              <a:t>（2）全生态增量捕获： </a:t>
            </a:r>
            <a:r>
              <a:rPr sz="1250" b="0">
                <a:solidFill>
                  <a:srgbClr val="1E293B"/>
                </a:solidFill>
                <a:latin typeface="Times New Roman"/>
                <a:ea typeface="宋体"/>
              </a:rPr>
              <a:t>廉价机票吸引大量旅客前往，全面带动了日航旗下度假酒店入住、免税店购物与租车消费，实现了集团整体超额增量利润。</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核心要点：增量定价要求管理者具备生态化全局视野，善于用低门槛引流品撬动高毛利变现品。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第3节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最优报价的确定（Optimal Bidding）</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掌握工程与大宗采购招投标概率期望利润模型，确定最优投标报价。</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第7章 定价实践 · 权威教材精细化教学架构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最优报价的确定</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一、招投标概率期望利润最大化模型与例7-5</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招投标博弈与期望利润模型</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（1）投标报价的双向权衡： </a:t>
            </a:r>
            <a:r>
              <a:rPr sz="1250" b="0">
                <a:solidFill>
                  <a:srgbClr val="1E293B"/>
                </a:solidFill>
                <a:latin typeface="Times New Roman"/>
                <a:ea typeface="宋体"/>
              </a:rPr>
              <a:t>报价越高，中标后单件利润 (P - C) 越大，但中标概率 P(中标) 越低；报价越低，中标概率越高但利润微薄。</a:t>
            </a:r>
          </a:p>
          <a:p>
            <a:pPr>
              <a:lnSpc>
                <a:spcPct val="120000"/>
              </a:lnSpc>
              <a:spcAft>
                <a:spcPts val="600"/>
              </a:spcAft>
            </a:pPr>
            <a:r>
              <a:rPr sz="1250" b="1">
                <a:solidFill>
                  <a:srgbClr val="1B3A5C"/>
                </a:solidFill>
                <a:latin typeface="Times New Roman"/>
                <a:ea typeface="宋体"/>
              </a:rPr>
              <a:t>（2）目标函数（期望利润最大化）： </a:t>
            </a:r>
            <a:r>
              <a:rPr sz="1250" b="0">
                <a:solidFill>
                  <a:srgbClr val="1E293B"/>
                </a:solidFill>
                <a:latin typeface="Times New Roman"/>
                <a:ea typeface="宋体"/>
              </a:rPr>
              <a:t>\max_P E(\pi) = (P - C) \cdot P(\text{中标}|P) \quad (C: 项目预计增量成本)</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例7-5：某工程最优报价测算全景表</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300"/>
              </a:spcAft>
            </a:pPr>
            <a:r>
              <a:rPr sz="1150" b="1">
                <a:solidFill>
                  <a:srgbClr val="2E86C1"/>
                </a:solidFill>
                <a:latin typeface="Times New Roman"/>
                <a:ea typeface="宋体"/>
              </a:rPr>
              <a:t>   • 报价 140 万元： </a:t>
            </a:r>
            <a:r>
              <a:rPr sz="1150" b="0">
                <a:solidFill>
                  <a:srgbClr val="1E293B"/>
                </a:solidFill>
                <a:latin typeface="Times New Roman"/>
                <a:ea typeface="宋体"/>
              </a:rPr>
              <a:t>利润 40 万，中标概率 0.20 \implies 期望利润 E(\pi) = 40 \times 0.20 = 8.0 万元</a:t>
            </a:r>
          </a:p>
          <a:p>
            <a:pPr algn="l">
              <a:lnSpc>
                <a:spcPct val="120000"/>
              </a:lnSpc>
              <a:spcAft>
                <a:spcPts val="300"/>
              </a:spcAft>
            </a:pPr>
            <a:r>
              <a:rPr sz="1150" b="0">
                <a:solidFill>
                  <a:srgbClr val="1E293B"/>
                </a:solidFill>
                <a:latin typeface="Times New Roman"/>
                <a:ea typeface="宋体"/>
              </a:rPr>
              <a:t>- （1）已知项目增量成本 C = 100 万元。通过历史竞争情报测算不同报价下的中标概率：</a:t>
            </a:r>
          </a:p>
          <a:p>
            <a:pPr>
              <a:lnSpc>
                <a:spcPct val="120000"/>
              </a:lnSpc>
              <a:spcAft>
                <a:spcPts val="300"/>
              </a:spcAft>
            </a:pPr>
            <a:r>
              <a:rPr sz="1150" b="1">
                <a:solidFill>
                  <a:srgbClr val="2E86C1"/>
                </a:solidFill>
                <a:latin typeface="Times New Roman"/>
                <a:ea typeface="宋体"/>
              </a:rPr>
              <a:t>   • 报价 130 万元： </a:t>
            </a:r>
            <a:r>
              <a:rPr sz="1150" b="0">
                <a:solidFill>
                  <a:srgbClr val="1E293B"/>
                </a:solidFill>
                <a:latin typeface="Times New Roman"/>
                <a:ea typeface="宋体"/>
              </a:rPr>
              <a:t>利润 30 万，中标概率 0.50 \implies 期望利润 E(\pi) = 30 \times 0.50 = 15.0 万元</a:t>
            </a:r>
          </a:p>
          <a:p>
            <a:pPr>
              <a:lnSpc>
                <a:spcPct val="120000"/>
              </a:lnSpc>
              <a:spcAft>
                <a:spcPts val="300"/>
              </a:spcAft>
            </a:pPr>
            <a:r>
              <a:rPr sz="1150" b="1">
                <a:solidFill>
                  <a:srgbClr val="2E86C1"/>
                </a:solidFill>
                <a:latin typeface="Times New Roman"/>
                <a:ea typeface="宋体"/>
              </a:rPr>
              <a:t>   • 报价 120 万元： </a:t>
            </a:r>
            <a:r>
              <a:rPr sz="1150" b="0">
                <a:solidFill>
                  <a:srgbClr val="1E293B"/>
                </a:solidFill>
                <a:latin typeface="Times New Roman"/>
                <a:ea typeface="宋体"/>
              </a:rPr>
              <a:t>利润 20 万，中标概率 0.80 \implies 期望利润 E(\pi) = 20 \times 0.80 = 16.0 万元 ★ (最优！)</a:t>
            </a:r>
          </a:p>
          <a:p>
            <a:pPr>
              <a:lnSpc>
                <a:spcPct val="120000"/>
              </a:lnSpc>
              <a:spcAft>
                <a:spcPts val="300"/>
              </a:spcAft>
            </a:pPr>
            <a:r>
              <a:rPr sz="1150" b="1">
                <a:solidFill>
                  <a:srgbClr val="2E86C1"/>
                </a:solidFill>
                <a:latin typeface="Times New Roman"/>
                <a:ea typeface="宋体"/>
              </a:rPr>
              <a:t>   • 报价 110 万元： </a:t>
            </a:r>
            <a:r>
              <a:rPr sz="1150" b="0">
                <a:solidFill>
                  <a:srgbClr val="1E293B"/>
                </a:solidFill>
                <a:latin typeface="Times New Roman"/>
                <a:ea typeface="宋体"/>
              </a:rPr>
              <a:t>利润 10 万，中标概率 0.95 \implies 期望利润 E(\pi) = 10 \times 0.95 = 9.5 万元</a:t>
            </a:r>
          </a:p>
          <a:p>
            <a:pPr>
              <a:lnSpc>
                <a:spcPct val="120000"/>
              </a:lnSpc>
              <a:spcAft>
                <a:spcPts val="300"/>
              </a:spcAft>
            </a:pPr>
            <a:r>
              <a:rPr sz="1150" b="1">
                <a:solidFill>
                  <a:srgbClr val="2E86C1"/>
                </a:solidFill>
                <a:latin typeface="Times New Roman"/>
                <a:ea typeface="宋体"/>
              </a:rPr>
              <a:t>（2）决策结论： </a:t>
            </a:r>
            <a:r>
              <a:rPr sz="1150" b="0">
                <a:solidFill>
                  <a:srgbClr val="1E293B"/>
                </a:solidFill>
                <a:latin typeface="Times New Roman"/>
                <a:ea typeface="宋体"/>
              </a:rPr>
              <a:t>最优投标报价为 120 万元，期望利润达到最高峰值 16 万元！</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核心要点：招投标模型将直觉博弈转化为严密的概率期望最优化计算，有效提升竞标胜率与收益。</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第4节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差别定价法（Price Discrimination）</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系统剖析一/二/三级价格歧视实施前提，精解三级差别定价法则 MR1=MR2=MC 与逆弹性法则。</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第7章 定价实践 · 权威教材精细化教学架构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差别定价法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一、差别定价三大实施前提与一级/二级价格歧视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12</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实行差别定价的三大基本前提条件</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（1）企业具有垄断力： </a:t>
            </a:r>
            <a:r>
              <a:rPr sz="1250" b="0">
                <a:solidFill>
                  <a:srgbClr val="1E293B"/>
                </a:solidFill>
                <a:latin typeface="Times New Roman"/>
                <a:ea typeface="宋体"/>
              </a:rPr>
              <a:t>企业是价格制定者，能对市场价格进行有效控制。</a:t>
            </a:r>
          </a:p>
          <a:p>
            <a:pPr>
              <a:lnSpc>
                <a:spcPct val="120000"/>
              </a:lnSpc>
              <a:spcAft>
                <a:spcPts val="600"/>
              </a:spcAft>
            </a:pPr>
            <a:r>
              <a:rPr sz="1250" b="1">
                <a:solidFill>
                  <a:srgbClr val="1B3A5C"/>
                </a:solidFill>
                <a:latin typeface="Times New Roman"/>
                <a:ea typeface="宋体"/>
              </a:rPr>
              <a:t>（2）市场能有效分割： </a:t>
            </a:r>
            <a:r>
              <a:rPr sz="1250" b="0">
                <a:solidFill>
                  <a:srgbClr val="1E293B"/>
                </a:solidFill>
                <a:latin typeface="Times New Roman"/>
                <a:ea typeface="宋体"/>
              </a:rPr>
              <a:t>不同子市场能够清晰界定隔离，防范低价市场买家倒卖给高价市场（套利被彻底遏制）。</a:t>
            </a:r>
          </a:p>
          <a:p>
            <a:pPr>
              <a:lnSpc>
                <a:spcPct val="120000"/>
              </a:lnSpc>
              <a:spcAft>
                <a:spcPts val="600"/>
              </a:spcAft>
            </a:pPr>
            <a:r>
              <a:rPr sz="1250" b="1">
                <a:solidFill>
                  <a:srgbClr val="1B3A5C"/>
                </a:solidFill>
                <a:latin typeface="Times New Roman"/>
                <a:ea typeface="宋体"/>
              </a:rPr>
              <a:t>（3）子市场需求弹性不同： </a:t>
            </a:r>
            <a:r>
              <a:rPr sz="1250" b="0">
                <a:solidFill>
                  <a:srgbClr val="1E293B"/>
                </a:solidFill>
                <a:latin typeface="Times New Roman"/>
                <a:ea typeface="宋体"/>
              </a:rPr>
              <a:t>不同消费者群体的需求价格弹性存在明显差异。</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一级与二级价格歧视形态</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（1）一级价格歧视（完全价格歧视）： </a:t>
            </a:r>
            <a:r>
              <a:rPr sz="1250" b="0">
                <a:solidFill>
                  <a:srgbClr val="1E293B"/>
                </a:solidFill>
                <a:latin typeface="Times New Roman"/>
                <a:ea typeface="宋体"/>
              </a:rPr>
              <a:t>按每个消费者愿意支付的最高保留价格分别定价，将全部消费者剩余转化为企业利润（如名医、顶尖律师私教）。</a:t>
            </a:r>
          </a:p>
          <a:p>
            <a:pPr>
              <a:lnSpc>
                <a:spcPct val="120000"/>
              </a:lnSpc>
              <a:spcAft>
                <a:spcPts val="600"/>
              </a:spcAft>
            </a:pPr>
            <a:r>
              <a:rPr sz="1250" b="1">
                <a:solidFill>
                  <a:srgbClr val="2E86C1"/>
                </a:solidFill>
                <a:latin typeface="Times New Roman"/>
                <a:ea typeface="宋体"/>
              </a:rPr>
              <a:t>（2）二级价格歧视（数量折扣）： </a:t>
            </a:r>
            <a:r>
              <a:rPr sz="1250" b="0">
                <a:solidFill>
                  <a:srgbClr val="1E293B"/>
                </a:solidFill>
                <a:latin typeface="Times New Roman"/>
                <a:ea typeface="宋体"/>
              </a:rPr>
              <a:t>按购买数量区间实行阶梯递减定价（如阶梯电价、批量采购满减折扣），攫取部分消费者剩余。</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核心要点：差别定价的本质是企业通过产品差异化和细分市场设计，精巧提取消费者的保留价格剩余。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差别定价法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二、三级差别定价法则与逆弹性定价定理（例7-6）</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三级差别定价（市场分割）利润最大化定理</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（1）跨市场边际收益相等法则： </a:t>
            </a:r>
            <a:r>
              <a:rPr sz="1250" b="0">
                <a:solidFill>
                  <a:srgbClr val="1E293B"/>
                </a:solidFill>
                <a:latin typeface="Times New Roman"/>
                <a:ea typeface="宋体"/>
              </a:rPr>
              <a:t>MR_1 = MR_2 = ... = MR_n = MC</a:t>
            </a:r>
          </a:p>
          <a:p>
            <a:pPr>
              <a:lnSpc>
                <a:spcPct val="120000"/>
              </a:lnSpc>
              <a:spcAft>
                <a:spcPts val="600"/>
              </a:spcAft>
            </a:pPr>
            <a:r>
              <a:rPr sz="1250" b="1">
                <a:solidFill>
                  <a:srgbClr val="1B3A5C"/>
                </a:solidFill>
                <a:latin typeface="Times New Roman"/>
                <a:ea typeface="宋体"/>
              </a:rPr>
              <a:t>（2）展开为价格弹性代数方程： </a:t>
            </a:r>
            <a:r>
              <a:rPr sz="1250" b="0">
                <a:solidFill>
                  <a:srgbClr val="1E293B"/>
                </a:solidFill>
                <a:latin typeface="Times New Roman"/>
                <a:ea typeface="宋体"/>
              </a:rPr>
              <a:t>P_1 (1 - \frac{1}{|E_{p1}|}) = P_2 (1 - \frac{1}{|E_{p2}|}) = MC</a:t>
            </a:r>
          </a:p>
          <a:p>
            <a:pPr>
              <a:lnSpc>
                <a:spcPct val="120000"/>
              </a:lnSpc>
              <a:spcAft>
                <a:spcPts val="600"/>
              </a:spcAft>
            </a:pPr>
            <a:r>
              <a:rPr sz="1250" b="1">
                <a:solidFill>
                  <a:srgbClr val="1B3A5C"/>
                </a:solidFill>
                <a:latin typeface="Times New Roman"/>
                <a:ea typeface="宋体"/>
              </a:rPr>
              <a:t>（3）逆弹性定价准则： </a:t>
            </a:r>
            <a:r>
              <a:rPr sz="1250" b="0">
                <a:solidFill>
                  <a:srgbClr val="1E293B"/>
                </a:solidFill>
                <a:latin typeface="Times New Roman"/>
                <a:ea typeface="宋体"/>
              </a:rPr>
              <a:t>\frac{P_1}{P_2} = \frac{1 - 1/|E_{p2}|}{1 - 1/|E_{p1}|} \implies 需求价格弹性较小的市场定高价，需求价格弹性较大的市场定低价！</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例7-6：软件企业版与教育版差别定价演算</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（1）企业市场需求函数： </a:t>
            </a:r>
            <a:r>
              <a:rPr sz="1250" b="0">
                <a:solidFill>
                  <a:srgbClr val="1E293B"/>
                </a:solidFill>
                <a:latin typeface="Times New Roman"/>
                <a:ea typeface="宋体"/>
              </a:rPr>
              <a:t>P_1 = 100 - Q_1 \implies MR_1 = 100 - 2Q_1；学生教育市场：P_2 = 60 - 0.5Q_2 \implies MR_2 = 60 - Q_2。</a:t>
            </a:r>
          </a:p>
          <a:p>
            <a:pPr>
              <a:lnSpc>
                <a:spcPct val="120000"/>
              </a:lnSpc>
              <a:spcAft>
                <a:spcPts val="600"/>
              </a:spcAft>
            </a:pPr>
            <a:r>
              <a:rPr sz="1250" b="1">
                <a:solidFill>
                  <a:srgbClr val="2E86C1"/>
                </a:solidFill>
                <a:latin typeface="Times New Roman"/>
                <a:ea typeface="宋体"/>
              </a:rPr>
              <a:t>（2）边际成本 MC = 20 元。联立求解： </a:t>
            </a:r>
            <a:r>
              <a:rPr sz="1250" b="0">
                <a:solidFill>
                  <a:srgbClr val="1E293B"/>
                </a:solidFill>
                <a:latin typeface="Times New Roman"/>
                <a:ea typeface="宋体"/>
              </a:rPr>
              <a:t>100 - 2Q_1 = 20 \implies Q_1 = 40, P_1 = 60 元；60 - Q_2 = 20 \implies Q_2 = 40, P_2 = 40 元！</a:t>
            </a:r>
          </a:p>
          <a:p>
            <a:pPr>
              <a:lnSpc>
                <a:spcPct val="120000"/>
              </a:lnSpc>
              <a:spcAft>
                <a:spcPts val="600"/>
              </a:spcAft>
            </a:pPr>
            <a:r>
              <a:rPr sz="1250" b="1">
                <a:solidFill>
                  <a:srgbClr val="2E86C1"/>
                </a:solidFill>
                <a:latin typeface="Times New Roman"/>
                <a:ea typeface="宋体"/>
              </a:rPr>
              <a:t>（3）管理启示： </a:t>
            </a:r>
            <a:r>
              <a:rPr sz="1250" b="0">
                <a:solidFill>
                  <a:srgbClr val="1E293B"/>
                </a:solidFill>
                <a:latin typeface="Times New Roman"/>
                <a:ea typeface="宋体"/>
              </a:rPr>
              <a:t>针对缺乏弹性的商业客户定高价 60元，富有弹性的学生群体定低价 40元，实现总利润最大化。</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核心要点：三级差别定价是民航机票收益管理、软件跨行业定价与影院学生优惠票的核心理论基石。</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差别定价法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三、两部收费制（Two-Part Tariff）与会员制商超实践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两部收费制（Two-Part Tariff）模型机制</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（1）双重收费结构： </a:t>
            </a:r>
            <a:r>
              <a:rPr sz="1250" b="0">
                <a:solidFill>
                  <a:srgbClr val="1E293B"/>
                </a:solidFill>
                <a:latin typeface="Times New Roman"/>
                <a:ea typeface="宋体"/>
              </a:rPr>
              <a:t>固定准入门槛费（Entry Fee, T）+ 按使用量计费的单价（Usage Fee, P）。</a:t>
            </a:r>
          </a:p>
          <a:p>
            <a:pPr>
              <a:lnSpc>
                <a:spcPct val="120000"/>
              </a:lnSpc>
              <a:spcAft>
                <a:spcPts val="600"/>
              </a:spcAft>
            </a:pPr>
            <a:r>
              <a:rPr sz="1250" b="1">
                <a:solidFill>
                  <a:srgbClr val="1B3A5C"/>
                </a:solidFill>
                <a:latin typeface="Times New Roman"/>
                <a:ea typeface="宋体"/>
              </a:rPr>
              <a:t>（2）最优定价定理： </a:t>
            </a:r>
            <a:r>
              <a:rPr sz="1250" b="0">
                <a:solidFill>
                  <a:srgbClr val="1E293B"/>
                </a:solidFill>
                <a:latin typeface="Times New Roman"/>
                <a:ea typeface="宋体"/>
              </a:rPr>
              <a:t>将单位使用费定为等于边际成本（P = MC），最大化消费者总剩余；然后将固定准入费 T 定为等于消费者的全部消费者剩余（T = CS）！</a:t>
            </a:r>
          </a:p>
          <a:p>
            <a:pPr>
              <a:lnSpc>
                <a:spcPct val="120000"/>
              </a:lnSpc>
              <a:spcAft>
                <a:spcPts val="600"/>
              </a:spcAft>
            </a:pPr>
            <a:r>
              <a:rPr sz="1250" b="1">
                <a:solidFill>
                  <a:srgbClr val="1B3A5C"/>
                </a:solidFill>
                <a:latin typeface="Times New Roman"/>
                <a:ea typeface="宋体"/>
              </a:rPr>
              <a:t>（3）商业范例： </a:t>
            </a:r>
            <a:r>
              <a:rPr sz="1250" b="0">
                <a:solidFill>
                  <a:srgbClr val="1E293B"/>
                </a:solidFill>
                <a:latin typeface="Times New Roman"/>
                <a:ea typeface="宋体"/>
              </a:rPr>
              <a:t>游乐园门票+游乐设施免费、高尔夫俱乐部会费+打球场地费、SaaS 基础年费+API 调用费。</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Costco（开市客）仓储会员制商业帝国</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（1）极低商品毛利（P ≈ MC）： </a:t>
            </a:r>
            <a:r>
              <a:rPr sz="1250" b="0">
                <a:solidFill>
                  <a:srgbClr val="1E293B"/>
                </a:solidFill>
                <a:latin typeface="Times New Roman"/>
                <a:ea typeface="宋体"/>
              </a:rPr>
              <a:t>商品综合毛利率严格控制在 10%~14%（仅勉强覆盖日常营运成本）。</a:t>
            </a:r>
          </a:p>
          <a:p>
            <a:pPr>
              <a:lnSpc>
                <a:spcPct val="120000"/>
              </a:lnSpc>
              <a:spcAft>
                <a:spcPts val="600"/>
              </a:spcAft>
            </a:pPr>
            <a:r>
              <a:rPr sz="1250" b="1">
                <a:solidFill>
                  <a:srgbClr val="2E86C1"/>
                </a:solidFill>
                <a:latin typeface="Times New Roman"/>
                <a:ea typeface="宋体"/>
              </a:rPr>
              <a:t>（2）会员费贡献 70%+ 纯利润： </a:t>
            </a:r>
            <a:r>
              <a:rPr sz="1250" b="0">
                <a:solidFill>
                  <a:srgbClr val="1E293B"/>
                </a:solidFill>
                <a:latin typeface="Times New Roman"/>
                <a:ea typeface="宋体"/>
              </a:rPr>
              <a:t>全球超 1 亿忠实会员每年缴纳 60~120 美元刚性会员费，构成企业最稳固的高毛利利润池。</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核心要点：两部收费制巧妙地将消费者剩余转化为企业无风险固定收入，实现了用户粘性与企业盈利的双赢。</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第5节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高峰负荷定价法（Peak-Load Pricing）</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解析不可储存性基础设施在容量刚性约束下的固定资产折旧分摊与峰谷动态定价机制。</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第7章 定价实践 · 权威教材精细化教学架构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第5节 高峰负荷定价法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一、高峰负荷定价模型与固定成本分摊原则</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高峰负荷定价法（Peak-Load Pricing）适用特征</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（1）行业特征： </a:t>
            </a:r>
            <a:r>
              <a:rPr sz="1250" b="0">
                <a:solidFill>
                  <a:srgbClr val="1E293B"/>
                </a:solidFill>
                <a:latin typeface="Times New Roman"/>
                <a:ea typeface="宋体"/>
              </a:rPr>
              <a:t>产品不可储存、需求具有强烈的日内或季节性峰谷波动、产能受最大装机容量刚性制约（如电网、高铁、景区）。</a:t>
            </a:r>
          </a:p>
          <a:p>
            <a:pPr>
              <a:lnSpc>
                <a:spcPct val="120000"/>
              </a:lnSpc>
              <a:spcAft>
                <a:spcPts val="600"/>
              </a:spcAft>
            </a:pPr>
            <a:r>
              <a:rPr sz="1250" b="1">
                <a:solidFill>
                  <a:srgbClr val="1B3A5C"/>
                </a:solidFill>
                <a:latin typeface="Times New Roman"/>
                <a:ea typeface="宋体"/>
              </a:rPr>
              <a:t>（2）固定容量成本分摊铁律： </a:t>
            </a:r>
            <a:r>
              <a:rPr sz="1250" b="0">
                <a:solidFill>
                  <a:srgbClr val="1E293B"/>
                </a:solidFill>
                <a:latin typeface="Times New Roman"/>
                <a:ea typeface="宋体"/>
              </a:rPr>
              <a:t>高峰期需求是决定企业必须建设多大装机容量的唯一原因，因此全部固定资产折旧与容量投资成本必须全部由高峰期用户承担！</a:t>
            </a:r>
          </a:p>
          <a:p>
            <a:pPr>
              <a:lnSpc>
                <a:spcPct val="120000"/>
              </a:lnSpc>
              <a:spcAft>
                <a:spcPts val="600"/>
              </a:spcAft>
            </a:pPr>
            <a:r>
              <a:rPr sz="1250" b="1">
                <a:solidFill>
                  <a:srgbClr val="1B3A5C"/>
                </a:solidFill>
                <a:latin typeface="Times New Roman"/>
                <a:ea typeface="宋体"/>
              </a:rPr>
              <a:t>（3）谷期定价准则： </a:t>
            </a:r>
            <a:r>
              <a:rPr sz="1250" b="0">
                <a:solidFill>
                  <a:srgbClr val="1E293B"/>
                </a:solidFill>
                <a:latin typeface="Times New Roman"/>
                <a:ea typeface="宋体"/>
              </a:rPr>
              <a:t>平谷期富余产能充裕，谷期用户只需承担运行边际变动成本（P_{off} = MC_{running}）。</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案例7-3：上海峰谷电价改革的社会经济效益</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（1）商业机制： </a:t>
            </a:r>
            <a:r>
              <a:rPr sz="1250" b="0">
                <a:solidFill>
                  <a:srgbClr val="1E293B"/>
                </a:solidFill>
                <a:latin typeface="Times New Roman"/>
                <a:ea typeface="宋体"/>
              </a:rPr>
              <a:t>大幅拉大白天用电高峰（高电价）与午夜低谷（低电价）差距。</a:t>
            </a:r>
          </a:p>
          <a:p>
            <a:pPr>
              <a:lnSpc>
                <a:spcPct val="120000"/>
              </a:lnSpc>
              <a:spcAft>
                <a:spcPts val="600"/>
              </a:spcAft>
            </a:pPr>
            <a:r>
              <a:rPr sz="1250" b="1">
                <a:solidFill>
                  <a:srgbClr val="2E86C1"/>
                </a:solidFill>
                <a:latin typeface="Times New Roman"/>
                <a:ea typeface="宋体"/>
              </a:rPr>
              <a:t>（2）削峰填谷效益： </a:t>
            </a:r>
            <a:r>
              <a:rPr sz="1250" b="0">
                <a:solidFill>
                  <a:srgbClr val="1E293B"/>
                </a:solidFill>
                <a:latin typeface="Times New Roman"/>
                <a:ea typeface="宋体"/>
              </a:rPr>
              <a:t>有效激励工业企业错峰夜间生产与居民夜间充电，避免了数百亿元调峰发电厂的重复盲目建设。</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核心要点：高峰负荷定价兼顾了资源配置效率与企业财务可行性，是现代公用事业与收益管理的核心典范。</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第6节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多产品定价法（Multi-Product Pricing）</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探讨需求关联产品（替代与互补）、捆绑定价矩阵以及生产关联产品（联产品）的定价。</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第7章 定价实践 · 权威教材精细化教学架构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第6节 多产品定价法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一、需求关联产品与生产联产品定价模型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需求关联产品定价策略（互补品与替代品）</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（1）互补品联动定价： </a:t>
            </a:r>
            <a:r>
              <a:rPr sz="1250" b="0">
                <a:solidFill>
                  <a:srgbClr val="1E293B"/>
                </a:solidFill>
                <a:latin typeface="Times New Roman"/>
                <a:ea typeface="宋体"/>
              </a:rPr>
              <a:t>降低主产品售价以拉动高毛利互补耗材的爆发式销售（如游戏主机降价拉动独占游戏大卖）。</a:t>
            </a:r>
          </a:p>
          <a:p>
            <a:pPr>
              <a:lnSpc>
                <a:spcPct val="120000"/>
              </a:lnSpc>
              <a:spcAft>
                <a:spcPts val="600"/>
              </a:spcAft>
            </a:pPr>
            <a:r>
              <a:rPr sz="1250" b="1">
                <a:solidFill>
                  <a:srgbClr val="1B3A5C"/>
                </a:solidFill>
                <a:latin typeface="Times New Roman"/>
                <a:ea typeface="宋体"/>
              </a:rPr>
              <a:t>（2）替代品系列定价： </a:t>
            </a:r>
            <a:r>
              <a:rPr sz="1250" b="0">
                <a:solidFill>
                  <a:srgbClr val="1E293B"/>
                </a:solidFill>
                <a:latin typeface="Times New Roman"/>
                <a:ea typeface="宋体"/>
              </a:rPr>
              <a:t>在同一产品线内部，按不同配置拉开合理阶梯价差，引导消费者向上购买高毛利旗舰型号。</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生产关联产品（联产品 Joint Products）定价（例7-7/7-8）</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（1）固定比例产出联产品（如原油炼化汽油与柴油）： </a:t>
            </a:r>
            <a:r>
              <a:rPr sz="1250" b="0">
                <a:solidFill>
                  <a:srgbClr val="1E293B"/>
                </a:solidFill>
                <a:latin typeface="Times New Roman"/>
                <a:ea typeface="宋体"/>
              </a:rPr>
              <a:t>分离点前发生的联合成本属于沉没成本，不能人为机械分摊；必须按各联产品的边际收入垂直加总 \sum MR = MC 确定总产量，并在各自分市场上分别按供求出清定价！</a:t>
            </a:r>
          </a:p>
          <a:p>
            <a:pPr>
              <a:lnSpc>
                <a:spcPct val="120000"/>
              </a:lnSpc>
              <a:spcAft>
                <a:spcPts val="600"/>
              </a:spcAft>
            </a:pPr>
            <a:r>
              <a:rPr sz="1250" b="1">
                <a:solidFill>
                  <a:srgbClr val="2E86C1"/>
                </a:solidFill>
                <a:latin typeface="Times New Roman"/>
                <a:ea typeface="宋体"/>
              </a:rPr>
              <a:t>（2）可变比例联产品： </a:t>
            </a:r>
            <a:r>
              <a:rPr sz="1250" b="0">
                <a:solidFill>
                  <a:srgbClr val="1E293B"/>
                </a:solidFill>
                <a:latin typeface="Times New Roman"/>
                <a:ea typeface="宋体"/>
              </a:rPr>
              <a:t>根据各联产品的市场相对价格动态调整投入要素比例，使各产品的边际替代率等于其相对价格比。</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核心要点：多产品定价要求管理者彻底摒弃单品割裂思维，统筹把握需求网络关联与生产联合成本。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第6节 多产品定价法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二、捆绑销售（Bundling）与搭售定价收益矩阵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纯捆绑销售（Pure Bundling）vs 混合捆绑（Mixed Bundling）</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（1）纯捆绑销售： </a:t>
            </a:r>
            <a:r>
              <a:rPr sz="1250" b="0">
                <a:solidFill>
                  <a:srgbClr val="1E293B"/>
                </a:solidFill>
                <a:latin typeface="Times New Roman"/>
                <a:ea typeface="宋体"/>
              </a:rPr>
              <a:t>消费者只能整体打包购买全部商品（如微软 Office 套件包含 Word、Excel、PPT）。</a:t>
            </a:r>
          </a:p>
          <a:p>
            <a:pPr>
              <a:lnSpc>
                <a:spcPct val="120000"/>
              </a:lnSpc>
              <a:spcAft>
                <a:spcPts val="600"/>
              </a:spcAft>
            </a:pPr>
            <a:r>
              <a:rPr sz="1250" b="1">
                <a:solidFill>
                  <a:srgbClr val="1B3A5C"/>
                </a:solidFill>
                <a:latin typeface="Times New Roman"/>
                <a:ea typeface="宋体"/>
              </a:rPr>
              <a:t>（2）混合捆绑销售： </a:t>
            </a:r>
            <a:r>
              <a:rPr sz="1250" b="0">
                <a:solidFill>
                  <a:srgbClr val="1E293B"/>
                </a:solidFill>
                <a:latin typeface="Times New Roman"/>
                <a:ea typeface="宋体"/>
              </a:rPr>
              <a:t>消费者既可以单独购买单品，也可以享受优惠折扣购买捆绑包（如麦当劳超值套餐）。</a:t>
            </a:r>
          </a:p>
          <a:p>
            <a:pPr>
              <a:lnSpc>
                <a:spcPct val="120000"/>
              </a:lnSpc>
              <a:spcAft>
                <a:spcPts val="600"/>
              </a:spcAft>
            </a:pPr>
            <a:r>
              <a:rPr sz="1250" b="1">
                <a:solidFill>
                  <a:srgbClr val="1B3A5C"/>
                </a:solidFill>
                <a:latin typeface="Times New Roman"/>
                <a:ea typeface="宋体"/>
              </a:rPr>
              <a:t>（3）异质偏好提取： </a:t>
            </a:r>
            <a:r>
              <a:rPr sz="1250" b="0">
                <a:solidFill>
                  <a:srgbClr val="1E293B"/>
                </a:solidFill>
                <a:latin typeface="Times New Roman"/>
                <a:ea typeface="宋体"/>
              </a:rPr>
              <a:t>当不同消费者对不同商品的保留价格呈负相关时，捆绑定价能大幅提升企业总利润！</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捆绑销售收益矩阵经典算例</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（2）单品独立销售： </a:t>
            </a:r>
            <a:r>
              <a:rPr sz="1250" b="0">
                <a:solidFill>
                  <a:srgbClr val="1E293B"/>
                </a:solidFill>
                <a:latin typeface="Times New Roman"/>
                <a:ea typeface="宋体"/>
              </a:rPr>
              <a:t>定高价 100元 只能各卖 1 份（总收入 200元）；定低价 40元 各卖 2 份（总收入 160元）。</a:t>
            </a:r>
          </a:p>
          <a:p>
            <a:pPr algn="l">
              <a:lnSpc>
                <a:spcPct val="120000"/>
              </a:lnSpc>
              <a:spcAft>
                <a:spcPts val="600"/>
              </a:spcAft>
            </a:pPr>
            <a:r>
              <a:rPr sz="1250" b="0">
                <a:solidFill>
                  <a:srgbClr val="1E293B"/>
                </a:solidFill>
                <a:latin typeface="Times New Roman"/>
                <a:ea typeface="宋体"/>
              </a:rPr>
              <a:t>- （1）用户 A（极爱 Word，保留价 100元；对 Excel 保留价 40元）；用户 B（对 Word 保留价 40元，极爱 Excel 保留价 100元）。</a:t>
            </a:r>
          </a:p>
          <a:p>
            <a:pPr>
              <a:lnSpc>
                <a:spcPct val="120000"/>
              </a:lnSpc>
              <a:spcAft>
                <a:spcPts val="600"/>
              </a:spcAft>
            </a:pPr>
            <a:r>
              <a:rPr sz="1250" b="1">
                <a:solidFill>
                  <a:srgbClr val="2E86C1"/>
                </a:solidFill>
                <a:latin typeface="Times New Roman"/>
                <a:ea typeface="宋体"/>
              </a:rPr>
              <a:t>（3）捆绑打包销售： </a:t>
            </a:r>
            <a:r>
              <a:rPr sz="1250" b="0">
                <a:solidFill>
                  <a:srgbClr val="1E293B"/>
                </a:solidFill>
                <a:latin typeface="Times New Roman"/>
                <a:ea typeface="宋体"/>
              </a:rPr>
              <a:t>将 Word+Excel 捆绑包定价 140元，A 与 B 均会全额购买，企业总收入飙升至 280元（增收 40%！）</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核心要点：捆绑销售通过抹平消费者单品保留价格的离散方差，实现了对跨品类消费者剩余的高效捕获。</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第7节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中间产品转移价格的确定（Transfer Pricing）</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掌握企业内部独立核算分部之间流转中间产品的黄金转移定价法则，消除双重加价扭曲。</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第7章 定价实践 · 权威教材精细化教学架构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第7节 中间产品转移价格的确定</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一、中间产品转移定价两大黄金法则（例7-9）</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存在完全竞争外部市场情况</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（1）黄金定价法则： </a:t>
            </a:r>
            <a:r>
              <a:rPr sz="1250" b="0">
                <a:solidFill>
                  <a:srgbClr val="1E293B"/>
                </a:solidFill>
                <a:latin typeface="Times New Roman"/>
                <a:ea typeface="宋体"/>
              </a:rPr>
              <a:t>转移价格严格等于现行外部公允市价 P_{market}（Transfer Price = P_{market}）。</a:t>
            </a:r>
          </a:p>
          <a:p>
            <a:pPr>
              <a:lnSpc>
                <a:spcPct val="120000"/>
              </a:lnSpc>
              <a:spcAft>
                <a:spcPts val="600"/>
              </a:spcAft>
            </a:pPr>
            <a:r>
              <a:rPr sz="1250" b="1">
                <a:solidFill>
                  <a:srgbClr val="1B3A5C"/>
                </a:solidFill>
                <a:latin typeface="Times New Roman"/>
                <a:ea typeface="宋体"/>
              </a:rPr>
              <a:t>（2）管理机理： </a:t>
            </a:r>
            <a:r>
              <a:rPr sz="1250" b="0">
                <a:solidFill>
                  <a:srgbClr val="1E293B"/>
                </a:solidFill>
                <a:latin typeface="Times New Roman"/>
                <a:ea typeface="宋体"/>
              </a:rPr>
              <a:t>制造分部可自主将多余中间品卖给外部市场，组装分部亦可自主向外部供应商采购，内部交易完全按市价结算，各分部利益与集团总利润完全对齐。</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不存在外部竞争市场情况（封闭内部流转）</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（1）黄金定价法则： </a:t>
            </a:r>
            <a:r>
              <a:rPr sz="1250" b="0">
                <a:solidFill>
                  <a:srgbClr val="1E293B"/>
                </a:solidFill>
                <a:latin typeface="Times New Roman"/>
                <a:ea typeface="宋体"/>
              </a:rPr>
              <a:t>转移价格必须严格等于制造分部的真实边际成本 MC（Transfer Price = MC_{mfg}）！</a:t>
            </a:r>
          </a:p>
          <a:p>
            <a:pPr>
              <a:lnSpc>
                <a:spcPct val="120000"/>
              </a:lnSpc>
              <a:spcAft>
                <a:spcPts val="600"/>
              </a:spcAft>
            </a:pPr>
            <a:r>
              <a:rPr sz="1250" b="1">
                <a:solidFill>
                  <a:srgbClr val="2E86C1"/>
                </a:solidFill>
                <a:latin typeface="Times New Roman"/>
                <a:ea typeface="宋体"/>
              </a:rPr>
              <a:t>（2）双重加价致命陷阱： </a:t>
            </a:r>
            <a:r>
              <a:rPr sz="1250" b="0">
                <a:solidFill>
                  <a:srgbClr val="1E293B"/>
                </a:solidFill>
                <a:latin typeface="Times New Roman"/>
                <a:ea typeface="宋体"/>
              </a:rPr>
              <a:t>若制造分部在内部按完全成本加成（AC + 利润）结算，将导致最终组装分部边际成本虚高、最终售价过高、产销量萎缩、企业集团整体总利润大幅缩水！</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核心要点：科学的转移定价能够彻底消除内部独立核算事业部之间的利益摩擦，实现全企业集团价值最大化协同。</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本章复习</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【第7章】定价实践 全章核心要点串讲与决策指南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22</a:t>
            </a:r>
          </a:p>
        </p:txBody>
      </p:sp>
      <p:sp>
        <p:nvSpPr>
          <p:cNvPr id="9" name="Rectangle 8"/>
          <p:cNvSpPr/>
          <p:nvPr/>
        </p:nvSpPr>
        <p:spPr>
          <a:xfrm>
            <a:off x="457200"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成本加成与增量定价</a:t>
            </a:r>
          </a:p>
        </p:txBody>
      </p:sp>
      <p:sp>
        <p:nvSpPr>
          <p:cNvPr id="11" name="TextBox 10"/>
          <p:cNvSpPr txBox="1"/>
          <p:nvPr/>
        </p:nvSpPr>
        <p:spPr>
          <a:xfrm>
            <a:off x="621792"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最优加成率 m* = 1 / (|Ep| - 1)</a:t>
            </a:r>
          </a:p>
          <a:p>
            <a:pPr algn="l">
              <a:lnSpc>
                <a:spcPct val="120000"/>
              </a:lnSpc>
              <a:spcAft>
                <a:spcPts val="400"/>
              </a:spcAft>
            </a:pPr>
            <a:r>
              <a:rPr sz="1150" b="0">
                <a:solidFill>
                  <a:srgbClr val="1E293B"/>
                </a:solidFill>
                <a:latin typeface="Times New Roman"/>
                <a:ea typeface="宋体"/>
              </a:rPr>
              <a:t>- 增量分析法抓取未来方案增量现金流</a:t>
            </a:r>
          </a:p>
          <a:p>
            <a:pPr algn="l">
              <a:lnSpc>
                <a:spcPct val="120000"/>
              </a:lnSpc>
              <a:spcAft>
                <a:spcPts val="400"/>
              </a:spcAft>
            </a:pPr>
            <a:r>
              <a:rPr sz="1150" b="0">
                <a:solidFill>
                  <a:srgbClr val="1E293B"/>
                </a:solidFill>
                <a:latin typeface="Times New Roman"/>
                <a:ea typeface="宋体"/>
              </a:rPr>
              <a:t>- 闲置产能下 P &gt; AVC 即可接特殊订单</a:t>
            </a:r>
          </a:p>
          <a:p>
            <a:pPr algn="l">
              <a:lnSpc>
                <a:spcPct val="120000"/>
              </a:lnSpc>
              <a:spcAft>
                <a:spcPts val="400"/>
              </a:spcAft>
            </a:pPr>
            <a:r>
              <a:rPr sz="1150" b="0">
                <a:solidFill>
                  <a:srgbClr val="1E293B"/>
                </a:solidFill>
                <a:latin typeface="Times New Roman"/>
                <a:ea typeface="宋体"/>
              </a:rPr>
              <a:t>- 跨品类联动定价释放生态协同价值</a:t>
            </a:r>
          </a:p>
        </p:txBody>
      </p:sp>
      <p:sp>
        <p:nvSpPr>
          <p:cNvPr id="12" name="Rectangle 11"/>
          <p:cNvSpPr/>
          <p:nvPr/>
        </p:nvSpPr>
        <p:spPr>
          <a:xfrm>
            <a:off x="3310128"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0128" y="1325880"/>
            <a:ext cx="26517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招投标与差别定价</a:t>
            </a:r>
          </a:p>
        </p:txBody>
      </p:sp>
      <p:sp>
        <p:nvSpPr>
          <p:cNvPr id="14" name="TextBox 13"/>
          <p:cNvSpPr txBox="1"/>
          <p:nvPr/>
        </p:nvSpPr>
        <p:spPr>
          <a:xfrm>
            <a:off x="3474720"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招投标模型权衡中标概率与单件利润</a:t>
            </a:r>
          </a:p>
          <a:p>
            <a:pPr algn="l">
              <a:lnSpc>
                <a:spcPct val="120000"/>
              </a:lnSpc>
              <a:spcAft>
                <a:spcPts val="400"/>
              </a:spcAft>
            </a:pPr>
            <a:r>
              <a:rPr sz="1150" b="0">
                <a:solidFill>
                  <a:srgbClr val="1E293B"/>
                </a:solidFill>
                <a:latin typeface="Times New Roman"/>
                <a:ea typeface="宋体"/>
              </a:rPr>
              <a:t>- 三级差别定价法则：MR1 = MR2 = MC</a:t>
            </a:r>
          </a:p>
          <a:p>
            <a:pPr algn="l">
              <a:lnSpc>
                <a:spcPct val="120000"/>
              </a:lnSpc>
              <a:spcAft>
                <a:spcPts val="400"/>
              </a:spcAft>
            </a:pPr>
            <a:r>
              <a:rPr sz="1150" b="0">
                <a:solidFill>
                  <a:srgbClr val="1E293B"/>
                </a:solidFill>
                <a:latin typeface="Times New Roman"/>
                <a:ea typeface="宋体"/>
              </a:rPr>
              <a:t>- 逆弹性法则：弹性小定高价，弹性大定低价</a:t>
            </a:r>
          </a:p>
          <a:p>
            <a:pPr algn="l">
              <a:lnSpc>
                <a:spcPct val="120000"/>
              </a:lnSpc>
              <a:spcAft>
                <a:spcPts val="400"/>
              </a:spcAft>
            </a:pPr>
            <a:r>
              <a:rPr sz="1150" b="0">
                <a:solidFill>
                  <a:srgbClr val="1E293B"/>
                </a:solidFill>
                <a:latin typeface="Times New Roman"/>
                <a:ea typeface="宋体"/>
              </a:rPr>
              <a:t>- 市场有效分割与防套利是实施前提</a:t>
            </a:r>
          </a:p>
        </p:txBody>
      </p:sp>
      <p:sp>
        <p:nvSpPr>
          <p:cNvPr id="15" name="Rectangle 14"/>
          <p:cNvSpPr/>
          <p:nvPr/>
        </p:nvSpPr>
        <p:spPr>
          <a:xfrm>
            <a:off x="6163056"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1325880"/>
            <a:ext cx="26517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高峰负荷与动态调节</a:t>
            </a:r>
          </a:p>
        </p:txBody>
      </p:sp>
      <p:sp>
        <p:nvSpPr>
          <p:cNvPr id="17" name="TextBox 16"/>
          <p:cNvSpPr txBox="1"/>
          <p:nvPr/>
        </p:nvSpPr>
        <p:spPr>
          <a:xfrm>
            <a:off x="6327648"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不可储存性与容量刚性制约特征</a:t>
            </a:r>
          </a:p>
          <a:p>
            <a:pPr algn="l">
              <a:lnSpc>
                <a:spcPct val="120000"/>
              </a:lnSpc>
              <a:spcAft>
                <a:spcPts val="400"/>
              </a:spcAft>
            </a:pPr>
            <a:r>
              <a:rPr sz="1150" b="0">
                <a:solidFill>
                  <a:srgbClr val="1E293B"/>
                </a:solidFill>
                <a:latin typeface="Times New Roman"/>
                <a:ea typeface="宋体"/>
              </a:rPr>
              <a:t>- 高峰期用户全额承担固定资产容量成本</a:t>
            </a:r>
          </a:p>
          <a:p>
            <a:pPr algn="l">
              <a:lnSpc>
                <a:spcPct val="120000"/>
              </a:lnSpc>
              <a:spcAft>
                <a:spcPts val="400"/>
              </a:spcAft>
            </a:pPr>
            <a:r>
              <a:rPr sz="1150" b="0">
                <a:solidFill>
                  <a:srgbClr val="1E293B"/>
                </a:solidFill>
                <a:latin typeface="Times New Roman"/>
                <a:ea typeface="宋体"/>
              </a:rPr>
              <a:t>- 谷期仅收取短期边际运行变动成本</a:t>
            </a:r>
          </a:p>
          <a:p>
            <a:pPr algn="l">
              <a:lnSpc>
                <a:spcPct val="120000"/>
              </a:lnSpc>
              <a:spcAft>
                <a:spcPts val="400"/>
              </a:spcAft>
            </a:pPr>
            <a:r>
              <a:rPr sz="1150" b="0">
                <a:solidFill>
                  <a:srgbClr val="1E293B"/>
                </a:solidFill>
                <a:latin typeface="Times New Roman"/>
                <a:ea typeface="宋体"/>
              </a:rPr>
              <a:t>- 峰谷电价实现削峰填谷与电网降本</a:t>
            </a:r>
          </a:p>
        </p:txBody>
      </p:sp>
      <p:sp>
        <p:nvSpPr>
          <p:cNvPr id="18" name="Rectangle 17"/>
          <p:cNvSpPr/>
          <p:nvPr/>
        </p:nvSpPr>
        <p:spPr>
          <a:xfrm>
            <a:off x="9015984"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15984" y="1325880"/>
            <a:ext cx="2651760" cy="4572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中间产品转移定价</a:t>
            </a:r>
          </a:p>
        </p:txBody>
      </p:sp>
      <p:sp>
        <p:nvSpPr>
          <p:cNvPr id="20" name="TextBox 19"/>
          <p:cNvSpPr txBox="1"/>
          <p:nvPr/>
        </p:nvSpPr>
        <p:spPr>
          <a:xfrm>
            <a:off x="9180576"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有外部完全市场取公允市价 P</a:t>
            </a:r>
          </a:p>
          <a:p>
            <a:pPr algn="l">
              <a:lnSpc>
                <a:spcPct val="120000"/>
              </a:lnSpc>
              <a:spcAft>
                <a:spcPts val="400"/>
              </a:spcAft>
            </a:pPr>
            <a:r>
              <a:rPr sz="1150" b="0">
                <a:solidFill>
                  <a:srgbClr val="1E293B"/>
                </a:solidFill>
                <a:latin typeface="Times New Roman"/>
                <a:ea typeface="宋体"/>
              </a:rPr>
              <a:t>- 无外部市场严格取制造分部 MC</a:t>
            </a:r>
          </a:p>
          <a:p>
            <a:pPr algn="l">
              <a:lnSpc>
                <a:spcPct val="120000"/>
              </a:lnSpc>
              <a:spcAft>
                <a:spcPts val="400"/>
              </a:spcAft>
            </a:pPr>
            <a:r>
              <a:rPr sz="1150" b="0">
                <a:solidFill>
                  <a:srgbClr val="1E293B"/>
                </a:solidFill>
                <a:latin typeface="Times New Roman"/>
                <a:ea typeface="宋体"/>
              </a:rPr>
              <a:t>- 坚决防范内部双重加价导致的效率损失</a:t>
            </a:r>
          </a:p>
          <a:p>
            <a:pPr algn="l">
              <a:lnSpc>
                <a:spcPct val="120000"/>
              </a:lnSpc>
              <a:spcAft>
                <a:spcPts val="400"/>
              </a:spcAft>
            </a:pPr>
            <a:r>
              <a:rPr sz="1150" b="0">
                <a:solidFill>
                  <a:srgbClr val="1E293B"/>
                </a:solidFill>
                <a:latin typeface="Times New Roman"/>
                <a:ea typeface="宋体"/>
              </a:rPr>
              <a:t>- 对齐事业部激励与集团总利润最大化</a:t>
            </a:r>
          </a:p>
        </p:txBody>
      </p:sp>
      <p:sp>
        <p:nvSpPr>
          <p:cNvPr id="21" name="Rectangle 20"/>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战略结语：定价是商业模式变现的终极惊险一跃，将边际成本、需求弹性与多业务协同熔铸为卓越的定价艺术。</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课后思考与习题</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【第7章】课后复习思考题与作业题精选（对标课本）</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23</a:t>
            </a:r>
          </a:p>
        </p:txBody>
      </p:sp>
      <p:sp>
        <p:nvSpPr>
          <p:cNvPr id="9" name="Rectangle 8"/>
          <p:cNvSpPr/>
          <p:nvPr/>
        </p:nvSpPr>
        <p:spPr>
          <a:xfrm>
            <a:off x="457200" y="1325880"/>
            <a:ext cx="11247120" cy="4892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124712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课后复习思考题与 MBA 讨论案例（严格对应课本习题）</a:t>
            </a:r>
          </a:p>
        </p:txBody>
      </p:sp>
      <p:sp>
        <p:nvSpPr>
          <p:cNvPr id="11" name="TextBox 10"/>
          <p:cNvSpPr txBox="1"/>
          <p:nvPr/>
        </p:nvSpPr>
        <p:spPr>
          <a:xfrm>
            <a:off x="731520" y="1965960"/>
            <a:ext cx="10698480" cy="406908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 </a:t>
            </a:r>
            <a:r>
              <a:rPr sz="1250" b="0">
                <a:solidFill>
                  <a:srgbClr val="1E293B"/>
                </a:solidFill>
                <a:latin typeface="Times New Roman"/>
                <a:ea typeface="宋体"/>
              </a:rPr>
              <a:t>【思考题1】成本加成定价法在实际应用中存在哪些局限性？如何运用最优加成率公式将加成定价与利润最大化统一起来？</a:t>
            </a:r>
          </a:p>
          <a:p>
            <a:pPr>
              <a:lnSpc>
                <a:spcPct val="120000"/>
              </a:lnSpc>
              <a:spcAft>
                <a:spcPts val="600"/>
              </a:spcAft>
            </a:pPr>
            <a:r>
              <a:rPr sz="1250" b="1">
                <a:solidFill>
                  <a:srgbClr val="2E86C1"/>
                </a:solidFill>
                <a:latin typeface="Times New Roman"/>
                <a:ea typeface="宋体"/>
              </a:rPr>
              <a:t>2. </a:t>
            </a:r>
            <a:r>
              <a:rPr sz="1250" b="0">
                <a:solidFill>
                  <a:srgbClr val="1E293B"/>
                </a:solidFill>
                <a:latin typeface="Times New Roman"/>
                <a:ea typeface="宋体"/>
              </a:rPr>
              <a:t>【思考题2】实行差别定价必须具备哪些基本条件？为什么对需求价格弹性较小的市场应该制定较高的价格？</a:t>
            </a:r>
          </a:p>
          <a:p>
            <a:pPr>
              <a:lnSpc>
                <a:spcPct val="120000"/>
              </a:lnSpc>
              <a:spcAft>
                <a:spcPts val="600"/>
              </a:spcAft>
            </a:pPr>
            <a:r>
              <a:rPr sz="1250" b="1">
                <a:solidFill>
                  <a:srgbClr val="2E86C1"/>
                </a:solidFill>
                <a:latin typeface="Times New Roman"/>
                <a:ea typeface="宋体"/>
              </a:rPr>
              <a:t>3. </a:t>
            </a:r>
            <a:r>
              <a:rPr sz="1250" b="0">
                <a:solidFill>
                  <a:srgbClr val="1E293B"/>
                </a:solidFill>
                <a:latin typeface="Times New Roman"/>
                <a:ea typeface="宋体"/>
              </a:rPr>
              <a:t>【思考题3】什么是高峰负荷定价法？为什么高峰期用户应当承担全部固定资产投资成本，而谷期用户只需承担变动成本？</a:t>
            </a:r>
          </a:p>
          <a:p>
            <a:pPr>
              <a:lnSpc>
                <a:spcPct val="120000"/>
              </a:lnSpc>
              <a:spcAft>
                <a:spcPts val="600"/>
              </a:spcAft>
            </a:pPr>
            <a:r>
              <a:rPr sz="1250" b="1">
                <a:solidFill>
                  <a:srgbClr val="2E86C1"/>
                </a:solidFill>
                <a:latin typeface="Times New Roman"/>
                <a:ea typeface="宋体"/>
              </a:rPr>
              <a:t>4. </a:t>
            </a:r>
            <a:r>
              <a:rPr sz="1250" b="0">
                <a:solidFill>
                  <a:srgbClr val="1E293B"/>
                </a:solidFill>
                <a:latin typeface="Times New Roman"/>
                <a:ea typeface="宋体"/>
              </a:rPr>
              <a:t>【思考题4】在企业内部各分部之间转移中间产品时，在有外部竞争市场和无外部市场两种情况下，应分别如何确定最优转移价格？</a:t>
            </a:r>
          </a:p>
          <a:p>
            <a:pPr>
              <a:lnSpc>
                <a:spcPct val="120000"/>
              </a:lnSpc>
              <a:spcAft>
                <a:spcPts val="600"/>
              </a:spcAft>
            </a:pPr>
            <a:r>
              <a:rPr sz="1250" b="1">
                <a:solidFill>
                  <a:srgbClr val="2E86C1"/>
                </a:solidFill>
                <a:latin typeface="Times New Roman"/>
                <a:ea typeface="宋体"/>
              </a:rPr>
              <a:t>5. </a:t>
            </a:r>
            <a:r>
              <a:rPr sz="1250" b="0">
                <a:solidFill>
                  <a:srgbClr val="1E293B"/>
                </a:solidFill>
                <a:latin typeface="Times New Roman"/>
                <a:ea typeface="宋体"/>
              </a:rPr>
              <a:t>【作业题1】某企业生产某种产品，平均变动成本为 60 元/件。根据市场调研，该产品的需求价格弹性为 -2.5。求该产品的最优加成率及最优零售价格。</a:t>
            </a:r>
          </a:p>
          <a:p>
            <a:pPr>
              <a:lnSpc>
                <a:spcPct val="120000"/>
              </a:lnSpc>
              <a:spcAft>
                <a:spcPts val="600"/>
              </a:spcAft>
            </a:pPr>
            <a:r>
              <a:rPr sz="1250" b="1">
                <a:solidFill>
                  <a:srgbClr val="2E86C1"/>
                </a:solidFill>
                <a:latin typeface="Times New Roman"/>
                <a:ea typeface="宋体"/>
              </a:rPr>
              <a:t>6. </a:t>
            </a:r>
            <a:r>
              <a:rPr sz="1250" b="0">
                <a:solidFill>
                  <a:srgbClr val="1E293B"/>
                </a:solidFill>
                <a:latin typeface="Times New Roman"/>
                <a:ea typeface="宋体"/>
              </a:rPr>
              <a:t>【作业题2】某软件公司开发出一套财务软件，在企业市场需求为 P_1 = 5000 - 10Q_1，在高校科研市场需求为 P_2 = 2000 - 10Q_2。软件复制边际成本 MC = 200 元。求实行三级差别定价时的最优价格 P_1, P_2 及各自销量。</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