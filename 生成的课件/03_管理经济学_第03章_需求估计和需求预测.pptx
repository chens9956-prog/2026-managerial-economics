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03</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五级精细化教学 · 随课本全景课件</a:t>
            </a:r>
          </a:p>
        </p:txBody>
      </p:sp>
      <p:sp>
        <p:nvSpPr>
          <p:cNvPr id="7" name="TextBox 6"/>
          <p:cNvSpPr txBox="1"/>
          <p:nvPr/>
        </p:nvSpPr>
        <p:spPr>
          <a:xfrm>
            <a:off x="5303520" y="164592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第3章</a:t>
            </a:r>
          </a:p>
        </p:txBody>
      </p:sp>
      <p:sp>
        <p:nvSpPr>
          <p:cNvPr id="8" name="TextBox 7"/>
          <p:cNvSpPr txBox="1"/>
          <p:nvPr/>
        </p:nvSpPr>
        <p:spPr>
          <a:xfrm>
            <a:off x="5303520" y="2148840"/>
            <a:ext cx="6217920" cy="109728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需求估计和需求预测（计量经济学与实证方法）</a:t>
            </a:r>
          </a:p>
        </p:txBody>
      </p:sp>
      <p:sp>
        <p:nvSpPr>
          <p:cNvPr id="9" name="Rectangle 8"/>
          <p:cNvSpPr/>
          <p:nvPr/>
        </p:nvSpPr>
        <p:spPr>
          <a:xfrm>
            <a:off x="5349240" y="333756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566160"/>
            <a:ext cx="6217920" cy="29260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第1节 需求估计（访问调查、市场实验、OLS回归推导与统计检验体系）</a:t>
            </a:r>
          </a:p>
          <a:p>
            <a:pPr algn="l">
              <a:lnSpc>
                <a:spcPct val="120000"/>
              </a:lnSpc>
              <a:spcAft>
                <a:spcPts val="600"/>
              </a:spcAft>
            </a:pPr>
            <a:r>
              <a:rPr sz="1300" b="0">
                <a:solidFill>
                  <a:srgbClr val="1E293B"/>
                </a:solidFill>
                <a:latin typeface="Times New Roman"/>
                <a:ea typeface="宋体"/>
              </a:rPr>
              <a:t>- 第2节 需求预测（德尔菲法定性预测、时间序列分解与指数平滑法）</a:t>
            </a:r>
          </a:p>
          <a:p>
            <a:pPr algn="l">
              <a:lnSpc>
                <a:spcPct val="120000"/>
              </a:lnSpc>
              <a:spcAft>
                <a:spcPts val="600"/>
              </a:spcAft>
            </a:pPr>
            <a:r>
              <a:rPr sz="1300" b="0">
                <a:solidFill>
                  <a:srgbClr val="1E293B"/>
                </a:solidFill>
                <a:latin typeface="Times New Roman"/>
                <a:ea typeface="宋体"/>
              </a:rPr>
              <a:t>- 本章复习思考题与作业题精解（严格对标课本习题）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【第3章】需求估计和需求预测 知识架构与五层逻辑体系</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45920"/>
            <a:ext cx="2103120" cy="640080"/>
          </a:xfrm>
          <a:prstGeom prst="rect">
            <a:avLst/>
          </a:prstGeom>
          <a:noFill/>
        </p:spPr>
        <p:txBody>
          <a:bodyPr wrap="none" lIns="0" tIns="0" rIns="0" bIns="0">
            <a:spAutoFit/>
          </a:bodyPr>
          <a:lstStyle/>
          <a:p>
            <a:pPr algn="l">
              <a:lnSpc>
                <a:spcPct val="120000"/>
              </a:lnSpc>
            </a:pPr>
            <a:r>
              <a:rPr sz="3800" b="1">
                <a:solidFill>
                  <a:srgbClr val="1B3A5C"/>
                </a:solidFill>
                <a:latin typeface="Times New Roman"/>
                <a:ea typeface="宋体"/>
              </a:rPr>
              <a:t>01</a:t>
            </a:r>
          </a:p>
        </p:txBody>
      </p:sp>
      <p:sp>
        <p:nvSpPr>
          <p:cNvPr id="12" name="TextBox 11"/>
          <p:cNvSpPr txBox="1"/>
          <p:nvPr/>
        </p:nvSpPr>
        <p:spPr>
          <a:xfrm>
            <a:off x="77724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01 需求估计实证方法</a:t>
            </a:r>
          </a:p>
        </p:txBody>
      </p:sp>
      <p:sp>
        <p:nvSpPr>
          <p:cNvPr id="13" name="Rectangle 12"/>
          <p:cNvSpPr/>
          <p:nvPr/>
        </p:nvSpPr>
        <p:spPr>
          <a:xfrm>
            <a:off x="777240" y="301752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访问调查法与掩饰性提问</a:t>
            </a:r>
          </a:p>
          <a:p>
            <a:pPr algn="l">
              <a:lnSpc>
                <a:spcPct val="120000"/>
              </a:lnSpc>
              <a:spcAft>
                <a:spcPts val="500"/>
              </a:spcAft>
            </a:pPr>
            <a:r>
              <a:rPr sz="1250" b="0">
                <a:solidFill>
                  <a:srgbClr val="1E293B"/>
                </a:solidFill>
                <a:latin typeface="Times New Roman"/>
                <a:ea typeface="宋体"/>
              </a:rPr>
              <a:t>- 市场实验法与A/B测试</a:t>
            </a:r>
          </a:p>
          <a:p>
            <a:pPr algn="l">
              <a:lnSpc>
                <a:spcPct val="120000"/>
              </a:lnSpc>
              <a:spcAft>
                <a:spcPts val="500"/>
              </a:spcAft>
            </a:pPr>
            <a:r>
              <a:rPr sz="1250" b="0">
                <a:solidFill>
                  <a:srgbClr val="1E293B"/>
                </a:solidFill>
                <a:latin typeface="Times New Roman"/>
                <a:ea typeface="宋体"/>
              </a:rPr>
              <a:t>- 普通最小二乘法 OLS 回归</a:t>
            </a:r>
          </a:p>
          <a:p>
            <a:pPr algn="l">
              <a:lnSpc>
                <a:spcPct val="120000"/>
              </a:lnSpc>
              <a:spcAft>
                <a:spcPts val="500"/>
              </a:spcAft>
            </a:pPr>
            <a:r>
              <a:rPr sz="1250" b="0">
                <a:solidFill>
                  <a:srgbClr val="1E293B"/>
                </a:solidFill>
                <a:latin typeface="Times New Roman"/>
                <a:ea typeface="宋体"/>
              </a:rPr>
              <a:t>- 非线性对数常弹性模型</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80" y="1645920"/>
            <a:ext cx="2103120" cy="640080"/>
          </a:xfrm>
          <a:prstGeom prst="rect">
            <a:avLst/>
          </a:prstGeom>
          <a:noFill/>
        </p:spPr>
        <p:txBody>
          <a:bodyPr wrap="none" lIns="0" tIns="0" rIns="0" bIns="0">
            <a:spAutoFit/>
          </a:bodyPr>
          <a:lstStyle/>
          <a:p>
            <a:pPr algn="l">
              <a:lnSpc>
                <a:spcPct val="120000"/>
              </a:lnSpc>
            </a:pPr>
            <a:r>
              <a:rPr sz="3800" b="1">
                <a:solidFill>
                  <a:srgbClr val="2E86C1"/>
                </a:solidFill>
                <a:latin typeface="Times New Roman"/>
                <a:ea typeface="宋体"/>
              </a:rPr>
              <a:t>02</a:t>
            </a:r>
          </a:p>
        </p:txBody>
      </p:sp>
      <p:sp>
        <p:nvSpPr>
          <p:cNvPr id="18" name="TextBox 17"/>
          <p:cNvSpPr txBox="1"/>
          <p:nvPr/>
        </p:nvSpPr>
        <p:spPr>
          <a:xfrm>
            <a:off x="361188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02 统计检验与五大陷阱</a:t>
            </a:r>
          </a:p>
        </p:txBody>
      </p:sp>
      <p:sp>
        <p:nvSpPr>
          <p:cNvPr id="19" name="Rectangle 18"/>
          <p:cNvSpPr/>
          <p:nvPr/>
        </p:nvSpPr>
        <p:spPr>
          <a:xfrm>
            <a:off x="3611880" y="301752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1188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拟合优度 R² 与调整 R²</a:t>
            </a:r>
          </a:p>
          <a:p>
            <a:pPr algn="l">
              <a:lnSpc>
                <a:spcPct val="120000"/>
              </a:lnSpc>
              <a:spcAft>
                <a:spcPts val="500"/>
              </a:spcAft>
            </a:pPr>
            <a:r>
              <a:rPr sz="1250" b="0">
                <a:solidFill>
                  <a:srgbClr val="1E293B"/>
                </a:solidFill>
                <a:latin typeface="Times New Roman"/>
                <a:ea typeface="宋体"/>
              </a:rPr>
              <a:t>- 回归系数 t 检验与显著性</a:t>
            </a:r>
          </a:p>
          <a:p>
            <a:pPr algn="l">
              <a:lnSpc>
                <a:spcPct val="120000"/>
              </a:lnSpc>
              <a:spcAft>
                <a:spcPts val="500"/>
              </a:spcAft>
            </a:pPr>
            <a:r>
              <a:rPr sz="1250" b="0">
                <a:solidFill>
                  <a:srgbClr val="1E293B"/>
                </a:solidFill>
                <a:latin typeface="Times New Roman"/>
                <a:ea typeface="宋体"/>
              </a:rPr>
              <a:t>- 标准误差 SE 与 F 检验</a:t>
            </a:r>
          </a:p>
          <a:p>
            <a:pPr algn="l">
              <a:lnSpc>
                <a:spcPct val="120000"/>
              </a:lnSpc>
              <a:spcAft>
                <a:spcPts val="500"/>
              </a:spcAft>
            </a:pPr>
            <a:r>
              <a:rPr sz="1250" b="0">
                <a:solidFill>
                  <a:srgbClr val="1E293B"/>
                </a:solidFill>
                <a:latin typeface="Times New Roman"/>
                <a:ea typeface="宋体"/>
              </a:rPr>
              <a:t>- 防范多重共线性/自相关/异方差</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1645920"/>
            <a:ext cx="2103120" cy="640080"/>
          </a:xfrm>
          <a:prstGeom prst="rect">
            <a:avLst/>
          </a:prstGeom>
          <a:noFill/>
        </p:spPr>
        <p:txBody>
          <a:bodyPr wrap="none" lIns="0" tIns="0" rIns="0" bIns="0">
            <a:spAutoFit/>
          </a:bodyPr>
          <a:lstStyle/>
          <a:p>
            <a:pPr algn="l">
              <a:lnSpc>
                <a:spcPct val="120000"/>
              </a:lnSpc>
            </a:pPr>
            <a:r>
              <a:rPr sz="3800" b="1">
                <a:solidFill>
                  <a:srgbClr val="1A8C5D"/>
                </a:solidFill>
                <a:latin typeface="Times New Roman"/>
                <a:ea typeface="宋体"/>
              </a:rPr>
              <a:t>03</a:t>
            </a:r>
          </a:p>
        </p:txBody>
      </p:sp>
      <p:sp>
        <p:nvSpPr>
          <p:cNvPr id="24" name="TextBox 23"/>
          <p:cNvSpPr txBox="1"/>
          <p:nvPr/>
        </p:nvSpPr>
        <p:spPr>
          <a:xfrm>
            <a:off x="644652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03 德尔菲法与定性预测</a:t>
            </a:r>
          </a:p>
        </p:txBody>
      </p:sp>
      <p:sp>
        <p:nvSpPr>
          <p:cNvPr id="25" name="Rectangle 24"/>
          <p:cNvSpPr/>
          <p:nvPr/>
        </p:nvSpPr>
        <p:spPr>
          <a:xfrm>
            <a:off x="6446520" y="301752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匿名背靠背避免权威偏误</a:t>
            </a:r>
          </a:p>
          <a:p>
            <a:pPr algn="l">
              <a:lnSpc>
                <a:spcPct val="120000"/>
              </a:lnSpc>
              <a:spcAft>
                <a:spcPts val="500"/>
              </a:spcAft>
            </a:pPr>
            <a:r>
              <a:rPr sz="1250" b="0">
                <a:solidFill>
                  <a:srgbClr val="1E293B"/>
                </a:solidFill>
                <a:latin typeface="Times New Roman"/>
                <a:ea typeface="宋体"/>
              </a:rPr>
              <a:t>- 多轮反馈与统计收敛</a:t>
            </a:r>
          </a:p>
          <a:p>
            <a:pPr algn="l">
              <a:lnSpc>
                <a:spcPct val="120000"/>
              </a:lnSpc>
              <a:spcAft>
                <a:spcPts val="500"/>
              </a:spcAft>
            </a:pPr>
            <a:r>
              <a:rPr sz="1250" b="0">
                <a:solidFill>
                  <a:srgbClr val="1E293B"/>
                </a:solidFill>
                <a:latin typeface="Times New Roman"/>
                <a:ea typeface="宋体"/>
              </a:rPr>
              <a:t>- 四步标准化实施流程</a:t>
            </a:r>
          </a:p>
          <a:p>
            <a:pPr algn="l">
              <a:lnSpc>
                <a:spcPct val="120000"/>
              </a:lnSpc>
              <a:spcAft>
                <a:spcPts val="500"/>
              </a:spcAft>
            </a:pPr>
            <a:r>
              <a:rPr sz="1250" b="0">
                <a:solidFill>
                  <a:srgbClr val="1E293B"/>
                </a:solidFill>
                <a:latin typeface="Times New Roman"/>
                <a:ea typeface="宋体"/>
              </a:rPr>
              <a:t>- 长期战略与新技术预测</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81160" y="1645920"/>
            <a:ext cx="2103120" cy="640080"/>
          </a:xfrm>
          <a:prstGeom prst="rect">
            <a:avLst/>
          </a:prstGeom>
          <a:noFill/>
        </p:spPr>
        <p:txBody>
          <a:bodyPr wrap="none" lIns="0" tIns="0" rIns="0" bIns="0">
            <a:spAutoFit/>
          </a:bodyPr>
          <a:lstStyle/>
          <a:p>
            <a:pPr algn="l">
              <a:lnSpc>
                <a:spcPct val="120000"/>
              </a:lnSpc>
            </a:pPr>
            <a:r>
              <a:rPr sz="3800" b="1">
                <a:solidFill>
                  <a:srgbClr val="C88C1B"/>
                </a:solidFill>
                <a:latin typeface="Times New Roman"/>
                <a:ea typeface="宋体"/>
              </a:rPr>
              <a:t>04</a:t>
            </a:r>
          </a:p>
        </p:txBody>
      </p:sp>
      <p:sp>
        <p:nvSpPr>
          <p:cNvPr id="30" name="TextBox 29"/>
          <p:cNvSpPr txBox="1"/>
          <p:nvPr/>
        </p:nvSpPr>
        <p:spPr>
          <a:xfrm>
            <a:off x="928116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04 时间序列乘法分解</a:t>
            </a:r>
          </a:p>
        </p:txBody>
      </p:sp>
      <p:sp>
        <p:nvSpPr>
          <p:cNvPr id="31" name="Rectangle 30"/>
          <p:cNvSpPr/>
          <p:nvPr/>
        </p:nvSpPr>
        <p:spPr>
          <a:xfrm>
            <a:off x="9281160" y="301752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8116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长期趋势 T + 季节变动 S</a:t>
            </a:r>
          </a:p>
          <a:p>
            <a:pPr algn="l">
              <a:lnSpc>
                <a:spcPct val="120000"/>
              </a:lnSpc>
              <a:spcAft>
                <a:spcPts val="500"/>
              </a:spcAft>
            </a:pPr>
            <a:r>
              <a:rPr sz="1250" b="0">
                <a:solidFill>
                  <a:srgbClr val="1E293B"/>
                </a:solidFill>
                <a:latin typeface="Times New Roman"/>
                <a:ea typeface="宋体"/>
              </a:rPr>
              <a:t>- 循环变动 C + 不规则随机 I</a:t>
            </a:r>
          </a:p>
          <a:p>
            <a:pPr algn="l">
              <a:lnSpc>
                <a:spcPct val="120000"/>
              </a:lnSpc>
              <a:spcAft>
                <a:spcPts val="500"/>
              </a:spcAft>
            </a:pPr>
            <a:r>
              <a:rPr sz="1250" b="0">
                <a:solidFill>
                  <a:srgbClr val="1E293B"/>
                </a:solidFill>
                <a:latin typeface="Times New Roman"/>
                <a:ea typeface="宋体"/>
              </a:rPr>
              <a:t>- 移动平均与去季化指数测算</a:t>
            </a:r>
          </a:p>
          <a:p>
            <a:pPr algn="l">
              <a:lnSpc>
                <a:spcPct val="120000"/>
              </a:lnSpc>
              <a:spcAft>
                <a:spcPts val="500"/>
              </a:spcAft>
            </a:pPr>
            <a:r>
              <a:rPr sz="1250" b="0">
                <a:solidFill>
                  <a:srgbClr val="1E293B"/>
                </a:solidFill>
                <a:latin typeface="Times New Roman"/>
                <a:ea typeface="宋体"/>
              </a:rPr>
              <a:t>- 指数平滑法与权重 α 选择</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核心逻辑：将微观经济理论与现代计量经济学、时间序列大数据深度融合，为企业提供可量化、可验证的实证预测支持。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第1节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需求估计（Demand Estimation）</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探讨市场调查、商场实验与计量经济学 OLS 普通最小二乘法回归建模与统计检验体系。</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第3章 需求估计和需求预测 · 权威教材精细化教学架构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需求估计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一、市场调查法与市场实验法</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市场调查法（Market Survey）</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（1）问卷访问法： </a:t>
            </a:r>
            <a:r>
              <a:rPr sz="1250" b="0">
                <a:solidFill>
                  <a:srgbClr val="1E293B"/>
                </a:solidFill>
                <a:latin typeface="Times New Roman"/>
                <a:ea typeface="宋体"/>
              </a:rPr>
              <a:t>直接向目标消费者发放问卷询问在不同价格与收入水平下的购买意向。</a:t>
            </a:r>
          </a:p>
          <a:p>
            <a:pPr>
              <a:lnSpc>
                <a:spcPct val="120000"/>
              </a:lnSpc>
              <a:spcAft>
                <a:spcPts val="600"/>
              </a:spcAft>
            </a:pPr>
            <a:r>
              <a:rPr sz="1250" b="1">
                <a:solidFill>
                  <a:srgbClr val="1B3A5C"/>
                </a:solidFill>
                <a:latin typeface="Times New Roman"/>
                <a:ea typeface="宋体"/>
              </a:rPr>
              <a:t>（2）应答者偏误（Response Bias）： </a:t>
            </a:r>
            <a:r>
              <a:rPr sz="1250" b="0">
                <a:solidFill>
                  <a:srgbClr val="1E293B"/>
                </a:solidFill>
                <a:latin typeface="Times New Roman"/>
                <a:ea typeface="宋体"/>
              </a:rPr>
              <a:t>受访者常出于面子高报支付意愿，或由于未真正掏钱而轻率作答。</a:t>
            </a:r>
          </a:p>
          <a:p>
            <a:pPr>
              <a:lnSpc>
                <a:spcPct val="120000"/>
              </a:lnSpc>
              <a:spcAft>
                <a:spcPts val="600"/>
              </a:spcAft>
            </a:pPr>
            <a:r>
              <a:rPr sz="1250" b="1">
                <a:solidFill>
                  <a:srgbClr val="1B3A5C"/>
                </a:solidFill>
                <a:latin typeface="Times New Roman"/>
                <a:ea typeface="宋体"/>
              </a:rPr>
              <a:t>（3）掩饰性提问法（Disguised Questioning）： </a:t>
            </a:r>
            <a:r>
              <a:rPr sz="1250" b="0">
                <a:solidFill>
                  <a:srgbClr val="1E293B"/>
                </a:solidFill>
                <a:latin typeface="Times New Roman"/>
                <a:ea typeface="宋体"/>
              </a:rPr>
              <a:t>不直接询问'您是否会买'，而是询问'您认为周围邻居在某价格下是否会购买'，有效消除主观心理防线。</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市场实验法（Market Experiment）</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（1）实地商场测试（Field Experiment）： </a:t>
            </a:r>
            <a:r>
              <a:rPr sz="1250" b="0">
                <a:solidFill>
                  <a:srgbClr val="1E293B"/>
                </a:solidFill>
                <a:latin typeface="Times New Roman"/>
                <a:ea typeface="宋体"/>
              </a:rPr>
              <a:t>在不同城市挑选人口与收入特征相近的'试验店'与'对照店'，仅改变试验店售价，观测真实销售量变化。</a:t>
            </a:r>
          </a:p>
          <a:p>
            <a:pPr>
              <a:lnSpc>
                <a:spcPct val="120000"/>
              </a:lnSpc>
              <a:spcAft>
                <a:spcPts val="600"/>
              </a:spcAft>
            </a:pPr>
            <a:r>
              <a:rPr sz="1250" b="1">
                <a:solidFill>
                  <a:srgbClr val="2E86C1"/>
                </a:solidFill>
                <a:latin typeface="Times New Roman"/>
                <a:ea typeface="宋体"/>
              </a:rPr>
              <a:t>（2）互联网 A/B 测试： </a:t>
            </a:r>
            <a:r>
              <a:rPr sz="1250" b="0">
                <a:solidFill>
                  <a:srgbClr val="1E293B"/>
                </a:solidFill>
                <a:latin typeface="Times New Roman"/>
                <a:ea typeface="宋体"/>
              </a:rPr>
              <a:t>线上电商平台将用户随机分流至不同定价页面，实时捕获真实交易转化率。</a:t>
            </a:r>
          </a:p>
          <a:p>
            <a:pPr>
              <a:lnSpc>
                <a:spcPct val="120000"/>
              </a:lnSpc>
              <a:spcAft>
                <a:spcPts val="600"/>
              </a:spcAft>
            </a:pPr>
            <a:r>
              <a:rPr sz="1250" b="1">
                <a:solidFill>
                  <a:srgbClr val="2E86C1"/>
                </a:solidFill>
                <a:latin typeface="Times New Roman"/>
                <a:ea typeface="宋体"/>
              </a:rPr>
              <a:t>（3）局限性： </a:t>
            </a:r>
            <a:r>
              <a:rPr sz="1250" b="0">
                <a:solidFill>
                  <a:srgbClr val="1E293B"/>
                </a:solidFill>
                <a:latin typeface="Times New Roman"/>
                <a:ea typeface="宋体"/>
              </a:rPr>
              <a:t>成本高昂、周期较长，且可能引发老客户价格歧视投诉及竞品恶意干扰。</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核心要点：市场实验法通过真实真金白银交易数据，克服了问卷调查'口是心非'的虚假应答偏误。</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需求估计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一、焦点小组访谈与联合分析法（Conjoint Analysis）</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焦点小组访谈法（Focus Groups）</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（1）实施形式： </a:t>
            </a:r>
            <a:r>
              <a:rPr sz="1250" b="0">
                <a:solidFill>
                  <a:srgbClr val="1E293B"/>
                </a:solidFill>
                <a:latin typeface="Times New Roman"/>
                <a:ea typeface="宋体"/>
              </a:rPr>
              <a:t>挑选 8~12 名典型目标消费者，在专业主持人引导下进行 1~2 小时深度结构化座谈。</a:t>
            </a:r>
          </a:p>
          <a:p>
            <a:pPr>
              <a:lnSpc>
                <a:spcPct val="120000"/>
              </a:lnSpc>
              <a:spcAft>
                <a:spcPts val="600"/>
              </a:spcAft>
            </a:pPr>
            <a:r>
              <a:rPr sz="1250" b="1">
                <a:solidFill>
                  <a:srgbClr val="1B3A5C"/>
                </a:solidFill>
                <a:latin typeface="Times New Roman"/>
                <a:ea typeface="宋体"/>
              </a:rPr>
              <a:t>（2）核心优势： </a:t>
            </a:r>
            <a:r>
              <a:rPr sz="1250" b="0">
                <a:solidFill>
                  <a:srgbClr val="1E293B"/>
                </a:solidFill>
                <a:latin typeface="Times New Roman"/>
                <a:ea typeface="宋体"/>
              </a:rPr>
              <a:t>挖掘消费者对新产品外观、功能与定价的潜意识情感共鸣与未满足痛点。</a:t>
            </a:r>
          </a:p>
          <a:p>
            <a:pPr>
              <a:lnSpc>
                <a:spcPct val="120000"/>
              </a:lnSpc>
              <a:spcAft>
                <a:spcPts val="600"/>
              </a:spcAft>
            </a:pPr>
            <a:r>
              <a:rPr sz="1250" b="1">
                <a:solidFill>
                  <a:srgbClr val="1B3A5C"/>
                </a:solidFill>
                <a:latin typeface="Times New Roman"/>
                <a:ea typeface="宋体"/>
              </a:rPr>
              <a:t>（3）注意事项： </a:t>
            </a:r>
            <a:r>
              <a:rPr sz="1250" b="0">
                <a:solidFill>
                  <a:srgbClr val="1E293B"/>
                </a:solidFill>
                <a:latin typeface="Times New Roman"/>
                <a:ea typeface="宋体"/>
              </a:rPr>
              <a:t>严防个别强势受访者主导舆论走向，需采用单向玻璃与隐蔽录像观察真实微表情。</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联合分析法（Conjoint Analysis）高级量化估计</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（1）多属性权衡测试： </a:t>
            </a:r>
            <a:r>
              <a:rPr sz="1250" b="0">
                <a:solidFill>
                  <a:srgbClr val="1E293B"/>
                </a:solidFill>
                <a:latin typeface="Times New Roman"/>
                <a:ea typeface="宋体"/>
              </a:rPr>
              <a:t>将产品拆解为品牌、价格、屏幕尺寸、续航时间等多维度属性组合。</a:t>
            </a:r>
          </a:p>
          <a:p>
            <a:pPr>
              <a:lnSpc>
                <a:spcPct val="120000"/>
              </a:lnSpc>
              <a:spcAft>
                <a:spcPts val="600"/>
              </a:spcAft>
            </a:pPr>
            <a:r>
              <a:rPr sz="1250" b="1">
                <a:solidFill>
                  <a:srgbClr val="2E86C1"/>
                </a:solidFill>
                <a:latin typeface="Times New Roman"/>
                <a:ea typeface="宋体"/>
              </a:rPr>
              <a:t>（2）效用打分回归： </a:t>
            </a:r>
            <a:r>
              <a:rPr sz="1250" b="0">
                <a:solidFill>
                  <a:srgbClr val="1E293B"/>
                </a:solidFill>
                <a:latin typeface="Times New Roman"/>
                <a:ea typeface="宋体"/>
              </a:rPr>
              <a:t>让受访者对不同属性组合包进行排序或打分，通过多元回归反推消费者对各单一属性的边际支付意愿（WTP）。</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核心要点：联合分析法是现代消费电子与汽车行业在新产品立项阶段精确评估消费者功能偏好的行业标准。</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需求估计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二、普通最小二乘法（OLS）回归模型与数学推导</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6</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样本回归方程与残差定义</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（1）总体真实回归模型： </a:t>
            </a:r>
            <a:r>
              <a:rPr sz="1250" b="0">
                <a:solidFill>
                  <a:srgbClr val="1E293B"/>
                </a:solidFill>
                <a:latin typeface="Times New Roman"/>
                <a:ea typeface="宋体"/>
              </a:rPr>
              <a:t>Y_i = \alpha + \beta X_i + e_i \quad (e_i 为随机误差项)</a:t>
            </a:r>
          </a:p>
          <a:p>
            <a:pPr>
              <a:lnSpc>
                <a:spcPct val="120000"/>
              </a:lnSpc>
              <a:spcAft>
                <a:spcPts val="600"/>
              </a:spcAft>
            </a:pPr>
            <a:r>
              <a:rPr sz="1250" b="1">
                <a:solidFill>
                  <a:srgbClr val="1B3A5C"/>
                </a:solidFill>
                <a:latin typeface="Times New Roman"/>
                <a:ea typeface="宋体"/>
              </a:rPr>
              <a:t>（2）样本估计方程： </a:t>
            </a:r>
            <a:r>
              <a:rPr sz="1250" b="0">
                <a:solidFill>
                  <a:srgbClr val="1E293B"/>
                </a:solidFill>
                <a:latin typeface="Times New Roman"/>
                <a:ea typeface="宋体"/>
              </a:rPr>
              <a:t>\hat{Y}_i = a + b X_i</a:t>
            </a:r>
          </a:p>
          <a:p>
            <a:pPr>
              <a:lnSpc>
                <a:spcPct val="120000"/>
              </a:lnSpc>
              <a:spcAft>
                <a:spcPts val="600"/>
              </a:spcAft>
            </a:pPr>
            <a:r>
              <a:rPr sz="1250" b="1">
                <a:solidFill>
                  <a:srgbClr val="1B3A5C"/>
                </a:solidFill>
                <a:latin typeface="Times New Roman"/>
                <a:ea typeface="宋体"/>
              </a:rPr>
              <a:t>（3）残差（Residual）： </a:t>
            </a:r>
            <a:r>
              <a:rPr sz="1250" b="0">
                <a:solidFill>
                  <a:srgbClr val="1E293B"/>
                </a:solidFill>
                <a:latin typeface="Times New Roman"/>
                <a:ea typeface="宋体"/>
              </a:rPr>
              <a:t>e_i = Y_i - \hat{Y}_i = Y_i - (a + b X_i) \quad (实际观测值与拟合估计值的垂直偏差)</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OLS 目标函数与一阶偏导数学推导</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300"/>
              </a:spcAft>
            </a:pPr>
            <a:r>
              <a:rPr sz="1150" b="1">
                <a:solidFill>
                  <a:srgbClr val="2E86C1"/>
                </a:solidFill>
                <a:latin typeface="Times New Roman"/>
                <a:ea typeface="宋体"/>
              </a:rPr>
              <a:t>（1）极小化残差平方和（SSE）： </a:t>
            </a:r>
            <a:r>
              <a:rPr sz="1150" b="0">
                <a:solidFill>
                  <a:srgbClr val="1E293B"/>
                </a:solidFill>
                <a:latin typeface="Times New Roman"/>
                <a:ea typeface="宋体"/>
              </a:rPr>
              <a:t>\min_{a, b} S(a, b) = \sum_{i=1}^n e_i^2 = \sum_{i=1}^n [Y_i - (a + b X_i)]^2</a:t>
            </a:r>
          </a:p>
          <a:p>
            <a:pPr>
              <a:lnSpc>
                <a:spcPct val="120000"/>
              </a:lnSpc>
              <a:spcAft>
                <a:spcPts val="300"/>
              </a:spcAft>
            </a:pPr>
            <a:r>
              <a:rPr sz="1150" b="1">
                <a:solidFill>
                  <a:srgbClr val="2E86C1"/>
                </a:solidFill>
                <a:latin typeface="Times New Roman"/>
                <a:ea typeface="宋体"/>
              </a:rPr>
              <a:t>（2）分别对参数 a 与 b 求偏导并令其为 0： </a:t>
            </a:r>
            <a:r>
              <a:rPr sz="1150" b="0">
                <a:solidFill>
                  <a:srgbClr val="1E293B"/>
                </a:solidFill>
                <a:latin typeface="Times New Roman"/>
                <a:ea typeface="宋体"/>
              </a:rPr>
              <a:t/>
            </a:r>
          </a:p>
          <a:p>
            <a:pPr>
              <a:lnSpc>
                <a:spcPct val="120000"/>
              </a:lnSpc>
              <a:spcAft>
                <a:spcPts val="300"/>
              </a:spcAft>
            </a:pPr>
            <a:r>
              <a:rPr sz="1150" b="1">
                <a:solidFill>
                  <a:srgbClr val="2E86C1"/>
                </a:solidFill>
                <a:latin typeface="Times New Roman"/>
                <a:ea typeface="宋体"/>
              </a:rPr>
              <a:t>   • \partial S / \partial a = -2 \sum [Y_i - a - b X_i] = 0 \implies </a:t>
            </a:r>
            <a:r>
              <a:rPr sz="1150" b="0">
                <a:solidFill>
                  <a:srgbClr val="1E293B"/>
                </a:solidFill>
                <a:latin typeface="Times New Roman"/>
                <a:ea typeface="宋体"/>
              </a:rPr>
              <a:t>\sum Y_i = n a + b \sum X_i \implies a = \bar{Y} - b \bar{X}</a:t>
            </a:r>
          </a:p>
          <a:p>
            <a:pPr>
              <a:lnSpc>
                <a:spcPct val="120000"/>
              </a:lnSpc>
              <a:spcAft>
                <a:spcPts val="300"/>
              </a:spcAft>
            </a:pPr>
            <a:r>
              <a:rPr sz="1150" b="1">
                <a:solidFill>
                  <a:srgbClr val="2E86C1"/>
                </a:solidFill>
                <a:latin typeface="Times New Roman"/>
                <a:ea typeface="宋体"/>
              </a:rPr>
              <a:t>   • \partial S / \partial b = -2 \sum X_i [Y_i - a - b X_i] = 0 \implies </a:t>
            </a:r>
            <a:r>
              <a:rPr sz="1150" b="0">
                <a:solidFill>
                  <a:srgbClr val="1E293B"/>
                </a:solidFill>
                <a:latin typeface="Times New Roman"/>
                <a:ea typeface="宋体"/>
              </a:rPr>
              <a:t>\sum X_i Y_i = a \sum X_i + b \sum X_i^2</a:t>
            </a:r>
          </a:p>
          <a:p>
            <a:pPr>
              <a:lnSpc>
                <a:spcPct val="120000"/>
              </a:lnSpc>
              <a:spcAft>
                <a:spcPts val="300"/>
              </a:spcAft>
            </a:pPr>
            <a:r>
              <a:rPr sz="1150" b="1">
                <a:solidFill>
                  <a:srgbClr val="2E86C1"/>
                </a:solidFill>
                <a:latin typeface="Times New Roman"/>
                <a:ea typeface="宋体"/>
              </a:rPr>
              <a:t>（3）联立求解斜率系数 b： </a:t>
            </a:r>
            <a:r>
              <a:rPr sz="1150" b="0">
                <a:solidFill>
                  <a:srgbClr val="1E293B"/>
                </a:solidFill>
                <a:latin typeface="Times New Roman"/>
                <a:ea typeface="宋体"/>
              </a:rPr>
              <a:t>b = \frac{\sum (X_i - \bar{X})(Y_i - \bar{Y})}{\sum (X_i - \bar{X})^2} = \frac{n\sum X_i Y_i - \sum X_i \sum Y_i}{n\sum X_i^2 - (\sum X_i)^2}</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核心要点：最小二乘法通过数学极值导数，确保了拟合直线在所有可能直线中拥有最小的平方预测误差。</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需求估计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三、非线性幂函数模型与常弹性双对数回归</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柯布-道格拉斯型乘数需求模型</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（1）非线性幂函数形式： </a:t>
            </a:r>
            <a:r>
              <a:rPr sz="1250" b="0">
                <a:solidFill>
                  <a:srgbClr val="1E293B"/>
                </a:solidFill>
                <a:latin typeface="Times New Roman"/>
                <a:ea typeface="宋体"/>
              </a:rPr>
              <a:t>Q = A \cdot P^{\beta_1} \cdot I^{\beta_2} \cdot P_r^{\beta_3}</a:t>
            </a:r>
          </a:p>
          <a:p>
            <a:pPr>
              <a:lnSpc>
                <a:spcPct val="120000"/>
              </a:lnSpc>
              <a:spcAft>
                <a:spcPts val="600"/>
              </a:spcAft>
            </a:pPr>
            <a:r>
              <a:rPr sz="1250" b="1">
                <a:solidFill>
                  <a:srgbClr val="1B3A5C"/>
                </a:solidFill>
                <a:latin typeface="Times New Roman"/>
                <a:ea typeface="宋体"/>
              </a:rPr>
              <a:t>（2）两边取自然对数线性化： </a:t>
            </a:r>
            <a:r>
              <a:rPr sz="1250" b="0">
                <a:solidFill>
                  <a:srgbClr val="1E293B"/>
                </a:solidFill>
                <a:latin typeface="Times New Roman"/>
                <a:ea typeface="宋体"/>
              </a:rPr>
              <a:t>\ln Q = \ln A + \beta_1 \ln P + \beta_2 \ln I + \beta_3 \ln P_r + e</a:t>
            </a:r>
          </a:p>
          <a:p>
            <a:pPr>
              <a:lnSpc>
                <a:spcPct val="120000"/>
              </a:lnSpc>
              <a:spcAft>
                <a:spcPts val="600"/>
              </a:spcAft>
            </a:pPr>
            <a:r>
              <a:rPr sz="1250" b="1">
                <a:solidFill>
                  <a:srgbClr val="1B3A5C"/>
                </a:solidFill>
                <a:latin typeface="Times New Roman"/>
                <a:ea typeface="宋体"/>
              </a:rPr>
              <a:t>（3）双对数回归卓越优势： </a:t>
            </a:r>
            <a:r>
              <a:rPr sz="1250" b="0">
                <a:solidFill>
                  <a:srgbClr val="1E293B"/>
                </a:solidFill>
                <a:latin typeface="Times New Roman"/>
                <a:ea typeface="宋体"/>
              </a:rPr>
              <a:t>将复杂的非线性乘法模型转化为标准线性方程，直接采用标准 OLS 软件求解！</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弹性系数常数化与直接读取</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（1）价格弹性微积分推导： </a:t>
            </a:r>
            <a:r>
              <a:rPr sz="1250" b="0">
                <a:solidFill>
                  <a:srgbClr val="1E293B"/>
                </a:solidFill>
                <a:latin typeface="Times New Roman"/>
                <a:ea typeface="宋体"/>
              </a:rPr>
              <a:t>E_p = \frac{dQ}{dP} \cdot \frac{P}{Q} = \frac{d(\ln Q)}{d(\ln P)} = \beta_1 \quad (恒等于常数 \beta_1！)</a:t>
            </a:r>
          </a:p>
          <a:p>
            <a:pPr>
              <a:lnSpc>
                <a:spcPct val="120000"/>
              </a:lnSpc>
              <a:spcAft>
                <a:spcPts val="600"/>
              </a:spcAft>
            </a:pPr>
            <a:r>
              <a:rPr sz="1250" b="1">
                <a:solidFill>
                  <a:srgbClr val="2E86C1"/>
                </a:solidFill>
                <a:latin typeface="Times New Roman"/>
                <a:ea typeface="宋体"/>
              </a:rPr>
              <a:t>（2）收入与交叉弹性： </a:t>
            </a:r>
            <a:r>
              <a:rPr sz="1250" b="0">
                <a:solidFill>
                  <a:srgbClr val="1E293B"/>
                </a:solidFill>
                <a:latin typeface="Times New Roman"/>
                <a:ea typeface="宋体"/>
              </a:rPr>
              <a:t>同理，\beta_2 恒等于需求收入弹性 E_i，\beta_3 恒等于交叉价格弹性 E_{xy}。</a:t>
            </a:r>
          </a:p>
          <a:p>
            <a:pPr>
              <a:lnSpc>
                <a:spcPct val="120000"/>
              </a:lnSpc>
              <a:spcAft>
                <a:spcPts val="600"/>
              </a:spcAft>
            </a:pPr>
            <a:r>
              <a:rPr sz="1250" b="1">
                <a:solidFill>
                  <a:srgbClr val="2E86C1"/>
                </a:solidFill>
                <a:latin typeface="Times New Roman"/>
                <a:ea typeface="宋体"/>
              </a:rPr>
              <a:t>（3）实战商业价值： </a:t>
            </a:r>
            <a:r>
              <a:rPr sz="1250" b="0">
                <a:solidFill>
                  <a:srgbClr val="1E293B"/>
                </a:solidFill>
                <a:latin typeface="Times New Roman"/>
                <a:ea typeface="宋体"/>
              </a:rPr>
              <a:t>无需随价格和收入变化重新计算弹性，模型估计出的回归系数即为全样本期间的平均弹性！</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核心要点：双对数常弹性模型是实证管理经济学与产业组织研究中最经典、应用最广泛的模型范式。</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需求估计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四、统计检验体系（一）：决定系数（R²）与拟合优度</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平方和三项分解定理</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（1）总离差平方和（SST）： </a:t>
            </a:r>
            <a:r>
              <a:rPr sz="1250" b="0">
                <a:solidFill>
                  <a:srgbClr val="1E293B"/>
                </a:solidFill>
                <a:latin typeface="Times New Roman"/>
                <a:ea typeface="宋体"/>
              </a:rPr>
              <a:t>SST = \sum (Y_i - \bar{Y})^2 \quad (实际观测值总变异程度)</a:t>
            </a:r>
          </a:p>
          <a:p>
            <a:pPr>
              <a:lnSpc>
                <a:spcPct val="120000"/>
              </a:lnSpc>
              <a:spcAft>
                <a:spcPts val="600"/>
              </a:spcAft>
            </a:pPr>
            <a:r>
              <a:rPr sz="1250" b="1">
                <a:solidFill>
                  <a:srgbClr val="1B3A5C"/>
                </a:solidFill>
                <a:latin typeface="Times New Roman"/>
                <a:ea typeface="宋体"/>
              </a:rPr>
              <a:t>（2）回归解释平方和（SSR）： </a:t>
            </a:r>
            <a:r>
              <a:rPr sz="1250" b="0">
                <a:solidFill>
                  <a:srgbClr val="1E293B"/>
                </a:solidFill>
                <a:latin typeface="Times New Roman"/>
                <a:ea typeface="宋体"/>
              </a:rPr>
              <a:t>SSR = \sum (\hat{Y}_i - \bar{Y})^2 \quad (由自变量 X 解释的变异量)</a:t>
            </a:r>
          </a:p>
          <a:p>
            <a:pPr>
              <a:lnSpc>
                <a:spcPct val="120000"/>
              </a:lnSpc>
              <a:spcAft>
                <a:spcPts val="600"/>
              </a:spcAft>
            </a:pPr>
            <a:r>
              <a:rPr sz="1250" b="1">
                <a:solidFill>
                  <a:srgbClr val="1B3A5C"/>
                </a:solidFill>
                <a:latin typeface="Times New Roman"/>
                <a:ea typeface="宋体"/>
              </a:rPr>
              <a:t>（3）残差未解释平方和（SSE）： </a:t>
            </a:r>
            <a:r>
              <a:rPr sz="1250" b="0">
                <a:solidFill>
                  <a:srgbClr val="1E293B"/>
                </a:solidFill>
                <a:latin typeface="Times New Roman"/>
                <a:ea typeface="宋体"/>
              </a:rPr>
              <a:t>SSE = \sum (Y_i - \hat{Y}_i)^2 \quad (未被自变量解释的随机误差)</a:t>
            </a:r>
          </a:p>
          <a:p>
            <a:pPr>
              <a:lnSpc>
                <a:spcPct val="120000"/>
              </a:lnSpc>
              <a:spcAft>
                <a:spcPts val="600"/>
              </a:spcAft>
            </a:pPr>
            <a:r>
              <a:rPr sz="1250" b="1">
                <a:solidFill>
                  <a:srgbClr val="1B3A5C"/>
                </a:solidFill>
                <a:latin typeface="Times New Roman"/>
                <a:ea typeface="宋体"/>
              </a:rPr>
              <a:t>（4）平方和恒等式： </a:t>
            </a:r>
            <a:r>
              <a:rPr sz="1250" b="0">
                <a:solidFill>
                  <a:srgbClr val="1E293B"/>
                </a:solidFill>
                <a:latin typeface="Times New Roman"/>
                <a:ea typeface="宋体"/>
              </a:rPr>
              <a:t>SST = SSR + SSE</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决定系数 R² 与调整后 R²</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（1）决定系数定义： </a:t>
            </a:r>
            <a:r>
              <a:rPr sz="1250" b="0">
                <a:solidFill>
                  <a:srgbClr val="1E293B"/>
                </a:solidFill>
                <a:latin typeface="Times New Roman"/>
                <a:ea typeface="宋体"/>
              </a:rPr>
              <a:t>R^2 = \frac{SSR}{SST} = 1 - \frac{SSE}{SST} \quad (0 \le R^2 \le 1)</a:t>
            </a:r>
          </a:p>
          <a:p>
            <a:pPr>
              <a:lnSpc>
                <a:spcPct val="120000"/>
              </a:lnSpc>
              <a:spcAft>
                <a:spcPts val="600"/>
              </a:spcAft>
            </a:pPr>
            <a:r>
              <a:rPr sz="1250" b="1">
                <a:solidFill>
                  <a:srgbClr val="2E86C1"/>
                </a:solidFill>
                <a:latin typeface="Times New Roman"/>
                <a:ea typeface="宋体"/>
              </a:rPr>
              <a:t>（2）经济含义： </a:t>
            </a:r>
            <a:r>
              <a:rPr sz="1250" b="0">
                <a:solidFill>
                  <a:srgbClr val="1E293B"/>
                </a:solidFill>
                <a:latin typeface="Times New Roman"/>
                <a:ea typeface="宋体"/>
              </a:rPr>
              <a:t>R^2 = 0.85 意味着因变量总波动的 85% 可以由模型中的自变量精确解释。</a:t>
            </a:r>
          </a:p>
          <a:p>
            <a:pPr>
              <a:lnSpc>
                <a:spcPct val="120000"/>
              </a:lnSpc>
              <a:spcAft>
                <a:spcPts val="600"/>
              </a:spcAft>
            </a:pPr>
            <a:r>
              <a:rPr sz="1250" b="1">
                <a:solidFill>
                  <a:srgbClr val="2E86C1"/>
                </a:solidFill>
                <a:latin typeface="Times New Roman"/>
                <a:ea typeface="宋体"/>
              </a:rPr>
              <a:t>（3）调整后决定系数（\bar{R}^2）： </a:t>
            </a:r>
            <a:r>
              <a:rPr sz="1250" b="0">
                <a:solidFill>
                  <a:srgbClr val="1E293B"/>
                </a:solidFill>
                <a:latin typeface="Times New Roman"/>
                <a:ea typeface="宋体"/>
              </a:rPr>
              <a:t>\bar{R}^2 = 1 - \frac{SSE/(n - k - 1)}{SST/(n - 1)}（扣除自由度惩罚，防止盲目增加无用变量虚增 R²）。</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核心要点：决定系数 R² 量化了模型对历史样本数据的拟合紧密程度，是评价回归方程解释力的第一道门槛。</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需求估计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四、统计检验体系（二）：回归系数 t 检验与标准误差（SE）</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9</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回归系数 t 检验（t-Test）</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（1）原假设设定： </a:t>
            </a:r>
            <a:r>
              <a:rPr sz="1250" b="0">
                <a:solidFill>
                  <a:srgbClr val="1E293B"/>
                </a:solidFill>
                <a:latin typeface="Times New Roman"/>
                <a:ea typeface="宋体"/>
              </a:rPr>
              <a:t>H_0: \beta_j = 0（自变量 X_j 对因变量 Y 毫无影响）。</a:t>
            </a:r>
          </a:p>
          <a:p>
            <a:pPr>
              <a:lnSpc>
                <a:spcPct val="120000"/>
              </a:lnSpc>
              <a:spcAft>
                <a:spcPts val="600"/>
              </a:spcAft>
            </a:pPr>
            <a:r>
              <a:rPr sz="1250" b="1">
                <a:solidFill>
                  <a:srgbClr val="1B3A5C"/>
                </a:solidFill>
                <a:latin typeface="Times New Roman"/>
                <a:ea typeface="宋体"/>
              </a:rPr>
              <a:t>（2）t 统计量构造： </a:t>
            </a:r>
            <a:r>
              <a:rPr sz="1250" b="0">
                <a:solidFill>
                  <a:srgbClr val="1E293B"/>
                </a:solidFill>
                <a:latin typeface="Times New Roman"/>
                <a:ea typeface="宋体"/>
              </a:rPr>
              <a:t>t = \frac{\hat{\beta}_j - 0}{SE(\hat{\beta}_j)} \quad (SE 为系数的标准估计误差)</a:t>
            </a:r>
          </a:p>
          <a:p>
            <a:pPr>
              <a:lnSpc>
                <a:spcPct val="120000"/>
              </a:lnSpc>
              <a:spcAft>
                <a:spcPts val="600"/>
              </a:spcAft>
            </a:pPr>
            <a:r>
              <a:rPr sz="1250" b="1">
                <a:solidFill>
                  <a:srgbClr val="1B3A5C"/>
                </a:solidFill>
                <a:latin typeface="Times New Roman"/>
                <a:ea typeface="宋体"/>
              </a:rPr>
              <a:t>（3）判定准则（经验法则）： </a:t>
            </a:r>
            <a:r>
              <a:rPr sz="1250" b="0">
                <a:solidFill>
                  <a:srgbClr val="1E293B"/>
                </a:solidFill>
                <a:latin typeface="Times New Roman"/>
                <a:ea typeface="宋体"/>
              </a:rPr>
              <a:t>当 |t| &gt; 2 且 p 值 &lt; 0.05 时，在 95% 置信度下拒绝原假设，认定自变量具有统计显著性！</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方差分析 F 检验与标准估计误差</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（1）F 统计量： </a:t>
            </a:r>
            <a:r>
              <a:rPr sz="1250" b="0">
                <a:solidFill>
                  <a:srgbClr val="1E293B"/>
                </a:solidFill>
                <a:latin typeface="Times New Roman"/>
                <a:ea typeface="宋体"/>
              </a:rPr>
              <a:t>F = \frac{SSR/k}{SSE/(n - k - 1)}（检验全部自变量联合起来对因变量是否具有整体显著影响）。</a:t>
            </a:r>
          </a:p>
          <a:p>
            <a:pPr>
              <a:lnSpc>
                <a:spcPct val="120000"/>
              </a:lnSpc>
              <a:spcAft>
                <a:spcPts val="600"/>
              </a:spcAft>
            </a:pPr>
            <a:r>
              <a:rPr sz="1250" b="1">
                <a:solidFill>
                  <a:srgbClr val="2E86C1"/>
                </a:solidFill>
                <a:latin typeface="Times New Roman"/>
                <a:ea typeface="宋体"/>
              </a:rPr>
              <a:t>（2）标准估计误差（SE）： </a:t>
            </a:r>
            <a:r>
              <a:rPr sz="1250" b="0">
                <a:solidFill>
                  <a:srgbClr val="1E293B"/>
                </a:solidFill>
                <a:latin typeface="Times New Roman"/>
                <a:ea typeface="宋体"/>
              </a:rPr>
              <a:t>SE = \sqrt{\frac{SSE}{n - k - 1}}（衡量单个预测值偏离真实值平均距离的绝对指标，SE 越小精度越高）。</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核心要点：t 检验排除虚假偶然相关，确保进入企业决策支持系统的自变量具有扎实的因果显著性。</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需求估计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五、运用回归分析必须严防的五大计量经济学陷阱</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10</a:t>
            </a:r>
          </a:p>
        </p:txBody>
      </p:sp>
      <p:sp>
        <p:nvSpPr>
          <p:cNvPr id="9" name="Rectangle 8"/>
          <p:cNvSpPr/>
          <p:nvPr/>
        </p:nvSpPr>
        <p:spPr>
          <a:xfrm>
            <a:off x="45720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35661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1. 关键变量遗漏与多重共线性</a:t>
            </a:r>
          </a:p>
        </p:txBody>
      </p:sp>
      <p:sp>
        <p:nvSpPr>
          <p:cNvPr id="11" name="TextBox 10"/>
          <p:cNvSpPr txBox="1"/>
          <p:nvPr/>
        </p:nvSpPr>
        <p:spPr>
          <a:xfrm>
            <a:off x="59436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（1）遗漏关键变量偏误： </a:t>
            </a:r>
            <a:r>
              <a:rPr sz="1200" b="0">
                <a:solidFill>
                  <a:srgbClr val="1E293B"/>
                </a:solidFill>
                <a:latin typeface="Times New Roman"/>
                <a:ea typeface="宋体"/>
              </a:rPr>
              <a:t>漏掉竞品价格或居民收入，导致现有变量系数估计产生严重内生性偏误。</a:t>
            </a:r>
          </a:p>
          <a:p>
            <a:pPr>
              <a:lnSpc>
                <a:spcPct val="120000"/>
              </a:lnSpc>
              <a:spcAft>
                <a:spcPts val="500"/>
              </a:spcAft>
            </a:pPr>
            <a:r>
              <a:rPr sz="1200" b="1">
                <a:solidFill>
                  <a:srgbClr val="1B3A5C"/>
                </a:solidFill>
                <a:latin typeface="Times New Roman"/>
                <a:ea typeface="宋体"/>
              </a:rPr>
              <a:t>（2）多重共线性（Multicollinearity）： </a:t>
            </a:r>
            <a:r>
              <a:rPr sz="1200" b="0">
                <a:solidFill>
                  <a:srgbClr val="1E293B"/>
                </a:solidFill>
                <a:latin typeface="Times New Roman"/>
                <a:ea typeface="宋体"/>
              </a:rPr>
              <a:t>多个自变量（如人均可支配收入与人均GDP）高度共线，导致参数 t 检验失效、符号反常。</a:t>
            </a:r>
          </a:p>
        </p:txBody>
      </p:sp>
      <p:sp>
        <p:nvSpPr>
          <p:cNvPr id="12" name="Rectangle 11"/>
          <p:cNvSpPr/>
          <p:nvPr/>
        </p:nvSpPr>
        <p:spPr>
          <a:xfrm>
            <a:off x="429768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325880"/>
            <a:ext cx="35661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2. 序列自相关与异方差</a:t>
            </a:r>
          </a:p>
        </p:txBody>
      </p:sp>
      <p:sp>
        <p:nvSpPr>
          <p:cNvPr id="14" name="TextBox 13"/>
          <p:cNvSpPr txBox="1"/>
          <p:nvPr/>
        </p:nvSpPr>
        <p:spPr>
          <a:xfrm>
            <a:off x="443484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2E86C1"/>
                </a:solidFill>
                <a:latin typeface="Times New Roman"/>
                <a:ea typeface="宋体"/>
              </a:rPr>
              <a:t>（3）序列自相关（Autocorrelation）： </a:t>
            </a:r>
            <a:r>
              <a:rPr sz="1200" b="0">
                <a:solidFill>
                  <a:srgbClr val="1E293B"/>
                </a:solidFill>
                <a:latin typeface="Times New Roman"/>
                <a:ea typeface="宋体"/>
              </a:rPr>
              <a:t>时间序列误差项前后相关（D-W检验异常），低估标准误差导致虚假显著。</a:t>
            </a:r>
          </a:p>
          <a:p>
            <a:pPr>
              <a:lnSpc>
                <a:spcPct val="120000"/>
              </a:lnSpc>
              <a:spcAft>
                <a:spcPts val="500"/>
              </a:spcAft>
            </a:pPr>
            <a:r>
              <a:rPr sz="1200" b="1">
                <a:solidFill>
                  <a:srgbClr val="2E86C1"/>
                </a:solidFill>
                <a:latin typeface="Times New Roman"/>
                <a:ea typeface="宋体"/>
              </a:rPr>
              <a:t>（4）异方差性（Heteroscedasticity）： </a:t>
            </a:r>
            <a:r>
              <a:rPr sz="1200" b="0">
                <a:solidFill>
                  <a:srgbClr val="1E293B"/>
                </a:solidFill>
                <a:latin typeface="Times New Roman"/>
                <a:ea typeface="宋体"/>
              </a:rPr>
              <a:t>截面数据中不同规模企业误差方差不恒定，需用稳健标准误修正。</a:t>
            </a:r>
          </a:p>
        </p:txBody>
      </p:sp>
      <p:sp>
        <p:nvSpPr>
          <p:cNvPr id="15" name="Rectangle 14"/>
          <p:cNvSpPr/>
          <p:nvPr/>
        </p:nvSpPr>
        <p:spPr>
          <a:xfrm>
            <a:off x="813816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325880"/>
            <a:ext cx="35661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3. 内生性联立方程偏误</a:t>
            </a:r>
          </a:p>
        </p:txBody>
      </p:sp>
      <p:sp>
        <p:nvSpPr>
          <p:cNvPr id="17" name="TextBox 16"/>
          <p:cNvSpPr txBox="1"/>
          <p:nvPr/>
        </p:nvSpPr>
        <p:spPr>
          <a:xfrm>
            <a:off x="827532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A8C5D"/>
                </a:solidFill>
                <a:latin typeface="Times New Roman"/>
                <a:ea typeface="宋体"/>
              </a:rPr>
              <a:t>（5）联立因果识别陷阱： </a:t>
            </a:r>
            <a:r>
              <a:rPr sz="1200" b="0">
                <a:solidFill>
                  <a:srgbClr val="1E293B"/>
                </a:solidFill>
                <a:latin typeface="Times New Roman"/>
                <a:ea typeface="宋体"/>
              </a:rPr>
              <a:t>市场价格与数量由供求同时决定，直接用 OLS 估计需求方程会混淆供给变动，需用二阶段最小二乘法 (2SLS)！</a:t>
            </a:r>
          </a:p>
        </p:txBody>
      </p:sp>
      <p:sp>
        <p:nvSpPr>
          <p:cNvPr id="18" name="Rectangle 17"/>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核心要点：识别并规避五大计量陷阱，是确保企业计量模型具备真实商业预测力的专业分水岭。</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需求估计</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六、例3-1/3-2/3-3：Excel 回归实务操作与输出报表解读</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11</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Excel 数据分析工具箱操作流程</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（1）数据录入规范： </a:t>
            </a:r>
            <a:r>
              <a:rPr sz="1250" b="0">
                <a:solidFill>
                  <a:srgbClr val="1E293B"/>
                </a:solidFill>
                <a:latin typeface="Times New Roman"/>
                <a:ea typeface="宋体"/>
              </a:rPr>
              <a:t>在表格中按列整齐排列因变量 Y（销售量）与各列自变量 X_1, X_2（价格、广告、收入）。</a:t>
            </a:r>
          </a:p>
          <a:p>
            <a:pPr>
              <a:lnSpc>
                <a:spcPct val="120000"/>
              </a:lnSpc>
              <a:spcAft>
                <a:spcPts val="600"/>
              </a:spcAft>
            </a:pPr>
            <a:r>
              <a:rPr sz="1250" b="1">
                <a:solidFill>
                  <a:srgbClr val="1B3A5C"/>
                </a:solidFill>
                <a:latin typeface="Times New Roman"/>
                <a:ea typeface="宋体"/>
              </a:rPr>
              <a:t>（2）加载回归模块： </a:t>
            </a:r>
            <a:r>
              <a:rPr sz="1250" b="0">
                <a:solidFill>
                  <a:srgbClr val="1E293B"/>
                </a:solidFill>
                <a:latin typeface="Times New Roman"/>
                <a:ea typeface="宋体"/>
              </a:rPr>
              <a:t>依次点击【数据】\to 【数据分析】\to 【回归】，选定 Y 值输入区域与 X 值输入区域。</a:t>
            </a:r>
          </a:p>
          <a:p>
            <a:pPr>
              <a:lnSpc>
                <a:spcPct val="120000"/>
              </a:lnSpc>
              <a:spcAft>
                <a:spcPts val="600"/>
              </a:spcAft>
            </a:pPr>
            <a:r>
              <a:rPr sz="1250" b="1">
                <a:solidFill>
                  <a:srgbClr val="1B3A5C"/>
                </a:solidFill>
                <a:latin typeface="Times New Roman"/>
                <a:ea typeface="宋体"/>
              </a:rPr>
              <a:t>（3）勾选输出选项： </a:t>
            </a:r>
            <a:r>
              <a:rPr sz="1250" b="0">
                <a:solidFill>
                  <a:srgbClr val="1E293B"/>
                </a:solidFill>
                <a:latin typeface="Times New Roman"/>
                <a:ea typeface="宋体"/>
              </a:rPr>
              <a:t>勾选【标志】、【置信度 95%】及【残差图】，点击确定生成完整回归统计表。</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报表三层核心指标精读</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（1）回归统计表（顶部）： </a:t>
            </a:r>
            <a:r>
              <a:rPr sz="1250" b="0">
                <a:solidFill>
                  <a:srgbClr val="1E293B"/>
                </a:solidFill>
                <a:latin typeface="Times New Roman"/>
                <a:ea typeface="宋体"/>
              </a:rPr>
              <a:t>重点审查 Multiple R（相关系数）、R Square（拟合优度）与 Adjusted R Square。</a:t>
            </a:r>
          </a:p>
          <a:p>
            <a:pPr>
              <a:lnSpc>
                <a:spcPct val="120000"/>
              </a:lnSpc>
              <a:spcAft>
                <a:spcPts val="600"/>
              </a:spcAft>
            </a:pPr>
            <a:r>
              <a:rPr sz="1250" b="1">
                <a:solidFill>
                  <a:srgbClr val="2E86C1"/>
                </a:solidFill>
                <a:latin typeface="Times New Roman"/>
                <a:ea typeface="宋体"/>
              </a:rPr>
              <a:t>（2）方差分析表 ANOVA（中部）： </a:t>
            </a:r>
            <a:r>
              <a:rPr sz="1250" b="0">
                <a:solidFill>
                  <a:srgbClr val="1E293B"/>
                </a:solidFill>
                <a:latin typeface="Times New Roman"/>
                <a:ea typeface="宋体"/>
              </a:rPr>
              <a:t>查看 Significance F（整体显著性 p 值，必须 &lt; 0.05）。</a:t>
            </a:r>
          </a:p>
          <a:p>
            <a:pPr>
              <a:lnSpc>
                <a:spcPct val="120000"/>
              </a:lnSpc>
              <a:spcAft>
                <a:spcPts val="600"/>
              </a:spcAft>
            </a:pPr>
            <a:r>
              <a:rPr sz="1250" b="1">
                <a:solidFill>
                  <a:srgbClr val="2E86C1"/>
                </a:solidFill>
                <a:latin typeface="Times New Roman"/>
                <a:ea typeface="宋体"/>
              </a:rPr>
              <a:t>（3）参数估计表（底部）： </a:t>
            </a:r>
            <a:r>
              <a:rPr sz="1250" b="0">
                <a:solidFill>
                  <a:srgbClr val="1E293B"/>
                </a:solidFill>
                <a:latin typeface="Times New Roman"/>
                <a:ea typeface="宋体"/>
              </a:rPr>
              <a:t>读取 Intercept（常数项截距 a）和各变量 Coefficients（斜率 b），并核对 P-value（必须 &lt; 0.05）。</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核心要点：掌握 Excel 回归报表精读技能，赋能管理者在 5 分钟内完成企业经营数据的实证计量分析。</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第2节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需求预测（Demand Forecasting）</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精讲德尔菲专家定性预测法、时间序列移动平均法、指数平滑法与乘法季节分解模型。</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第3章 需求估计和需求预测 · 权威教材精细化教学架构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需求预测</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一、德尔菲法（Delphi Method）四大核心特征与流程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13</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德尔菲法定性预测四大核心特征</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（1）匿名背靠背（Anonymity）： </a:t>
            </a:r>
            <a:r>
              <a:rPr sz="1250" b="0">
                <a:solidFill>
                  <a:srgbClr val="1E293B"/>
                </a:solidFill>
                <a:latin typeface="Times New Roman"/>
                <a:ea typeface="宋体"/>
              </a:rPr>
              <a:t>专家彼此互不谋面、不知晓其他成员真实身份，彻底消除权威专家压制与随大流心理。</a:t>
            </a:r>
          </a:p>
          <a:p>
            <a:pPr>
              <a:lnSpc>
                <a:spcPct val="120000"/>
              </a:lnSpc>
              <a:spcAft>
                <a:spcPts val="600"/>
              </a:spcAft>
            </a:pPr>
            <a:r>
              <a:rPr sz="1250" b="1">
                <a:solidFill>
                  <a:srgbClr val="1B3A5C"/>
                </a:solidFill>
                <a:latin typeface="Times New Roman"/>
                <a:ea typeface="宋体"/>
              </a:rPr>
              <a:t>（2）多轮循环反馈（Iteration with Feedback）： </a:t>
            </a:r>
            <a:r>
              <a:rPr sz="1250" b="0">
                <a:solidFill>
                  <a:srgbClr val="1E293B"/>
                </a:solidFill>
                <a:latin typeface="Times New Roman"/>
                <a:ea typeface="宋体"/>
              </a:rPr>
              <a:t>组织协调小组经过 3~4 轮问卷循环，将汇总统计意见匿名反馈给各位专家重新评估。</a:t>
            </a:r>
          </a:p>
          <a:p>
            <a:pPr>
              <a:lnSpc>
                <a:spcPct val="120000"/>
              </a:lnSpc>
              <a:spcAft>
                <a:spcPts val="600"/>
              </a:spcAft>
            </a:pPr>
            <a:r>
              <a:rPr sz="1250" b="1">
                <a:solidFill>
                  <a:srgbClr val="1B3A5C"/>
                </a:solidFill>
                <a:latin typeface="Times New Roman"/>
                <a:ea typeface="宋体"/>
              </a:rPr>
              <a:t>（3）定量统计归纳（Statistical Convergence）： </a:t>
            </a:r>
            <a:r>
              <a:rPr sz="1250" b="0">
                <a:solidFill>
                  <a:srgbClr val="1E293B"/>
                </a:solidFill>
                <a:latin typeface="Times New Roman"/>
                <a:ea typeface="宋体"/>
              </a:rPr>
              <a:t>对专家意见采用中位数、四分位距进行客观统计收敛呈现。</a:t>
            </a:r>
          </a:p>
          <a:p>
            <a:pPr>
              <a:lnSpc>
                <a:spcPct val="120000"/>
              </a:lnSpc>
              <a:spcAft>
                <a:spcPts val="600"/>
              </a:spcAft>
            </a:pPr>
            <a:r>
              <a:rPr sz="1250" b="1">
                <a:solidFill>
                  <a:srgbClr val="1B3A5C"/>
                </a:solidFill>
                <a:latin typeface="Times New Roman"/>
                <a:ea typeface="宋体"/>
              </a:rPr>
              <a:t>（4）专家主观判断力赋能： </a:t>
            </a:r>
            <a:r>
              <a:rPr sz="1250" b="0">
                <a:solidFill>
                  <a:srgbClr val="1E293B"/>
                </a:solidFill>
                <a:latin typeface="Times New Roman"/>
                <a:ea typeface="宋体"/>
              </a:rPr>
              <a:t>充分发挥行业顶尖专家在新技术与长周期趋势上的敏锐直觉。</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德尔菲法四步标准化实施流程</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（1）第一轮（开放征询）： </a:t>
            </a:r>
            <a:r>
              <a:rPr sz="1250" b="0">
                <a:solidFill>
                  <a:srgbClr val="1E293B"/>
                </a:solidFill>
                <a:latin typeface="Times New Roman"/>
                <a:ea typeface="宋体"/>
              </a:rPr>
              <a:t>设计开放式背景调查表，征询专家对未来重大事件发生时点与规模的独立预测。</a:t>
            </a:r>
          </a:p>
          <a:p>
            <a:pPr>
              <a:lnSpc>
                <a:spcPct val="120000"/>
              </a:lnSpc>
              <a:spcAft>
                <a:spcPts val="600"/>
              </a:spcAft>
            </a:pPr>
            <a:r>
              <a:rPr sz="1250" b="1">
                <a:solidFill>
                  <a:srgbClr val="2E86C1"/>
                </a:solidFill>
                <a:latin typeface="Times New Roman"/>
                <a:ea typeface="宋体"/>
              </a:rPr>
              <a:t>（2）第二轮（初选归纳）： </a:t>
            </a:r>
            <a:r>
              <a:rPr sz="1250" b="0">
                <a:solidFill>
                  <a:srgbClr val="1E293B"/>
                </a:solidFill>
                <a:latin typeface="Times New Roman"/>
                <a:ea typeface="宋体"/>
              </a:rPr>
              <a:t>汇总第一轮意见，编制结构化量表，要求专家给出具体量化估计值。</a:t>
            </a:r>
          </a:p>
          <a:p>
            <a:pPr>
              <a:lnSpc>
                <a:spcPct val="120000"/>
              </a:lnSpc>
              <a:spcAft>
                <a:spcPts val="600"/>
              </a:spcAft>
            </a:pPr>
            <a:r>
              <a:rPr sz="1250" b="1">
                <a:solidFill>
                  <a:srgbClr val="2E86C1"/>
                </a:solidFill>
                <a:latin typeface="Times New Roman"/>
                <a:ea typeface="宋体"/>
              </a:rPr>
              <a:t>（3）第三轮（分歧陈述）： </a:t>
            </a:r>
            <a:r>
              <a:rPr sz="1250" b="0">
                <a:solidFill>
                  <a:srgbClr val="1E293B"/>
                </a:solidFill>
                <a:latin typeface="Times New Roman"/>
                <a:ea typeface="宋体"/>
              </a:rPr>
              <a:t>对偏离中位数较大的极端预测者，要求其匿名陈述充分理由并分发给全体专家。</a:t>
            </a:r>
          </a:p>
          <a:p>
            <a:pPr>
              <a:lnSpc>
                <a:spcPct val="120000"/>
              </a:lnSpc>
              <a:spcAft>
                <a:spcPts val="600"/>
              </a:spcAft>
            </a:pPr>
            <a:r>
              <a:rPr sz="1250" b="1">
                <a:solidFill>
                  <a:srgbClr val="2E86C1"/>
                </a:solidFill>
                <a:latin typeface="Times New Roman"/>
                <a:ea typeface="宋体"/>
              </a:rPr>
              <a:t>（4）第四轮（最终收敛）： </a:t>
            </a:r>
            <a:r>
              <a:rPr sz="1250" b="0">
                <a:solidFill>
                  <a:srgbClr val="1E293B"/>
                </a:solidFill>
                <a:latin typeface="Times New Roman"/>
                <a:ea typeface="宋体"/>
              </a:rPr>
              <a:t>专家在综合全体论据后修正自身预测，统计得出高度收敛的最终战略预测报告（案例3-1）。</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核心要点：德尔菲法是将专家群体智慧转化为可靠战略预测的最经典定性决策工具。</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需求预测</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二、时间序列平滑法：简单移动平均与加权移动平均</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简单移动平均法（Simple Moving Average）</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（1）计算公式： </a:t>
            </a:r>
            <a:r>
              <a:rPr sz="1250" b="0">
                <a:solidFill>
                  <a:srgbClr val="1E293B"/>
                </a:solidFill>
                <a:latin typeface="Times New Roman"/>
                <a:ea typeface="宋体"/>
              </a:rPr>
              <a:t>M_t = \frac{A_t + A_{t-1} + ... + A_{t-N+1}}{N} \quad (N: 移动期数跨度)</a:t>
            </a:r>
          </a:p>
          <a:p>
            <a:pPr>
              <a:lnSpc>
                <a:spcPct val="120000"/>
              </a:lnSpc>
              <a:spcAft>
                <a:spcPts val="600"/>
              </a:spcAft>
            </a:pPr>
            <a:r>
              <a:rPr sz="1250" b="1">
                <a:solidFill>
                  <a:srgbClr val="1B3A5C"/>
                </a:solidFill>
                <a:latin typeface="Times New Roman"/>
                <a:ea typeface="宋体"/>
              </a:rPr>
              <a:t>（2）去噪平滑原理： </a:t>
            </a:r>
            <a:r>
              <a:rPr sz="1250" b="0">
                <a:solidFill>
                  <a:srgbClr val="1E293B"/>
                </a:solidFill>
                <a:latin typeface="Times New Roman"/>
                <a:ea typeface="宋体"/>
              </a:rPr>
              <a:t>通过计算最近 N 期的算术平均数，有效过滤掉短期偶然随机波动噪声。</a:t>
            </a:r>
          </a:p>
          <a:p>
            <a:pPr>
              <a:lnSpc>
                <a:spcPct val="120000"/>
              </a:lnSpc>
              <a:spcAft>
                <a:spcPts val="600"/>
              </a:spcAft>
            </a:pPr>
            <a:r>
              <a:rPr sz="1250" b="1">
                <a:solidFill>
                  <a:srgbClr val="1B3A5C"/>
                </a:solidFill>
                <a:latin typeface="Times New Roman"/>
                <a:ea typeface="宋体"/>
              </a:rPr>
              <a:t>（3）参数 N 的权衡： </a:t>
            </a:r>
            <a:r>
              <a:rPr sz="1250" b="0">
                <a:solidFill>
                  <a:srgbClr val="1E293B"/>
                </a:solidFill>
                <a:latin typeface="Times New Roman"/>
                <a:ea typeface="宋体"/>
              </a:rPr>
              <a:t>N 越大，平滑曲线越平稳滞后（适合平稳品类）；N 越小，对最新波动越灵敏（适合快消品）。</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加权移动平均法（Weighted Moving Average）</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（1）计算公式： </a:t>
            </a:r>
            <a:r>
              <a:rPr sz="1250" b="0">
                <a:solidFill>
                  <a:srgbClr val="1E293B"/>
                </a:solidFill>
                <a:latin typeface="Times New Roman"/>
                <a:ea typeface="宋体"/>
              </a:rPr>
              <a:t>WMA_t = \sum_{i=1}^N w_i A_{t-i+1} \quad (\sum w_i = 1)</a:t>
            </a:r>
          </a:p>
          <a:p>
            <a:pPr>
              <a:lnSpc>
                <a:spcPct val="120000"/>
              </a:lnSpc>
              <a:spcAft>
                <a:spcPts val="600"/>
              </a:spcAft>
            </a:pPr>
            <a:r>
              <a:rPr sz="1250" b="1">
                <a:solidFill>
                  <a:srgbClr val="2E86C1"/>
                </a:solidFill>
                <a:latin typeface="Times New Roman"/>
                <a:ea typeface="宋体"/>
              </a:rPr>
              <a:t>（2）时间衰减赋权： </a:t>
            </a:r>
            <a:r>
              <a:rPr sz="1250" b="0">
                <a:solidFill>
                  <a:srgbClr val="1E293B"/>
                </a:solidFill>
                <a:latin typeface="Times New Roman"/>
                <a:ea typeface="宋体"/>
              </a:rPr>
              <a:t>赋予近期实际发生数据更高的权重（如 w_1=0.5, w_2=0.3, w_3=0.2），更好地反映近期市场突变动量。</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核心要点：移动平均法计算极简且易于自动化，是企业供应链进销存短期排产的基石。</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需求预测</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三、指数平滑法（Exponential Smoothing）模型与参数 α</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单纯指数平滑法递推模型</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（1）标准迭代公式： </a:t>
            </a:r>
            <a:r>
              <a:rPr sz="1250" b="0">
                <a:solidFill>
                  <a:srgbClr val="1E293B"/>
                </a:solidFill>
                <a:latin typeface="Times New Roman"/>
                <a:ea typeface="宋体"/>
              </a:rPr>
              <a:t>F_{t+1} = \alpha A_t + (1 - \alpha) F_t = F_t + \alpha (A_t - F_t)</a:t>
            </a:r>
          </a:p>
          <a:p>
            <a:pPr>
              <a:lnSpc>
                <a:spcPct val="120000"/>
              </a:lnSpc>
              <a:spcAft>
                <a:spcPts val="600"/>
              </a:spcAft>
            </a:pPr>
            <a:r>
              <a:rPr sz="1250" b="1">
                <a:solidFill>
                  <a:srgbClr val="1B3A5C"/>
                </a:solidFill>
                <a:latin typeface="Times New Roman"/>
                <a:ea typeface="宋体"/>
              </a:rPr>
              <a:t>（2）经济含义： </a:t>
            </a:r>
            <a:r>
              <a:rPr sz="1250" b="0">
                <a:solidFill>
                  <a:srgbClr val="1E293B"/>
                </a:solidFill>
                <a:latin typeface="Times New Roman"/>
                <a:ea typeface="宋体"/>
              </a:rPr>
              <a:t>下一期预测值 = 本期预测值 + \alpha \times 本期预测误差（按误差自动修正闭环！）。</a:t>
            </a:r>
          </a:p>
          <a:p>
            <a:pPr>
              <a:lnSpc>
                <a:spcPct val="120000"/>
              </a:lnSpc>
              <a:spcAft>
                <a:spcPts val="600"/>
              </a:spcAft>
            </a:pPr>
            <a:r>
              <a:rPr sz="1250" b="1">
                <a:solidFill>
                  <a:srgbClr val="1B3A5C"/>
                </a:solidFill>
                <a:latin typeface="Times New Roman"/>
                <a:ea typeface="宋体"/>
              </a:rPr>
              <a:t>（3）历史数据全息衰减： </a:t>
            </a:r>
            <a:r>
              <a:rPr sz="1250" b="0">
                <a:solidFill>
                  <a:srgbClr val="1E293B"/>
                </a:solidFill>
                <a:latin typeface="Times New Roman"/>
                <a:ea typeface="宋体"/>
              </a:rPr>
              <a:t>展开后包含全部历史数据，其权重以指数几何级数 \alpha(1-\alpha)^k 随时间回溯加速衰减。</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平滑常数 \alpha 的科学选取准则（例3-4）</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（1）平滑常数取值区间： </a:t>
            </a:r>
            <a:r>
              <a:rPr sz="1250" b="0">
                <a:solidFill>
                  <a:srgbClr val="1E293B"/>
                </a:solidFill>
                <a:latin typeface="Times New Roman"/>
                <a:ea typeface="宋体"/>
              </a:rPr>
              <a:t>0 &lt; \alpha &lt; 1。</a:t>
            </a:r>
          </a:p>
          <a:p>
            <a:pPr>
              <a:lnSpc>
                <a:spcPct val="120000"/>
              </a:lnSpc>
              <a:spcAft>
                <a:spcPts val="600"/>
              </a:spcAft>
            </a:pPr>
            <a:r>
              <a:rPr sz="1250" b="1">
                <a:solidFill>
                  <a:srgbClr val="2E86C1"/>
                </a:solidFill>
                <a:latin typeface="Times New Roman"/>
                <a:ea typeface="宋体"/>
              </a:rPr>
              <a:t>（2）平稳市场选择小 \alpha (0.1 ~ 0.3)： </a:t>
            </a:r>
            <a:r>
              <a:rPr sz="1250" b="0">
                <a:solidFill>
                  <a:srgbClr val="1E293B"/>
                </a:solidFill>
                <a:latin typeface="Times New Roman"/>
                <a:ea typeface="宋体"/>
              </a:rPr>
              <a:t>赋予历史长期预测更大权重，抗随机干扰能力强，适合需求平稳的日用品。</a:t>
            </a:r>
          </a:p>
          <a:p>
            <a:pPr>
              <a:lnSpc>
                <a:spcPct val="120000"/>
              </a:lnSpc>
              <a:spcAft>
                <a:spcPts val="600"/>
              </a:spcAft>
            </a:pPr>
            <a:r>
              <a:rPr sz="1250" b="1">
                <a:solidFill>
                  <a:srgbClr val="2E86C1"/>
                </a:solidFill>
                <a:latin typeface="Times New Roman"/>
                <a:ea typeface="宋体"/>
              </a:rPr>
              <a:t>（3）剧烈波动市场选择大 \alpha (0.6 ~ 0.9)： </a:t>
            </a:r>
            <a:r>
              <a:rPr sz="1250" b="0">
                <a:solidFill>
                  <a:srgbClr val="1E293B"/>
                </a:solidFill>
                <a:latin typeface="Times New Roman"/>
                <a:ea typeface="宋体"/>
              </a:rPr>
              <a:t>赋予最新一期实际数据极大权重，快速响应市场剧变，适合时尚快消品。</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核心要点：指数平滑法以极小的存储开销实现了对全历史数据的记忆与自适应修正。</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需求预测</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四、时间序列乘法分解模型四大构成要素</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16</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经典乘法分解模型公式</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（1）综合时间序列模型： </a:t>
            </a:r>
            <a:r>
              <a:rPr sz="1250" b="0">
                <a:solidFill>
                  <a:srgbClr val="1E293B"/>
                </a:solidFill>
                <a:latin typeface="Times New Roman"/>
                <a:ea typeface="宋体"/>
              </a:rPr>
              <a:t>Y_t = T_t \times S_t \times C_t \times I_t</a:t>
            </a:r>
          </a:p>
          <a:p>
            <a:pPr>
              <a:lnSpc>
                <a:spcPct val="120000"/>
              </a:lnSpc>
              <a:spcAft>
                <a:spcPts val="600"/>
              </a:spcAft>
            </a:pPr>
            <a:r>
              <a:rPr sz="1250" b="1">
                <a:solidFill>
                  <a:srgbClr val="1B3A5C"/>
                </a:solidFill>
                <a:latin typeface="Times New Roman"/>
                <a:ea typeface="宋体"/>
              </a:rPr>
              <a:t>（2）长期趋势因子 (T, Secular Trend)： </a:t>
            </a:r>
            <a:r>
              <a:rPr sz="1250" b="0">
                <a:solidFill>
                  <a:srgbClr val="1E293B"/>
                </a:solidFill>
                <a:latin typeface="Times New Roman"/>
                <a:ea typeface="宋体"/>
              </a:rPr>
              <a:t>反映受人口增长、技术进步等基本面驱动的持续数年上升或下降的长期方向。</a:t>
            </a:r>
          </a:p>
          <a:p>
            <a:pPr>
              <a:lnSpc>
                <a:spcPct val="120000"/>
              </a:lnSpc>
              <a:spcAft>
                <a:spcPts val="600"/>
              </a:spcAft>
            </a:pPr>
            <a:r>
              <a:rPr sz="1250" b="1">
                <a:solidFill>
                  <a:srgbClr val="1B3A5C"/>
                </a:solidFill>
                <a:latin typeface="Times New Roman"/>
                <a:ea typeface="宋体"/>
              </a:rPr>
              <a:t>（3）季节变动因子 (S, Seasonal Variation)： </a:t>
            </a:r>
            <a:r>
              <a:rPr sz="1250" b="0">
                <a:solidFill>
                  <a:srgbClr val="1E293B"/>
                </a:solidFill>
                <a:latin typeface="Times New Roman"/>
                <a:ea typeface="宋体"/>
              </a:rPr>
              <a:t>反映以一年为固定周期、受自然气候或节假日影响的规律性周期波动（S 围绕 1.0 上下浮动）。</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循环与不规则变动因子</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（4）循环变动因子 (C, Cyclical Variation)： </a:t>
            </a:r>
            <a:r>
              <a:rPr sz="1250" b="0">
                <a:solidFill>
                  <a:srgbClr val="1E293B"/>
                </a:solidFill>
                <a:latin typeface="Times New Roman"/>
                <a:ea typeface="宋体"/>
              </a:rPr>
              <a:t>受宏观经济景气周期（繁荣、衰退、萧条、复苏）驱动的中长期非固定波长波动（通常 3~10 年）。</a:t>
            </a:r>
          </a:p>
          <a:p>
            <a:pPr>
              <a:lnSpc>
                <a:spcPct val="120000"/>
              </a:lnSpc>
              <a:spcAft>
                <a:spcPts val="600"/>
              </a:spcAft>
            </a:pPr>
            <a:r>
              <a:rPr sz="1250" b="1">
                <a:solidFill>
                  <a:srgbClr val="2E86C1"/>
                </a:solidFill>
                <a:latin typeface="Times New Roman"/>
                <a:ea typeface="宋体"/>
              </a:rPr>
              <a:t>（5）不规则随机变动 (I, Irregular/Random Variation)： </a:t>
            </a:r>
            <a:r>
              <a:rPr sz="1250" b="0">
                <a:solidFill>
                  <a:srgbClr val="1E293B"/>
                </a:solidFill>
                <a:latin typeface="Times New Roman"/>
                <a:ea typeface="宋体"/>
              </a:rPr>
              <a:t>由自然灾害、突发地缘冲突等完全不可预测的随机突发事件引起的短期扰动。</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核心要点：乘法分解模型将交织在一起的复合时间序列拆解为四个独立运作的物理因子，奠定了精准预测的基石。</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需求预测</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五、季度季节指数（S）测算与去季化预测实务（例3-5）</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移动平均趋势剔除与季节比率法步骤</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（1）计算 4 季度中心化移动平均值 (CMA)： </a:t>
            </a:r>
            <a:r>
              <a:rPr sz="1250" b="0">
                <a:solidFill>
                  <a:srgbClr val="1E293B"/>
                </a:solidFill>
                <a:latin typeface="Times New Roman"/>
                <a:ea typeface="宋体"/>
              </a:rPr>
              <a:t>消除原始数据中的季节 S 和短期随机波动 I，提取纯净长期趋势 T。</a:t>
            </a:r>
          </a:p>
          <a:p>
            <a:pPr>
              <a:lnSpc>
                <a:spcPct val="120000"/>
              </a:lnSpc>
              <a:spcAft>
                <a:spcPts val="600"/>
              </a:spcAft>
            </a:pPr>
            <a:r>
              <a:rPr sz="1250" b="1">
                <a:solidFill>
                  <a:srgbClr val="1B3A5C"/>
                </a:solidFill>
                <a:latin typeface="Times New Roman"/>
                <a:ea typeface="宋体"/>
              </a:rPr>
              <a:t>（2）计算原始值与趋势比率： </a:t>
            </a:r>
            <a:r>
              <a:rPr sz="1250" b="0">
                <a:solidFill>
                  <a:srgbClr val="1E293B"/>
                </a:solidFill>
                <a:latin typeface="Times New Roman"/>
                <a:ea typeface="宋体"/>
              </a:rPr>
              <a:t>Ratio = Y / CMA \approx S \times I。</a:t>
            </a:r>
          </a:p>
          <a:p>
            <a:pPr>
              <a:lnSpc>
                <a:spcPct val="120000"/>
              </a:lnSpc>
              <a:spcAft>
                <a:spcPts val="600"/>
              </a:spcAft>
            </a:pPr>
            <a:r>
              <a:rPr sz="1250" b="1">
                <a:solidFill>
                  <a:srgbClr val="1B3A5C"/>
                </a:solidFill>
                <a:latin typeface="Times New Roman"/>
                <a:ea typeface="宋体"/>
              </a:rPr>
              <a:t>（3）同季平均与标准化调整： </a:t>
            </a:r>
            <a:r>
              <a:rPr sz="1250" b="0">
                <a:solidFill>
                  <a:srgbClr val="1E293B"/>
                </a:solidFill>
                <a:latin typeface="Times New Roman"/>
                <a:ea typeface="宋体"/>
              </a:rPr>
              <a:t>将各年份相同季度的比率求算术平均，并乘以修正系数使四季指数之和严格等于 400% (即 \sum S_i = 4.0)。</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季节指数实务应用（冷饮企业算例）</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（1）测算得出季节指数： </a:t>
            </a:r>
            <a:r>
              <a:rPr sz="1250" b="0">
                <a:solidFill>
                  <a:srgbClr val="1E293B"/>
                </a:solidFill>
                <a:latin typeface="Times New Roman"/>
                <a:ea typeface="宋体"/>
              </a:rPr>
              <a:t>S_1(春)=0.60, S_2(夏)=1.80, S_3(秋)=1.10, S_4(冬)=0.50。</a:t>
            </a:r>
          </a:p>
          <a:p>
            <a:pPr>
              <a:lnSpc>
                <a:spcPct val="120000"/>
              </a:lnSpc>
              <a:spcAft>
                <a:spcPts val="600"/>
              </a:spcAft>
            </a:pPr>
            <a:r>
              <a:rPr sz="1250" b="1">
                <a:solidFill>
                  <a:srgbClr val="2E86C1"/>
                </a:solidFill>
                <a:latin typeface="Times New Roman"/>
                <a:ea typeface="宋体"/>
              </a:rPr>
              <a:t>（2）去季节化调整（Deseasonalization）： </a:t>
            </a:r>
            <a:r>
              <a:rPr sz="1250" b="0">
                <a:solidFill>
                  <a:srgbClr val="1E293B"/>
                </a:solidFill>
                <a:latin typeface="Times New Roman"/>
                <a:ea typeface="宋体"/>
              </a:rPr>
              <a:t>去季化销量 = Y_t / S_t，用于精准评估企业的底层内生真实增长动量。</a:t>
            </a:r>
          </a:p>
          <a:p>
            <a:pPr>
              <a:lnSpc>
                <a:spcPct val="120000"/>
              </a:lnSpc>
              <a:spcAft>
                <a:spcPts val="600"/>
              </a:spcAft>
            </a:pPr>
            <a:r>
              <a:rPr sz="1250" b="1">
                <a:solidFill>
                  <a:srgbClr val="2E86C1"/>
                </a:solidFill>
                <a:latin typeface="Times New Roman"/>
                <a:ea typeface="宋体"/>
              </a:rPr>
              <a:t>（3）未来季节预测展开： </a:t>
            </a:r>
            <a:r>
              <a:rPr sz="1250" b="0">
                <a:solidFill>
                  <a:srgbClr val="1E293B"/>
                </a:solidFill>
                <a:latin typeface="Times New Roman"/>
                <a:ea typeface="宋体"/>
              </a:rPr>
              <a:t>若由长期趋势预测明年平均季度销量为 1000 万箱 \implies 夏季预测销量 = 1000 \times 1.80 = 1800 万箱！</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核心要点：季节指数精准量化了淡旺季峰谷落差，为供应链提前备料与柔性排产提供了核心依据。</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需求预测</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六、企业需求预测综合工作流程与误差监控闭环</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企业综合预测六步闭环流程</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（1）明确预测目标与时间跨度： </a:t>
            </a:r>
            <a:r>
              <a:rPr sz="1250" b="0">
                <a:solidFill>
                  <a:srgbClr val="1E293B"/>
                </a:solidFill>
                <a:latin typeface="Times New Roman"/>
                <a:ea typeface="宋体"/>
              </a:rPr>
              <a:t>区分短期（周/月排产）、中期（年度预算）与长期（5年产能投资）。</a:t>
            </a:r>
          </a:p>
          <a:p>
            <a:pPr>
              <a:lnSpc>
                <a:spcPct val="120000"/>
              </a:lnSpc>
              <a:spcAft>
                <a:spcPts val="600"/>
              </a:spcAft>
            </a:pPr>
            <a:r>
              <a:rPr sz="1250" b="1">
                <a:solidFill>
                  <a:srgbClr val="1B3A5C"/>
                </a:solidFill>
                <a:latin typeface="Times New Roman"/>
                <a:ea typeface="宋体"/>
              </a:rPr>
              <a:t>（2）数据收集与清洗： </a:t>
            </a:r>
            <a:r>
              <a:rPr sz="1250" b="0">
                <a:solidFill>
                  <a:srgbClr val="1E293B"/>
                </a:solidFill>
                <a:latin typeface="Times New Roman"/>
                <a:ea typeface="宋体"/>
              </a:rPr>
              <a:t>剔除异常点与促销活动一次性脉冲数据。</a:t>
            </a:r>
          </a:p>
          <a:p>
            <a:pPr>
              <a:lnSpc>
                <a:spcPct val="120000"/>
              </a:lnSpc>
              <a:spcAft>
                <a:spcPts val="600"/>
              </a:spcAft>
            </a:pPr>
            <a:r>
              <a:rPr sz="1250" b="1">
                <a:solidFill>
                  <a:srgbClr val="1B3A5C"/>
                </a:solidFill>
                <a:latin typeface="Times New Roman"/>
                <a:ea typeface="宋体"/>
              </a:rPr>
              <a:t>（3）模型选择与交叉拟合： </a:t>
            </a:r>
            <a:r>
              <a:rPr sz="1250" b="0">
                <a:solidFill>
                  <a:srgbClr val="1E293B"/>
                </a:solidFill>
                <a:latin typeface="Times New Roman"/>
                <a:ea typeface="宋体"/>
              </a:rPr>
              <a:t>同步运行时间序列与多元计量回归模型。</a:t>
            </a:r>
          </a:p>
          <a:p>
            <a:pPr>
              <a:lnSpc>
                <a:spcPct val="120000"/>
              </a:lnSpc>
              <a:spcAft>
                <a:spcPts val="600"/>
              </a:spcAft>
            </a:pPr>
            <a:r>
              <a:rPr sz="1250" b="1">
                <a:solidFill>
                  <a:srgbClr val="1B3A5C"/>
                </a:solidFill>
                <a:latin typeface="Times New Roman"/>
                <a:ea typeface="宋体"/>
              </a:rPr>
              <a:t>（4）定性专家意见校准： </a:t>
            </a:r>
            <a:r>
              <a:rPr sz="1250" b="0">
                <a:solidFill>
                  <a:srgbClr val="1E293B"/>
                </a:solidFill>
                <a:latin typeface="Times New Roman"/>
                <a:ea typeface="宋体"/>
              </a:rPr>
              <a:t>组织销售总监与行业专家对定量模型输出进行市场情景修正。</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预测精度评估与误差指标监控</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（1）平均绝对误差（MAD）： </a:t>
            </a:r>
            <a:r>
              <a:rPr sz="1250" b="0">
                <a:solidFill>
                  <a:srgbClr val="1E293B"/>
                </a:solidFill>
                <a:latin typeface="Times New Roman"/>
                <a:ea typeface="宋体"/>
              </a:rPr>
              <a:t>MAD = \frac{1}{n} \sum |A_t - F_t|（直观反映平均预测绝对偏差）。</a:t>
            </a:r>
          </a:p>
          <a:p>
            <a:pPr>
              <a:lnSpc>
                <a:spcPct val="120000"/>
              </a:lnSpc>
              <a:spcAft>
                <a:spcPts val="600"/>
              </a:spcAft>
            </a:pPr>
            <a:r>
              <a:rPr sz="1250" b="1">
                <a:solidFill>
                  <a:srgbClr val="2E86C1"/>
                </a:solidFill>
                <a:latin typeface="Times New Roman"/>
                <a:ea typeface="宋体"/>
              </a:rPr>
              <a:t>（2）平均绝对百分比误差（MAPE）： </a:t>
            </a:r>
            <a:r>
              <a:rPr sz="1250" b="0">
                <a:solidFill>
                  <a:srgbClr val="1E293B"/>
                </a:solidFill>
                <a:latin typeface="Times New Roman"/>
                <a:ea typeface="宋体"/>
              </a:rPr>
              <a:t>MAPE = \frac{1}{n} \sum \left| \frac{A_t - F_t}{A_t} \right| \times 100\%（跨品类横向评估精度的通用黄金指标，MAPE &lt; 10% 优秀）。</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核心要点：建立定量模型与定性专家校准相结合的预测闭环体系，是现代企业降本增效的核心竞争力。</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需求预测</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七、滚动需求预测（Rolling Forecast）与供应链协同（S&amp;OP）</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19</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滚动预测机制（Rolling Horizon）</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（1）传统年度静态预算缺陷： </a:t>
            </a:r>
            <a:r>
              <a:rPr sz="1250" b="0">
                <a:solidFill>
                  <a:srgbClr val="1E293B"/>
                </a:solidFill>
                <a:latin typeface="Times New Roman"/>
                <a:ea typeface="宋体"/>
              </a:rPr>
              <a:t>执行到下半年时往往严重脱离市场最新现实，导致预测失真。</a:t>
            </a:r>
          </a:p>
          <a:p>
            <a:pPr>
              <a:lnSpc>
                <a:spcPct val="120000"/>
              </a:lnSpc>
              <a:spcAft>
                <a:spcPts val="600"/>
              </a:spcAft>
            </a:pPr>
            <a:r>
              <a:rPr sz="1250" b="1">
                <a:solidFill>
                  <a:srgbClr val="1B3A5C"/>
                </a:solidFill>
                <a:latin typeface="Times New Roman"/>
                <a:ea typeface="宋体"/>
              </a:rPr>
              <a:t>（2）12~18 个月动态滚动刷新： </a:t>
            </a:r>
            <a:r>
              <a:rPr sz="1250" b="0">
                <a:solidFill>
                  <a:srgbClr val="1E293B"/>
                </a:solidFill>
                <a:latin typeface="Times New Roman"/>
                <a:ea typeface="宋体"/>
              </a:rPr>
              <a:t>按月度/季度动态推进时间窗口，将最新实际发生的销售与市场异动融入后续周期预测。</a:t>
            </a:r>
          </a:p>
          <a:p>
            <a:pPr>
              <a:lnSpc>
                <a:spcPct val="120000"/>
              </a:lnSpc>
              <a:spcAft>
                <a:spcPts val="600"/>
              </a:spcAft>
            </a:pPr>
            <a:r>
              <a:rPr sz="1250" b="1">
                <a:solidFill>
                  <a:srgbClr val="1B3A5C"/>
                </a:solidFill>
                <a:latin typeface="Times New Roman"/>
                <a:ea typeface="宋体"/>
              </a:rPr>
              <a:t>（3）敏捷应对牛鞭效应： </a:t>
            </a:r>
            <a:r>
              <a:rPr sz="1250" b="0">
                <a:solidFill>
                  <a:srgbClr val="1E293B"/>
                </a:solidFill>
                <a:latin typeface="Times New Roman"/>
                <a:ea typeface="宋体"/>
              </a:rPr>
              <a:t>通过高频动态滚动消除供应链各层级的信息扭曲与库存过度波动。</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销售与运营规划（S&amp;OP）跨部门协同</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（1）S&amp;OP 核心目标： </a:t>
            </a:r>
            <a:r>
              <a:rPr sz="1250" b="0">
                <a:solidFill>
                  <a:srgbClr val="1E293B"/>
                </a:solidFill>
                <a:latin typeface="Times New Roman"/>
                <a:ea typeface="宋体"/>
              </a:rPr>
              <a:t>打破销售、生产、采购与财务之间的部门壁垒，对齐统一的供求共识基准。</a:t>
            </a:r>
          </a:p>
          <a:p>
            <a:pPr>
              <a:lnSpc>
                <a:spcPct val="120000"/>
              </a:lnSpc>
              <a:spcAft>
                <a:spcPts val="600"/>
              </a:spcAft>
            </a:pPr>
            <a:r>
              <a:rPr sz="1250" b="1">
                <a:solidFill>
                  <a:srgbClr val="2E86C1"/>
                </a:solidFill>
                <a:latin typeface="Times New Roman"/>
                <a:ea typeface="宋体"/>
              </a:rPr>
              <a:t>（2）决策闭环： </a:t>
            </a:r>
            <a:r>
              <a:rPr sz="1250" b="0">
                <a:solidFill>
                  <a:srgbClr val="1E293B"/>
                </a:solidFill>
                <a:latin typeface="Times New Roman"/>
                <a:ea typeface="宋体"/>
              </a:rPr>
              <a:t>以需求预测为驱动源头，拉动主生产排产计划（MPS）与物料需求计划（MRP）精准落地。</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核心要点：滚动预测与 S&amp;OP 流程将孤立的预测数学模型升华为全企业端到端的敏捷运营管理体系。</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需求预测</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八、定性与定量需求预测方法全景权衡对照矩阵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20</a:t>
            </a:r>
          </a:p>
        </p:txBody>
      </p:sp>
      <p:graphicFrame>
        <p:nvGraphicFramePr>
          <p:cNvPr id="9" name="Table 8"/>
          <p:cNvGraphicFramePr>
            <a:graphicFrameLocks noGrp="1"/>
          </p:cNvGraphicFramePr>
          <p:nvPr/>
        </p:nvGraphicFramePr>
        <p:xfrm>
          <a:off x="457200" y="1325880"/>
          <a:ext cx="12070080" cy="4343400"/>
        </p:xfrm>
        <a:graphic>
          <a:graphicData uri="http://schemas.openxmlformats.org/drawingml/2006/table">
            <a:tbl>
              <a:tblPr firstRow="1" bandRow="1">
                <a:tableStyleId>{5C22544A-7EE6-4342-B048-85BDC9FD1C3A}</a:tableStyleId>
              </a:tblPr>
              <a:tblGrid>
                <a:gridCol w="2011680"/>
                <a:gridCol w="2377440"/>
                <a:gridCol w="2011680"/>
                <a:gridCol w="1828800"/>
                <a:gridCol w="2011680"/>
                <a:gridCol w="1828800"/>
              </a:tblGrid>
              <a:tr h="868680">
                <a:tc>
                  <a:txBody>
                    <a:bodyPr wrap="square" anchor="ctr"/>
                    <a:lstStyle/>
                    <a:p>
                      <a:pPr algn="ctr">
                        <a:lnSpc>
                          <a:spcPct val="120000"/>
                        </a:lnSpc>
                      </a:pPr>
                      <a:r>
                        <a:rPr sz="1250" b="1">
                          <a:solidFill>
                            <a:srgbClr val="FFFFFF"/>
                          </a:solidFill>
                          <a:latin typeface="Times New Roman"/>
                          <a:ea typeface="宋体"/>
                        </a:rPr>
                        <a:t>预测方法分类</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典型具体技术</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数据依赖程度</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适用时间跨度</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主要优势</a:t>
                      </a:r>
                    </a:p>
                  </a:txBody>
                  <a:tcPr>
                    <a:solidFill>
                      <a:srgbClr val="1B3A5C"/>
                    </a:solidFill>
                  </a:tcPr>
                </a:tc>
                <a:tc>
                  <a:txBody>
                    <a:bodyPr wrap="square" anchor="ctr"/>
                    <a:lstStyle/>
                    <a:p>
                      <a:pPr algn="ctr">
                        <a:lnSpc>
                          <a:spcPct val="120000"/>
                        </a:lnSpc>
                      </a:pPr>
                      <a:r>
                        <a:rPr sz="1250" b="1">
                          <a:solidFill>
                            <a:srgbClr val="FFFFFF"/>
                          </a:solidFill>
                          <a:latin typeface="Times New Roman"/>
                          <a:ea typeface="宋体"/>
                        </a:rPr>
                        <a:t>主要局限性</a:t>
                      </a:r>
                    </a:p>
                  </a:txBody>
                  <a:tcPr>
                    <a:solidFill>
                      <a:srgbClr val="1B3A5C"/>
                    </a:solidFill>
                  </a:tcPr>
                </a:tc>
              </a:tr>
              <a:tr h="868680">
                <a:tc>
                  <a:txBody>
                    <a:bodyPr wrap="square" anchor="ctr"/>
                    <a:lstStyle/>
                    <a:p>
                      <a:pPr algn="l">
                        <a:lnSpc>
                          <a:spcPct val="120000"/>
                        </a:lnSpc>
                      </a:pPr>
                      <a:r>
                        <a:rPr sz="1150" b="1">
                          <a:solidFill>
                            <a:srgbClr val="1B3A5C"/>
                          </a:solidFill>
                          <a:latin typeface="Times New Roman"/>
                          <a:ea typeface="宋体"/>
                        </a:rPr>
                        <a:t>定性判断法</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德尔菲法、销售人员汇总、专家座谈</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无历史数据或极少</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中长期战略 (1~5年)</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能捕捉技术突破与政策突变</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受主观偏误与心理影响大</a:t>
                      </a:r>
                    </a:p>
                  </a:txBody>
                  <a:tcPr>
                    <a:solidFill>
                      <a:srgbClr val="FFFFFF"/>
                    </a:solidFill>
                  </a:tcPr>
                </a:tc>
              </a:tr>
              <a:tr h="868680">
                <a:tc>
                  <a:txBody>
                    <a:bodyPr wrap="square" anchor="ctr"/>
                    <a:lstStyle/>
                    <a:p>
                      <a:pPr algn="l">
                        <a:lnSpc>
                          <a:spcPct val="120000"/>
                        </a:lnSpc>
                      </a:pPr>
                      <a:r>
                        <a:rPr sz="1150" b="1">
                          <a:solidFill>
                            <a:srgbClr val="1B3A5C"/>
                          </a:solidFill>
                          <a:latin typeface="Times New Roman"/>
                          <a:ea typeface="宋体"/>
                        </a:rPr>
                        <a:t>时间序列平滑法</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移动平均法、单纯/双重指数平滑</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仅需自身历史销量序列</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极短期至短期 (周/月)</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计算极简、快速自动运算</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无法解释因果驱动机理</a:t>
                      </a:r>
                    </a:p>
                  </a:txBody>
                  <a:tcPr>
                    <a:solidFill>
                      <a:srgbClr val="F2F2F2"/>
                    </a:solidFill>
                  </a:tcPr>
                </a:tc>
              </a:tr>
              <a:tr h="868680">
                <a:tc>
                  <a:txBody>
                    <a:bodyPr wrap="square" anchor="ctr"/>
                    <a:lstStyle/>
                    <a:p>
                      <a:pPr algn="l">
                        <a:lnSpc>
                          <a:spcPct val="120000"/>
                        </a:lnSpc>
                      </a:pPr>
                      <a:r>
                        <a:rPr sz="1150" b="1">
                          <a:solidFill>
                            <a:srgbClr val="1B3A5C"/>
                          </a:solidFill>
                          <a:latin typeface="Times New Roman"/>
                          <a:ea typeface="宋体"/>
                        </a:rPr>
                        <a:t>时间序列分解法</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乘法季节分解 (Y = T×S×C×I)</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需 3~5 年季度/月度数据</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中期排产预算 (1~2年)</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精准剥离淡旺季季节因子</a:t>
                      </a:r>
                    </a:p>
                  </a:txBody>
                  <a:tcPr>
                    <a:solidFill>
                      <a:srgbClr val="FFFFFF"/>
                    </a:solidFill>
                  </a:tcPr>
                </a:tc>
                <a:tc>
                  <a:txBody>
                    <a:bodyPr wrap="square" anchor="ctr"/>
                    <a:lstStyle/>
                    <a:p>
                      <a:pPr algn="l">
                        <a:lnSpc>
                          <a:spcPct val="120000"/>
                        </a:lnSpc>
                      </a:pPr>
                      <a:r>
                        <a:rPr sz="1150" b="0">
                          <a:solidFill>
                            <a:srgbClr val="1E293B"/>
                          </a:solidFill>
                          <a:latin typeface="Times New Roman"/>
                          <a:ea typeface="宋体"/>
                        </a:rPr>
                        <a:t>对宏观突发转折反应滞后</a:t>
                      </a:r>
                    </a:p>
                  </a:txBody>
                  <a:tcPr>
                    <a:solidFill>
                      <a:srgbClr val="FFFFFF"/>
                    </a:solidFill>
                  </a:tcPr>
                </a:tc>
              </a:tr>
              <a:tr h="868680">
                <a:tc>
                  <a:txBody>
                    <a:bodyPr wrap="square" anchor="ctr"/>
                    <a:lstStyle/>
                    <a:p>
                      <a:pPr algn="l">
                        <a:lnSpc>
                          <a:spcPct val="120000"/>
                        </a:lnSpc>
                      </a:pPr>
                      <a:r>
                        <a:rPr sz="1150" b="1">
                          <a:solidFill>
                            <a:srgbClr val="1B3A5C"/>
                          </a:solidFill>
                          <a:latin typeface="Times New Roman"/>
                          <a:ea typeface="宋体"/>
                        </a:rPr>
                        <a:t>因果计量回归法</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多元 OLS 线性/双对数常弹性模型</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需价格/收入/广告等多维数据</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中长期预测与政策模拟</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量化因果弹性、支持仿真推演</a:t>
                      </a:r>
                    </a:p>
                  </a:txBody>
                  <a:tcPr>
                    <a:solidFill>
                      <a:srgbClr val="F2F2F2"/>
                    </a:solidFill>
                  </a:tcPr>
                </a:tc>
                <a:tc>
                  <a:txBody>
                    <a:bodyPr wrap="square" anchor="ctr"/>
                    <a:lstStyle/>
                    <a:p>
                      <a:pPr algn="l">
                        <a:lnSpc>
                          <a:spcPct val="120000"/>
                        </a:lnSpc>
                      </a:pPr>
                      <a:r>
                        <a:rPr sz="1150" b="0">
                          <a:solidFill>
                            <a:srgbClr val="1E293B"/>
                          </a:solidFill>
                          <a:latin typeface="Times New Roman"/>
                          <a:ea typeface="宋体"/>
                        </a:rPr>
                        <a:t>建模门槛高、面临计量陷阱</a:t>
                      </a:r>
                    </a:p>
                  </a:txBody>
                  <a:tcPr>
                    <a:solidFill>
                      <a:srgbClr val="F2F2F2"/>
                    </a:solidFill>
                  </a:tcPr>
                </a:tc>
              </a:tr>
            </a:tbl>
          </a:graphicData>
        </a:graphic>
      </p:graphicFrame>
      <p:sp>
        <p:nvSpPr>
          <p:cNvPr id="10" name="TextBox 9"/>
          <p:cNvSpPr txBox="1"/>
          <p:nvPr/>
        </p:nvSpPr>
        <p:spPr>
          <a:xfrm>
            <a:off x="457200" y="5833872"/>
            <a:ext cx="11247120" cy="41148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 矩阵解析：现代企业预测必须坚持'因果定量模型打底、时间序列短期跟踪、专家定性情景校准'的三维融合原则。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本章复习</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【第3章】需求估计和需求预测 全章核心要点串讲与决策指南</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sp>
        <p:nvSpPr>
          <p:cNvPr id="9" name="Rectangle 8"/>
          <p:cNvSpPr/>
          <p:nvPr/>
        </p:nvSpPr>
        <p:spPr>
          <a:xfrm>
            <a:off x="457200"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需求估计实证方法</a:t>
            </a:r>
          </a:p>
        </p:txBody>
      </p:sp>
      <p:sp>
        <p:nvSpPr>
          <p:cNvPr id="11" name="TextBox 10"/>
          <p:cNvSpPr txBox="1"/>
          <p:nvPr/>
        </p:nvSpPr>
        <p:spPr>
          <a:xfrm>
            <a:off x="621792"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访问调查法与掩饰提问消除虚假应答</a:t>
            </a:r>
          </a:p>
          <a:p>
            <a:pPr algn="l">
              <a:lnSpc>
                <a:spcPct val="120000"/>
              </a:lnSpc>
              <a:spcAft>
                <a:spcPts val="400"/>
              </a:spcAft>
            </a:pPr>
            <a:r>
              <a:rPr sz="1150" b="0">
                <a:solidFill>
                  <a:srgbClr val="1E293B"/>
                </a:solidFill>
                <a:latin typeface="Times New Roman"/>
                <a:ea typeface="宋体"/>
              </a:rPr>
              <a:t>- 市场实验法与互联网 A/B 真实测试</a:t>
            </a:r>
          </a:p>
          <a:p>
            <a:pPr algn="l">
              <a:lnSpc>
                <a:spcPct val="120000"/>
              </a:lnSpc>
              <a:spcAft>
                <a:spcPts val="400"/>
              </a:spcAft>
            </a:pPr>
            <a:r>
              <a:rPr sz="1150" b="0">
                <a:solidFill>
                  <a:srgbClr val="1E293B"/>
                </a:solidFill>
                <a:latin typeface="Times New Roman"/>
                <a:ea typeface="宋体"/>
              </a:rPr>
              <a:t>- OLS 最小二乘法数学推导极小化 SSE</a:t>
            </a:r>
          </a:p>
          <a:p>
            <a:pPr algn="l">
              <a:lnSpc>
                <a:spcPct val="120000"/>
              </a:lnSpc>
              <a:spcAft>
                <a:spcPts val="400"/>
              </a:spcAft>
            </a:pPr>
            <a:r>
              <a:rPr sz="1150" b="0">
                <a:solidFill>
                  <a:srgbClr val="1E293B"/>
                </a:solidFill>
                <a:latin typeface="Times New Roman"/>
                <a:ea typeface="宋体"/>
              </a:rPr>
              <a:t>- 双对数非线性模型直接读取弹性常数</a:t>
            </a:r>
          </a:p>
        </p:txBody>
      </p:sp>
      <p:sp>
        <p:nvSpPr>
          <p:cNvPr id="12" name="Rectangle 11"/>
          <p:cNvSpPr/>
          <p:nvPr/>
        </p:nvSpPr>
        <p:spPr>
          <a:xfrm>
            <a:off x="3310128"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0128" y="1325880"/>
            <a:ext cx="26517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统计检验与陷阱防范</a:t>
            </a:r>
          </a:p>
        </p:txBody>
      </p:sp>
      <p:sp>
        <p:nvSpPr>
          <p:cNvPr id="14" name="TextBox 13"/>
          <p:cNvSpPr txBox="1"/>
          <p:nvPr/>
        </p:nvSpPr>
        <p:spPr>
          <a:xfrm>
            <a:off x="3474720"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R² 拟合优度与调整后 R² 自由度惩罚</a:t>
            </a:r>
          </a:p>
          <a:p>
            <a:pPr algn="l">
              <a:lnSpc>
                <a:spcPct val="120000"/>
              </a:lnSpc>
              <a:spcAft>
                <a:spcPts val="400"/>
              </a:spcAft>
            </a:pPr>
            <a:r>
              <a:rPr sz="1150" b="0">
                <a:solidFill>
                  <a:srgbClr val="1E293B"/>
                </a:solidFill>
                <a:latin typeface="Times New Roman"/>
                <a:ea typeface="宋体"/>
              </a:rPr>
              <a:t>- t 检验与 p&lt;0.05 保证自变量统计显著性</a:t>
            </a:r>
          </a:p>
          <a:p>
            <a:pPr algn="l">
              <a:lnSpc>
                <a:spcPct val="120000"/>
              </a:lnSpc>
              <a:spcAft>
                <a:spcPts val="400"/>
              </a:spcAft>
            </a:pPr>
            <a:r>
              <a:rPr sz="1150" b="0">
                <a:solidFill>
                  <a:srgbClr val="1E293B"/>
                </a:solidFill>
                <a:latin typeface="Times New Roman"/>
                <a:ea typeface="宋体"/>
              </a:rPr>
              <a:t>- F 检验评估方程整体解释力与 SE 精度</a:t>
            </a:r>
          </a:p>
          <a:p>
            <a:pPr algn="l">
              <a:lnSpc>
                <a:spcPct val="120000"/>
              </a:lnSpc>
              <a:spcAft>
                <a:spcPts val="400"/>
              </a:spcAft>
            </a:pPr>
            <a:r>
              <a:rPr sz="1150" b="0">
                <a:solidFill>
                  <a:srgbClr val="1E293B"/>
                </a:solidFill>
                <a:latin typeface="Times New Roman"/>
                <a:ea typeface="宋体"/>
              </a:rPr>
              <a:t>- 严防多重共线性/自相关/联立内生陷阱</a:t>
            </a:r>
          </a:p>
        </p:txBody>
      </p:sp>
      <p:sp>
        <p:nvSpPr>
          <p:cNvPr id="15" name="Rectangle 14"/>
          <p:cNvSpPr/>
          <p:nvPr/>
        </p:nvSpPr>
        <p:spPr>
          <a:xfrm>
            <a:off x="6163056"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1325880"/>
            <a:ext cx="26517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定性预测与德尔菲法</a:t>
            </a:r>
          </a:p>
        </p:txBody>
      </p:sp>
      <p:sp>
        <p:nvSpPr>
          <p:cNvPr id="17" name="TextBox 16"/>
          <p:cNvSpPr txBox="1"/>
          <p:nvPr/>
        </p:nvSpPr>
        <p:spPr>
          <a:xfrm>
            <a:off x="6327648"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匿名背靠背消除权威与随大流心理</a:t>
            </a:r>
          </a:p>
          <a:p>
            <a:pPr algn="l">
              <a:lnSpc>
                <a:spcPct val="120000"/>
              </a:lnSpc>
              <a:spcAft>
                <a:spcPts val="400"/>
              </a:spcAft>
            </a:pPr>
            <a:r>
              <a:rPr sz="1150" b="0">
                <a:solidFill>
                  <a:srgbClr val="1E293B"/>
                </a:solidFill>
                <a:latin typeface="Times New Roman"/>
                <a:ea typeface="宋体"/>
              </a:rPr>
              <a:t>- 多轮反馈与四分位数统计收敛</a:t>
            </a:r>
          </a:p>
          <a:p>
            <a:pPr algn="l">
              <a:lnSpc>
                <a:spcPct val="120000"/>
              </a:lnSpc>
              <a:spcAft>
                <a:spcPts val="400"/>
              </a:spcAft>
            </a:pPr>
            <a:r>
              <a:rPr sz="1150" b="0">
                <a:solidFill>
                  <a:srgbClr val="1E293B"/>
                </a:solidFill>
                <a:latin typeface="Times New Roman"/>
                <a:ea typeface="宋体"/>
              </a:rPr>
              <a:t>- 四步标准化流程赋能长期战略预测</a:t>
            </a:r>
          </a:p>
          <a:p>
            <a:pPr algn="l">
              <a:lnSpc>
                <a:spcPct val="120000"/>
              </a:lnSpc>
              <a:spcAft>
                <a:spcPts val="400"/>
              </a:spcAft>
            </a:pPr>
            <a:r>
              <a:rPr sz="1150" b="0">
                <a:solidFill>
                  <a:srgbClr val="1E293B"/>
                </a:solidFill>
                <a:latin typeface="Times New Roman"/>
                <a:ea typeface="宋体"/>
              </a:rPr>
              <a:t>- 专家定性经验校准定量模型输出</a:t>
            </a:r>
          </a:p>
        </p:txBody>
      </p:sp>
      <p:sp>
        <p:nvSpPr>
          <p:cNvPr id="18" name="Rectangle 17"/>
          <p:cNvSpPr/>
          <p:nvPr/>
        </p:nvSpPr>
        <p:spPr>
          <a:xfrm>
            <a:off x="9015984"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15984" y="1325880"/>
            <a:ext cx="2651760" cy="4572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时间序列与季节分解</a:t>
            </a:r>
          </a:p>
        </p:txBody>
      </p:sp>
      <p:sp>
        <p:nvSpPr>
          <p:cNvPr id="20" name="TextBox 19"/>
          <p:cNvSpPr txBox="1"/>
          <p:nvPr/>
        </p:nvSpPr>
        <p:spPr>
          <a:xfrm>
            <a:off x="9180576"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乘法分解：Y = T × S × C × I 四因子</a:t>
            </a:r>
          </a:p>
          <a:p>
            <a:pPr algn="l">
              <a:lnSpc>
                <a:spcPct val="120000"/>
              </a:lnSpc>
              <a:spcAft>
                <a:spcPts val="400"/>
              </a:spcAft>
            </a:pPr>
            <a:r>
              <a:rPr sz="1150" b="0">
                <a:solidFill>
                  <a:srgbClr val="1E293B"/>
                </a:solidFill>
                <a:latin typeface="Times New Roman"/>
                <a:ea typeface="宋体"/>
              </a:rPr>
              <a:t>- 移动平均法与指数平滑自适应迭代</a:t>
            </a:r>
          </a:p>
          <a:p>
            <a:pPr algn="l">
              <a:lnSpc>
                <a:spcPct val="120000"/>
              </a:lnSpc>
              <a:spcAft>
                <a:spcPts val="400"/>
              </a:spcAft>
            </a:pPr>
            <a:r>
              <a:rPr sz="1150" b="0">
                <a:solidFill>
                  <a:srgbClr val="1E293B"/>
                </a:solidFill>
                <a:latin typeface="Times New Roman"/>
                <a:ea typeface="宋体"/>
              </a:rPr>
              <a:t>- 季节指数精准测算量化淡旺季峰谷</a:t>
            </a:r>
          </a:p>
          <a:p>
            <a:pPr algn="l">
              <a:lnSpc>
                <a:spcPct val="120000"/>
              </a:lnSpc>
              <a:spcAft>
                <a:spcPts val="400"/>
              </a:spcAft>
            </a:pPr>
            <a:r>
              <a:rPr sz="1150" b="0">
                <a:solidFill>
                  <a:srgbClr val="1E293B"/>
                </a:solidFill>
                <a:latin typeface="Times New Roman"/>
                <a:ea typeface="宋体"/>
              </a:rPr>
              <a:t>- MAPE 误差指标监控持续优化预测精度</a:t>
            </a:r>
          </a:p>
        </p:txBody>
      </p:sp>
      <p:sp>
        <p:nvSpPr>
          <p:cNvPr id="21" name="Rectangle 20"/>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战略结语：需求估计与预测是连接管理经济学理论与企业商业实战的桥梁，数据驱动的量化预测是科学决策的坚实基石。</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课后思考与习题</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【第3章】课后复习思考题与作业题精选（对标课本）</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22</a:t>
            </a:r>
          </a:p>
        </p:txBody>
      </p:sp>
      <p:sp>
        <p:nvSpPr>
          <p:cNvPr id="9" name="Rectangle 8"/>
          <p:cNvSpPr/>
          <p:nvPr/>
        </p:nvSpPr>
        <p:spPr>
          <a:xfrm>
            <a:off x="457200" y="1325880"/>
            <a:ext cx="11247120" cy="4892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124712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课后复习思考题与 MBA 讨论案例（严格对应课本习题）</a:t>
            </a:r>
          </a:p>
        </p:txBody>
      </p:sp>
      <p:sp>
        <p:nvSpPr>
          <p:cNvPr id="11" name="TextBox 10"/>
          <p:cNvSpPr txBox="1"/>
          <p:nvPr/>
        </p:nvSpPr>
        <p:spPr>
          <a:xfrm>
            <a:off x="731520" y="1965960"/>
            <a:ext cx="10698480" cy="4069080"/>
          </a:xfrm>
          <a:prstGeom prst="rect">
            <a:avLst/>
          </a:prstGeom>
          <a:noFill/>
        </p:spPr>
        <p:txBody>
          <a:bodyPr wrap="square" lIns="0" tIns="0" rIns="0" bIns="0">
            <a:spAutoFit/>
          </a:bodyPr>
          <a:lstStyle/>
          <a:p>
            <a:pPr>
              <a:lnSpc>
                <a:spcPct val="120000"/>
              </a:lnSpc>
              <a:spcAft>
                <a:spcPts val="400"/>
              </a:spcAft>
            </a:pPr>
            <a:r>
              <a:rPr sz="1150" b="1">
                <a:solidFill>
                  <a:srgbClr val="2E86C1"/>
                </a:solidFill>
                <a:latin typeface="Times New Roman"/>
                <a:ea typeface="宋体"/>
              </a:rPr>
              <a:t>1. </a:t>
            </a:r>
            <a:r>
              <a:rPr sz="1150" b="0">
                <a:solidFill>
                  <a:srgbClr val="1E293B"/>
                </a:solidFill>
                <a:latin typeface="Times New Roman"/>
                <a:ea typeface="宋体"/>
              </a:rPr>
              <a:t>【思考题1】简述普通最小二乘法（OLS）的基本原理。为什么在回归分析中要求残差平方和（SSE）达到极小？</a:t>
            </a:r>
          </a:p>
          <a:p>
            <a:pPr>
              <a:lnSpc>
                <a:spcPct val="120000"/>
              </a:lnSpc>
              <a:spcAft>
                <a:spcPts val="400"/>
              </a:spcAft>
            </a:pPr>
            <a:r>
              <a:rPr sz="1150" b="1">
                <a:solidFill>
                  <a:srgbClr val="2E86C1"/>
                </a:solidFill>
                <a:latin typeface="Times New Roman"/>
                <a:ea typeface="宋体"/>
              </a:rPr>
              <a:t>2. </a:t>
            </a:r>
            <a:r>
              <a:rPr sz="1150" b="0">
                <a:solidFill>
                  <a:srgbClr val="1E293B"/>
                </a:solidFill>
                <a:latin typeface="Times New Roman"/>
                <a:ea typeface="宋体"/>
              </a:rPr>
              <a:t>【思考题2】在评价一个回归模型时，决定系数 R²、回归系数 t 检验和显著性 p 值各自起什么作用？</a:t>
            </a:r>
          </a:p>
          <a:p>
            <a:pPr>
              <a:lnSpc>
                <a:spcPct val="120000"/>
              </a:lnSpc>
              <a:spcAft>
                <a:spcPts val="400"/>
              </a:spcAft>
            </a:pPr>
            <a:r>
              <a:rPr sz="1150" b="1">
                <a:solidFill>
                  <a:srgbClr val="2E86C1"/>
                </a:solidFill>
                <a:latin typeface="Times New Roman"/>
                <a:ea typeface="宋体"/>
              </a:rPr>
              <a:t>3. </a:t>
            </a:r>
            <a:r>
              <a:rPr sz="1150" b="0">
                <a:solidFill>
                  <a:srgbClr val="1E293B"/>
                </a:solidFill>
                <a:latin typeface="Times New Roman"/>
                <a:ea typeface="宋体"/>
              </a:rPr>
              <a:t>【思考题3】什么是德尔菲法？它有哪些主要特征？在什么情况下应当优先采用德尔菲法进行预测？</a:t>
            </a:r>
          </a:p>
          <a:p>
            <a:pPr>
              <a:lnSpc>
                <a:spcPct val="120000"/>
              </a:lnSpc>
              <a:spcAft>
                <a:spcPts val="400"/>
              </a:spcAft>
            </a:pPr>
            <a:r>
              <a:rPr sz="1150" b="1">
                <a:solidFill>
                  <a:srgbClr val="2E86C1"/>
                </a:solidFill>
                <a:latin typeface="Times New Roman"/>
                <a:ea typeface="宋体"/>
              </a:rPr>
              <a:t>4. </a:t>
            </a:r>
            <a:r>
              <a:rPr sz="1150" b="0">
                <a:solidFill>
                  <a:srgbClr val="1E293B"/>
                </a:solidFill>
                <a:latin typeface="Times New Roman"/>
                <a:ea typeface="宋体"/>
              </a:rPr>
              <a:t>【思考题4】简述时间序列乘法分解模型 Y = T × S × C × I 中四个因子的含义，如何测定季度的季节指数 S？</a:t>
            </a:r>
          </a:p>
          <a:p>
            <a:pPr>
              <a:lnSpc>
                <a:spcPct val="120000"/>
              </a:lnSpc>
              <a:spcAft>
                <a:spcPts val="400"/>
              </a:spcAft>
            </a:pPr>
            <a:r>
              <a:rPr sz="1150" b="1">
                <a:solidFill>
                  <a:srgbClr val="2E86C1"/>
                </a:solidFill>
                <a:latin typeface="Times New Roman"/>
                <a:ea typeface="宋体"/>
              </a:rPr>
              <a:t>5. </a:t>
            </a:r>
            <a:r>
              <a:rPr sz="1150" b="0">
                <a:solidFill>
                  <a:srgbClr val="1E293B"/>
                </a:solidFill>
                <a:latin typeface="Times New Roman"/>
                <a:ea typeface="宋体"/>
              </a:rPr>
              <a:t>【思考题5】在指数平滑法中，平滑常数 α 的大小对预测结果有什么影响？如何根据市场波动特征选择最优的 α？</a:t>
            </a:r>
          </a:p>
          <a:p>
            <a:pPr>
              <a:lnSpc>
                <a:spcPct val="120000"/>
              </a:lnSpc>
              <a:spcAft>
                <a:spcPts val="400"/>
              </a:spcAft>
            </a:pPr>
            <a:r>
              <a:rPr sz="1150" b="1">
                <a:solidFill>
                  <a:srgbClr val="2E86C1"/>
                </a:solidFill>
                <a:latin typeface="Times New Roman"/>
                <a:ea typeface="宋体"/>
              </a:rPr>
              <a:t>6. </a:t>
            </a:r>
            <a:r>
              <a:rPr sz="1150" b="0">
                <a:solidFill>
                  <a:srgbClr val="1E293B"/>
                </a:solidFill>
                <a:latin typeface="Times New Roman"/>
                <a:ea typeface="宋体"/>
              </a:rPr>
              <a:t>【作业题1】某企业收集了过去 6 年的广告费用 X（万元）与产品销售量 Y（万件）数据。经计算得到：\sum X=30, \sum Y=60, \sum X^2=190, \sum XY=350。试用 OLS 求样本回归方程，并预测广告费为 10 万元时的销售量。</a:t>
            </a:r>
          </a:p>
          <a:p>
            <a:pPr>
              <a:lnSpc>
                <a:spcPct val="120000"/>
              </a:lnSpc>
              <a:spcAft>
                <a:spcPts val="400"/>
              </a:spcAft>
            </a:pPr>
            <a:r>
              <a:rPr sz="1150" b="1">
                <a:solidFill>
                  <a:srgbClr val="2E86C1"/>
                </a:solidFill>
                <a:latin typeface="Times New Roman"/>
                <a:ea typeface="宋体"/>
              </a:rPr>
              <a:t>7. </a:t>
            </a:r>
            <a:r>
              <a:rPr sz="1150" b="0">
                <a:solidFill>
                  <a:srgbClr val="1E293B"/>
                </a:solidFill>
                <a:latin typeface="Times New Roman"/>
                <a:ea typeface="宋体"/>
              </a:rPr>
              <a:t>【作业题2】某空调厂商过去 4 年各季度的销售量数据显示，第一季度至第四季度的季节指数分别为 S_1=0.7, S_2=1.8, S_3=1.1, S_4=0.4。若预测明年平均季度基准销量为 50 万台，求明年各季度的预测销售量。</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