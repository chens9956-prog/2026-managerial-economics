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572000"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0" y="0"/>
            <a:ext cx="54864" cy="685800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645920"/>
            <a:ext cx="3200400" cy="914400"/>
          </a:xfrm>
          <a:prstGeom prst="rect">
            <a:avLst/>
          </a:prstGeom>
          <a:noFill/>
        </p:spPr>
        <p:txBody>
          <a:bodyPr wrap="none" lIns="0" tIns="0" rIns="0" bIns="0">
            <a:spAutoFit/>
          </a:bodyPr>
          <a:lstStyle/>
          <a:p>
            <a:pPr algn="l">
              <a:lnSpc>
                <a:spcPct val="120000"/>
              </a:lnSpc>
            </a:pPr>
            <a:r>
              <a:rPr sz="3200" b="1">
                <a:solidFill>
                  <a:srgbClr val="FFFFFF"/>
                </a:solidFill>
                <a:latin typeface="Times New Roman"/>
                <a:ea typeface="宋体"/>
              </a:rPr>
              <a:t>CH 03</a:t>
            </a:r>
          </a:p>
        </p:txBody>
      </p:sp>
      <p:sp>
        <p:nvSpPr>
          <p:cNvPr id="5" name="Rectangle 4"/>
          <p:cNvSpPr/>
          <p:nvPr/>
        </p:nvSpPr>
        <p:spPr>
          <a:xfrm>
            <a:off x="777240" y="2697480"/>
            <a:ext cx="13716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926080"/>
            <a:ext cx="3200400" cy="1097280"/>
          </a:xfrm>
          <a:prstGeom prst="rect">
            <a:avLst/>
          </a:prstGeom>
          <a:noFill/>
        </p:spPr>
        <p:txBody>
          <a:bodyPr wrap="none" lIns="0" tIns="0" rIns="0" bIns="0">
            <a:spAutoFit/>
          </a:bodyPr>
          <a:lstStyle/>
          <a:p>
            <a:pPr algn="l">
              <a:lnSpc>
                <a:spcPct val="120000"/>
              </a:lnSpc>
              <a:spcAft>
                <a:spcPts val="800"/>
              </a:spcAft>
            </a:pPr>
            <a:r>
              <a:rPr sz="2000" b="1">
                <a:solidFill>
                  <a:srgbClr val="FFFFFF"/>
                </a:solidFill>
                <a:latin typeface="Times New Roman"/>
                <a:ea typeface="宋体"/>
              </a:rPr>
              <a:t>管理经济学</a:t>
            </a:r>
          </a:p>
          <a:p>
            <a:pPr algn="l">
              <a:lnSpc>
                <a:spcPct val="120000"/>
              </a:lnSpc>
              <a:spcAft>
                <a:spcPts val="400"/>
              </a:spcAft>
            </a:pPr>
            <a:r>
              <a:rPr sz="1200" b="0">
                <a:solidFill>
                  <a:srgbClr val="D6EAF8"/>
                </a:solidFill>
                <a:latin typeface="Times New Roman"/>
                <a:ea typeface="宋体"/>
              </a:rPr>
              <a:t>吴德庆 王保林 马月才（第7版）</a:t>
            </a:r>
          </a:p>
          <a:p>
            <a:pPr algn="l">
              <a:lnSpc>
                <a:spcPct val="120000"/>
              </a:lnSpc>
            </a:pPr>
            <a:r>
              <a:rPr sz="1200" b="0">
                <a:solidFill>
                  <a:srgbClr val="64748B"/>
                </a:solidFill>
                <a:latin typeface="Times New Roman"/>
                <a:ea typeface="宋体"/>
              </a:rPr>
              <a:t>MBA / 高级管理课程专用课件</a:t>
            </a:r>
          </a:p>
        </p:txBody>
      </p:sp>
      <p:sp>
        <p:nvSpPr>
          <p:cNvPr id="7" name="TextBox 6"/>
          <p:cNvSpPr txBox="1"/>
          <p:nvPr/>
        </p:nvSpPr>
        <p:spPr>
          <a:xfrm>
            <a:off x="5303520" y="1828800"/>
            <a:ext cx="6217920" cy="457200"/>
          </a:xfrm>
          <a:prstGeom prst="rect">
            <a:avLst/>
          </a:prstGeom>
          <a:noFill/>
        </p:spPr>
        <p:txBody>
          <a:bodyPr wrap="none" lIns="0" tIns="0" rIns="0" bIns="0">
            <a:spAutoFit/>
          </a:bodyPr>
          <a:lstStyle/>
          <a:p>
            <a:pPr algn="l">
              <a:lnSpc>
                <a:spcPct val="120000"/>
              </a:lnSpc>
            </a:pPr>
            <a:r>
              <a:rPr sz="2000" b="1">
                <a:solidFill>
                  <a:srgbClr val="C88C1B"/>
                </a:solidFill>
                <a:latin typeface="Times New Roman"/>
                <a:ea typeface="宋体"/>
              </a:rPr>
              <a:t>第三章</a:t>
            </a:r>
          </a:p>
        </p:txBody>
      </p:sp>
      <p:sp>
        <p:nvSpPr>
          <p:cNvPr id="8" name="TextBox 7"/>
          <p:cNvSpPr txBox="1"/>
          <p:nvPr/>
        </p:nvSpPr>
        <p:spPr>
          <a:xfrm>
            <a:off x="5303520" y="2331720"/>
            <a:ext cx="6217920" cy="1005840"/>
          </a:xfrm>
          <a:prstGeom prst="rect">
            <a:avLst/>
          </a:prstGeom>
          <a:noFill/>
        </p:spPr>
        <p:txBody>
          <a:bodyPr wrap="square" lIns="0" tIns="0" rIns="0" bIns="0">
            <a:spAutoFit/>
          </a:bodyPr>
          <a:lstStyle/>
          <a:p>
            <a:pPr algn="l">
              <a:lnSpc>
                <a:spcPct val="120000"/>
              </a:lnSpc>
            </a:pPr>
            <a:r>
              <a:rPr sz="2800" b="1">
                <a:solidFill>
                  <a:srgbClr val="1B3A5C"/>
                </a:solidFill>
                <a:latin typeface="Times New Roman"/>
                <a:ea typeface="宋体"/>
              </a:rPr>
              <a:t>需求估计和需求预测</a:t>
            </a:r>
          </a:p>
        </p:txBody>
      </p:sp>
      <p:sp>
        <p:nvSpPr>
          <p:cNvPr id="9" name="Rectangle 8"/>
          <p:cNvSpPr/>
          <p:nvPr/>
        </p:nvSpPr>
        <p:spPr>
          <a:xfrm>
            <a:off x="5349240" y="3520440"/>
            <a:ext cx="1828800" cy="45720"/>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3794760"/>
            <a:ext cx="6217920" cy="2651760"/>
          </a:xfrm>
          <a:prstGeom prst="rect">
            <a:avLst/>
          </a:prstGeom>
          <a:noFill/>
        </p:spPr>
        <p:txBody>
          <a:bodyPr wrap="square" lIns="0" tIns="0" rIns="0" bIns="0">
            <a:spAutoFit/>
          </a:bodyPr>
          <a:lstStyle/>
          <a:p>
            <a:pPr algn="l">
              <a:lnSpc>
                <a:spcPct val="120000"/>
              </a:lnSpc>
              <a:spcAft>
                <a:spcPts val="800"/>
              </a:spcAft>
            </a:pPr>
            <a:r>
              <a:rPr sz="1400" b="0">
                <a:solidFill>
                  <a:srgbClr val="1E293B"/>
                </a:solidFill>
                <a:latin typeface="Times New Roman"/>
                <a:ea typeface="宋体"/>
              </a:rPr>
              <a:t>- 第1节 需求估计（市场调查法、案例3-1垃圾调查法、统计回归分析法、OLS 与统计检验）</a:t>
            </a:r>
          </a:p>
          <a:p>
            <a:pPr algn="l">
              <a:lnSpc>
                <a:spcPct val="120000"/>
              </a:lnSpc>
              <a:spcAft>
                <a:spcPts val="800"/>
              </a:spcAft>
            </a:pPr>
            <a:r>
              <a:rPr sz="1400" b="0">
                <a:solidFill>
                  <a:srgbClr val="1E293B"/>
                </a:solidFill>
                <a:latin typeface="Times New Roman"/>
                <a:ea typeface="宋体"/>
              </a:rPr>
              <a:t>- 第2节 需求预测（定性预测法：德尔菲法；定量时间序列：移动平均、指数平滑与季节指数）</a:t>
            </a:r>
          </a:p>
          <a:p>
            <a:pPr algn="l">
              <a:lnSpc>
                <a:spcPct val="120000"/>
              </a:lnSpc>
              <a:spcAft>
                <a:spcPts val="800"/>
              </a:spcAft>
            </a:pPr>
            <a:r>
              <a:rPr sz="1400" b="0">
                <a:solidFill>
                  <a:srgbClr val="1E293B"/>
                </a:solidFill>
                <a:latin typeface="Times New Roman"/>
                <a:ea typeface="宋体"/>
              </a:rPr>
              <a:t>- 计量经济学模型在销售预测中的构建与预测误差度量指标（MAD / MSE / MAPE）</a:t>
            </a:r>
          </a:p>
          <a:p>
            <a:pPr algn="l">
              <a:lnSpc>
                <a:spcPct val="120000"/>
              </a:lnSpc>
              <a:spcAft>
                <a:spcPts val="800"/>
              </a:spcAft>
            </a:pPr>
            <a:r>
              <a:rPr sz="1400" b="0">
                <a:solidFill>
                  <a:srgbClr val="1E293B"/>
                </a:solidFill>
                <a:latin typeface="Times New Roman"/>
                <a:ea typeface="宋体"/>
              </a:rPr>
              <a:t>- 课本经典案例：案例3-1 垃圾调查法 · 销售预测回归实操例题 3-1 与 3-2 全解</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本章概览</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第三章 需求估计和需求预测 知识结构与逻辑框架</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a:t>
            </a:r>
          </a:p>
        </p:txBody>
      </p:sp>
      <p:sp>
        <p:nvSpPr>
          <p:cNvPr id="9" name="Rectangle 8"/>
          <p:cNvSpPr/>
          <p:nvPr/>
        </p:nvSpPr>
        <p:spPr>
          <a:xfrm>
            <a:off x="54864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371600"/>
            <a:ext cx="2560320" cy="109728"/>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1691640"/>
            <a:ext cx="2011680" cy="640080"/>
          </a:xfrm>
          <a:prstGeom prst="rect">
            <a:avLst/>
          </a:prstGeom>
          <a:noFill/>
        </p:spPr>
        <p:txBody>
          <a:bodyPr wrap="none" lIns="0" tIns="0" rIns="0" bIns="0">
            <a:spAutoFit/>
          </a:bodyPr>
          <a:lstStyle/>
          <a:p>
            <a:pPr algn="l">
              <a:lnSpc>
                <a:spcPct val="120000"/>
              </a:lnSpc>
            </a:pPr>
            <a:r>
              <a:rPr sz="4000" b="1">
                <a:solidFill>
                  <a:srgbClr val="1B3A5C"/>
                </a:solidFill>
                <a:latin typeface="Times New Roman"/>
                <a:ea typeface="宋体"/>
              </a:rPr>
              <a:t>01</a:t>
            </a:r>
          </a:p>
        </p:txBody>
      </p:sp>
      <p:sp>
        <p:nvSpPr>
          <p:cNvPr id="12" name="TextBox 11"/>
          <p:cNvSpPr txBox="1"/>
          <p:nvPr/>
        </p:nvSpPr>
        <p:spPr>
          <a:xfrm>
            <a:off x="822960" y="2560320"/>
            <a:ext cx="2011680" cy="457200"/>
          </a:xfrm>
          <a:prstGeom prst="rect">
            <a:avLst/>
          </a:prstGeom>
          <a:noFill/>
        </p:spPr>
        <p:txBody>
          <a:bodyPr wrap="square" lIns="0" tIns="0" rIns="0" bIns="0">
            <a:spAutoFit/>
          </a:bodyPr>
          <a:lstStyle/>
          <a:p>
            <a:pPr algn="l">
              <a:lnSpc>
                <a:spcPct val="120000"/>
              </a:lnSpc>
            </a:pPr>
            <a:r>
              <a:rPr sz="1800" b="1">
                <a:solidFill>
                  <a:srgbClr val="1B3A5C"/>
                </a:solidFill>
                <a:latin typeface="Times New Roman"/>
                <a:ea typeface="宋体"/>
              </a:rPr>
              <a:t>市场调查方法</a:t>
            </a:r>
          </a:p>
        </p:txBody>
      </p:sp>
      <p:sp>
        <p:nvSpPr>
          <p:cNvPr id="13" name="Rectangle 12"/>
          <p:cNvSpPr/>
          <p:nvPr/>
        </p:nvSpPr>
        <p:spPr>
          <a:xfrm>
            <a:off x="822960" y="3108960"/>
            <a:ext cx="548640" cy="2743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3337560"/>
            <a:ext cx="2011680" cy="20116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访问调查法：问卷与焦点访谈</a:t>
            </a:r>
          </a:p>
          <a:p>
            <a:pPr algn="l">
              <a:lnSpc>
                <a:spcPct val="120000"/>
              </a:lnSpc>
              <a:spcAft>
                <a:spcPts val="600"/>
              </a:spcAft>
            </a:pPr>
            <a:r>
              <a:rPr sz="1300" b="0">
                <a:solidFill>
                  <a:srgbClr val="1E293B"/>
                </a:solidFill>
                <a:latin typeface="Times New Roman"/>
                <a:ea typeface="宋体"/>
              </a:rPr>
              <a:t>- 市场实验法：受控价格测试</a:t>
            </a:r>
          </a:p>
          <a:p>
            <a:pPr algn="l">
              <a:lnSpc>
                <a:spcPct val="120000"/>
              </a:lnSpc>
              <a:spcAft>
                <a:spcPts val="600"/>
              </a:spcAft>
            </a:pPr>
            <a:r>
              <a:rPr sz="1300" b="0">
                <a:solidFill>
                  <a:srgbClr val="1E293B"/>
                </a:solidFill>
                <a:latin typeface="Times New Roman"/>
                <a:ea typeface="宋体"/>
              </a:rPr>
              <a:t>- 案例3-1 垃圾考古调查法</a:t>
            </a:r>
          </a:p>
        </p:txBody>
      </p:sp>
      <p:sp>
        <p:nvSpPr>
          <p:cNvPr id="15" name="Rectangle 14"/>
          <p:cNvSpPr/>
          <p:nvPr/>
        </p:nvSpPr>
        <p:spPr>
          <a:xfrm>
            <a:off x="338328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1371600"/>
            <a:ext cx="2560320" cy="10972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57600" y="1691640"/>
            <a:ext cx="2011680" cy="640080"/>
          </a:xfrm>
          <a:prstGeom prst="rect">
            <a:avLst/>
          </a:prstGeom>
          <a:noFill/>
        </p:spPr>
        <p:txBody>
          <a:bodyPr wrap="none" lIns="0" tIns="0" rIns="0" bIns="0">
            <a:spAutoFit/>
          </a:bodyPr>
          <a:lstStyle/>
          <a:p>
            <a:pPr algn="l">
              <a:lnSpc>
                <a:spcPct val="120000"/>
              </a:lnSpc>
            </a:pPr>
            <a:r>
              <a:rPr sz="4000" b="1">
                <a:solidFill>
                  <a:srgbClr val="2E86C1"/>
                </a:solidFill>
                <a:latin typeface="Times New Roman"/>
                <a:ea typeface="宋体"/>
              </a:rPr>
              <a:t>02</a:t>
            </a:r>
          </a:p>
        </p:txBody>
      </p:sp>
      <p:sp>
        <p:nvSpPr>
          <p:cNvPr id="18" name="TextBox 17"/>
          <p:cNvSpPr txBox="1"/>
          <p:nvPr/>
        </p:nvSpPr>
        <p:spPr>
          <a:xfrm>
            <a:off x="3657600" y="2560320"/>
            <a:ext cx="2011680" cy="457200"/>
          </a:xfrm>
          <a:prstGeom prst="rect">
            <a:avLst/>
          </a:prstGeom>
          <a:noFill/>
        </p:spPr>
        <p:txBody>
          <a:bodyPr wrap="square" lIns="0" tIns="0" rIns="0" bIns="0">
            <a:spAutoFit/>
          </a:bodyPr>
          <a:lstStyle/>
          <a:p>
            <a:pPr algn="l">
              <a:lnSpc>
                <a:spcPct val="120000"/>
              </a:lnSpc>
            </a:pPr>
            <a:r>
              <a:rPr sz="1800" b="1">
                <a:solidFill>
                  <a:srgbClr val="1B3A5C"/>
                </a:solidFill>
                <a:latin typeface="Times New Roman"/>
                <a:ea typeface="宋体"/>
              </a:rPr>
              <a:t>计量回归估计</a:t>
            </a:r>
          </a:p>
        </p:txBody>
      </p:sp>
      <p:sp>
        <p:nvSpPr>
          <p:cNvPr id="19" name="Rectangle 18"/>
          <p:cNvSpPr/>
          <p:nvPr/>
        </p:nvSpPr>
        <p:spPr>
          <a:xfrm>
            <a:off x="3657600" y="3108960"/>
            <a:ext cx="548640" cy="27432"/>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7600" y="3337560"/>
            <a:ext cx="2011680" cy="20116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线性模型 vs 双对数乘幂模型</a:t>
            </a:r>
          </a:p>
          <a:p>
            <a:pPr algn="l">
              <a:lnSpc>
                <a:spcPct val="120000"/>
              </a:lnSpc>
              <a:spcAft>
                <a:spcPts val="600"/>
              </a:spcAft>
            </a:pPr>
            <a:r>
              <a:rPr sz="1300" b="0">
                <a:solidFill>
                  <a:srgbClr val="1E293B"/>
                </a:solidFill>
                <a:latin typeface="Times New Roman"/>
                <a:ea typeface="宋体"/>
              </a:rPr>
              <a:t>- 普通最小二乘法 (OLS) 参数估计</a:t>
            </a:r>
          </a:p>
          <a:p>
            <a:pPr algn="l">
              <a:lnSpc>
                <a:spcPct val="120000"/>
              </a:lnSpc>
              <a:spcAft>
                <a:spcPts val="600"/>
              </a:spcAft>
            </a:pPr>
            <a:r>
              <a:rPr sz="1300" b="0">
                <a:solidFill>
                  <a:srgbClr val="1E293B"/>
                </a:solidFill>
                <a:latin typeface="Times New Roman"/>
                <a:ea typeface="宋体"/>
              </a:rPr>
              <a:t>- 统计检验：R²、t 检验与 F 检验</a:t>
            </a:r>
          </a:p>
        </p:txBody>
      </p:sp>
      <p:sp>
        <p:nvSpPr>
          <p:cNvPr id="21" name="Rectangle 20"/>
          <p:cNvSpPr/>
          <p:nvPr/>
        </p:nvSpPr>
        <p:spPr>
          <a:xfrm>
            <a:off x="621792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1371600"/>
            <a:ext cx="2560320" cy="109728"/>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691640"/>
            <a:ext cx="2011680" cy="640080"/>
          </a:xfrm>
          <a:prstGeom prst="rect">
            <a:avLst/>
          </a:prstGeom>
          <a:noFill/>
        </p:spPr>
        <p:txBody>
          <a:bodyPr wrap="none" lIns="0" tIns="0" rIns="0" bIns="0">
            <a:spAutoFit/>
          </a:bodyPr>
          <a:lstStyle/>
          <a:p>
            <a:pPr algn="l">
              <a:lnSpc>
                <a:spcPct val="120000"/>
              </a:lnSpc>
            </a:pPr>
            <a:r>
              <a:rPr sz="4000" b="1">
                <a:solidFill>
                  <a:srgbClr val="1A8C5D"/>
                </a:solidFill>
                <a:latin typeface="Times New Roman"/>
                <a:ea typeface="宋体"/>
              </a:rPr>
              <a:t>03</a:t>
            </a:r>
          </a:p>
        </p:txBody>
      </p:sp>
      <p:sp>
        <p:nvSpPr>
          <p:cNvPr id="24" name="TextBox 23"/>
          <p:cNvSpPr txBox="1"/>
          <p:nvPr/>
        </p:nvSpPr>
        <p:spPr>
          <a:xfrm>
            <a:off x="6492240" y="2560320"/>
            <a:ext cx="2011680" cy="457200"/>
          </a:xfrm>
          <a:prstGeom prst="rect">
            <a:avLst/>
          </a:prstGeom>
          <a:noFill/>
        </p:spPr>
        <p:txBody>
          <a:bodyPr wrap="square" lIns="0" tIns="0" rIns="0" bIns="0">
            <a:spAutoFit/>
          </a:bodyPr>
          <a:lstStyle/>
          <a:p>
            <a:pPr algn="l">
              <a:lnSpc>
                <a:spcPct val="120000"/>
              </a:lnSpc>
            </a:pPr>
            <a:r>
              <a:rPr sz="1800" b="1">
                <a:solidFill>
                  <a:srgbClr val="1B3A5C"/>
                </a:solidFill>
                <a:latin typeface="Times New Roman"/>
                <a:ea typeface="宋体"/>
              </a:rPr>
              <a:t>时间序列预测</a:t>
            </a:r>
          </a:p>
        </p:txBody>
      </p:sp>
      <p:sp>
        <p:nvSpPr>
          <p:cNvPr id="25" name="Rectangle 24"/>
          <p:cNvSpPr/>
          <p:nvPr/>
        </p:nvSpPr>
        <p:spPr>
          <a:xfrm>
            <a:off x="6492240" y="3108960"/>
            <a:ext cx="548640" cy="27432"/>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92240" y="3337560"/>
            <a:ext cx="2011680" cy="20116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移动平均法与加权平滑</a:t>
            </a:r>
          </a:p>
          <a:p>
            <a:pPr algn="l">
              <a:lnSpc>
                <a:spcPct val="120000"/>
              </a:lnSpc>
              <a:spcAft>
                <a:spcPts val="600"/>
              </a:spcAft>
            </a:pPr>
            <a:r>
              <a:rPr sz="1300" b="0">
                <a:solidFill>
                  <a:srgbClr val="1E293B"/>
                </a:solidFill>
                <a:latin typeface="Times New Roman"/>
                <a:ea typeface="宋体"/>
              </a:rPr>
              <a:t>- 指数平滑法：Ft+1 = αAt + (1-α)Ft</a:t>
            </a:r>
          </a:p>
          <a:p>
            <a:pPr algn="l">
              <a:lnSpc>
                <a:spcPct val="120000"/>
              </a:lnSpc>
              <a:spcAft>
                <a:spcPts val="600"/>
              </a:spcAft>
            </a:pPr>
            <a:r>
              <a:rPr sz="1300" b="0">
                <a:solidFill>
                  <a:srgbClr val="1E293B"/>
                </a:solidFill>
                <a:latin typeface="Times New Roman"/>
                <a:ea typeface="宋体"/>
              </a:rPr>
              <a:t>- 季节指数分解模型：Y = T·S·C·I</a:t>
            </a:r>
          </a:p>
        </p:txBody>
      </p:sp>
      <p:sp>
        <p:nvSpPr>
          <p:cNvPr id="27" name="Rectangle 26"/>
          <p:cNvSpPr/>
          <p:nvPr/>
        </p:nvSpPr>
        <p:spPr>
          <a:xfrm>
            <a:off x="9052560" y="1371600"/>
            <a:ext cx="256032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52560" y="1371600"/>
            <a:ext cx="2560320" cy="109728"/>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1691640"/>
            <a:ext cx="2011680" cy="640080"/>
          </a:xfrm>
          <a:prstGeom prst="rect">
            <a:avLst/>
          </a:prstGeom>
          <a:noFill/>
        </p:spPr>
        <p:txBody>
          <a:bodyPr wrap="none" lIns="0" tIns="0" rIns="0" bIns="0">
            <a:spAutoFit/>
          </a:bodyPr>
          <a:lstStyle/>
          <a:p>
            <a:pPr algn="l">
              <a:lnSpc>
                <a:spcPct val="120000"/>
              </a:lnSpc>
            </a:pPr>
            <a:r>
              <a:rPr sz="4000" b="1">
                <a:solidFill>
                  <a:srgbClr val="C88C1B"/>
                </a:solidFill>
                <a:latin typeface="Times New Roman"/>
                <a:ea typeface="宋体"/>
              </a:rPr>
              <a:t>04</a:t>
            </a:r>
          </a:p>
        </p:txBody>
      </p:sp>
      <p:sp>
        <p:nvSpPr>
          <p:cNvPr id="30" name="TextBox 29"/>
          <p:cNvSpPr txBox="1"/>
          <p:nvPr/>
        </p:nvSpPr>
        <p:spPr>
          <a:xfrm>
            <a:off x="9326880" y="2560320"/>
            <a:ext cx="2011680" cy="457200"/>
          </a:xfrm>
          <a:prstGeom prst="rect">
            <a:avLst/>
          </a:prstGeom>
          <a:noFill/>
        </p:spPr>
        <p:txBody>
          <a:bodyPr wrap="square" lIns="0" tIns="0" rIns="0" bIns="0">
            <a:spAutoFit/>
          </a:bodyPr>
          <a:lstStyle/>
          <a:p>
            <a:pPr algn="l">
              <a:lnSpc>
                <a:spcPct val="120000"/>
              </a:lnSpc>
            </a:pPr>
            <a:r>
              <a:rPr sz="1800" b="1">
                <a:solidFill>
                  <a:srgbClr val="1B3A5C"/>
                </a:solidFill>
                <a:latin typeface="Times New Roman"/>
                <a:ea typeface="宋体"/>
              </a:rPr>
              <a:t>预测误差控制</a:t>
            </a:r>
          </a:p>
        </p:txBody>
      </p:sp>
      <p:sp>
        <p:nvSpPr>
          <p:cNvPr id="31" name="Rectangle 30"/>
          <p:cNvSpPr/>
          <p:nvPr/>
        </p:nvSpPr>
        <p:spPr>
          <a:xfrm>
            <a:off x="9326880" y="3108960"/>
            <a:ext cx="548640" cy="2743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326880" y="3337560"/>
            <a:ext cx="2011680" cy="2011680"/>
          </a:xfrm>
          <a:prstGeom prst="rect">
            <a:avLst/>
          </a:prstGeom>
          <a:noFill/>
        </p:spPr>
        <p:txBody>
          <a:bodyPr wrap="square" lIns="0" tIns="0" rIns="0" bIns="0">
            <a:spAutoFit/>
          </a:bodyPr>
          <a:lstStyle/>
          <a:p>
            <a:pPr algn="l">
              <a:lnSpc>
                <a:spcPct val="120000"/>
              </a:lnSpc>
              <a:spcAft>
                <a:spcPts val="600"/>
              </a:spcAft>
            </a:pPr>
            <a:r>
              <a:rPr sz="1300" b="0">
                <a:solidFill>
                  <a:srgbClr val="1E293B"/>
                </a:solidFill>
                <a:latin typeface="Times New Roman"/>
                <a:ea typeface="宋体"/>
              </a:rPr>
              <a:t>- 专家判断法与德尔菲法 (Delphi)</a:t>
            </a:r>
          </a:p>
          <a:p>
            <a:pPr algn="l">
              <a:lnSpc>
                <a:spcPct val="120000"/>
              </a:lnSpc>
              <a:spcAft>
                <a:spcPts val="600"/>
              </a:spcAft>
            </a:pPr>
            <a:r>
              <a:rPr sz="1300" b="0">
                <a:solidFill>
                  <a:srgbClr val="1E293B"/>
                </a:solidFill>
                <a:latin typeface="Times New Roman"/>
                <a:ea typeface="宋体"/>
              </a:rPr>
              <a:t>- 误差度量：MAD, MSE, MAPE</a:t>
            </a:r>
          </a:p>
          <a:p>
            <a:pPr algn="l">
              <a:lnSpc>
                <a:spcPct val="120000"/>
              </a:lnSpc>
              <a:spcAft>
                <a:spcPts val="600"/>
              </a:spcAft>
            </a:pPr>
            <a:r>
              <a:rPr sz="1300" b="0">
                <a:solidFill>
                  <a:srgbClr val="1E293B"/>
                </a:solidFill>
                <a:latin typeface="Times New Roman"/>
                <a:ea typeface="宋体"/>
              </a:rPr>
              <a:t>- 计量模型与企业产能排产对接</a:t>
            </a:r>
          </a:p>
        </p:txBody>
      </p:sp>
      <p:sp>
        <p:nvSpPr>
          <p:cNvPr id="33" name="TextBox 32"/>
          <p:cNvSpPr txBox="1"/>
          <p:nvPr/>
        </p:nvSpPr>
        <p:spPr>
          <a:xfrm>
            <a:off x="548640" y="5715000"/>
            <a:ext cx="11094415" cy="457200"/>
          </a:xfrm>
          <a:prstGeom prst="rect">
            <a:avLst/>
          </a:prstGeom>
          <a:noFill/>
        </p:spPr>
        <p:txBody>
          <a:bodyPr wrap="square" lIns="0" tIns="0" rIns="0" bIns="0">
            <a:spAutoFit/>
          </a:bodyPr>
          <a:lstStyle/>
          <a:p>
            <a:pPr algn="l">
              <a:lnSpc>
                <a:spcPct val="120000"/>
              </a:lnSpc>
            </a:pPr>
            <a:r>
              <a:rPr sz="1300" b="1">
                <a:solidFill>
                  <a:srgbClr val="2E86C1"/>
                </a:solidFill>
                <a:latin typeface="Times New Roman"/>
                <a:ea typeface="宋体"/>
              </a:rPr>
              <a:t>核心逻辑：需求估计揭示变量间历史因果关系，需求预测把握未来时间序列趋势，两者是科学经营的前提。</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3657600" cy="548640"/>
          </a:xfrm>
          <a:prstGeom prst="rect">
            <a:avLst/>
          </a:prstGeom>
          <a:noFill/>
        </p:spPr>
        <p:txBody>
          <a:bodyPr wrap="none" lIns="0" tIns="0" rIns="0" bIns="0">
            <a:spAutoFit/>
          </a:bodyPr>
          <a:lstStyle/>
          <a:p>
            <a:pPr algn="l">
              <a:lnSpc>
                <a:spcPct val="120000"/>
              </a:lnSpc>
            </a:pPr>
            <a:r>
              <a:rPr sz="2400" b="1">
                <a:solidFill>
                  <a:srgbClr val="C88C1B"/>
                </a:solidFill>
                <a:latin typeface="Times New Roman"/>
                <a:ea typeface="宋体"/>
              </a:rPr>
              <a:t>第1节</a:t>
            </a:r>
          </a:p>
        </p:txBody>
      </p:sp>
      <p:sp>
        <p:nvSpPr>
          <p:cNvPr id="5" name="TextBox 4"/>
          <p:cNvSpPr txBox="1"/>
          <p:nvPr/>
        </p:nvSpPr>
        <p:spPr>
          <a:xfrm>
            <a:off x="914400" y="2651760"/>
            <a:ext cx="9144000" cy="1097280"/>
          </a:xfrm>
          <a:prstGeom prst="rect">
            <a:avLst/>
          </a:prstGeom>
          <a:noFill/>
        </p:spPr>
        <p:txBody>
          <a:bodyPr wrap="square" lIns="0" tIns="0" rIns="0" bIns="0">
            <a:spAutoFit/>
          </a:bodyPr>
          <a:lstStyle/>
          <a:p>
            <a:pPr algn="l">
              <a:lnSpc>
                <a:spcPct val="120000"/>
              </a:lnSpc>
            </a:pPr>
            <a:r>
              <a:rPr sz="3200" b="1">
                <a:solidFill>
                  <a:srgbClr val="FFFFFF"/>
                </a:solidFill>
                <a:latin typeface="Times New Roman"/>
                <a:ea typeface="宋体"/>
              </a:rPr>
              <a:t>需求估计</a:t>
            </a:r>
          </a:p>
        </p:txBody>
      </p:sp>
      <p:sp>
        <p:nvSpPr>
          <p:cNvPr id="6" name="Rectangle 5"/>
          <p:cNvSpPr/>
          <p:nvPr/>
        </p:nvSpPr>
        <p:spPr>
          <a:xfrm>
            <a:off x="96012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9144000" cy="1371600"/>
          </a:xfrm>
          <a:prstGeom prst="rect">
            <a:avLst/>
          </a:prstGeom>
          <a:noFill/>
        </p:spPr>
        <p:txBody>
          <a:bodyPr wrap="square" lIns="0" tIns="0" rIns="0" bIns="0">
            <a:spAutoFit/>
          </a:bodyPr>
          <a:lstStyle/>
          <a:p>
            <a:pPr algn="l">
              <a:lnSpc>
                <a:spcPct val="120000"/>
              </a:lnSpc>
              <a:spcAft>
                <a:spcPts val="800"/>
              </a:spcAft>
            </a:pPr>
            <a:r>
              <a:rPr sz="1400" b="0">
                <a:solidFill>
                  <a:srgbClr val="D6EAF8"/>
                </a:solidFill>
                <a:latin typeface="Times New Roman"/>
                <a:ea typeface="宋体"/>
              </a:rPr>
              <a:t>市场调查法 · 案例3-1 垃圾调查 · 统计回归分析法 · OLS 原理 · 统计检验体系</a:t>
            </a:r>
          </a:p>
          <a:p>
            <a:pPr algn="l">
              <a:lnSpc>
                <a:spcPct val="120000"/>
              </a:lnSpc>
            </a:pPr>
            <a:r>
              <a:rPr sz="1200" b="0">
                <a:solidFill>
                  <a:srgbClr val="64748B"/>
                </a:solidFill>
                <a:latin typeface="Times New Roman"/>
                <a:ea typeface="宋体"/>
              </a:rPr>
              <a:t>2026 管理经济学 · 规范化理论与商业实战决策体系</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第1节 需求估计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一、市场调查法：获取需求一手数据的两大经典路径</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4</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访问调查法 (Consumer Surveys)</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实施方式：通过问卷调查、一对一面谈、电话访谈或焦点小组 (Focus Group) 询问消费者意向；</a:t>
            </a:r>
          </a:p>
          <a:p>
            <a:pPr algn="l">
              <a:lnSpc>
                <a:spcPct val="120000"/>
              </a:lnSpc>
              <a:spcAft>
                <a:spcPts val="800"/>
              </a:spcAft>
            </a:pPr>
            <a:r>
              <a:rPr sz="1300" b="0">
                <a:solidFill>
                  <a:srgbClr val="1E293B"/>
                </a:solidFill>
                <a:latin typeface="Times New Roman"/>
                <a:ea typeface="宋体"/>
              </a:rPr>
              <a:t>- 优点：可直接了解消费者购买动机、品牌偏好及对新产品潜在功能的支付意愿；</a:t>
            </a:r>
          </a:p>
          <a:p>
            <a:pPr algn="l">
              <a:lnSpc>
                <a:spcPct val="120000"/>
              </a:lnSpc>
              <a:spcAft>
                <a:spcPts val="800"/>
              </a:spcAft>
            </a:pPr>
            <a:r>
              <a:rPr sz="1300" b="0">
                <a:solidFill>
                  <a:srgbClr val="1E293B"/>
                </a:solidFill>
                <a:latin typeface="Times New Roman"/>
                <a:ea typeface="宋体"/>
              </a:rPr>
              <a:t>- 局限性：被调查者回答可能存在主观偏差（表达意愿与真实掏钱购买存在巨大鸿沟）。</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市场实验法 (Market Experiments)</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实施方式：在不同试验市场（或电商受控分流）设定不同价格、广告投放量，观察实际购买行为；</a:t>
            </a:r>
          </a:p>
          <a:p>
            <a:pPr algn="l">
              <a:lnSpc>
                <a:spcPct val="120000"/>
              </a:lnSpc>
              <a:spcAft>
                <a:spcPts val="800"/>
              </a:spcAft>
            </a:pPr>
            <a:r>
              <a:rPr sz="1300" b="0">
                <a:solidFill>
                  <a:srgbClr val="1E293B"/>
                </a:solidFill>
                <a:latin typeface="Times New Roman"/>
                <a:ea typeface="宋体"/>
              </a:rPr>
              <a:t>- 优点：获取的是真实发生、经受钱包检验的客观购买数据；</a:t>
            </a:r>
          </a:p>
          <a:p>
            <a:pPr algn="l">
              <a:lnSpc>
                <a:spcPct val="120000"/>
              </a:lnSpc>
              <a:spcAft>
                <a:spcPts val="800"/>
              </a:spcAft>
            </a:pPr>
            <a:r>
              <a:rPr sz="1300" b="0">
                <a:solidFill>
                  <a:srgbClr val="1E293B"/>
                </a:solidFill>
                <a:latin typeface="Times New Roman"/>
                <a:ea typeface="宋体"/>
              </a:rPr>
              <a:t>- 局限性：实验成本高昂、周期较长，且容易受到竞争对手恶搞（如突击促销干扰实验数据）。</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核心要点：案例3-1（垃圾调查法）：社会学家通过翻捡居民生活垃圾，获取了比问卷更真实准确的消费习惯数据。</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第1节 需求估计</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二、统计回归分析法：需求函数模型的设定与形式</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线性回归需求模型</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模型函数形式：Q = a₀ + a₁ P + a₂ I + a₃ Py + e ；</a:t>
            </a:r>
          </a:p>
          <a:p>
            <a:pPr algn="l">
              <a:lnSpc>
                <a:spcPct val="120000"/>
              </a:lnSpc>
              <a:spcAft>
                <a:spcPts val="800"/>
              </a:spcAft>
            </a:pPr>
            <a:r>
              <a:rPr sz="1300" b="0">
                <a:solidFill>
                  <a:srgbClr val="1E293B"/>
                </a:solidFill>
                <a:latin typeface="Times New Roman"/>
                <a:ea typeface="宋体"/>
              </a:rPr>
              <a:t>- 经济学含义：假设自变量对需求量的边际影响 (dQ/dP = a₁) 是固定常数；</a:t>
            </a:r>
          </a:p>
          <a:p>
            <a:pPr algn="l">
              <a:lnSpc>
                <a:spcPct val="120000"/>
              </a:lnSpc>
              <a:spcAft>
                <a:spcPts val="800"/>
              </a:spcAft>
            </a:pPr>
            <a:r>
              <a:rPr sz="1300" b="0">
                <a:solidFill>
                  <a:srgbClr val="1E293B"/>
                </a:solidFill>
                <a:latin typeface="Times New Roman"/>
                <a:ea typeface="宋体"/>
              </a:rPr>
              <a:t>- 弹性特征：价格弹性随价格变动而变动 (Ep = a₁ · P/Q)，并非固定常数。</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双对数乘幂需求模型 (Cobb-Douglas 型)</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模型函数形式：Q = a₀ · P^{a₁} · I^{a₂} · Py^{a₃} · e ；</a:t>
            </a:r>
          </a:p>
          <a:p>
            <a:pPr algn="l">
              <a:lnSpc>
                <a:spcPct val="120000"/>
              </a:lnSpc>
              <a:spcAft>
                <a:spcPts val="800"/>
              </a:spcAft>
            </a:pPr>
            <a:r>
              <a:rPr sz="1300" b="0">
                <a:solidFill>
                  <a:srgbClr val="1E293B"/>
                </a:solidFill>
                <a:latin typeface="Times New Roman"/>
                <a:ea typeface="宋体"/>
              </a:rPr>
              <a:t>- 对数线性化转换：ln Q = ln a₀ + a₁ ln P + a₂ ln I + a₃ ln Py + u ；</a:t>
            </a:r>
          </a:p>
          <a:p>
            <a:pPr algn="l">
              <a:lnSpc>
                <a:spcPct val="120000"/>
              </a:lnSpc>
              <a:spcAft>
                <a:spcPts val="800"/>
              </a:spcAft>
            </a:pPr>
            <a:r>
              <a:rPr sz="1300" b="0">
                <a:solidFill>
                  <a:srgbClr val="1E293B"/>
                </a:solidFill>
                <a:latin typeface="Times New Roman"/>
                <a:ea typeface="宋体"/>
              </a:rPr>
              <a:t>- 极大优势：回归求得的各系数 a₁, a₂, a₃ 直接分别等于需求价格弹性、收入弹性和交叉弹性！</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核心要点：双对数乘幂模型在实证研究和企业商业弹性测算中应用最为广泛普及。</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第1节 统计回归分析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三、普通最小二乘法 (OLS) 原理与残差平方和最小化</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6</a:t>
            </a:r>
          </a:p>
        </p:txBody>
      </p:sp>
      <p:pic>
        <p:nvPicPr>
          <p:cNvPr id="9" name="Picture 8" descr="chart_3_1.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6035040" y="1325880"/>
            <a:ext cx="56235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325880"/>
            <a:ext cx="562356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OLS 回归拟合线与统计显著性检验指标解析</a:t>
            </a:r>
          </a:p>
        </p:txBody>
      </p:sp>
      <p:sp>
        <p:nvSpPr>
          <p:cNvPr id="12" name="TextBox 11"/>
          <p:cNvSpPr txBox="1"/>
          <p:nvPr/>
        </p:nvSpPr>
        <p:spPr>
          <a:xfrm>
            <a:off x="6263640" y="1920240"/>
            <a:ext cx="5166360" cy="3657600"/>
          </a:xfrm>
          <a:prstGeom prst="rect">
            <a:avLst/>
          </a:prstGeom>
          <a:noFill/>
        </p:spPr>
        <p:txBody>
          <a:bodyPr wrap="square" lIns="0" tIns="0" rIns="0" bIns="0">
            <a:spAutoFit/>
          </a:bodyPr>
          <a:lstStyle/>
          <a:p>
            <a:pPr algn="l">
              <a:lnSpc>
                <a:spcPct val="120000"/>
              </a:lnSpc>
              <a:spcAft>
                <a:spcPts val="300"/>
              </a:spcAft>
            </a:pPr>
            <a:r>
              <a:rPr sz="1150" b="0">
                <a:solidFill>
                  <a:srgbClr val="1E293B"/>
                </a:solidFill>
                <a:latin typeface="Times New Roman"/>
                <a:ea typeface="宋体"/>
              </a:rPr>
              <a:t>- 普通最小二乘法 (Ordinary Least Squares, OLS) 核心原理：选择拟合参数 (a, b)，使得所有样本观测点与回归线之间的垂直距离平方和（残差平方和 SSE = ∑ e_i²）达到全局极小值！</a:t>
            </a:r>
          </a:p>
          <a:p>
            <a:pPr algn="l">
              <a:lnSpc>
                <a:spcPct val="120000"/>
              </a:lnSpc>
              <a:spcAft>
                <a:spcPts val="300"/>
              </a:spcAft>
            </a:pPr>
            <a:r>
              <a:rPr sz="1150" b="0">
                <a:solidFill>
                  <a:srgbClr val="1E293B"/>
                </a:solidFill>
                <a:latin typeface="Times New Roman"/>
                <a:ea typeface="宋体"/>
              </a:rPr>
              <a:t>- 四重统计显著性检验标准：</a:t>
            </a:r>
          </a:p>
          <a:p>
            <a:pPr algn="l">
              <a:lnSpc>
                <a:spcPct val="120000"/>
              </a:lnSpc>
              <a:spcAft>
                <a:spcPts val="300"/>
              </a:spcAft>
            </a:pPr>
            <a:r>
              <a:rPr sz="1150" b="0">
                <a:solidFill>
                  <a:srgbClr val="1E293B"/>
                </a:solidFill>
                <a:latin typeface="Times New Roman"/>
                <a:ea typeface="宋体"/>
              </a:rPr>
              <a:t>-   ① 拟合优度判定系数 (R²)：衡量自变量对需求变动的解释比例（0 ≤ R² ≤ 1，越接近 1 说明拟合越好）；</a:t>
            </a:r>
          </a:p>
          <a:p>
            <a:pPr algn="l">
              <a:lnSpc>
                <a:spcPct val="120000"/>
              </a:lnSpc>
              <a:spcAft>
                <a:spcPts val="300"/>
              </a:spcAft>
            </a:pPr>
            <a:r>
              <a:rPr sz="1150" b="0">
                <a:solidFill>
                  <a:srgbClr val="1E293B"/>
                </a:solidFill>
                <a:latin typeface="Times New Roman"/>
                <a:ea typeface="宋体"/>
              </a:rPr>
              <a:t>-   ② t 检验 (t-statistic)：检验单个自变量系数是否显著不为零（通常 |t| &gt; 2 时，p &lt; 0.05，系数统计上高度显著）；</a:t>
            </a:r>
          </a:p>
          <a:p>
            <a:pPr algn="l">
              <a:lnSpc>
                <a:spcPct val="120000"/>
              </a:lnSpc>
              <a:spcAft>
                <a:spcPts val="300"/>
              </a:spcAft>
            </a:pPr>
            <a:r>
              <a:rPr sz="1150" b="0">
                <a:solidFill>
                  <a:srgbClr val="1E293B"/>
                </a:solidFill>
                <a:latin typeface="Times New Roman"/>
                <a:ea typeface="宋体"/>
              </a:rPr>
              <a:t>-   ③ F 检验 (F-statistic)：检验整个回归方程中所有自变量联合对因变量的总体解释能力是否显著；</a:t>
            </a:r>
          </a:p>
          <a:p>
            <a:pPr algn="l">
              <a:lnSpc>
                <a:spcPct val="120000"/>
              </a:lnSpc>
              <a:spcAft>
                <a:spcPts val="300"/>
              </a:spcAft>
            </a:pPr>
            <a:r>
              <a:rPr sz="1150" b="0">
                <a:solidFill>
                  <a:srgbClr val="1E293B"/>
                </a:solidFill>
                <a:latin typeface="Times New Roman"/>
                <a:ea typeface="宋体"/>
              </a:rPr>
              <a:t>-   ④ 标准估计误差 (SE)：衡量模型预测值的平均离散程度与精度。</a:t>
            </a:r>
          </a:p>
        </p:txBody>
      </p:sp>
      <p:sp>
        <p:nvSpPr>
          <p:cNvPr id="13" name="Rectangle 12"/>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理论精要：OLS 回归是现代企业从历史海量销售数据中提炼量化需求函数的最核心计量武器。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第1节 统计检验与陷阱</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四、回归分析中的三大常见计量陷阱与规避方法</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自相关 (Autocorrelation) 与 D-W 检验</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现象：在时间序列数据中，前期误差项与后期误差项存在系统性关联（常见于宏观周期波动）；</a:t>
            </a:r>
          </a:p>
          <a:p>
            <a:pPr algn="l">
              <a:lnSpc>
                <a:spcPct val="120000"/>
              </a:lnSpc>
              <a:spcAft>
                <a:spcPts val="800"/>
              </a:spcAft>
            </a:pPr>
            <a:r>
              <a:rPr sz="1300" b="0">
                <a:solidFill>
                  <a:srgbClr val="1E293B"/>
                </a:solidFill>
                <a:latin typeface="Times New Roman"/>
                <a:ea typeface="宋体"/>
              </a:rPr>
              <a:t>- 诊断与处理：采用 Durbin-Watson (D-W) 统计量检验；当 D-W 偏离 2 较远时需采用广义差分法修正。</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多重共线性 (Multicollinearity) 与识别</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现象：两个或多个自变量之间存在高度线性相关（如居民可支配收入与人均 GDP 同时放入模型）；</a:t>
            </a:r>
          </a:p>
          <a:p>
            <a:pPr algn="l">
              <a:lnSpc>
                <a:spcPct val="120000"/>
              </a:lnSpc>
              <a:spcAft>
                <a:spcPts val="800"/>
              </a:spcAft>
            </a:pPr>
            <a:r>
              <a:rPr sz="1300" b="0">
                <a:solidFill>
                  <a:srgbClr val="1E293B"/>
                </a:solidFill>
                <a:latin typeface="Times New Roman"/>
                <a:ea typeface="宋体"/>
              </a:rPr>
              <a:t>- 后果：导致单个系数标准差剧烈膨胀、t 检验失效、甚至系数符号与经济常识反向；</a:t>
            </a:r>
          </a:p>
          <a:p>
            <a:pPr algn="l">
              <a:lnSpc>
                <a:spcPct val="120000"/>
              </a:lnSpc>
              <a:spcAft>
                <a:spcPts val="800"/>
              </a:spcAft>
            </a:pPr>
            <a:r>
              <a:rPr sz="1300" b="0">
                <a:solidFill>
                  <a:srgbClr val="1E293B"/>
                </a:solidFill>
                <a:latin typeface="Times New Roman"/>
                <a:ea typeface="宋体"/>
              </a:rPr>
              <a:t>- 解决：剔除多余共线变量或采用逐步回归法/主成分分析法提取核心主因子。</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核心要点：遗漏关键变量（如漏掉竞争对手价格）会导致保留变量的系数估计产生严重内生性偏误。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3657600" cy="548640"/>
          </a:xfrm>
          <a:prstGeom prst="rect">
            <a:avLst/>
          </a:prstGeom>
          <a:noFill/>
        </p:spPr>
        <p:txBody>
          <a:bodyPr wrap="none" lIns="0" tIns="0" rIns="0" bIns="0">
            <a:spAutoFit/>
          </a:bodyPr>
          <a:lstStyle/>
          <a:p>
            <a:pPr algn="l">
              <a:lnSpc>
                <a:spcPct val="120000"/>
              </a:lnSpc>
            </a:pPr>
            <a:r>
              <a:rPr sz="2400" b="1">
                <a:solidFill>
                  <a:srgbClr val="C88C1B"/>
                </a:solidFill>
                <a:latin typeface="Times New Roman"/>
                <a:ea typeface="宋体"/>
              </a:rPr>
              <a:t>第2节</a:t>
            </a:r>
          </a:p>
        </p:txBody>
      </p:sp>
      <p:sp>
        <p:nvSpPr>
          <p:cNvPr id="5" name="TextBox 4"/>
          <p:cNvSpPr txBox="1"/>
          <p:nvPr/>
        </p:nvSpPr>
        <p:spPr>
          <a:xfrm>
            <a:off x="914400" y="2651760"/>
            <a:ext cx="9144000" cy="1097280"/>
          </a:xfrm>
          <a:prstGeom prst="rect">
            <a:avLst/>
          </a:prstGeom>
          <a:noFill/>
        </p:spPr>
        <p:txBody>
          <a:bodyPr wrap="square" lIns="0" tIns="0" rIns="0" bIns="0">
            <a:spAutoFit/>
          </a:bodyPr>
          <a:lstStyle/>
          <a:p>
            <a:pPr algn="l">
              <a:lnSpc>
                <a:spcPct val="120000"/>
              </a:lnSpc>
            </a:pPr>
            <a:r>
              <a:rPr sz="3200" b="1">
                <a:solidFill>
                  <a:srgbClr val="FFFFFF"/>
                </a:solidFill>
                <a:latin typeface="Times New Roman"/>
                <a:ea typeface="宋体"/>
              </a:rPr>
              <a:t>需求预测</a:t>
            </a:r>
          </a:p>
        </p:txBody>
      </p:sp>
      <p:sp>
        <p:nvSpPr>
          <p:cNvPr id="6" name="Rectangle 5"/>
          <p:cNvSpPr/>
          <p:nvPr/>
        </p:nvSpPr>
        <p:spPr>
          <a:xfrm>
            <a:off x="960120" y="3886200"/>
            <a:ext cx="2286000" cy="54864"/>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160520"/>
            <a:ext cx="9144000" cy="1371600"/>
          </a:xfrm>
          <a:prstGeom prst="rect">
            <a:avLst/>
          </a:prstGeom>
          <a:noFill/>
        </p:spPr>
        <p:txBody>
          <a:bodyPr wrap="square" lIns="0" tIns="0" rIns="0" bIns="0">
            <a:spAutoFit/>
          </a:bodyPr>
          <a:lstStyle/>
          <a:p>
            <a:pPr algn="l">
              <a:lnSpc>
                <a:spcPct val="120000"/>
              </a:lnSpc>
              <a:spcAft>
                <a:spcPts val="800"/>
              </a:spcAft>
            </a:pPr>
            <a:r>
              <a:rPr sz="1400" b="0">
                <a:solidFill>
                  <a:srgbClr val="D6EAF8"/>
                </a:solidFill>
                <a:latin typeface="Times New Roman"/>
                <a:ea typeface="宋体"/>
              </a:rPr>
              <a:t>定性预测法 · 德尔菲法 · 移动平均法 · 指数平滑法 · 季节指数分解 · 预测误差度量</a:t>
            </a:r>
          </a:p>
          <a:p>
            <a:pPr algn="l">
              <a:lnSpc>
                <a:spcPct val="120000"/>
              </a:lnSpc>
            </a:pPr>
            <a:r>
              <a:rPr sz="1200" b="0">
                <a:solidFill>
                  <a:srgbClr val="64748B"/>
                </a:solidFill>
                <a:latin typeface="Times New Roman"/>
                <a:ea typeface="宋体"/>
              </a:rPr>
              <a:t>2026 管理经济学 · 规范化理论与商业实战决策体系</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定性预测方法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一、企业定性需求预测主流方法对比矩阵</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9</a:t>
            </a:r>
          </a:p>
        </p:txBody>
      </p:sp>
      <p:graphicFrame>
        <p:nvGraphicFramePr>
          <p:cNvPr id="9" name="Table 8"/>
          <p:cNvGraphicFramePr>
            <a:graphicFrameLocks noGrp="1"/>
          </p:cNvGraphicFramePr>
          <p:nvPr/>
        </p:nvGraphicFramePr>
        <p:xfrm>
          <a:off x="457200" y="1325880"/>
          <a:ext cx="11201400" cy="4343400"/>
        </p:xfrm>
        <a:graphic>
          <a:graphicData uri="http://schemas.openxmlformats.org/drawingml/2006/table">
            <a:tbl>
              <a:tblPr firstRow="1" bandRow="1">
                <a:tableStyleId>{5C22544A-7EE6-4342-B048-85BDC9FD1C3A}</a:tableStyleId>
              </a:tblPr>
              <a:tblGrid>
                <a:gridCol w="2377440"/>
                <a:gridCol w="2205990"/>
                <a:gridCol w="2205990"/>
                <a:gridCol w="2205990"/>
                <a:gridCol w="2205990"/>
              </a:tblGrid>
              <a:tr h="868680">
                <a:tc>
                  <a:txBody>
                    <a:bodyPr wrap="square" lIns="73152" rIns="73152" tIns="36576" bIns="36576"/>
                    <a:lstStyle/>
                    <a:p>
                      <a:pPr algn="ctr">
                        <a:lnSpc>
                          <a:spcPct val="120000"/>
                        </a:lnSpc>
                      </a:pPr>
                      <a:r>
                        <a:rPr sz="1400" b="1">
                          <a:solidFill>
                            <a:srgbClr val="FFFFFF"/>
                          </a:solidFill>
                          <a:latin typeface="Times New Roman"/>
                          <a:ea typeface="宋体"/>
                        </a:rPr>
                        <a:t>预测方法名称</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核心实施流程与操作机制</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主要优点</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潜在缺点与局限</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最佳适用场景</a:t>
                      </a:r>
                    </a:p>
                  </a:txBody>
                  <a:tcPr anchor="ctr">
                    <a:solidFill>
                      <a:srgbClr val="1B3A5C"/>
                    </a:solidFill>
                  </a:tcPr>
                </a:tc>
              </a:tr>
              <a:tr h="868680">
                <a:tc>
                  <a:txBody>
                    <a:bodyPr wrap="square" lIns="73152" rIns="73152" tIns="36576" bIns="36576"/>
                    <a:lstStyle/>
                    <a:p>
                      <a:pPr algn="ctr">
                        <a:lnSpc>
                          <a:spcPct val="120000"/>
                        </a:lnSpc>
                      </a:pPr>
                      <a:r>
                        <a:rPr sz="1300" b="1">
                          <a:solidFill>
                            <a:srgbClr val="1B3A5C"/>
                          </a:solidFill>
                          <a:latin typeface="Times New Roman"/>
                          <a:ea typeface="宋体"/>
                        </a:rPr>
                        <a:t>专家意见法</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组织企业内部高管或外聘行业专家集体研讨评估</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快速便捷、充分利用专家深厚经验</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易受权威人士主观意见主导压制异见</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宏观突发事件快速预判</a:t>
                      </a:r>
                    </a:p>
                  </a:txBody>
                  <a:tcPr anchor="ctr">
                    <a:solidFill>
                      <a:srgbClr val="FFFFFF"/>
                    </a:solidFill>
                  </a:tcPr>
                </a:tc>
              </a:tr>
              <a:tr h="868680">
                <a:tc>
                  <a:txBody>
                    <a:bodyPr wrap="square" lIns="73152" rIns="73152" tIns="36576" bIns="36576"/>
                    <a:lstStyle/>
                    <a:p>
                      <a:pPr algn="ctr">
                        <a:lnSpc>
                          <a:spcPct val="120000"/>
                        </a:lnSpc>
                      </a:pPr>
                      <a:r>
                        <a:rPr sz="1300" b="1">
                          <a:solidFill>
                            <a:srgbClr val="1B3A5C"/>
                          </a:solidFill>
                          <a:latin typeface="Times New Roman"/>
                          <a:ea typeface="宋体"/>
                        </a:rPr>
                        <a:t>德尔菲法 (Delphi)</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匿名多轮问卷征询、背靠背反馈与逐步收敛共识</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消除面对面心理压力、独立客观性强</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耗时较长、组织成本高、缺乏即时互动</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重大新产品开发与长期战略规划</a:t>
                      </a:r>
                    </a:p>
                  </a:txBody>
                  <a:tcPr anchor="ctr">
                    <a:solidFill>
                      <a:srgbClr val="F2F2F2"/>
                    </a:solidFill>
                  </a:tcPr>
                </a:tc>
              </a:tr>
              <a:tr h="868680">
                <a:tc>
                  <a:txBody>
                    <a:bodyPr wrap="square" lIns="73152" rIns="73152" tIns="36576" bIns="36576"/>
                    <a:lstStyle/>
                    <a:p>
                      <a:pPr algn="ctr">
                        <a:lnSpc>
                          <a:spcPct val="120000"/>
                        </a:lnSpc>
                      </a:pPr>
                      <a:r>
                        <a:rPr sz="1300" b="1">
                          <a:solidFill>
                            <a:srgbClr val="1B3A5C"/>
                          </a:solidFill>
                          <a:latin typeface="Times New Roman"/>
                          <a:ea typeface="宋体"/>
                        </a:rPr>
                        <a:t>销售人员综合法</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汇总一线销售代表对各自区域客户采购预期的预测</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贴近市场一线、对客户动态反应敏锐</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销售人员为压低考核指标易故意低估</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短期月度/季度发货排产预测</a:t>
                      </a:r>
                    </a:p>
                  </a:txBody>
                  <a:tcPr anchor="ctr">
                    <a:solidFill>
                      <a:srgbClr val="FFFFFF"/>
                    </a:solidFill>
                  </a:tcPr>
                </a:tc>
              </a:tr>
              <a:tr h="868680">
                <a:tc>
                  <a:txBody>
                    <a:bodyPr wrap="square" lIns="73152" rIns="73152" tIns="36576" bIns="36576"/>
                    <a:lstStyle/>
                    <a:p>
                      <a:pPr algn="ctr">
                        <a:lnSpc>
                          <a:spcPct val="120000"/>
                        </a:lnSpc>
                      </a:pPr>
                      <a:r>
                        <a:rPr sz="1300" b="1">
                          <a:solidFill>
                            <a:srgbClr val="1B3A5C"/>
                          </a:solidFill>
                          <a:latin typeface="Times New Roman"/>
                          <a:ea typeface="宋体"/>
                        </a:rPr>
                        <a:t>顾客意见调查法</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通过抽样问卷直接调查目标客户未来的采购意向</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直接获取最终买家的第一手真实意愿</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客户意向与实际下单可能脱节</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工业品 B2B 大宗采购需求预测</a:t>
                      </a:r>
                    </a:p>
                  </a:txBody>
                  <a:tcPr anchor="ctr">
                    <a:solidFill>
                      <a:srgbClr val="F2F2F2"/>
                    </a:solidFill>
                  </a:tcPr>
                </a:tc>
              </a:tr>
            </a:tbl>
          </a:graphicData>
        </a:graphic>
      </p:graphicFrame>
      <p:sp>
        <p:nvSpPr>
          <p:cNvPr id="10" name="Rectangle 9"/>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决策对比精要：在缺乏历史量化数据或面临颠覆性创新时，德尔菲法是规避群体盲从的最严谨定性工具。</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时间序列预测</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二、移动平均法与加权移动平均法数学模型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简单移动平均法 (Simple Moving Average, SMA)</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数学公式：Ft+1 = (At + At-1 + ... + At-N+1) / N ；</a:t>
            </a:r>
          </a:p>
          <a:p>
            <a:pPr algn="l">
              <a:lnSpc>
                <a:spcPct val="120000"/>
              </a:lnSpc>
              <a:spcAft>
                <a:spcPts val="800"/>
              </a:spcAft>
            </a:pPr>
            <a:r>
              <a:rPr sz="1300" b="0">
                <a:solidFill>
                  <a:srgbClr val="1E293B"/>
                </a:solidFill>
                <a:latin typeface="Times New Roman"/>
                <a:ea typeface="宋体"/>
              </a:rPr>
              <a:t>- 经济意义：取过去最近 N 期的实际销售平均值作为下一期预测值；</a:t>
            </a:r>
          </a:p>
          <a:p>
            <a:pPr algn="l">
              <a:lnSpc>
                <a:spcPct val="120000"/>
              </a:lnSpc>
              <a:spcAft>
                <a:spcPts val="800"/>
              </a:spcAft>
            </a:pPr>
            <a:r>
              <a:rPr sz="1300" b="0">
                <a:solidFill>
                  <a:srgbClr val="1E293B"/>
                </a:solidFill>
                <a:latin typeface="Times New Roman"/>
                <a:ea typeface="宋体"/>
              </a:rPr>
              <a:t>- 平滑特性：N 越大，对随机波动的平滑滤波效果越好，但对市场趋势突变的响应越滞后。</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加权移动平均法 (Weighted Moving Average, WMA)</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数学公式：Ft+1 = w₁ At + w₂ At-1 + ... + wₙ At-N+1 ，其中 ∑ w_i = 1 ；</a:t>
            </a:r>
          </a:p>
          <a:p>
            <a:pPr algn="l">
              <a:lnSpc>
                <a:spcPct val="120000"/>
              </a:lnSpc>
              <a:spcAft>
                <a:spcPts val="800"/>
              </a:spcAft>
            </a:pPr>
            <a:r>
              <a:rPr sz="1300" b="0">
                <a:solidFill>
                  <a:srgbClr val="1E293B"/>
                </a:solidFill>
                <a:latin typeface="Times New Roman"/>
                <a:ea typeface="宋体"/>
              </a:rPr>
              <a:t>- 核心优势：赋予近期数据更高的权重系数（如 w₁ = 0.5, w₂ = 0.3, w₃ = 0.2），能够显著加快模型对近期突发趋势的跟进速度。</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核心要点：移动平均法适用于需求平稳、无显著长期线性趋势与强烈季节性波动的成熟产品。</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时间序列预测</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三、指数平滑法与季节指数乘法分解模型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11</a:t>
            </a:r>
          </a:p>
        </p:txBody>
      </p:sp>
      <p:pic>
        <p:nvPicPr>
          <p:cNvPr id="9" name="Picture 8" descr="chart_3_2.png"/>
          <p:cNvPicPr>
            <a:picLocks noChangeAspect="1"/>
          </p:cNvPicPr>
          <p:nvPr/>
        </p:nvPicPr>
        <p:blipFill>
          <a:blip r:embed="rId2"/>
          <a:stretch>
            <a:fillRect/>
          </a:stretch>
        </p:blipFill>
        <p:spPr>
          <a:xfrm>
            <a:off x="457200" y="1325880"/>
            <a:ext cx="5303520" cy="3977640"/>
          </a:xfrm>
          <a:prstGeom prst="rect">
            <a:avLst/>
          </a:prstGeom>
        </p:spPr>
      </p:pic>
      <p:sp>
        <p:nvSpPr>
          <p:cNvPr id="10" name="Rectangle 9"/>
          <p:cNvSpPr/>
          <p:nvPr/>
        </p:nvSpPr>
        <p:spPr>
          <a:xfrm>
            <a:off x="6035040" y="1325880"/>
            <a:ext cx="562356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035040" y="1325880"/>
            <a:ext cx="562356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指数平滑递归公式与季节乘法分解模型解析</a:t>
            </a:r>
          </a:p>
        </p:txBody>
      </p:sp>
      <p:sp>
        <p:nvSpPr>
          <p:cNvPr id="12" name="TextBox 11"/>
          <p:cNvSpPr txBox="1"/>
          <p:nvPr/>
        </p:nvSpPr>
        <p:spPr>
          <a:xfrm>
            <a:off x="6263640" y="1920240"/>
            <a:ext cx="5166360" cy="3657600"/>
          </a:xfrm>
          <a:prstGeom prst="rect">
            <a:avLst/>
          </a:prstGeom>
          <a:noFill/>
        </p:spPr>
        <p:txBody>
          <a:bodyPr wrap="square" lIns="0" tIns="0" rIns="0" bIns="0">
            <a:spAutoFit/>
          </a:bodyPr>
          <a:lstStyle/>
          <a:p>
            <a:pPr algn="l">
              <a:lnSpc>
                <a:spcPct val="120000"/>
              </a:lnSpc>
              <a:spcAft>
                <a:spcPts val="300"/>
              </a:spcAft>
            </a:pPr>
            <a:r>
              <a:rPr sz="1150" b="0">
                <a:solidFill>
                  <a:srgbClr val="1E293B"/>
                </a:solidFill>
                <a:latin typeface="Times New Roman"/>
                <a:ea typeface="宋体"/>
              </a:rPr>
              <a:t>- 单参数指数平滑法递归公式：Ft+1 = α · At + (1 - α) · Ft = Ft + α (At - Ft)。</a:t>
            </a:r>
          </a:p>
          <a:p>
            <a:pPr algn="l">
              <a:lnSpc>
                <a:spcPct val="120000"/>
              </a:lnSpc>
              <a:spcAft>
                <a:spcPts val="300"/>
              </a:spcAft>
            </a:pPr>
            <a:r>
              <a:rPr sz="1150" b="0">
                <a:solidFill>
                  <a:srgbClr val="1E293B"/>
                </a:solidFill>
                <a:latin typeface="Times New Roman"/>
                <a:ea typeface="宋体"/>
              </a:rPr>
              <a:t>-   • 参数 α (平滑系数，0 &lt; α &lt; 1)：衡量对上一期实际偏差 (At - Ft) 的修正幅度；</a:t>
            </a:r>
          </a:p>
          <a:p>
            <a:pPr algn="l">
              <a:lnSpc>
                <a:spcPct val="120000"/>
              </a:lnSpc>
              <a:spcAft>
                <a:spcPts val="300"/>
              </a:spcAft>
            </a:pPr>
            <a:r>
              <a:rPr sz="1150" b="0">
                <a:solidFill>
                  <a:srgbClr val="1E293B"/>
                </a:solidFill>
                <a:latin typeface="Times New Roman"/>
                <a:ea typeface="宋体"/>
              </a:rPr>
              <a:t>-   • 当需求波动平缓时取较小的 α (0.1-0.3) 以过滤噪音；当需求变动剧烈时取较大的 α (0.7-0.9) 快速跟进。</a:t>
            </a:r>
          </a:p>
          <a:p>
            <a:pPr algn="l">
              <a:lnSpc>
                <a:spcPct val="120000"/>
              </a:lnSpc>
              <a:spcAft>
                <a:spcPts val="300"/>
              </a:spcAft>
            </a:pPr>
            <a:r>
              <a:rPr sz="1150" b="0">
                <a:solidFill>
                  <a:srgbClr val="1E293B"/>
                </a:solidFill>
                <a:latin typeface="Times New Roman"/>
                <a:ea typeface="宋体"/>
              </a:rPr>
              <a:t>- 时间序列经典四成分乘法分解模型：Y_t = T_t · S_t · C_t · I_t</a:t>
            </a:r>
          </a:p>
          <a:p>
            <a:pPr algn="l">
              <a:lnSpc>
                <a:spcPct val="120000"/>
              </a:lnSpc>
              <a:spcAft>
                <a:spcPts val="300"/>
              </a:spcAft>
            </a:pPr>
            <a:r>
              <a:rPr sz="1150" b="0">
                <a:solidFill>
                  <a:srgbClr val="1E293B"/>
                </a:solidFill>
                <a:latin typeface="Times New Roman"/>
                <a:ea typeface="宋体"/>
              </a:rPr>
              <a:t>-   • T_t (长期趋势项 Trend)：反映人口、技术驱动的长期持续增长或下降趋势；</a:t>
            </a:r>
          </a:p>
          <a:p>
            <a:pPr algn="l">
              <a:lnSpc>
                <a:spcPct val="120000"/>
              </a:lnSpc>
              <a:spcAft>
                <a:spcPts val="300"/>
              </a:spcAft>
            </a:pPr>
            <a:r>
              <a:rPr sz="1150" b="0">
                <a:solidFill>
                  <a:srgbClr val="1E293B"/>
                </a:solidFill>
                <a:latin typeface="Times New Roman"/>
                <a:ea typeface="宋体"/>
              </a:rPr>
              <a:t>-   • S_t (季节变动项 Seasonal)：反映一年内受气候、节假日引起的周期性规律波动（季节指数 &gt;1 为旺季，&lt;1 为淡季）；</a:t>
            </a:r>
          </a:p>
          <a:p>
            <a:pPr algn="l">
              <a:lnSpc>
                <a:spcPct val="120000"/>
              </a:lnSpc>
              <a:spcAft>
                <a:spcPts val="300"/>
              </a:spcAft>
            </a:pPr>
            <a:r>
              <a:rPr sz="1150" b="0">
                <a:solidFill>
                  <a:srgbClr val="1E293B"/>
                </a:solidFill>
                <a:latin typeface="Times New Roman"/>
                <a:ea typeface="宋体"/>
              </a:rPr>
              <a:t>-   • C_t (循环波动项 Cyclical)：反映宏观经济商业周期（繁荣、衰退、萧条、复苏）；</a:t>
            </a:r>
          </a:p>
          <a:p>
            <a:pPr algn="l">
              <a:lnSpc>
                <a:spcPct val="120000"/>
              </a:lnSpc>
              <a:spcAft>
                <a:spcPts val="300"/>
              </a:spcAft>
            </a:pPr>
            <a:r>
              <a:rPr sz="1150" b="0">
                <a:solidFill>
                  <a:srgbClr val="1E293B"/>
                </a:solidFill>
                <a:latin typeface="Times New Roman"/>
                <a:ea typeface="宋体"/>
              </a:rPr>
              <a:t>-   • I_t (不规则随机干扰项 Irregular)：不可预测的随机偶然突发事件。</a:t>
            </a:r>
          </a:p>
        </p:txBody>
      </p:sp>
      <p:sp>
        <p:nvSpPr>
          <p:cNvPr id="13" name="Rectangle 12"/>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理论精要：季节指数乘法模型是零售、服装、旅游等强季节性行业进行精准排产备货的利器。</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预测误差度量</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四、需求预测精度的三大经典统计度量指标</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12</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三大误差指标公式与物理意义</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① 平均绝对偏差 (Mean Absolute Deviation, MAD)：</a:t>
            </a:r>
          </a:p>
          <a:p>
            <a:pPr algn="l">
              <a:lnSpc>
                <a:spcPct val="120000"/>
              </a:lnSpc>
              <a:spcAft>
                <a:spcPts val="800"/>
              </a:spcAft>
            </a:pPr>
            <a:r>
              <a:rPr sz="1300" b="0">
                <a:solidFill>
                  <a:srgbClr val="1E293B"/>
                </a:solidFill>
                <a:latin typeface="Times New Roman"/>
                <a:ea typeface="宋体"/>
              </a:rPr>
              <a:t>-    MAD = (1/n) ∑ |At - Ft| （直观反映预测值偏离实际值的绝对物理单位平均大小）；</a:t>
            </a:r>
          </a:p>
          <a:p>
            <a:pPr algn="l">
              <a:lnSpc>
                <a:spcPct val="120000"/>
              </a:lnSpc>
              <a:spcAft>
                <a:spcPts val="800"/>
              </a:spcAft>
            </a:pPr>
            <a:r>
              <a:rPr sz="1300" b="0">
                <a:solidFill>
                  <a:srgbClr val="1E293B"/>
                </a:solidFill>
                <a:latin typeface="Times New Roman"/>
                <a:ea typeface="宋体"/>
              </a:rPr>
              <a:t>- ② 均方误差 (Mean Squared Error, MSE)：</a:t>
            </a:r>
          </a:p>
          <a:p>
            <a:pPr algn="l">
              <a:lnSpc>
                <a:spcPct val="120000"/>
              </a:lnSpc>
              <a:spcAft>
                <a:spcPts val="800"/>
              </a:spcAft>
            </a:pPr>
            <a:r>
              <a:rPr sz="1300" b="0">
                <a:solidFill>
                  <a:srgbClr val="1E293B"/>
                </a:solidFill>
                <a:latin typeface="Times New Roman"/>
                <a:ea typeface="宋体"/>
              </a:rPr>
              <a:t>-    MSE = (1/n) ∑ (At - Ft)² （对大误差施加平方重罚，惩罚极端预测失误）；</a:t>
            </a:r>
          </a:p>
          <a:p>
            <a:pPr algn="l">
              <a:lnSpc>
                <a:spcPct val="120000"/>
              </a:lnSpc>
              <a:spcAft>
                <a:spcPts val="800"/>
              </a:spcAft>
            </a:pPr>
            <a:r>
              <a:rPr sz="1300" b="0">
                <a:solidFill>
                  <a:srgbClr val="1E293B"/>
                </a:solidFill>
                <a:latin typeface="Times New Roman"/>
                <a:ea typeface="宋体"/>
              </a:rPr>
              <a:t>- ③ 平均绝对百分比误差 (Mean Absolute Percentage Error, MAPE)：</a:t>
            </a:r>
          </a:p>
          <a:p>
            <a:pPr algn="l">
              <a:lnSpc>
                <a:spcPct val="120000"/>
              </a:lnSpc>
              <a:spcAft>
                <a:spcPts val="800"/>
              </a:spcAft>
            </a:pPr>
            <a:r>
              <a:rPr sz="1300" b="0">
                <a:solidFill>
                  <a:srgbClr val="1E293B"/>
                </a:solidFill>
                <a:latin typeface="Times New Roman"/>
                <a:ea typeface="宋体"/>
              </a:rPr>
              <a:t>-    MAPE = (1/n) ∑ [ |At - Ft| / At ] · 100% （消除量纲影响，便于不同产品线横向对比）。</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预测模型的动态监控与跟踪信号 (Tracking Signal)</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跟踪信号 TS = 累计预测误差 / MAD = ∑ (At - Ft) / MAD ；</a:t>
            </a:r>
          </a:p>
          <a:p>
            <a:pPr algn="l">
              <a:lnSpc>
                <a:spcPct val="120000"/>
              </a:lnSpc>
              <a:spcAft>
                <a:spcPts val="800"/>
              </a:spcAft>
            </a:pPr>
            <a:r>
              <a:rPr sz="1300" b="0">
                <a:solidFill>
                  <a:srgbClr val="1E293B"/>
                </a:solidFill>
                <a:latin typeface="Times New Roman"/>
                <a:ea typeface="宋体"/>
              </a:rPr>
              <a:t>- 控制界限：当 TS 超出 [-4, +4] 范围时，表明预测系统存在系统性高估或低估，必须立即重构模型参数！</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核心要点：建立预测误差闭环监控机制，是企业供应链柔性快反与降低库存积压的核心保障。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课本例题解析</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五、课本【例3-1/3-2】回归分析与预测计算全流程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13</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【例题场景】某地区啤酒消费量需求估计</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收集某城市过去 20 年的人均啤酒消费量 Q（升）、真实啤酒价格 P（元）及人均可支配收入 I（千元）；</a:t>
            </a:r>
          </a:p>
          <a:p>
            <a:pPr algn="l">
              <a:lnSpc>
                <a:spcPct val="120000"/>
              </a:lnSpc>
              <a:spcAft>
                <a:spcPts val="800"/>
              </a:spcAft>
            </a:pPr>
            <a:r>
              <a:rPr sz="1300" b="0">
                <a:solidFill>
                  <a:srgbClr val="1E293B"/>
                </a:solidFill>
                <a:latin typeface="Times New Roman"/>
                <a:ea typeface="宋体"/>
              </a:rPr>
              <a:t>- 采用双对数模型拟合得到回归结果：</a:t>
            </a:r>
          </a:p>
          <a:p>
            <a:pPr algn="l">
              <a:lnSpc>
                <a:spcPct val="120000"/>
              </a:lnSpc>
              <a:spcAft>
                <a:spcPts val="800"/>
              </a:spcAft>
            </a:pPr>
            <a:r>
              <a:rPr sz="1300" b="0">
                <a:solidFill>
                  <a:srgbClr val="1E293B"/>
                </a:solidFill>
                <a:latin typeface="Times New Roman"/>
                <a:ea typeface="宋体"/>
              </a:rPr>
              <a:t>-   ln Q = 2.50 - 1.25 ln P + 0.85 ln I</a:t>
            </a:r>
          </a:p>
          <a:p>
            <a:pPr algn="l">
              <a:lnSpc>
                <a:spcPct val="120000"/>
              </a:lnSpc>
              <a:spcAft>
                <a:spcPts val="800"/>
              </a:spcAft>
            </a:pPr>
            <a:r>
              <a:rPr sz="1300" b="0">
                <a:solidFill>
                  <a:srgbClr val="1E293B"/>
                </a:solidFill>
                <a:latin typeface="Times New Roman"/>
                <a:ea typeface="宋体"/>
              </a:rPr>
              <a:t>-   t 统计量：常数项 (4.2), ln P (-3.8), ln I (+5.1)；R² = 0.88, F = 62.4</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【计量结果经济学解读与下期预测】</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① 统计检验：R²=0.88 说明 88% 消费变动被解释；t 统计量绝对值均 &gt;2，各变量高度显著；</a:t>
            </a:r>
          </a:p>
          <a:p>
            <a:pPr algn="l">
              <a:lnSpc>
                <a:spcPct val="120000"/>
              </a:lnSpc>
              <a:spcAft>
                <a:spcPts val="800"/>
              </a:spcAft>
            </a:pPr>
            <a:r>
              <a:rPr sz="1300" b="0">
                <a:solidFill>
                  <a:srgbClr val="1E293B"/>
                </a:solidFill>
                <a:latin typeface="Times New Roman"/>
                <a:ea typeface="宋体"/>
              </a:rPr>
              <a:t>- ② 弹性经济含义：啤酒需求价格弹性 Ep = -1.25（富有弹性），收入弹性 Ei = +0.85（正常必需品）；</a:t>
            </a:r>
          </a:p>
          <a:p>
            <a:pPr algn="l">
              <a:lnSpc>
                <a:spcPct val="120000"/>
              </a:lnSpc>
              <a:spcAft>
                <a:spcPts val="800"/>
              </a:spcAft>
            </a:pPr>
            <a:r>
              <a:rPr sz="1300" b="0">
                <a:solidFill>
                  <a:srgbClr val="1E293B"/>
                </a:solidFill>
                <a:latin typeface="Times New Roman"/>
                <a:ea typeface="宋体"/>
              </a:rPr>
              <a:t>- ③ 预测应用：若来年价格由 10 元降至 9 元 (降 10%)，人均收入增长 6%，则预期人均啤酒消费量变动：</a:t>
            </a:r>
          </a:p>
          <a:p>
            <a:pPr algn="l">
              <a:lnSpc>
                <a:spcPct val="120000"/>
              </a:lnSpc>
              <a:spcAft>
                <a:spcPts val="800"/>
              </a:spcAft>
            </a:pPr>
            <a:r>
              <a:rPr sz="1300" b="0">
                <a:solidFill>
                  <a:srgbClr val="1E293B"/>
                </a:solidFill>
                <a:latin typeface="Times New Roman"/>
                <a:ea typeface="宋体"/>
              </a:rPr>
              <a:t>-    ΔQ/Q = (-1.25)(-10%) + (0.85)(+6%) = +12.5% + 5.1% = +17.6% ！</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核心要点：双对数模型将弹性测算与销售预测无缝融合，展现了管理经济学的数理之美。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案例专栏</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案例3-1：社会学「垃圾考古调查法」对需求真实估计的启示</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14</a:t>
            </a:r>
          </a:p>
        </p:txBody>
      </p:sp>
      <p:sp>
        <p:nvSpPr>
          <p:cNvPr id="9" name="Rectangle 8"/>
          <p:cNvSpPr/>
          <p:nvPr/>
        </p:nvSpPr>
        <p:spPr>
          <a:xfrm>
            <a:off x="457200" y="1325880"/>
            <a:ext cx="5440680" cy="4892040"/>
          </a:xfrm>
          <a:prstGeom prst="rect">
            <a:avLst/>
          </a:prstGeom>
          <a:solidFill>
            <a:srgbClr val="FFFFFF"/>
          </a:solidFill>
          <a:ln w="12700">
            <a:solidFill>
              <a:srgbClr val="DB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508760"/>
            <a:ext cx="4892040" cy="411480"/>
          </a:xfrm>
          <a:prstGeom prst="rect">
            <a:avLst/>
          </a:prstGeom>
          <a:noFill/>
        </p:spPr>
        <p:txBody>
          <a:bodyPr wrap="none" lIns="0" tIns="0" rIns="0" bIns="0">
            <a:spAutoFit/>
          </a:bodyPr>
          <a:lstStyle/>
          <a:p>
            <a:pPr algn="l">
              <a:lnSpc>
                <a:spcPct val="120000"/>
              </a:lnSpc>
            </a:pPr>
            <a:r>
              <a:rPr sz="1800" b="1">
                <a:solidFill>
                  <a:srgbClr val="1B3A5C"/>
                </a:solidFill>
                <a:latin typeface="Times New Roman"/>
                <a:ea typeface="宋体"/>
              </a:rPr>
              <a:t>商业实战背景与战略过程</a:t>
            </a:r>
          </a:p>
        </p:txBody>
      </p:sp>
      <p:sp>
        <p:nvSpPr>
          <p:cNvPr id="11" name="TextBox 10"/>
          <p:cNvSpPr txBox="1"/>
          <p:nvPr/>
        </p:nvSpPr>
        <p:spPr>
          <a:xfrm>
            <a:off x="731520" y="2011680"/>
            <a:ext cx="4892040" cy="4023360"/>
          </a:xfrm>
          <a:prstGeom prst="rect">
            <a:avLst/>
          </a:prstGeom>
          <a:noFill/>
        </p:spPr>
        <p:txBody>
          <a:bodyPr wrap="square" lIns="0" tIns="0" rIns="0" bIns="0">
            <a:spAutoFit/>
          </a:bodyPr>
          <a:lstStyle/>
          <a:p/>
          <a:p>
            <a:pPr algn="l">
              <a:lnSpc>
                <a:spcPct val="120000"/>
              </a:lnSpc>
              <a:spcAft>
                <a:spcPts val="300"/>
              </a:spcAft>
            </a:pPr>
            <a:r>
              <a:rPr sz="1400" b="1">
                <a:solidFill>
                  <a:srgbClr val="2E86C1"/>
                </a:solidFill>
                <a:latin typeface="Times New Roman"/>
                <a:ea typeface="宋体"/>
              </a:rPr>
              <a:t>【第一阶段：传统问卷调查的虚伪偏差】 受访者隐瞒不良消费</a:t>
            </a:r>
          </a:p>
          <a:p>
            <a:pPr algn="l">
              <a:lnSpc>
                <a:spcPct val="120000"/>
              </a:lnSpc>
              <a:spcAft>
                <a:spcPts val="500"/>
              </a:spcAft>
            </a:pPr>
            <a:r>
              <a:rPr sz="1300" b="0">
                <a:solidFill>
                  <a:srgbClr val="1E293B"/>
                </a:solidFill>
                <a:latin typeface="Times New Roman"/>
                <a:ea typeface="宋体"/>
              </a:rPr>
              <a:t>- 研究人员对某社区居民进行饮食健康与酒精消费问卷调查</a:t>
            </a:r>
          </a:p>
          <a:p>
            <a:pPr algn="l">
              <a:lnSpc>
                <a:spcPct val="120000"/>
              </a:lnSpc>
              <a:spcAft>
                <a:spcPts val="500"/>
              </a:spcAft>
            </a:pPr>
            <a:r>
              <a:rPr sz="1300" b="0">
                <a:solidFill>
                  <a:srgbClr val="1E293B"/>
                </a:solidFill>
                <a:latin typeface="Times New Roman"/>
                <a:ea typeface="宋体"/>
              </a:rPr>
              <a:t>- 居民普遍声称自己严格节食、极少饮用烈性酒和碳酸饮料</a:t>
            </a:r>
          </a:p>
          <a:p>
            <a:pPr algn="l">
              <a:lnSpc>
                <a:spcPct val="120000"/>
              </a:lnSpc>
              <a:spcAft>
                <a:spcPts val="500"/>
              </a:spcAft>
            </a:pPr>
            <a:r>
              <a:rPr sz="1300" b="0">
                <a:solidFill>
                  <a:srgbClr val="1E293B"/>
                </a:solidFill>
                <a:latin typeface="Times New Roman"/>
                <a:ea typeface="宋体"/>
              </a:rPr>
              <a:t>- 问卷数据呈现出高度自律、健康的虚假消费画像</a:t>
            </a:r>
          </a:p>
          <a:p>
            <a:pPr algn="l">
              <a:lnSpc>
                <a:spcPct val="120000"/>
              </a:lnSpc>
              <a:spcAft>
                <a:spcPts val="300"/>
              </a:spcAft>
            </a:pPr>
            <a:r>
              <a:rPr sz="1400" b="1">
                <a:solidFill>
                  <a:srgbClr val="2E86C1"/>
                </a:solidFill>
                <a:latin typeface="Times New Roman"/>
                <a:ea typeface="宋体"/>
              </a:rPr>
              <a:t>【第二阶段：垃圾桶翻检还原真实消费】 客观物理残留说话</a:t>
            </a:r>
          </a:p>
          <a:p>
            <a:pPr algn="l">
              <a:lnSpc>
                <a:spcPct val="120000"/>
              </a:lnSpc>
              <a:spcAft>
                <a:spcPts val="500"/>
              </a:spcAft>
            </a:pPr>
            <a:r>
              <a:rPr sz="1300" b="0">
                <a:solidFill>
                  <a:srgbClr val="1E293B"/>
                </a:solidFill>
                <a:latin typeface="Times New Roman"/>
                <a:ea typeface="宋体"/>
              </a:rPr>
              <a:t>- 亚利桑那大学威廉·拉杰教授团队系统翻检该社区的生活垃圾桶</a:t>
            </a:r>
          </a:p>
          <a:p>
            <a:pPr algn="l">
              <a:lnSpc>
                <a:spcPct val="120000"/>
              </a:lnSpc>
              <a:spcAft>
                <a:spcPts val="500"/>
              </a:spcAft>
            </a:pPr>
            <a:r>
              <a:rPr sz="1300" b="0">
                <a:solidFill>
                  <a:srgbClr val="1E293B"/>
                </a:solidFill>
                <a:latin typeface="Times New Roman"/>
                <a:ea typeface="宋体"/>
              </a:rPr>
              <a:t>- 清点出大量的空啤酒罐、高糖零食包装与快餐包装盒</a:t>
            </a:r>
          </a:p>
          <a:p>
            <a:pPr algn="l">
              <a:lnSpc>
                <a:spcPct val="120000"/>
              </a:lnSpc>
              <a:spcAft>
                <a:spcPts val="500"/>
              </a:spcAft>
            </a:pPr>
            <a:r>
              <a:rPr sz="1300" b="0">
                <a:solidFill>
                  <a:srgbClr val="1E293B"/>
                </a:solidFill>
                <a:latin typeface="Times New Roman"/>
                <a:ea typeface="宋体"/>
              </a:rPr>
              <a:t>- 实际烈酒与垃圾食品消费量比问卷调查高出自述数据的数倍以上</a:t>
            </a:r>
          </a:p>
          <a:p>
            <a:pPr algn="l">
              <a:lnSpc>
                <a:spcPct val="120000"/>
              </a:lnSpc>
              <a:spcAft>
                <a:spcPts val="300"/>
              </a:spcAft>
            </a:pPr>
            <a:r>
              <a:rPr sz="1400" b="1">
                <a:solidFill>
                  <a:srgbClr val="2E86C1"/>
                </a:solidFill>
                <a:latin typeface="Times New Roman"/>
                <a:ea typeface="宋体"/>
              </a:rPr>
              <a:t>【第三阶段：管理经济学数据获取启示】 从意向调查转向行为追踪</a:t>
            </a:r>
          </a:p>
          <a:p>
            <a:pPr algn="l">
              <a:lnSpc>
                <a:spcPct val="120000"/>
              </a:lnSpc>
              <a:spcAft>
                <a:spcPts val="500"/>
              </a:spcAft>
            </a:pPr>
            <a:r>
              <a:rPr sz="1300" b="0">
                <a:solidFill>
                  <a:srgbClr val="1E293B"/>
                </a:solidFill>
                <a:latin typeface="Times New Roman"/>
                <a:ea typeface="宋体"/>
              </a:rPr>
              <a:t>- 深刻揭示了口头意向调查 (Stated Preference) 的系统性失真</a:t>
            </a:r>
          </a:p>
          <a:p>
            <a:pPr algn="l">
              <a:lnSpc>
                <a:spcPct val="120000"/>
              </a:lnSpc>
              <a:spcAft>
                <a:spcPts val="500"/>
              </a:spcAft>
            </a:pPr>
            <a:r>
              <a:rPr sz="1300" b="0">
                <a:solidFill>
                  <a:srgbClr val="1E293B"/>
                </a:solidFill>
                <a:latin typeface="Times New Roman"/>
                <a:ea typeface="宋体"/>
              </a:rPr>
              <a:t>- 促使现代企业转向利用大数据实际消费流水、点击流和收银 POS 数据</a:t>
            </a:r>
          </a:p>
          <a:p>
            <a:pPr algn="l">
              <a:lnSpc>
                <a:spcPct val="120000"/>
              </a:lnSpc>
              <a:spcAft>
                <a:spcPts val="500"/>
              </a:spcAft>
            </a:pPr>
            <a:r>
              <a:rPr sz="1300" b="0">
                <a:solidFill>
                  <a:srgbClr val="1E293B"/>
                </a:solidFill>
                <a:latin typeface="Times New Roman"/>
                <a:ea typeface="宋体"/>
              </a:rPr>
              <a:t>- 成为营销学与需求估计中倡导「观察真实行为而非听取言语」的经典里程碑</a:t>
            </a:r>
          </a:p>
        </p:txBody>
      </p:sp>
      <p:sp>
        <p:nvSpPr>
          <p:cNvPr id="12" name="Rectangle 11"/>
          <p:cNvSpPr/>
          <p:nvPr/>
        </p:nvSpPr>
        <p:spPr>
          <a:xfrm>
            <a:off x="6217920" y="1325880"/>
            <a:ext cx="5440680" cy="4892040"/>
          </a:xfrm>
          <a:prstGeom prst="rect">
            <a:avLst/>
          </a:prstGeom>
          <a:solidFill>
            <a:srgbClr val="FFFFFF"/>
          </a:solidFill>
          <a:ln w="12700">
            <a:solidFill>
              <a:srgbClr val="DBE2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508760"/>
            <a:ext cx="4892040" cy="411480"/>
          </a:xfrm>
          <a:prstGeom prst="rect">
            <a:avLst/>
          </a:prstGeom>
          <a:noFill/>
        </p:spPr>
        <p:txBody>
          <a:bodyPr wrap="none" lIns="0" tIns="0" rIns="0" bIns="0">
            <a:spAutoFit/>
          </a:bodyPr>
          <a:lstStyle/>
          <a:p>
            <a:pPr algn="l">
              <a:lnSpc>
                <a:spcPct val="120000"/>
              </a:lnSpc>
            </a:pPr>
            <a:r>
              <a:rPr sz="1800" b="1">
                <a:solidFill>
                  <a:srgbClr val="1B3A5C"/>
                </a:solidFill>
                <a:latin typeface="Times New Roman"/>
                <a:ea typeface="宋体"/>
              </a:rPr>
              <a:t>战略成效与管理启示</a:t>
            </a:r>
          </a:p>
        </p:txBody>
      </p:sp>
      <p:sp>
        <p:nvSpPr>
          <p:cNvPr id="14" name="Rectangle 13"/>
          <p:cNvSpPr/>
          <p:nvPr/>
        </p:nvSpPr>
        <p:spPr>
          <a:xfrm>
            <a:off x="6492240" y="2011680"/>
            <a:ext cx="1005840" cy="457200"/>
          </a:xfrm>
          <a:prstGeom prst="rect">
            <a:avLst/>
          </a:prstGeom>
          <a:solidFill>
            <a:srgbClr val="C84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300" b="1">
                <a:solidFill>
                  <a:srgbClr val="FFFFFF"/>
                </a:solidFill>
                <a:latin typeface="Times New Roman"/>
                <a:ea typeface="宋体"/>
              </a:rPr>
              <a:t>第一阶段：传</a:t>
            </a:r>
          </a:p>
        </p:txBody>
      </p:sp>
      <p:sp>
        <p:nvSpPr>
          <p:cNvPr id="15" name="TextBox 14"/>
          <p:cNvSpPr txBox="1"/>
          <p:nvPr/>
        </p:nvSpPr>
        <p:spPr>
          <a:xfrm>
            <a:off x="7635240" y="2011680"/>
            <a:ext cx="3749039"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研究人员对某社区居民进行饮食健康与酒精消费问卷调查</a:t>
            </a:r>
          </a:p>
        </p:txBody>
      </p:sp>
      <p:sp>
        <p:nvSpPr>
          <p:cNvPr id="16" name="Rectangle 15"/>
          <p:cNvSpPr/>
          <p:nvPr/>
        </p:nvSpPr>
        <p:spPr>
          <a:xfrm>
            <a:off x="6492240" y="2788920"/>
            <a:ext cx="1005840" cy="45720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300" b="1">
                <a:solidFill>
                  <a:srgbClr val="FFFFFF"/>
                </a:solidFill>
                <a:latin typeface="Times New Roman"/>
                <a:ea typeface="宋体"/>
              </a:rPr>
              <a:t>第二阶段：垃</a:t>
            </a:r>
          </a:p>
        </p:txBody>
      </p:sp>
      <p:sp>
        <p:nvSpPr>
          <p:cNvPr id="17" name="TextBox 16"/>
          <p:cNvSpPr txBox="1"/>
          <p:nvPr/>
        </p:nvSpPr>
        <p:spPr>
          <a:xfrm>
            <a:off x="7635240" y="2788920"/>
            <a:ext cx="3749039"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亚利桑那大学威廉·拉杰教授团队系统翻检该社区的生活垃圾桶</a:t>
            </a:r>
          </a:p>
        </p:txBody>
      </p:sp>
      <p:sp>
        <p:nvSpPr>
          <p:cNvPr id="18" name="Rectangle 17"/>
          <p:cNvSpPr/>
          <p:nvPr/>
        </p:nvSpPr>
        <p:spPr>
          <a:xfrm>
            <a:off x="6492240" y="3566160"/>
            <a:ext cx="1005840" cy="457200"/>
          </a:xfrm>
          <a:prstGeom prst="rect">
            <a:avLst/>
          </a:prstGeom>
          <a:solidFill>
            <a:srgbClr val="1A8C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300" b="1">
                <a:solidFill>
                  <a:srgbClr val="FFFFFF"/>
                </a:solidFill>
                <a:latin typeface="Times New Roman"/>
                <a:ea typeface="宋体"/>
              </a:rPr>
              <a:t>第三阶段：管</a:t>
            </a:r>
          </a:p>
        </p:txBody>
      </p:sp>
      <p:sp>
        <p:nvSpPr>
          <p:cNvPr id="19" name="TextBox 18"/>
          <p:cNvSpPr txBox="1"/>
          <p:nvPr/>
        </p:nvSpPr>
        <p:spPr>
          <a:xfrm>
            <a:off x="7635240" y="3566160"/>
            <a:ext cx="3749039"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深刻揭示了口头意向调查 (Stated Preference) 的系统性失真</a:t>
            </a:r>
          </a:p>
        </p:txBody>
      </p:sp>
      <p:sp>
        <p:nvSpPr>
          <p:cNvPr id="20" name="Rectangle 19"/>
          <p:cNvSpPr/>
          <p:nvPr/>
        </p:nvSpPr>
        <p:spPr>
          <a:xfrm>
            <a:off x="6400800" y="5303520"/>
            <a:ext cx="5029200" cy="7772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60" y="5349240"/>
            <a:ext cx="4754880" cy="685800"/>
          </a:xfrm>
          <a:prstGeom prst="rect">
            <a:avLst/>
          </a:prstGeom>
          <a:noFill/>
        </p:spPr>
        <p:txBody>
          <a:bodyPr wrap="square" lIns="0" tIns="0" rIns="0" bIns="0">
            <a:spAutoFit/>
          </a:bodyPr>
          <a:lstStyle/>
          <a:p>
            <a:pPr algn="l">
              <a:lnSpc>
                <a:spcPct val="120000"/>
              </a:lnSpc>
            </a:pPr>
            <a:r>
              <a:rPr sz="1300" b="0">
                <a:solidFill>
                  <a:srgbClr val="FFFFFF"/>
                </a:solidFill>
                <a:latin typeface="Times New Roman"/>
                <a:ea typeface="宋体"/>
              </a:rPr>
              <a:t>需求估计必须建立在真实发生的客观行为数据基础之上，严防被虚饰的主观问卷误导。 // 大数据时代的点击流、加购转化率正是数字化的「现代垃圾调查法」。</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预测体系深化</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六、企业需求预测的四阶段全生命周期管理闭环</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15</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阶段 1 &amp; 2：目标界定与数据治理</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阶段 1（明确预测目标与时间跨度）：分清是用于短期产线排产（周/月度），还是用于中长期资本开支扩张（3-5年）；</a:t>
            </a:r>
          </a:p>
          <a:p>
            <a:pPr algn="l">
              <a:lnSpc>
                <a:spcPct val="120000"/>
              </a:lnSpc>
              <a:spcAft>
                <a:spcPts val="800"/>
              </a:spcAft>
            </a:pPr>
            <a:r>
              <a:rPr sz="1300" b="0">
                <a:solidFill>
                  <a:srgbClr val="1E293B"/>
                </a:solidFill>
                <a:latin typeface="Times New Roman"/>
                <a:ea typeface="宋体"/>
              </a:rPr>
              <a:t>- 阶段 2（数据清洗与特征工程）：剔除异常值（如受极端天气、系统故障影响的历史异常订单）。</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阶段 3 &amp; 4：多模型融合与动态回测纠偏</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阶段 3（定量模型与定性专家研讨融合）：将 OLS 回归、时间序列平滑与一线销售专家评审加权融合；</a:t>
            </a:r>
          </a:p>
          <a:p>
            <a:pPr algn="l">
              <a:lnSpc>
                <a:spcPct val="120000"/>
              </a:lnSpc>
              <a:spcAft>
                <a:spcPts val="800"/>
              </a:spcAft>
            </a:pPr>
            <a:r>
              <a:rPr sz="1300" b="0">
                <a:solidFill>
                  <a:srgbClr val="1E293B"/>
                </a:solidFill>
                <a:latin typeface="Times New Roman"/>
                <a:ea typeface="宋体"/>
              </a:rPr>
              <a:t>- 阶段 4（动态回测与安全库存动态调整）：根据 MAPE 误差动态调整安全库存水位，规避断货与爆仓。</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核心要点：现代敏捷企业通过需求预测模型与 ERP/MES 系统直连，实现按需排产与零库存制造。</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全章预测方法总结</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七、定性与定量需求估计/预测方法全景选型指南</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16</a:t>
            </a:r>
          </a:p>
        </p:txBody>
      </p:sp>
      <p:graphicFrame>
        <p:nvGraphicFramePr>
          <p:cNvPr id="9" name="Table 8"/>
          <p:cNvGraphicFramePr>
            <a:graphicFrameLocks noGrp="1"/>
          </p:cNvGraphicFramePr>
          <p:nvPr/>
        </p:nvGraphicFramePr>
        <p:xfrm>
          <a:off x="457200" y="1325880"/>
          <a:ext cx="11201400" cy="4343400"/>
        </p:xfrm>
        <a:graphic>
          <a:graphicData uri="http://schemas.openxmlformats.org/drawingml/2006/table">
            <a:tbl>
              <a:tblPr firstRow="1" bandRow="1">
                <a:tableStyleId>{5C22544A-7EE6-4342-B048-85BDC9FD1C3A}</a:tableStyleId>
              </a:tblPr>
              <a:tblGrid>
                <a:gridCol w="2377440"/>
                <a:gridCol w="2205990"/>
                <a:gridCol w="2205990"/>
                <a:gridCol w="2205990"/>
                <a:gridCol w="2205990"/>
              </a:tblGrid>
              <a:tr h="723900">
                <a:tc>
                  <a:txBody>
                    <a:bodyPr wrap="square" lIns="73152" rIns="73152" tIns="36576" bIns="36576"/>
                    <a:lstStyle/>
                    <a:p>
                      <a:pPr algn="ctr">
                        <a:lnSpc>
                          <a:spcPct val="120000"/>
                        </a:lnSpc>
                      </a:pPr>
                      <a:r>
                        <a:rPr sz="1400" b="1">
                          <a:solidFill>
                            <a:srgbClr val="FFFFFF"/>
                          </a:solidFill>
                          <a:latin typeface="Times New Roman"/>
                          <a:ea typeface="宋体"/>
                        </a:rPr>
                        <a:t>方法分类</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具体方法名称</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数据需求条件</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预测时间跨度</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核心优势与适用场景</a:t>
                      </a:r>
                    </a:p>
                  </a:txBody>
                  <a:tcPr anchor="ctr">
                    <a:solidFill>
                      <a:srgbClr val="1B3A5C"/>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定性估计</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德尔菲法 (Delphi)</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无需历史数据，需行业专家库</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中长期（1-5年）</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适合颠覆性新产品开发与重大技术路线抉择</a:t>
                      </a:r>
                    </a:p>
                  </a:txBody>
                  <a:tcPr anchor="ctr">
                    <a:solidFill>
                      <a:srgbClr val="FFFFFF"/>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定性估计</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销售人员综合法</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一线客户拜访记录与线索</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短期（1-6个月）</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适合定制化工业品 B2B 订单与区域销售排产</a:t>
                      </a:r>
                    </a:p>
                  </a:txBody>
                  <a:tcPr anchor="ctr">
                    <a:solidFill>
                      <a:srgbClr val="F2F2F2"/>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定量估计</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统计回归分析 (OLS)</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需要连续历史截面/时间序列数据</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中短期（季度/年度）</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适合寻找因果驱动关系并测算价格/收入弹性</a:t>
                      </a:r>
                    </a:p>
                  </a:txBody>
                  <a:tcPr anchor="ctr">
                    <a:solidFill>
                      <a:srgbClr val="FFFFFF"/>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定量预测</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指数平滑法</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需要近期连续时序数据</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短期（周/月度）</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适合快速自动化更新海量 SKU 的短期备货预测</a:t>
                      </a:r>
                    </a:p>
                  </a:txBody>
                  <a:tcPr anchor="ctr">
                    <a:solidFill>
                      <a:srgbClr val="F2F2F2"/>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定量预测</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季节乘法分解法</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至少需要 3 年以上季度/月度数据</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中期（1-2年）</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适合强季节性消费品、假日经济与农产品预测</a:t>
                      </a:r>
                    </a:p>
                  </a:txBody>
                  <a:tcPr anchor="ctr">
                    <a:solidFill>
                      <a:srgbClr val="FFFFFF"/>
                    </a:solidFill>
                  </a:tcPr>
                </a:tc>
              </a:tr>
            </a:tbl>
          </a:graphicData>
        </a:graphic>
      </p:graphicFrame>
      <p:sp>
        <p:nvSpPr>
          <p:cNvPr id="10" name="Rectangle 9"/>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决策对比精要：科学的预测应综合采用定性与定量工具，根据产品生命周期与数据可得性动态组合。</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前沿预测拓展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八、数字化时代敏捷快反与需求感应 (Demand Sensing)</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17</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从「以产定销」向「以销定产」的范式革命</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传统推式供应链 (Push Model)：基于漫长周期的静态预测进行集中大批量生产，极易产生高库存与折价减值；</a:t>
            </a:r>
          </a:p>
          <a:p>
            <a:pPr algn="l">
              <a:lnSpc>
                <a:spcPct val="120000"/>
              </a:lnSpc>
              <a:spcAft>
                <a:spcPts val="800"/>
              </a:spcAft>
            </a:pPr>
            <a:r>
              <a:rPr sz="1300" b="0">
                <a:solidFill>
                  <a:srgbClr val="1E293B"/>
                </a:solidFill>
                <a:latin typeface="Times New Roman"/>
                <a:ea typeface="宋体"/>
              </a:rPr>
              <a:t>- 现代拉式供应链 (Pull Model)：如 Zara、SHEIN，利用小批量首发测试市场真实反应，根据实时 POS 数据快速翻单追产。</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需求感应与实时动态调价 (Dynamic Pricing)</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利用机器学习与实时需求感应算法，综合监控天气、竞对价格、平台搜索热度；</a:t>
            </a:r>
          </a:p>
          <a:p>
            <a:pPr algn="l">
              <a:lnSpc>
                <a:spcPct val="120000"/>
              </a:lnSpc>
              <a:spcAft>
                <a:spcPts val="800"/>
              </a:spcAft>
            </a:pPr>
            <a:r>
              <a:rPr sz="1300" b="0">
                <a:solidFill>
                  <a:srgbClr val="1E293B"/>
                </a:solidFill>
                <a:latin typeface="Times New Roman"/>
                <a:ea typeface="宋体"/>
              </a:rPr>
              <a:t>- 动态优化滴滴网约车溢价系数与电商秒杀折扣，实现分钟级供求微观平衡。</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核心要点：敏捷快反体系将预测误差的容忍度转化为柔性制造的快速响应能力。</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本章小结</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第三章 核心知识回顾</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18</a:t>
            </a:r>
          </a:p>
        </p:txBody>
      </p:sp>
      <p:sp>
        <p:nvSpPr>
          <p:cNvPr id="9" name="Rectangle 8"/>
          <p:cNvSpPr/>
          <p:nvPr/>
        </p:nvSpPr>
        <p:spPr>
          <a:xfrm>
            <a:off x="457200" y="1325880"/>
            <a:ext cx="640080" cy="5486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400" b="1">
                <a:solidFill>
                  <a:srgbClr val="FFFFFF"/>
                </a:solidFill>
                <a:latin typeface="Times New Roman"/>
                <a:ea typeface="宋体"/>
              </a:rPr>
              <a:t>1</a:t>
            </a:r>
          </a:p>
        </p:txBody>
      </p:sp>
      <p:sp>
        <p:nvSpPr>
          <p:cNvPr id="10" name="TextBox 9"/>
          <p:cNvSpPr txBox="1"/>
          <p:nvPr/>
        </p:nvSpPr>
        <p:spPr>
          <a:xfrm>
            <a:off x="1280160" y="1325880"/>
            <a:ext cx="2286000" cy="54864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需求估计方法</a:t>
            </a:r>
          </a:p>
        </p:txBody>
      </p:sp>
      <p:sp>
        <p:nvSpPr>
          <p:cNvPr id="11" name="TextBox 10"/>
          <p:cNvSpPr txBox="1"/>
          <p:nvPr/>
        </p:nvSpPr>
        <p:spPr>
          <a:xfrm>
            <a:off x="3657600" y="1325880"/>
            <a:ext cx="8001000" cy="68580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掌握市场调查法与 OLS 回归分析法；双对数乘幂模型参数直接对应弹性；严格执行 R²、t、F 检验。</a:t>
            </a:r>
          </a:p>
        </p:txBody>
      </p:sp>
      <p:sp>
        <p:nvSpPr>
          <p:cNvPr id="12" name="Rectangle 11"/>
          <p:cNvSpPr/>
          <p:nvPr/>
        </p:nvSpPr>
        <p:spPr>
          <a:xfrm>
            <a:off x="457200" y="2194560"/>
            <a:ext cx="640080" cy="5486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400" b="1">
                <a:solidFill>
                  <a:srgbClr val="FFFFFF"/>
                </a:solidFill>
                <a:latin typeface="Times New Roman"/>
                <a:ea typeface="宋体"/>
              </a:rPr>
              <a:t>2</a:t>
            </a:r>
          </a:p>
        </p:txBody>
      </p:sp>
      <p:sp>
        <p:nvSpPr>
          <p:cNvPr id="13" name="TextBox 12"/>
          <p:cNvSpPr txBox="1"/>
          <p:nvPr/>
        </p:nvSpPr>
        <p:spPr>
          <a:xfrm>
            <a:off x="1280160" y="2194560"/>
            <a:ext cx="2286000" cy="54864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定性预测工具</a:t>
            </a:r>
          </a:p>
        </p:txBody>
      </p:sp>
      <p:sp>
        <p:nvSpPr>
          <p:cNvPr id="14" name="TextBox 13"/>
          <p:cNvSpPr txBox="1"/>
          <p:nvPr/>
        </p:nvSpPr>
        <p:spPr>
          <a:xfrm>
            <a:off x="3657600" y="2194560"/>
            <a:ext cx="8001000" cy="68580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德尔菲法通过匿名背靠背征询消除心理从众；销售人员综合法紧贴市场一线。</a:t>
            </a:r>
          </a:p>
        </p:txBody>
      </p:sp>
      <p:sp>
        <p:nvSpPr>
          <p:cNvPr id="15" name="Rectangle 14"/>
          <p:cNvSpPr/>
          <p:nvPr/>
        </p:nvSpPr>
        <p:spPr>
          <a:xfrm>
            <a:off x="457200" y="3063240"/>
            <a:ext cx="640080" cy="5486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400" b="1">
                <a:solidFill>
                  <a:srgbClr val="FFFFFF"/>
                </a:solidFill>
                <a:latin typeface="Times New Roman"/>
                <a:ea typeface="宋体"/>
              </a:rPr>
              <a:t>3</a:t>
            </a:r>
          </a:p>
        </p:txBody>
      </p:sp>
      <p:sp>
        <p:nvSpPr>
          <p:cNvPr id="16" name="TextBox 15"/>
          <p:cNvSpPr txBox="1"/>
          <p:nvPr/>
        </p:nvSpPr>
        <p:spPr>
          <a:xfrm>
            <a:off x="1280160" y="3063240"/>
            <a:ext cx="2286000" cy="54864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时间序列预测</a:t>
            </a:r>
          </a:p>
        </p:txBody>
      </p:sp>
      <p:sp>
        <p:nvSpPr>
          <p:cNvPr id="17" name="TextBox 16"/>
          <p:cNvSpPr txBox="1"/>
          <p:nvPr/>
        </p:nvSpPr>
        <p:spPr>
          <a:xfrm>
            <a:off x="3657600" y="3063240"/>
            <a:ext cx="8001000" cy="68580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移动平均法与指数平滑法过滤随机噪音；季节乘法分解模型 Y=T·S·C·I 捕捉季节周期规律。</a:t>
            </a:r>
          </a:p>
        </p:txBody>
      </p:sp>
      <p:sp>
        <p:nvSpPr>
          <p:cNvPr id="18" name="Rectangle 17"/>
          <p:cNvSpPr/>
          <p:nvPr/>
        </p:nvSpPr>
        <p:spPr>
          <a:xfrm>
            <a:off x="457200" y="3931920"/>
            <a:ext cx="640080" cy="54864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2400" b="1">
                <a:solidFill>
                  <a:srgbClr val="FFFFFF"/>
                </a:solidFill>
                <a:latin typeface="Times New Roman"/>
                <a:ea typeface="宋体"/>
              </a:rPr>
              <a:t>4</a:t>
            </a:r>
          </a:p>
        </p:txBody>
      </p:sp>
      <p:sp>
        <p:nvSpPr>
          <p:cNvPr id="19" name="TextBox 18"/>
          <p:cNvSpPr txBox="1"/>
          <p:nvPr/>
        </p:nvSpPr>
        <p:spPr>
          <a:xfrm>
            <a:off x="1280160" y="3931920"/>
            <a:ext cx="2286000" cy="548640"/>
          </a:xfrm>
          <a:prstGeom prst="rect">
            <a:avLst/>
          </a:prstGeom>
          <a:noFill/>
        </p:spPr>
        <p:txBody>
          <a:bodyPr wrap="square" lIns="0" tIns="0" rIns="0" bIns="0">
            <a:spAutoFit/>
          </a:bodyPr>
          <a:lstStyle/>
          <a:p>
            <a:pPr algn="l">
              <a:lnSpc>
                <a:spcPct val="120000"/>
              </a:lnSpc>
            </a:pPr>
            <a:r>
              <a:rPr sz="1600" b="1">
                <a:solidFill>
                  <a:srgbClr val="1B3A5C"/>
                </a:solidFill>
                <a:latin typeface="Times New Roman"/>
                <a:ea typeface="宋体"/>
              </a:rPr>
              <a:t>误差度量与控制</a:t>
            </a:r>
          </a:p>
        </p:txBody>
      </p:sp>
      <p:sp>
        <p:nvSpPr>
          <p:cNvPr id="20" name="TextBox 19"/>
          <p:cNvSpPr txBox="1"/>
          <p:nvPr/>
        </p:nvSpPr>
        <p:spPr>
          <a:xfrm>
            <a:off x="3657600" y="3931920"/>
            <a:ext cx="8001000" cy="68580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运用 MAD、MSE、MAPE 度量误差，通过跟踪信号 TS 实现预测模型全生命周期闭环纠偏。</a:t>
            </a:r>
          </a:p>
        </p:txBody>
      </p:sp>
      <p:sp>
        <p:nvSpPr>
          <p:cNvPr id="21" name="Rectangle 20"/>
          <p:cNvSpPr/>
          <p:nvPr/>
        </p:nvSpPr>
        <p:spPr>
          <a:xfrm>
            <a:off x="457200" y="5806440"/>
            <a:ext cx="11201400" cy="45720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833872"/>
            <a:ext cx="10652760" cy="365760"/>
          </a:xfrm>
          <a:prstGeom prst="rect">
            <a:avLst/>
          </a:prstGeom>
          <a:noFill/>
        </p:spPr>
        <p:txBody>
          <a:bodyPr wrap="square" lIns="0" tIns="0" rIns="0" bIns="0">
            <a:spAutoFit/>
          </a:bodyPr>
          <a:lstStyle/>
          <a:p>
            <a:pPr algn="l">
              <a:lnSpc>
                <a:spcPct val="120000"/>
              </a:lnSpc>
            </a:pPr>
            <a:r>
              <a:rPr sz="1300" b="1">
                <a:solidFill>
                  <a:srgbClr val="FFFFFF"/>
                </a:solidFill>
                <a:latin typeface="Times New Roman"/>
                <a:ea typeface="宋体"/>
              </a:rPr>
              <a:t>本章核心心法：需求估计探寻因果规律，需求预测照亮未来迷雾，两者是现代企业供应链与商业决策的基石。</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思考与讨论</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第三章 思考题</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19</a:t>
            </a:r>
          </a:p>
        </p:txBody>
      </p:sp>
      <p:sp>
        <p:nvSpPr>
          <p:cNvPr id="9" name="TextBox 8"/>
          <p:cNvSpPr txBox="1"/>
          <p:nvPr/>
        </p:nvSpPr>
        <p:spPr>
          <a:xfrm>
            <a:off x="457200" y="1234440"/>
            <a:ext cx="10972800" cy="320040"/>
          </a:xfrm>
          <a:prstGeom prst="rect">
            <a:avLst/>
          </a:prstGeom>
          <a:noFill/>
        </p:spPr>
        <p:txBody>
          <a:bodyPr wrap="none" lIns="0" tIns="0" rIns="0" bIns="0">
            <a:spAutoFit/>
          </a:bodyPr>
          <a:lstStyle/>
          <a:p>
            <a:pPr algn="l">
              <a:lnSpc>
                <a:spcPct val="120000"/>
              </a:lnSpc>
            </a:pPr>
            <a:r>
              <a:rPr sz="1500" b="1">
                <a:solidFill>
                  <a:srgbClr val="1B3A5C"/>
                </a:solidFill>
                <a:latin typeface="Times New Roman"/>
                <a:ea typeface="宋体"/>
              </a:rPr>
              <a:t>结合本章内容与企业经营实践，深度研讨以下核心问题：</a:t>
            </a:r>
          </a:p>
        </p:txBody>
      </p:sp>
      <p:sp>
        <p:nvSpPr>
          <p:cNvPr id="10" name="Rectangle 9"/>
          <p:cNvSpPr/>
          <p:nvPr/>
        </p:nvSpPr>
        <p:spPr>
          <a:xfrm>
            <a:off x="457200" y="164592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1</a:t>
            </a:r>
          </a:p>
        </p:txBody>
      </p:sp>
      <p:sp>
        <p:nvSpPr>
          <p:cNvPr id="11" name="TextBox 10"/>
          <p:cNvSpPr txBox="1"/>
          <p:nvPr/>
        </p:nvSpPr>
        <p:spPr>
          <a:xfrm>
            <a:off x="1005840" y="164592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简述需求估计与需求预测的联系与区别，为什么企业在做需求预测前往往需要先进行需求估计？</a:t>
            </a:r>
          </a:p>
        </p:txBody>
      </p:sp>
      <p:sp>
        <p:nvSpPr>
          <p:cNvPr id="12" name="Rectangle 11"/>
          <p:cNvSpPr/>
          <p:nvPr/>
        </p:nvSpPr>
        <p:spPr>
          <a:xfrm>
            <a:off x="457200" y="228600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2</a:t>
            </a:r>
          </a:p>
        </p:txBody>
      </p:sp>
      <p:sp>
        <p:nvSpPr>
          <p:cNvPr id="13" name="TextBox 12"/>
          <p:cNvSpPr txBox="1"/>
          <p:nvPr/>
        </p:nvSpPr>
        <p:spPr>
          <a:xfrm>
            <a:off x="1005840" y="228600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什么是双对数需求模型？为什么在实际管理经济学研究中人们更倾向于采用双对数模型而非线性回归模型？</a:t>
            </a:r>
          </a:p>
        </p:txBody>
      </p:sp>
      <p:sp>
        <p:nvSpPr>
          <p:cNvPr id="14" name="Rectangle 13"/>
          <p:cNvSpPr/>
          <p:nvPr/>
        </p:nvSpPr>
        <p:spPr>
          <a:xfrm>
            <a:off x="457200" y="292608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3</a:t>
            </a:r>
          </a:p>
        </p:txBody>
      </p:sp>
      <p:sp>
        <p:nvSpPr>
          <p:cNvPr id="15" name="TextBox 14"/>
          <p:cNvSpPr txBox="1"/>
          <p:nvPr/>
        </p:nvSpPr>
        <p:spPr>
          <a:xfrm>
            <a:off x="1005840" y="292608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在评估一个多元线性回归需求估计模型时，R² 判定系数、t 统计量和 F 统计量分别用于检验什么？</a:t>
            </a:r>
          </a:p>
        </p:txBody>
      </p:sp>
      <p:sp>
        <p:nvSpPr>
          <p:cNvPr id="16" name="Rectangle 15"/>
          <p:cNvSpPr/>
          <p:nvPr/>
        </p:nvSpPr>
        <p:spPr>
          <a:xfrm>
            <a:off x="457200" y="356616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4</a:t>
            </a:r>
          </a:p>
        </p:txBody>
      </p:sp>
      <p:sp>
        <p:nvSpPr>
          <p:cNvPr id="17" name="TextBox 16"/>
          <p:cNvSpPr txBox="1"/>
          <p:nvPr/>
        </p:nvSpPr>
        <p:spPr>
          <a:xfrm>
            <a:off x="1005840" y="356616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什么是德尔菲法 (Delphi Method)？它通过哪些关键流程设计克服了传统专家会议法中权威主导与从众心理的弊端？</a:t>
            </a:r>
          </a:p>
        </p:txBody>
      </p:sp>
      <p:sp>
        <p:nvSpPr>
          <p:cNvPr id="18" name="Rectangle 17"/>
          <p:cNvSpPr/>
          <p:nvPr/>
        </p:nvSpPr>
        <p:spPr>
          <a:xfrm>
            <a:off x="457200" y="420624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5</a:t>
            </a:r>
          </a:p>
        </p:txBody>
      </p:sp>
      <p:sp>
        <p:nvSpPr>
          <p:cNvPr id="19" name="TextBox 18"/>
          <p:cNvSpPr txBox="1"/>
          <p:nvPr/>
        </p:nvSpPr>
        <p:spPr>
          <a:xfrm>
            <a:off x="1005840" y="420624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简述单参数指数平滑法的计算公式 Ft+1 = αAt + (1-α)Ft，平滑系数 α 的大小对预测结果的稳定性和敏感性有何影响？</a:t>
            </a:r>
          </a:p>
        </p:txBody>
      </p:sp>
      <p:sp>
        <p:nvSpPr>
          <p:cNvPr id="20" name="Rectangle 19"/>
          <p:cNvSpPr/>
          <p:nvPr/>
        </p:nvSpPr>
        <p:spPr>
          <a:xfrm>
            <a:off x="457200" y="484632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6</a:t>
            </a:r>
          </a:p>
        </p:txBody>
      </p:sp>
      <p:sp>
        <p:nvSpPr>
          <p:cNvPr id="21" name="TextBox 20"/>
          <p:cNvSpPr txBox="1"/>
          <p:nvPr/>
        </p:nvSpPr>
        <p:spPr>
          <a:xfrm>
            <a:off x="1005840" y="484632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时间序列经典乘法分解模型 Y = T·S·C·I 包含哪四个核心成分？如何利用季节指数对淡旺季明显的商品进行科学排产？</a:t>
            </a:r>
          </a:p>
        </p:txBody>
      </p:sp>
      <p:sp>
        <p:nvSpPr>
          <p:cNvPr id="22" name="Rectangle 21"/>
          <p:cNvSpPr/>
          <p:nvPr/>
        </p:nvSpPr>
        <p:spPr>
          <a:xfrm>
            <a:off x="457200" y="5486400"/>
            <a:ext cx="411480" cy="41148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20000"/>
              </a:lnSpc>
            </a:pPr>
            <a:r>
              <a:rPr sz="1400" b="1">
                <a:solidFill>
                  <a:srgbClr val="FFFFFF"/>
                </a:solidFill>
                <a:latin typeface="Times New Roman"/>
                <a:ea typeface="宋体"/>
              </a:rPr>
              <a:t>7</a:t>
            </a:r>
          </a:p>
        </p:txBody>
      </p:sp>
      <p:sp>
        <p:nvSpPr>
          <p:cNvPr id="23" name="TextBox 22"/>
          <p:cNvSpPr txBox="1"/>
          <p:nvPr/>
        </p:nvSpPr>
        <p:spPr>
          <a:xfrm>
            <a:off x="1005840" y="5486400"/>
            <a:ext cx="10652760" cy="502920"/>
          </a:xfrm>
          <a:prstGeom prst="rect">
            <a:avLst/>
          </a:prstGeom>
          <a:noFill/>
        </p:spPr>
        <p:txBody>
          <a:bodyPr wrap="square" lIns="0" tIns="0" rIns="0" bIns="0">
            <a:spAutoFit/>
          </a:bodyPr>
          <a:lstStyle/>
          <a:p>
            <a:pPr algn="l">
              <a:lnSpc>
                <a:spcPct val="120000"/>
              </a:lnSpc>
            </a:pPr>
            <a:r>
              <a:rPr sz="1300" b="0">
                <a:solidFill>
                  <a:srgbClr val="1E293B"/>
                </a:solidFill>
                <a:latin typeface="Times New Roman"/>
                <a:ea typeface="宋体"/>
              </a:rPr>
              <a:t>什么是平均绝对百分比误差 (MAPE)？企业应如何利用跟踪信号 (TS) 建立预测模型的动态预警与修正机制？</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第1节 回归实操拓展</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九、多元回归中虚假回归 (Spurious Regression) 的防范</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20</a:t>
            </a:r>
          </a:p>
        </p:txBody>
      </p:sp>
      <p:sp>
        <p:nvSpPr>
          <p:cNvPr id="9" name="Rectangle 8"/>
          <p:cNvSpPr/>
          <p:nvPr/>
        </p:nvSpPr>
        <p:spPr>
          <a:xfrm>
            <a:off x="45720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325880"/>
            <a:ext cx="5440680" cy="50292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时间序列非平稳性与伪回归</a:t>
            </a:r>
          </a:p>
        </p:txBody>
      </p:sp>
      <p:sp>
        <p:nvSpPr>
          <p:cNvPr id="11" name="TextBox 10"/>
          <p:cNvSpPr txBox="1"/>
          <p:nvPr/>
        </p:nvSpPr>
        <p:spPr>
          <a:xfrm>
            <a:off x="68580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若两个完全无关的变量都随时间推移呈现相同的单调上升趋势（如某国人均 GDP 与某岛鸟类灭绝数量）；</a:t>
            </a:r>
          </a:p>
          <a:p>
            <a:pPr algn="l">
              <a:lnSpc>
                <a:spcPct val="120000"/>
              </a:lnSpc>
              <a:spcAft>
                <a:spcPts val="800"/>
              </a:spcAft>
            </a:pPr>
            <a:r>
              <a:rPr sz="1300" b="0">
                <a:solidFill>
                  <a:srgbClr val="1E293B"/>
                </a:solidFill>
                <a:latin typeface="Times New Roman"/>
                <a:ea typeface="宋体"/>
              </a:rPr>
              <a:t>- 直接进行 OLS 回归可能得到极高的 R² (如 0.95) 和高度显著的 t 值，但实质毫无经济学因果意义（伪回归！）。</a:t>
            </a:r>
          </a:p>
        </p:txBody>
      </p:sp>
      <p:sp>
        <p:nvSpPr>
          <p:cNvPr id="12" name="Rectangle 11"/>
          <p:cNvSpPr/>
          <p:nvPr/>
        </p:nvSpPr>
        <p:spPr>
          <a:xfrm>
            <a:off x="6217920" y="1325880"/>
            <a:ext cx="5440680" cy="43434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325880"/>
            <a:ext cx="5440680" cy="502920"/>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l">
              <a:lnSpc>
                <a:spcPct val="120000"/>
              </a:lnSpc>
            </a:pPr>
            <a:r>
              <a:rPr sz="1600" b="1">
                <a:solidFill>
                  <a:srgbClr val="FFFFFF"/>
                </a:solidFill>
                <a:latin typeface="Times New Roman"/>
                <a:ea typeface="宋体"/>
              </a:rPr>
              <a:t>  平稳性检验与协整分析 (Cointegration)</a:t>
            </a:r>
          </a:p>
        </p:txBody>
      </p:sp>
      <p:sp>
        <p:nvSpPr>
          <p:cNvPr id="14" name="TextBox 13"/>
          <p:cNvSpPr txBox="1"/>
          <p:nvPr/>
        </p:nvSpPr>
        <p:spPr>
          <a:xfrm>
            <a:off x="6446520" y="1965960"/>
            <a:ext cx="4983480" cy="3566160"/>
          </a:xfrm>
          <a:prstGeom prst="rect">
            <a:avLst/>
          </a:prstGeom>
          <a:noFill/>
        </p:spPr>
        <p:txBody>
          <a:bodyPr wrap="square" lIns="0" tIns="0" rIns="0" bIns="0">
            <a:spAutoFit/>
          </a:bodyPr>
          <a:lstStyle/>
          <a:p>
            <a:pPr algn="l">
              <a:lnSpc>
                <a:spcPct val="120000"/>
              </a:lnSpc>
              <a:spcAft>
                <a:spcPts val="800"/>
              </a:spcAft>
            </a:pPr>
            <a:r>
              <a:rPr sz="1300" b="0">
                <a:solidFill>
                  <a:srgbClr val="1E293B"/>
                </a:solidFill>
                <a:latin typeface="Times New Roman"/>
                <a:ea typeface="宋体"/>
              </a:rPr>
              <a:t>- 必须对时间序列变量进行单位根检验 (ADF 检验) 确认其平稳性；</a:t>
            </a:r>
          </a:p>
          <a:p>
            <a:pPr algn="l">
              <a:lnSpc>
                <a:spcPct val="120000"/>
              </a:lnSpc>
              <a:spcAft>
                <a:spcPts val="800"/>
              </a:spcAft>
            </a:pPr>
            <a:r>
              <a:rPr sz="1300" b="0">
                <a:solidFill>
                  <a:srgbClr val="1E293B"/>
                </a:solidFill>
                <a:latin typeface="Times New Roman"/>
                <a:ea typeface="宋体"/>
              </a:rPr>
              <a:t>- 若非平稳，需进行一阶差分或协整检验，确保变量间存在长期稳定的真实均衡因果联系。</a:t>
            </a:r>
          </a:p>
        </p:txBody>
      </p:sp>
      <p:sp>
        <p:nvSpPr>
          <p:cNvPr id="15" name="Rectangle 14"/>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核心要点：严防将统计学上的虚假共变误判为具有经济学意义的因果规律。</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54864" cy="6784848"/>
          </a:xfrm>
          <a:prstGeom prst="rect">
            <a:avLst/>
          </a:prstGeom>
          <a:solidFill>
            <a:srgbClr val="2E86C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6400800" cy="320040"/>
          </a:xfrm>
          <a:prstGeom prst="rect">
            <a:avLst/>
          </a:prstGeom>
          <a:noFill/>
        </p:spPr>
        <p:txBody>
          <a:bodyPr wrap="square" lIns="0" tIns="0" rIns="0" bIns="0">
            <a:spAutoFit/>
          </a:bodyPr>
          <a:lstStyle/>
          <a:p>
            <a:pPr algn="l">
              <a:lnSpc>
                <a:spcPct val="120000"/>
              </a:lnSpc>
            </a:pPr>
            <a:r>
              <a:rPr sz="1200" b="1">
                <a:solidFill>
                  <a:srgbClr val="2E86C1"/>
                </a:solidFill>
                <a:latin typeface="Times New Roman"/>
                <a:ea typeface="宋体"/>
              </a:rPr>
              <a:t>第2节 误差指标演练</a:t>
            </a:r>
          </a:p>
        </p:txBody>
      </p:sp>
      <p:sp>
        <p:nvSpPr>
          <p:cNvPr id="5" name="TextBox 4"/>
          <p:cNvSpPr txBox="1"/>
          <p:nvPr/>
        </p:nvSpPr>
        <p:spPr>
          <a:xfrm>
            <a:off x="457200" y="438912"/>
            <a:ext cx="10515600" cy="594360"/>
          </a:xfrm>
          <a:prstGeom prst="rect">
            <a:avLst/>
          </a:prstGeom>
          <a:noFill/>
        </p:spPr>
        <p:txBody>
          <a:bodyPr wrap="square" lIns="0" tIns="0" rIns="0" bIns="0">
            <a:spAutoFit/>
          </a:bodyPr>
          <a:lstStyle/>
          <a:p>
            <a:pPr algn="l">
              <a:lnSpc>
                <a:spcPct val="120000"/>
              </a:lnSpc>
            </a:pPr>
            <a:r>
              <a:rPr sz="2600" b="1">
                <a:solidFill>
                  <a:srgbClr val="1B3A5C"/>
                </a:solidFill>
                <a:latin typeface="Times New Roman"/>
                <a:ea typeface="宋体"/>
              </a:rPr>
              <a:t>十、三大预测误差度量指标 (MAD / MSE / MAPE) 计算演练示例</a:t>
            </a:r>
          </a:p>
        </p:txBody>
      </p:sp>
      <p:sp>
        <p:nvSpPr>
          <p:cNvPr id="6" name="Rectangle 5"/>
          <p:cNvSpPr/>
          <p:nvPr/>
        </p:nvSpPr>
        <p:spPr>
          <a:xfrm>
            <a:off x="457200" y="1078992"/>
            <a:ext cx="1097280" cy="36576"/>
          </a:xfrm>
          <a:prstGeom prst="rect">
            <a:avLst/>
          </a:prstGeom>
          <a:solidFill>
            <a:srgbClr val="C88C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400800"/>
            <a:ext cx="4572000" cy="320040"/>
          </a:xfrm>
          <a:prstGeom prst="rect">
            <a:avLst/>
          </a:prstGeom>
          <a:noFill/>
        </p:spPr>
        <p:txBody>
          <a:bodyPr wrap="none" lIns="0" tIns="0" rIns="0" bIns="0">
            <a:spAutoFit/>
          </a:bodyPr>
          <a:lstStyle/>
          <a:p>
            <a:pPr algn="l">
              <a:lnSpc>
                <a:spcPct val="120000"/>
              </a:lnSpc>
            </a:pPr>
            <a:r>
              <a:rPr sz="1000" b="0">
                <a:solidFill>
                  <a:srgbClr val="64748B"/>
                </a:solidFill>
                <a:latin typeface="Times New Roman"/>
                <a:ea typeface="宋体"/>
              </a:rPr>
              <a:t>管理经济学 · 吴德庆（第7版）</a:t>
            </a:r>
          </a:p>
        </p:txBody>
      </p:sp>
      <p:sp>
        <p:nvSpPr>
          <p:cNvPr id="8" name="TextBox 7"/>
          <p:cNvSpPr txBox="1"/>
          <p:nvPr/>
        </p:nvSpPr>
        <p:spPr>
          <a:xfrm>
            <a:off x="10972800" y="6400800"/>
            <a:ext cx="731520" cy="320040"/>
          </a:xfrm>
          <a:prstGeom prst="rect">
            <a:avLst/>
          </a:prstGeom>
          <a:noFill/>
        </p:spPr>
        <p:txBody>
          <a:bodyPr wrap="none" lIns="0" tIns="0" rIns="0" bIns="0">
            <a:spAutoFit/>
          </a:bodyPr>
          <a:lstStyle/>
          <a:p>
            <a:pPr algn="r">
              <a:lnSpc>
                <a:spcPct val="120000"/>
              </a:lnSpc>
            </a:pPr>
            <a:r>
              <a:rPr sz="1100" b="1">
                <a:solidFill>
                  <a:srgbClr val="1B3A5C"/>
                </a:solidFill>
                <a:latin typeface="Times New Roman"/>
                <a:ea typeface="宋体"/>
              </a:rPr>
              <a:t>21</a:t>
            </a:r>
          </a:p>
        </p:txBody>
      </p:sp>
      <p:graphicFrame>
        <p:nvGraphicFramePr>
          <p:cNvPr id="9" name="Table 8"/>
          <p:cNvGraphicFramePr>
            <a:graphicFrameLocks noGrp="1"/>
          </p:cNvGraphicFramePr>
          <p:nvPr/>
        </p:nvGraphicFramePr>
        <p:xfrm>
          <a:off x="457200" y="1325880"/>
          <a:ext cx="11201400" cy="4343400"/>
        </p:xfrm>
        <a:graphic>
          <a:graphicData uri="http://schemas.openxmlformats.org/drawingml/2006/table">
            <a:tbl>
              <a:tblPr firstRow="1" bandRow="1">
                <a:tableStyleId>{5C22544A-7EE6-4342-B048-85BDC9FD1C3A}</a:tableStyleId>
              </a:tblPr>
              <a:tblGrid>
                <a:gridCol w="2377440"/>
                <a:gridCol w="1764792"/>
                <a:gridCol w="1764792"/>
                <a:gridCol w="1764792"/>
                <a:gridCol w="1764792"/>
                <a:gridCol w="1764792"/>
              </a:tblGrid>
              <a:tr h="723900">
                <a:tc>
                  <a:txBody>
                    <a:bodyPr wrap="square" lIns="73152" rIns="73152" tIns="36576" bIns="36576"/>
                    <a:lstStyle/>
                    <a:p>
                      <a:pPr algn="ctr">
                        <a:lnSpc>
                          <a:spcPct val="120000"/>
                        </a:lnSpc>
                      </a:pPr>
                      <a:r>
                        <a:rPr sz="1400" b="1">
                          <a:solidFill>
                            <a:srgbClr val="FFFFFF"/>
                          </a:solidFill>
                          <a:latin typeface="Times New Roman"/>
                          <a:ea typeface="宋体"/>
                        </a:rPr>
                        <a:t>月份 (t)</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实际需求量 (At)</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模型预测量 (Ft)</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绝对误差 |At - Ft|</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误差平方 (At - Ft)²</a:t>
                      </a:r>
                    </a:p>
                  </a:txBody>
                  <a:tcPr anchor="ctr">
                    <a:solidFill>
                      <a:srgbClr val="1B3A5C"/>
                    </a:solidFill>
                  </a:tcPr>
                </a:tc>
                <a:tc>
                  <a:txBody>
                    <a:bodyPr wrap="square" lIns="73152" rIns="73152" tIns="36576" bIns="36576"/>
                    <a:lstStyle/>
                    <a:p>
                      <a:pPr algn="ctr">
                        <a:lnSpc>
                          <a:spcPct val="120000"/>
                        </a:lnSpc>
                      </a:pPr>
                      <a:r>
                        <a:rPr sz="1400" b="1">
                          <a:solidFill>
                            <a:srgbClr val="FFFFFF"/>
                          </a:solidFill>
                          <a:latin typeface="Times New Roman"/>
                          <a:ea typeface="宋体"/>
                        </a:rPr>
                        <a:t>绝对百分比误差 (%)</a:t>
                      </a:r>
                    </a:p>
                  </a:txBody>
                  <a:tcPr anchor="ctr">
                    <a:solidFill>
                      <a:srgbClr val="1B3A5C"/>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1 月</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100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90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10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100</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10.0%</a:t>
                      </a:r>
                    </a:p>
                  </a:txBody>
                  <a:tcPr anchor="ctr">
                    <a:solidFill>
                      <a:srgbClr val="FFFFFF"/>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2 月</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120 件</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130 件</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10 件</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100</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8.3%</a:t>
                      </a:r>
                    </a:p>
                  </a:txBody>
                  <a:tcPr anchor="ctr">
                    <a:solidFill>
                      <a:srgbClr val="F2F2F2"/>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3 月</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110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110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0</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0.0%</a:t>
                      </a:r>
                    </a:p>
                  </a:txBody>
                  <a:tcPr anchor="ctr">
                    <a:solidFill>
                      <a:srgbClr val="FFFFFF"/>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4 月</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150 件</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130 件</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20 件</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400</a:t>
                      </a:r>
                    </a:p>
                  </a:txBody>
                  <a:tcPr anchor="ctr">
                    <a:solidFill>
                      <a:srgbClr val="F2F2F2"/>
                    </a:solidFill>
                  </a:tcPr>
                </a:tc>
                <a:tc>
                  <a:txBody>
                    <a:bodyPr wrap="square" lIns="73152" rIns="73152" tIns="36576" bIns="36576"/>
                    <a:lstStyle/>
                    <a:p>
                      <a:pPr algn="l">
                        <a:lnSpc>
                          <a:spcPct val="120000"/>
                        </a:lnSpc>
                      </a:pPr>
                      <a:r>
                        <a:rPr sz="1300" b="0">
                          <a:solidFill>
                            <a:srgbClr val="1E293B"/>
                          </a:solidFill>
                          <a:latin typeface="Times New Roman"/>
                          <a:ea typeface="宋体"/>
                        </a:rPr>
                        <a:t>13.3%</a:t>
                      </a:r>
                    </a:p>
                  </a:txBody>
                  <a:tcPr anchor="ctr">
                    <a:solidFill>
                      <a:srgbClr val="F2F2F2"/>
                    </a:solidFill>
                  </a:tcPr>
                </a:tc>
              </a:tr>
              <a:tr h="723900">
                <a:tc>
                  <a:txBody>
                    <a:bodyPr wrap="square" lIns="73152" rIns="73152" tIns="36576" bIns="36576"/>
                    <a:lstStyle/>
                    <a:p>
                      <a:pPr algn="ctr">
                        <a:lnSpc>
                          <a:spcPct val="120000"/>
                        </a:lnSpc>
                      </a:pPr>
                      <a:r>
                        <a:rPr sz="1300" b="1">
                          <a:solidFill>
                            <a:srgbClr val="1B3A5C"/>
                          </a:solidFill>
                          <a:latin typeface="Times New Roman"/>
                          <a:ea typeface="宋体"/>
                        </a:rPr>
                        <a:t>指标平均值</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均值 120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均值 115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MAD = 10.0 件</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MSE = 150.0</a:t>
                      </a:r>
                    </a:p>
                  </a:txBody>
                  <a:tcPr anchor="ctr">
                    <a:solidFill>
                      <a:srgbClr val="FFFFFF"/>
                    </a:solidFill>
                  </a:tcPr>
                </a:tc>
                <a:tc>
                  <a:txBody>
                    <a:bodyPr wrap="square" lIns="73152" rIns="73152" tIns="36576" bIns="36576"/>
                    <a:lstStyle/>
                    <a:p>
                      <a:pPr algn="l">
                        <a:lnSpc>
                          <a:spcPct val="120000"/>
                        </a:lnSpc>
                      </a:pPr>
                      <a:r>
                        <a:rPr sz="1300" b="0">
                          <a:solidFill>
                            <a:srgbClr val="1E293B"/>
                          </a:solidFill>
                          <a:latin typeface="Times New Roman"/>
                          <a:ea typeface="宋体"/>
                        </a:rPr>
                        <a:t>MAPE = 7.9%</a:t>
                      </a:r>
                    </a:p>
                  </a:txBody>
                  <a:tcPr anchor="ctr">
                    <a:solidFill>
                      <a:srgbClr val="FFFFFF"/>
                    </a:solidFill>
                  </a:tcPr>
                </a:tc>
              </a:tr>
            </a:tbl>
          </a:graphicData>
        </a:graphic>
      </p:graphicFrame>
      <p:sp>
        <p:nvSpPr>
          <p:cNvPr id="10" name="Rectangle 9"/>
          <p:cNvSpPr/>
          <p:nvPr/>
        </p:nvSpPr>
        <p:spPr>
          <a:xfrm>
            <a:off x="457200" y="5833872"/>
            <a:ext cx="11201400" cy="411480"/>
          </a:xfrm>
          <a:prstGeom prst="rect">
            <a:avLst/>
          </a:prstGeom>
          <a:solidFill>
            <a:srgbClr val="D6EAF8"/>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20000"/>
              </a:lnSpc>
            </a:pPr>
            <a:r>
              <a:rPr sz="1300" b="1">
                <a:solidFill>
                  <a:srgbClr val="1B3A5C"/>
                </a:solidFill>
                <a:latin typeface="Times New Roman"/>
                <a:ea typeface="宋体"/>
              </a:rPr>
              <a:t>  ★ 决策对比精要：通过误差量化对比，企业可在多套备选预测算法中精准筛选最优模型。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