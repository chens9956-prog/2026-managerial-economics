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04</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五级精细化教学 · 随课本全景课件</a:t>
            </a:r>
          </a:p>
        </p:txBody>
      </p:sp>
      <p:sp>
        <p:nvSpPr>
          <p:cNvPr id="7" name="TextBox 6"/>
          <p:cNvSpPr txBox="1"/>
          <p:nvPr/>
        </p:nvSpPr>
        <p:spPr>
          <a:xfrm>
            <a:off x="5303520" y="164592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第4章</a:t>
            </a:r>
          </a:p>
        </p:txBody>
      </p:sp>
      <p:sp>
        <p:nvSpPr>
          <p:cNvPr id="8" name="TextBox 7"/>
          <p:cNvSpPr txBox="1"/>
          <p:nvPr/>
        </p:nvSpPr>
        <p:spPr>
          <a:xfrm>
            <a:off x="5303520" y="2148840"/>
            <a:ext cx="6217920" cy="109728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生产决策分析（要素配置、规模收益与技术进步）</a:t>
            </a:r>
          </a:p>
        </p:txBody>
      </p:sp>
      <p:sp>
        <p:nvSpPr>
          <p:cNvPr id="9" name="Rectangle 8"/>
          <p:cNvSpPr/>
          <p:nvPr/>
        </p:nvSpPr>
        <p:spPr>
          <a:xfrm>
            <a:off x="5349240" y="333756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566160"/>
            <a:ext cx="6217920" cy="29260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第1节 什么是生产函数（短期固定要素 vs 长期全可变要素）</a:t>
            </a:r>
          </a:p>
          <a:p>
            <a:pPr algn="l">
              <a:lnSpc>
                <a:spcPct val="120000"/>
              </a:lnSpc>
              <a:spcAft>
                <a:spcPts val="600"/>
              </a:spcAft>
            </a:pPr>
            <a:r>
              <a:rPr sz="1300" b="0">
                <a:solidFill>
                  <a:srgbClr val="1E293B"/>
                </a:solidFill>
                <a:latin typeface="Times New Roman"/>
                <a:ea typeface="宋体"/>
              </a:rPr>
              <a:t>- 第2节 单一可变投入要素的最优利用（TP/AP/MP三大定理、边际报酬递减与生产三阶段）</a:t>
            </a:r>
          </a:p>
          <a:p>
            <a:pPr algn="l">
              <a:lnSpc>
                <a:spcPct val="120000"/>
              </a:lnSpc>
              <a:spcAft>
                <a:spcPts val="600"/>
              </a:spcAft>
            </a:pPr>
            <a:r>
              <a:rPr sz="1300" b="0">
                <a:solidFill>
                  <a:srgbClr val="1E293B"/>
                </a:solidFill>
                <a:latin typeface="Times New Roman"/>
                <a:ea typeface="宋体"/>
              </a:rPr>
              <a:t>- 第3节 多种投入要素的最优组合（等产量线、等成本线、MRTS等边际切点与扩展线）</a:t>
            </a:r>
          </a:p>
          <a:p>
            <a:pPr algn="l">
              <a:lnSpc>
                <a:spcPct val="120000"/>
              </a:lnSpc>
              <a:spcAft>
                <a:spcPts val="600"/>
              </a:spcAft>
            </a:pPr>
            <a:r>
              <a:rPr sz="1300" b="0">
                <a:solidFill>
                  <a:srgbClr val="1E293B"/>
                </a:solidFill>
                <a:latin typeface="Times New Roman"/>
                <a:ea typeface="宋体"/>
              </a:rPr>
              <a:t>- 第4节 规模与收益的关系（规模报酬递增九大细分因素、不变/递减成因与齐次判定）</a:t>
            </a:r>
          </a:p>
          <a:p>
            <a:pPr algn="l">
              <a:lnSpc>
                <a:spcPct val="120000"/>
              </a:lnSpc>
              <a:spcAft>
                <a:spcPts val="600"/>
              </a:spcAft>
            </a:pPr>
            <a:r>
              <a:rPr sz="1300" b="0">
                <a:solidFill>
                  <a:srgbClr val="1E293B"/>
                </a:solidFill>
                <a:latin typeface="Times New Roman"/>
                <a:ea typeface="宋体"/>
              </a:rPr>
              <a:t>- 第5节 柯布-道格拉斯生产函数（四大优良数理性质与产出弹性）</a:t>
            </a:r>
          </a:p>
          <a:p>
            <a:pPr algn="l">
              <a:lnSpc>
                <a:spcPct val="120000"/>
              </a:lnSpc>
              <a:spcAft>
                <a:spcPts val="600"/>
              </a:spcAft>
            </a:pPr>
            <a:r>
              <a:rPr sz="1300" b="0">
                <a:solidFill>
                  <a:srgbClr val="1E293B"/>
                </a:solidFill>
                <a:latin typeface="Times New Roman"/>
                <a:ea typeface="宋体"/>
              </a:rPr>
              <a:t>- 第6节 生产函数和技术进步（技术进步三类型与索洛增长余值核算）</a:t>
            </a:r>
          </a:p>
          <a:p>
            <a:pPr algn="l">
              <a:lnSpc>
                <a:spcPct val="120000"/>
              </a:lnSpc>
              <a:spcAft>
                <a:spcPts val="600"/>
              </a:spcAft>
            </a:pPr>
            <a:r>
              <a:rPr sz="1300" b="0">
                <a:solidFill>
                  <a:srgbClr val="1E293B"/>
                </a:solidFill>
                <a:latin typeface="Times New Roman"/>
                <a:ea typeface="宋体"/>
              </a:rPr>
              <a:t>- 本章复习思考题与作业题精解（严格对标课本习题）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【第4章】生产决策分析 知识架构与五层逻辑体系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645920"/>
            <a:ext cx="2103120" cy="640080"/>
          </a:xfrm>
          <a:prstGeom prst="rect">
            <a:avLst/>
          </a:prstGeom>
          <a:noFill/>
        </p:spPr>
        <p:txBody>
          <a:bodyPr wrap="none" lIns="0" tIns="0" rIns="0" bIns="0">
            <a:spAutoFit/>
          </a:bodyPr>
          <a:lstStyle/>
          <a:p>
            <a:pPr algn="l">
              <a:lnSpc>
                <a:spcPct val="120000"/>
              </a:lnSpc>
            </a:pPr>
            <a:r>
              <a:rPr sz="3800" b="1">
                <a:solidFill>
                  <a:srgbClr val="1B3A5C"/>
                </a:solidFill>
                <a:latin typeface="Times New Roman"/>
                <a:ea typeface="宋体"/>
              </a:rPr>
              <a:t>01</a:t>
            </a:r>
          </a:p>
        </p:txBody>
      </p:sp>
      <p:sp>
        <p:nvSpPr>
          <p:cNvPr id="12" name="TextBox 11"/>
          <p:cNvSpPr txBox="1"/>
          <p:nvPr/>
        </p:nvSpPr>
        <p:spPr>
          <a:xfrm>
            <a:off x="77724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01 单一要素与三阶段</a:t>
            </a:r>
          </a:p>
        </p:txBody>
      </p:sp>
      <p:sp>
        <p:nvSpPr>
          <p:cNvPr id="13" name="Rectangle 12"/>
          <p:cNvSpPr/>
          <p:nvPr/>
        </p:nvSpPr>
        <p:spPr>
          <a:xfrm>
            <a:off x="777240" y="301752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TP/AP/MP 数理三次函数推导</a:t>
            </a:r>
          </a:p>
          <a:p>
            <a:pPr algn="l">
              <a:lnSpc>
                <a:spcPct val="120000"/>
              </a:lnSpc>
              <a:spcAft>
                <a:spcPts val="500"/>
              </a:spcAft>
            </a:pPr>
            <a:r>
              <a:rPr sz="1250" b="0">
                <a:solidFill>
                  <a:srgbClr val="1E293B"/>
                </a:solidFill>
                <a:latin typeface="Times New Roman"/>
                <a:ea typeface="宋体"/>
              </a:rPr>
              <a:t>- MP=0 总产最大，MP=AP 均产最大</a:t>
            </a:r>
          </a:p>
          <a:p>
            <a:pPr algn="l">
              <a:lnSpc>
                <a:spcPct val="120000"/>
              </a:lnSpc>
              <a:spcAft>
                <a:spcPts val="500"/>
              </a:spcAft>
            </a:pPr>
            <a:r>
              <a:rPr sz="1250" b="0">
                <a:solidFill>
                  <a:srgbClr val="1E293B"/>
                </a:solidFill>
                <a:latin typeface="Times New Roman"/>
                <a:ea typeface="宋体"/>
              </a:rPr>
              <a:t>- 边际收益递减规律核心前提</a:t>
            </a:r>
          </a:p>
          <a:p>
            <a:pPr algn="l">
              <a:lnSpc>
                <a:spcPct val="120000"/>
              </a:lnSpc>
              <a:spcAft>
                <a:spcPts val="500"/>
              </a:spcAft>
            </a:pPr>
            <a:r>
              <a:rPr sz="1250" b="0">
                <a:solidFill>
                  <a:srgbClr val="1E293B"/>
                </a:solidFill>
                <a:latin typeface="Times New Roman"/>
                <a:ea typeface="宋体"/>
              </a:rPr>
              <a:t>- 第二阶段：唯一经济合理生产区间</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11880" y="1645920"/>
            <a:ext cx="2103120" cy="640080"/>
          </a:xfrm>
          <a:prstGeom prst="rect">
            <a:avLst/>
          </a:prstGeom>
          <a:noFill/>
        </p:spPr>
        <p:txBody>
          <a:bodyPr wrap="none" lIns="0" tIns="0" rIns="0" bIns="0">
            <a:spAutoFit/>
          </a:bodyPr>
          <a:lstStyle/>
          <a:p>
            <a:pPr algn="l">
              <a:lnSpc>
                <a:spcPct val="120000"/>
              </a:lnSpc>
            </a:pPr>
            <a:r>
              <a:rPr sz="3800" b="1">
                <a:solidFill>
                  <a:srgbClr val="2E86C1"/>
                </a:solidFill>
                <a:latin typeface="Times New Roman"/>
                <a:ea typeface="宋体"/>
              </a:rPr>
              <a:t>02</a:t>
            </a:r>
          </a:p>
        </p:txBody>
      </p:sp>
      <p:sp>
        <p:nvSpPr>
          <p:cNvPr id="18" name="TextBox 17"/>
          <p:cNvSpPr txBox="1"/>
          <p:nvPr/>
        </p:nvSpPr>
        <p:spPr>
          <a:xfrm>
            <a:off x="361188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02 多种要素最低成本</a:t>
            </a:r>
          </a:p>
        </p:txBody>
      </p:sp>
      <p:sp>
        <p:nvSpPr>
          <p:cNvPr id="19" name="Rectangle 18"/>
          <p:cNvSpPr/>
          <p:nvPr/>
        </p:nvSpPr>
        <p:spPr>
          <a:xfrm>
            <a:off x="3611880" y="301752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8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等产量线 4 大特征与 MRTS 递减</a:t>
            </a:r>
          </a:p>
          <a:p>
            <a:pPr algn="l">
              <a:lnSpc>
                <a:spcPct val="120000"/>
              </a:lnSpc>
              <a:spcAft>
                <a:spcPts val="500"/>
              </a:spcAft>
            </a:pPr>
            <a:r>
              <a:rPr sz="1250" b="0">
                <a:solidFill>
                  <a:srgbClr val="1E293B"/>
                </a:solidFill>
                <a:latin typeface="Times New Roman"/>
                <a:ea typeface="宋体"/>
              </a:rPr>
              <a:t>- 等成本线斜率 = 要素相对价格比</a:t>
            </a:r>
          </a:p>
          <a:p>
            <a:pPr algn="l">
              <a:lnSpc>
                <a:spcPct val="120000"/>
              </a:lnSpc>
              <a:spcAft>
                <a:spcPts val="500"/>
              </a:spcAft>
            </a:pPr>
            <a:r>
              <a:rPr sz="1250" b="0">
                <a:solidFill>
                  <a:srgbClr val="1E293B"/>
                </a:solidFill>
                <a:latin typeface="Times New Roman"/>
                <a:ea typeface="宋体"/>
              </a:rPr>
              <a:t>- 成本最低切点：MPL/w = MPK/r</a:t>
            </a:r>
          </a:p>
          <a:p>
            <a:pPr algn="l">
              <a:lnSpc>
                <a:spcPct val="120000"/>
              </a:lnSpc>
              <a:spcAft>
                <a:spcPts val="500"/>
              </a:spcAft>
            </a:pPr>
            <a:r>
              <a:rPr sz="1250" b="0">
                <a:solidFill>
                  <a:srgbClr val="1E293B"/>
                </a:solidFill>
                <a:latin typeface="Times New Roman"/>
                <a:ea typeface="宋体"/>
              </a:rPr>
              <a:t>- 生产扩大路线指导长期资本扩张</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6520" y="1645920"/>
            <a:ext cx="2103120" cy="640080"/>
          </a:xfrm>
          <a:prstGeom prst="rect">
            <a:avLst/>
          </a:prstGeom>
          <a:noFill/>
        </p:spPr>
        <p:txBody>
          <a:bodyPr wrap="none" lIns="0" tIns="0" rIns="0" bIns="0">
            <a:spAutoFit/>
          </a:bodyPr>
          <a:lstStyle/>
          <a:p>
            <a:pPr algn="l">
              <a:lnSpc>
                <a:spcPct val="120000"/>
              </a:lnSpc>
            </a:pPr>
            <a:r>
              <a:rPr sz="3800" b="1">
                <a:solidFill>
                  <a:srgbClr val="1A8C5D"/>
                </a:solidFill>
                <a:latin typeface="Times New Roman"/>
                <a:ea typeface="宋体"/>
              </a:rPr>
              <a:t>03</a:t>
            </a:r>
          </a:p>
        </p:txBody>
      </p:sp>
      <p:sp>
        <p:nvSpPr>
          <p:cNvPr id="24" name="TextBox 23"/>
          <p:cNvSpPr txBox="1"/>
          <p:nvPr/>
        </p:nvSpPr>
        <p:spPr>
          <a:xfrm>
            <a:off x="644652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03 规模收益与九大因素</a:t>
            </a:r>
          </a:p>
        </p:txBody>
      </p:sp>
      <p:sp>
        <p:nvSpPr>
          <p:cNvPr id="25" name="Rectangle 24"/>
          <p:cNvSpPr/>
          <p:nvPr/>
        </p:nvSpPr>
        <p:spPr>
          <a:xfrm>
            <a:off x="6446520" y="301752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规模递增 9 大细分内在动因</a:t>
            </a:r>
          </a:p>
          <a:p>
            <a:pPr algn="l">
              <a:lnSpc>
                <a:spcPct val="120000"/>
              </a:lnSpc>
              <a:spcAft>
                <a:spcPts val="500"/>
              </a:spcAft>
            </a:pPr>
            <a:r>
              <a:rPr sz="1250" b="0">
                <a:solidFill>
                  <a:srgbClr val="1E293B"/>
                </a:solidFill>
                <a:latin typeface="Times New Roman"/>
                <a:ea typeface="宋体"/>
              </a:rPr>
              <a:t>- 技术/专业化/存货/采销/金融等</a:t>
            </a:r>
          </a:p>
          <a:p>
            <a:pPr algn="l">
              <a:lnSpc>
                <a:spcPct val="120000"/>
              </a:lnSpc>
              <a:spcAft>
                <a:spcPts val="500"/>
              </a:spcAft>
            </a:pPr>
            <a:r>
              <a:rPr sz="1250" b="0">
                <a:solidFill>
                  <a:srgbClr val="1E293B"/>
                </a:solidFill>
                <a:latin typeface="Times New Roman"/>
                <a:ea typeface="宋体"/>
              </a:rPr>
              <a:t>- 管理官僚主义引致规模报酬递减</a:t>
            </a:r>
          </a:p>
          <a:p>
            <a:pPr algn="l">
              <a:lnSpc>
                <a:spcPct val="120000"/>
              </a:lnSpc>
              <a:spcAft>
                <a:spcPts val="500"/>
              </a:spcAft>
            </a:pPr>
            <a:r>
              <a:rPr sz="1250" b="0">
                <a:solidFill>
                  <a:srgbClr val="1E293B"/>
                </a:solidFill>
                <a:latin typeface="Times New Roman"/>
                <a:ea typeface="宋体"/>
              </a:rPr>
              <a:t>- 马克西曲线与汽车最优规模经济</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81160" y="1645920"/>
            <a:ext cx="2103120" cy="640080"/>
          </a:xfrm>
          <a:prstGeom prst="rect">
            <a:avLst/>
          </a:prstGeom>
          <a:noFill/>
        </p:spPr>
        <p:txBody>
          <a:bodyPr wrap="none" lIns="0" tIns="0" rIns="0" bIns="0">
            <a:spAutoFit/>
          </a:bodyPr>
          <a:lstStyle/>
          <a:p>
            <a:pPr algn="l">
              <a:lnSpc>
                <a:spcPct val="120000"/>
              </a:lnSpc>
            </a:pPr>
            <a:r>
              <a:rPr sz="3800" b="1">
                <a:solidFill>
                  <a:srgbClr val="C88C1B"/>
                </a:solidFill>
                <a:latin typeface="Times New Roman"/>
                <a:ea typeface="宋体"/>
              </a:rPr>
              <a:t>04</a:t>
            </a:r>
          </a:p>
        </p:txBody>
      </p:sp>
      <p:sp>
        <p:nvSpPr>
          <p:cNvPr id="30" name="TextBox 29"/>
          <p:cNvSpPr txBox="1"/>
          <p:nvPr/>
        </p:nvSpPr>
        <p:spPr>
          <a:xfrm>
            <a:off x="9281160" y="2468880"/>
            <a:ext cx="2103120" cy="50292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04 柯布函数与技术进步</a:t>
            </a:r>
          </a:p>
        </p:txBody>
      </p:sp>
      <p:sp>
        <p:nvSpPr>
          <p:cNvPr id="31" name="Rectangle 30"/>
          <p:cNvSpPr/>
          <p:nvPr/>
        </p:nvSpPr>
        <p:spPr>
          <a:xfrm>
            <a:off x="9281160" y="301752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3200400"/>
            <a:ext cx="2103120" cy="210312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Q = A K^α L^β 四大优良性质</a:t>
            </a:r>
          </a:p>
          <a:p>
            <a:pPr algn="l">
              <a:lnSpc>
                <a:spcPct val="120000"/>
              </a:lnSpc>
              <a:spcAft>
                <a:spcPts val="500"/>
              </a:spcAft>
            </a:pPr>
            <a:r>
              <a:rPr sz="1250" b="0">
                <a:solidFill>
                  <a:srgbClr val="1E293B"/>
                </a:solidFill>
                <a:latin typeface="Times New Roman"/>
                <a:ea typeface="宋体"/>
              </a:rPr>
              <a:t>- α+β 判别规模报酬类型</a:t>
            </a:r>
          </a:p>
          <a:p>
            <a:pPr algn="l">
              <a:lnSpc>
                <a:spcPct val="120000"/>
              </a:lnSpc>
              <a:spcAft>
                <a:spcPts val="500"/>
              </a:spcAft>
            </a:pPr>
            <a:r>
              <a:rPr sz="1250" b="0">
                <a:solidFill>
                  <a:srgbClr val="1E293B"/>
                </a:solidFill>
                <a:latin typeface="Times New Roman"/>
                <a:ea typeface="宋体"/>
              </a:rPr>
              <a:t>- 劳动/资本节约与中立型进步</a:t>
            </a:r>
          </a:p>
          <a:p>
            <a:pPr algn="l">
              <a:lnSpc>
                <a:spcPct val="120000"/>
              </a:lnSpc>
              <a:spcAft>
                <a:spcPts val="500"/>
              </a:spcAft>
            </a:pPr>
            <a:r>
              <a:rPr sz="1250" b="0">
                <a:solidFill>
                  <a:srgbClr val="1E293B"/>
                </a:solidFill>
                <a:latin typeface="Times New Roman"/>
                <a:ea typeface="宋体"/>
              </a:rPr>
              <a:t>- 索洛增长余值：GA = GQ - αGK - βGL</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核心逻辑：生产决策分析涵盖短期单一要素边际最优化、长期多要素低成本组合、规模经济边界与技术进步测算。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第1节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什么是生产函数</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界定生产函数概念、技术水平约束条件，以及短期与长期生产函数的本质区别。</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第4章 生产决策分析 · 权威教材精细化教学架构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第1节 什么是生产函数</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一、生产函数概念与短期/长期时间维度</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生产函数的定义与数学表达</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（1）经济学定义： </a:t>
            </a:r>
            <a:r>
              <a:rPr sz="1250" b="0">
                <a:solidFill>
                  <a:srgbClr val="1E293B"/>
                </a:solidFill>
                <a:latin typeface="Times New Roman"/>
                <a:ea typeface="宋体"/>
              </a:rPr>
              <a:t>在一定时期内，在技术水平给定的条件下，生产过程中各种投入要素组合所能产出的最大可能产量。</a:t>
            </a:r>
          </a:p>
          <a:p>
            <a:pPr>
              <a:lnSpc>
                <a:spcPct val="120000"/>
              </a:lnSpc>
              <a:spcAft>
                <a:spcPts val="600"/>
              </a:spcAft>
            </a:pPr>
            <a:r>
              <a:rPr sz="1250" b="1">
                <a:solidFill>
                  <a:srgbClr val="1B3A5C"/>
                </a:solidFill>
                <a:latin typeface="Times New Roman"/>
                <a:ea typeface="宋体"/>
              </a:rPr>
              <a:t>（2）一般代数方程： </a:t>
            </a:r>
            <a:r>
              <a:rPr sz="1250" b="0">
                <a:solidFill>
                  <a:srgbClr val="1E293B"/>
                </a:solidFill>
                <a:latin typeface="Times New Roman"/>
                <a:ea typeface="宋体"/>
              </a:rPr>
              <a:t>Q = f(X_1, X_2, ..., X_n) \quad (Q: 最大产出量, X_i: 各种要素投入量)</a:t>
            </a:r>
          </a:p>
          <a:p>
            <a:pPr>
              <a:lnSpc>
                <a:spcPct val="120000"/>
              </a:lnSpc>
              <a:spcAft>
                <a:spcPts val="600"/>
              </a:spcAft>
            </a:pPr>
            <a:r>
              <a:rPr sz="1250" b="1">
                <a:solidFill>
                  <a:srgbClr val="1B3A5C"/>
                </a:solidFill>
                <a:latin typeface="Times New Roman"/>
                <a:ea typeface="宋体"/>
              </a:rPr>
              <a:t>（3）两要素经典简化模型： </a:t>
            </a:r>
            <a:r>
              <a:rPr sz="1250" b="0">
                <a:solidFill>
                  <a:srgbClr val="1E293B"/>
                </a:solidFill>
                <a:latin typeface="Times New Roman"/>
                <a:ea typeface="宋体"/>
              </a:rPr>
              <a:t>Q = f(L, K) \quad (L: 劳动力投入量, K: 资本与厂房设备投入量)</a:t>
            </a:r>
          </a:p>
          <a:p>
            <a:pPr>
              <a:lnSpc>
                <a:spcPct val="120000"/>
              </a:lnSpc>
              <a:spcAft>
                <a:spcPts val="600"/>
              </a:spcAft>
            </a:pPr>
            <a:r>
              <a:rPr sz="1250" b="1">
                <a:solidFill>
                  <a:srgbClr val="1B3A5C"/>
                </a:solidFill>
                <a:latin typeface="Times New Roman"/>
                <a:ea typeface="宋体"/>
              </a:rPr>
              <a:t>（4）技术效率假定： </a:t>
            </a:r>
            <a:r>
              <a:rPr sz="1250" b="0">
                <a:solidFill>
                  <a:srgbClr val="1E293B"/>
                </a:solidFill>
                <a:latin typeface="Times New Roman"/>
                <a:ea typeface="宋体"/>
              </a:rPr>
              <a:t>生产函数刻画的是在企业消除一切内部管理浪费与偷懒之后的最优生产边界。</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短期与长期的严格经济学划分</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（1）短期生产函数（Short Run）： </a:t>
            </a:r>
            <a:r>
              <a:rPr sz="1250" b="0">
                <a:solidFill>
                  <a:srgbClr val="1E293B"/>
                </a:solidFill>
                <a:latin typeface="Times New Roman"/>
                <a:ea typeface="宋体"/>
              </a:rPr>
              <a:t>至少有一种投入要素的投入量是固定不变的（通常厂房设备 K 固定，劳动力 L 可变），即 Q = f(L, \bar{K})。</a:t>
            </a:r>
          </a:p>
          <a:p>
            <a:pPr>
              <a:lnSpc>
                <a:spcPct val="120000"/>
              </a:lnSpc>
              <a:spcAft>
                <a:spcPts val="600"/>
              </a:spcAft>
            </a:pPr>
            <a:r>
              <a:rPr sz="1250" b="1">
                <a:solidFill>
                  <a:srgbClr val="2E86C1"/>
                </a:solidFill>
                <a:latin typeface="Times New Roman"/>
                <a:ea typeface="宋体"/>
              </a:rPr>
              <a:t>（2）长期生产函数（Long Run）： </a:t>
            </a:r>
            <a:r>
              <a:rPr sz="1250" b="0">
                <a:solidFill>
                  <a:srgbClr val="1E293B"/>
                </a:solidFill>
                <a:latin typeface="Times New Roman"/>
                <a:ea typeface="宋体"/>
              </a:rPr>
              <a:t>时间跨度足够长，企业可以调整包括厂房在内的所有投入要素，所有要素皆为可变量，即 Q = f(L, K)。</a:t>
            </a:r>
          </a:p>
          <a:p>
            <a:pPr>
              <a:lnSpc>
                <a:spcPct val="120000"/>
              </a:lnSpc>
              <a:spcAft>
                <a:spcPts val="600"/>
              </a:spcAft>
            </a:pPr>
            <a:r>
              <a:rPr sz="1250" b="1">
                <a:solidFill>
                  <a:srgbClr val="2E86C1"/>
                </a:solidFill>
                <a:latin typeface="Times New Roman"/>
                <a:ea typeface="宋体"/>
              </a:rPr>
              <a:t>（3）决策任务对应关系： </a:t>
            </a:r>
            <a:r>
              <a:rPr sz="1250" b="0">
                <a:solidFill>
                  <a:srgbClr val="1E293B"/>
                </a:solidFill>
                <a:latin typeface="Times New Roman"/>
                <a:ea typeface="宋体"/>
              </a:rPr>
              <a:t>第 2 节探讨短期单一可变要素最优利用；第 3 节与第 4 节探讨长期多要素组合与规模报酬。</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核心要点：短期与长期的区分不是按日历时间绝对长短划分，而是完全取决于要素调整的技术与合约灵活性。</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第2节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单一可变投入要素的最优利用（短期决策）</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详解总产量、平均产量、边际产量三大定理，边际报酬递减机理与生产三阶段合理性成本证明。</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第4章 生产决策分析 · 权威教材精细化教学架构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单一可变投入要素的最优利用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一、总产量、平均产量和边际产量的相互关系三大定理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pic>
        <p:nvPicPr>
          <p:cNvPr id="9" name="Picture 8" descr="chart_4_1.png"/>
          <p:cNvPicPr>
            <a:picLocks noChangeAspect="1"/>
          </p:cNvPicPr>
          <p:nvPr/>
        </p:nvPicPr>
        <p:blipFill>
          <a:blip r:embed="rId2"/>
          <a:stretch>
            <a:fillRect/>
          </a:stretch>
        </p:blipFill>
        <p:spPr>
          <a:xfrm>
            <a:off x="457200" y="1325880"/>
            <a:ext cx="5303520" cy="4545874"/>
          </a:xfrm>
          <a:prstGeom prst="rect">
            <a:avLst/>
          </a:prstGeom>
        </p:spPr>
      </p:pic>
      <p:sp>
        <p:nvSpPr>
          <p:cNvPr id="10" name="Rectangle 9"/>
          <p:cNvSpPr/>
          <p:nvPr/>
        </p:nvSpPr>
        <p:spPr>
          <a:xfrm>
            <a:off x="5989320" y="1325880"/>
            <a:ext cx="571500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89320" y="1325880"/>
            <a:ext cx="571500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三次函数推导与三大定理</a:t>
            </a:r>
          </a:p>
        </p:txBody>
      </p:sp>
      <p:sp>
        <p:nvSpPr>
          <p:cNvPr id="12" name="TextBox 11"/>
          <p:cNvSpPr txBox="1"/>
          <p:nvPr/>
        </p:nvSpPr>
        <p:spPr>
          <a:xfrm>
            <a:off x="6172200" y="1920240"/>
            <a:ext cx="5349240" cy="365760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（1）数学建模方程： </a:t>
            </a:r>
            <a:r>
              <a:rPr sz="1200" b="0">
                <a:solidFill>
                  <a:srgbClr val="1E293B"/>
                </a:solidFill>
                <a:latin typeface="Times New Roman"/>
                <a:ea typeface="宋体"/>
              </a:rPr>
              <a:t>总产 TP = 3L^2 - \frac{1}{3}L^3 \implies 均产 AP = 3L - \frac{1}{3}L^2 \implies 边产 MP = 6L - L^2</a:t>
            </a:r>
          </a:p>
          <a:p>
            <a:pPr>
              <a:lnSpc>
                <a:spcPct val="120000"/>
              </a:lnSpc>
              <a:spcAft>
                <a:spcPts val="500"/>
              </a:spcAft>
            </a:pPr>
            <a:r>
              <a:rPr sz="1200" b="1">
                <a:solidFill>
                  <a:srgbClr val="1B3A5C"/>
                </a:solidFill>
                <a:latin typeface="Times New Roman"/>
                <a:ea typeface="宋体"/>
              </a:rPr>
              <a:t>（2）定理一（MP 是 TP 切线斜率）： </a:t>
            </a:r>
            <a:r>
              <a:rPr sz="1200" b="0">
                <a:solidFill>
                  <a:srgbClr val="1E293B"/>
                </a:solidFill>
                <a:latin typeface="Times New Roman"/>
                <a:ea typeface="宋体"/>
              </a:rPr>
              <a:t>MP_L = dTP/dL。拐点 A (L=3) 处 MP 达到峰值；顶点 C (L=6) 处 MP=0，TP 达到最大值 36。</a:t>
            </a:r>
          </a:p>
          <a:p>
            <a:pPr>
              <a:lnSpc>
                <a:spcPct val="120000"/>
              </a:lnSpc>
              <a:spcAft>
                <a:spcPts val="500"/>
              </a:spcAft>
            </a:pPr>
            <a:r>
              <a:rPr sz="1200" b="1">
                <a:solidFill>
                  <a:srgbClr val="1B3A5C"/>
                </a:solidFill>
                <a:latin typeface="Times New Roman"/>
                <a:ea typeface="宋体"/>
              </a:rPr>
              <a:t>（3）定理二（AP 是 TP 与原点连线斜率）： </a:t>
            </a:r>
            <a:r>
              <a:rPr sz="1200" b="0">
                <a:solidFill>
                  <a:srgbClr val="1E293B"/>
                </a:solidFill>
                <a:latin typeface="Times New Roman"/>
                <a:ea typeface="宋体"/>
              </a:rPr>
              <a:t>AP_L = TP/L。在原点切线点 B (L=4.5)，切线与割线重合，AP 与 MP 相交且 AP 达到峰值 6.75。</a:t>
            </a:r>
          </a:p>
          <a:p>
            <a:pPr>
              <a:lnSpc>
                <a:spcPct val="120000"/>
              </a:lnSpc>
              <a:spcAft>
                <a:spcPts val="500"/>
              </a:spcAft>
            </a:pPr>
            <a:r>
              <a:rPr sz="1200" b="1">
                <a:solidFill>
                  <a:srgbClr val="1B3A5C"/>
                </a:solidFill>
                <a:latin typeface="Times New Roman"/>
                <a:ea typeface="宋体"/>
              </a:rPr>
              <a:t>（4）定理三（MP 与 AP 的牵引关系）： </a:t>
            </a:r>
            <a:r>
              <a:rPr sz="1200" b="0">
                <a:solidFill>
                  <a:srgbClr val="1E293B"/>
                </a:solidFill>
                <a:latin typeface="Times New Roman"/>
                <a:ea typeface="宋体"/>
              </a:rPr>
              <a:t>当 MP &gt; AP 时，AP 上升；当 MP &lt; AP 时，AP 下降；当且仅当 MP = AP 时，AP 达到最大值。</a:t>
            </a:r>
          </a:p>
        </p:txBody>
      </p:sp>
      <p:sp>
        <p:nvSpPr>
          <p:cNvPr id="13" name="Rectangle 12"/>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理论精要：三大定理是微观生产分析的数学金科玉律，准确指引企业劳动力边际产出的几何走向。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单一可变投入要素的最优利用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二、边际收益递减规律与生产的三阶段划分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边际收益递减规律（Law of Diminishing Returns）</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（1）规律严格表述： </a:t>
            </a:r>
            <a:r>
              <a:rPr sz="1250" b="0">
                <a:solidFill>
                  <a:srgbClr val="1E293B"/>
                </a:solidFill>
                <a:latin typeface="Times New Roman"/>
                <a:ea typeface="宋体"/>
              </a:rPr>
              <a:t>在技术水平不变的前提下，连续等量增加某种可变要素的投入，当达到一定限度后，新增该要素带来的边际产量必然递减。</a:t>
            </a:r>
          </a:p>
          <a:p>
            <a:pPr>
              <a:lnSpc>
                <a:spcPct val="120000"/>
              </a:lnSpc>
              <a:spcAft>
                <a:spcPts val="600"/>
              </a:spcAft>
            </a:pPr>
            <a:r>
              <a:rPr sz="1250" b="1">
                <a:solidFill>
                  <a:srgbClr val="1B3A5C"/>
                </a:solidFill>
                <a:latin typeface="Times New Roman"/>
                <a:ea typeface="宋体"/>
              </a:rPr>
              <a:t>（2）客观物理根源： </a:t>
            </a:r>
            <a:r>
              <a:rPr sz="1250" b="0">
                <a:solidFill>
                  <a:srgbClr val="1E293B"/>
                </a:solidFill>
                <a:latin typeface="Times New Roman"/>
                <a:ea typeface="宋体"/>
              </a:rPr>
              <a:t>可变要素（工人）只能与固定要素（机器、土地）相结合；工人过多造成机器拥挤、排队等待。</a:t>
            </a:r>
          </a:p>
          <a:p>
            <a:pPr>
              <a:lnSpc>
                <a:spcPct val="120000"/>
              </a:lnSpc>
              <a:spcAft>
                <a:spcPts val="600"/>
              </a:spcAft>
            </a:pPr>
            <a:r>
              <a:rPr sz="1250" b="1">
                <a:solidFill>
                  <a:srgbClr val="1B3A5C"/>
                </a:solidFill>
                <a:latin typeface="Times New Roman"/>
                <a:ea typeface="宋体"/>
              </a:rPr>
              <a:t>（3）生活中的经济学4-1： </a:t>
            </a:r>
            <a:r>
              <a:rPr sz="1250" b="0">
                <a:solidFill>
                  <a:srgbClr val="1E293B"/>
                </a:solidFill>
                <a:latin typeface="Times New Roman"/>
                <a:ea typeface="宋体"/>
              </a:rPr>
              <a:t>'人多真的好办事吗'——在固定土地或固定设备上盲目堆积劳动力只会导致人浮于事、边际产量锐减。</a:t>
            </a:r>
          </a:p>
          <a:p>
            <a:pPr>
              <a:lnSpc>
                <a:spcPct val="120000"/>
              </a:lnSpc>
              <a:spcAft>
                <a:spcPts val="600"/>
              </a:spcAft>
            </a:pPr>
            <a:r>
              <a:rPr sz="1250" b="1">
                <a:solidFill>
                  <a:srgbClr val="1B3A5C"/>
                </a:solidFill>
                <a:latin typeface="Times New Roman"/>
                <a:ea typeface="宋体"/>
              </a:rPr>
              <a:t>（4）案例4-1： </a:t>
            </a:r>
            <a:r>
              <a:rPr sz="1250" b="0">
                <a:solidFill>
                  <a:srgbClr val="1E293B"/>
                </a:solidFill>
                <a:latin typeface="Times New Roman"/>
                <a:ea typeface="宋体"/>
              </a:rPr>
              <a:t>马尔萨斯'人口论'破产的原因：忽视了农业科技进步大幅推高了生产函数边界。</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生产的三阶段划分及其经济合理性成本证明</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（1）第Ⅰ阶段（0 &lt; L &lt; L_{AP_{max}}）： </a:t>
            </a:r>
            <a:r>
              <a:rPr sz="1250" b="0">
                <a:solidFill>
                  <a:srgbClr val="1E293B"/>
                </a:solidFill>
                <a:latin typeface="Times New Roman"/>
                <a:ea typeface="宋体"/>
              </a:rPr>
              <a:t>AP 递增且 MP &gt; 0。固定资本相对过剩，增加工人可使单位固定成本和变动成本双双下降，停在此阶段经济上不合理！</a:t>
            </a:r>
          </a:p>
          <a:p>
            <a:pPr>
              <a:lnSpc>
                <a:spcPct val="120000"/>
              </a:lnSpc>
              <a:spcAft>
                <a:spcPts val="600"/>
              </a:spcAft>
            </a:pPr>
            <a:r>
              <a:rPr sz="1250" b="1">
                <a:solidFill>
                  <a:srgbClr val="2E86C1"/>
                </a:solidFill>
                <a:latin typeface="Times New Roman"/>
                <a:ea typeface="宋体"/>
              </a:rPr>
              <a:t>（2）第Ⅲ阶段（L &gt; L_{MP=0}）： </a:t>
            </a:r>
            <a:r>
              <a:rPr sz="1250" b="0">
                <a:solidFill>
                  <a:srgbClr val="1E293B"/>
                </a:solidFill>
                <a:latin typeface="Times New Roman"/>
                <a:ea typeface="宋体"/>
              </a:rPr>
              <a:t>MP &lt; 0。工人严重过剩互相干扰，总产量绝对下降，变动成本急剧攀升，经济上绝对不可行！</a:t>
            </a:r>
          </a:p>
          <a:p>
            <a:pPr>
              <a:lnSpc>
                <a:spcPct val="120000"/>
              </a:lnSpc>
              <a:spcAft>
                <a:spcPts val="600"/>
              </a:spcAft>
            </a:pPr>
            <a:r>
              <a:rPr sz="1250" b="1">
                <a:solidFill>
                  <a:srgbClr val="2E86C1"/>
                </a:solidFill>
                <a:latin typeface="Times New Roman"/>
                <a:ea typeface="宋体"/>
              </a:rPr>
              <a:t>（3）第Ⅱ阶段（L_{AP_{max}} \le L \le L_{MP=0}）： </a:t>
            </a:r>
            <a:r>
              <a:rPr sz="1250" b="0">
                <a:solidFill>
                  <a:srgbClr val="1E293B"/>
                </a:solidFill>
                <a:latin typeface="Times New Roman"/>
                <a:ea typeface="宋体"/>
              </a:rPr>
              <a:t>MP 递减但为正，AP 下降但 TP 仍在上升。单位固定成本下降与单位变动成本上升相抵消，是唯一经济合理的生产区间！</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核心要点：理性企业的短期最优用工规模必然且只能落在生产的第Ⅱ阶段之内。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第2节 单一可变投入要素的最优利用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四、单一可变要素最优投入量的决策规则与例题推演</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边际产量收入（MRP）与利润最大化条件</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（1）边际产量收入定义： </a:t>
            </a:r>
            <a:r>
              <a:rPr sz="1250" b="0">
                <a:solidFill>
                  <a:srgbClr val="1E293B"/>
                </a:solidFill>
                <a:latin typeface="Times New Roman"/>
                <a:ea typeface="宋体"/>
              </a:rPr>
              <a:t>MRP_L = MP_L \cdot MR = MP_L \cdot P \quad (完全竞争市场下 MR=P)</a:t>
            </a:r>
          </a:p>
          <a:p>
            <a:pPr>
              <a:lnSpc>
                <a:spcPct val="120000"/>
              </a:lnSpc>
              <a:spcAft>
                <a:spcPts val="600"/>
              </a:spcAft>
            </a:pPr>
            <a:r>
              <a:rPr sz="1250" b="1">
                <a:solidFill>
                  <a:srgbClr val="1B3A5C"/>
                </a:solidFill>
                <a:latin typeface="Times New Roman"/>
                <a:ea typeface="宋体"/>
              </a:rPr>
              <a:t>（2）边际要素成本： </a:t>
            </a:r>
            <a:r>
              <a:rPr sz="1250" b="0">
                <a:solidFill>
                  <a:srgbClr val="1E293B"/>
                </a:solidFill>
                <a:latin typeface="Times New Roman"/>
                <a:ea typeface="宋体"/>
              </a:rPr>
              <a:t>MFC_L = w \quad (w 为市场工人工资率)</a:t>
            </a:r>
          </a:p>
          <a:p>
            <a:pPr>
              <a:lnSpc>
                <a:spcPct val="120000"/>
              </a:lnSpc>
              <a:spcAft>
                <a:spcPts val="600"/>
              </a:spcAft>
            </a:pPr>
            <a:r>
              <a:rPr sz="1250" b="1">
                <a:solidFill>
                  <a:srgbClr val="1B3A5C"/>
                </a:solidFill>
                <a:latin typeface="Times New Roman"/>
                <a:ea typeface="宋体"/>
              </a:rPr>
              <a:t>（3）利润最大化决策准则： </a:t>
            </a:r>
            <a:r>
              <a:rPr sz="1250" b="0">
                <a:solidFill>
                  <a:srgbClr val="1E293B"/>
                </a:solidFill>
                <a:latin typeface="Times New Roman"/>
                <a:ea typeface="宋体"/>
              </a:rPr>
              <a:t>增加用工直至 MRP_L = w \iff MP_L \cdot P = w</a:t>
            </a:r>
          </a:p>
          <a:p>
            <a:pPr>
              <a:lnSpc>
                <a:spcPct val="120000"/>
              </a:lnSpc>
              <a:spcAft>
                <a:spcPts val="600"/>
              </a:spcAft>
            </a:pPr>
            <a:r>
              <a:rPr sz="1250" b="1">
                <a:solidFill>
                  <a:srgbClr val="1B3A5C"/>
                </a:solidFill>
                <a:latin typeface="Times New Roman"/>
                <a:ea typeface="宋体"/>
              </a:rPr>
              <a:t>（4）动态调整逻辑： </a:t>
            </a:r>
            <a:r>
              <a:rPr sz="1250" b="0">
                <a:solidFill>
                  <a:srgbClr val="1E293B"/>
                </a:solidFill>
                <a:latin typeface="Times New Roman"/>
                <a:ea typeface="宋体"/>
              </a:rPr>
              <a:t>若 MRP_L &gt; w，多雇一个工人带来的收入增量大于工资，应扩招；若 MRP_L &lt; w，应裁员。</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例4-1 &amp; 例4-2 实操演算</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（1）例4-1 算例： </a:t>
            </a:r>
            <a:r>
              <a:rPr sz="1250" b="0">
                <a:solidFill>
                  <a:srgbClr val="1E293B"/>
                </a:solidFill>
                <a:latin typeface="Times New Roman"/>
                <a:ea typeface="宋体"/>
              </a:rPr>
              <a:t>某农场土豆单价 P=10元，工人工资 w=40元/人。求最优工人数。</a:t>
            </a:r>
          </a:p>
          <a:p>
            <a:pPr>
              <a:lnSpc>
                <a:spcPct val="120000"/>
              </a:lnSpc>
              <a:spcAft>
                <a:spcPts val="600"/>
              </a:spcAft>
            </a:pPr>
            <a:r>
              <a:rPr sz="1250" b="1">
                <a:solidFill>
                  <a:srgbClr val="2E86C1"/>
                </a:solidFill>
                <a:latin typeface="Times New Roman"/>
                <a:ea typeface="宋体"/>
              </a:rPr>
              <a:t>（2）求解过程： </a:t>
            </a:r>
            <a:r>
              <a:rPr sz="1250" b="0">
                <a:solidFill>
                  <a:srgbClr val="1E293B"/>
                </a:solidFill>
                <a:latin typeface="Times New Roman"/>
                <a:ea typeface="宋体"/>
              </a:rPr>
              <a:t>计算各工人数下的边际产量 MP 与边际收入 MRP。当第 4 名工人时 MP=4，MRP=40元 恰好等于工资 40元，最优工人数为 4 人。</a:t>
            </a:r>
          </a:p>
          <a:p>
            <a:pPr>
              <a:lnSpc>
                <a:spcPct val="120000"/>
              </a:lnSpc>
              <a:spcAft>
                <a:spcPts val="600"/>
              </a:spcAft>
            </a:pPr>
            <a:r>
              <a:rPr sz="1250" b="1">
                <a:solidFill>
                  <a:srgbClr val="2E86C1"/>
                </a:solidFill>
                <a:latin typeface="Times New Roman"/>
                <a:ea typeface="宋体"/>
              </a:rPr>
              <a:t>（3）例4-2 算例： </a:t>
            </a:r>
            <a:r>
              <a:rPr sz="1250" b="0">
                <a:solidFill>
                  <a:srgbClr val="1E293B"/>
                </a:solidFill>
                <a:latin typeface="Times New Roman"/>
                <a:ea typeface="宋体"/>
              </a:rPr>
              <a:t>边际产量 MP_L = 10(K^{0.5}/L^{0.5})，资本 K=64，产品价格 P=5元，工资 w=10元。</a:t>
            </a:r>
          </a:p>
          <a:p>
            <a:pPr>
              <a:lnSpc>
                <a:spcPct val="120000"/>
              </a:lnSpc>
              <a:spcAft>
                <a:spcPts val="600"/>
              </a:spcAft>
            </a:pPr>
            <a:r>
              <a:rPr sz="1250" b="1">
                <a:solidFill>
                  <a:srgbClr val="2E86C1"/>
                </a:solidFill>
                <a:latin typeface="Times New Roman"/>
                <a:ea typeface="宋体"/>
              </a:rPr>
              <a:t>（4）求解方程： </a:t>
            </a:r>
            <a:r>
              <a:rPr sz="1250" b="0">
                <a:solidFill>
                  <a:srgbClr val="1E293B"/>
                </a:solidFill>
                <a:latin typeface="Times New Roman"/>
                <a:ea typeface="宋体"/>
              </a:rPr>
              <a:t>MRP_L = 5 \times 10(8/L^{0.5}) = 400 / L^{0.5} = 10 \implies L^{0.5} = 40 \implies L^* = 1600 人。</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核心要点：单一可变要素投入决策的本质是权衡劳动力边际产值与边际要素成本的对等性。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第3节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多种投入要素的最优组合（长期决策）</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详解等产量曲线、边际技术替代率递减、等成本线、成本最低切点定理与生产扩大路线。</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第4章 生产决策分析 · 权威教材精细化教学架构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多种投入要素的最优组合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一、等产量曲线与等成本曲线</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等产量曲线（Isoquant Curve）及其性质</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（1）等产量线定义： </a:t>
            </a:r>
            <a:r>
              <a:rPr sz="1250" b="0">
                <a:solidFill>
                  <a:srgbClr val="1E293B"/>
                </a:solidFill>
                <a:latin typeface="Times New Roman"/>
                <a:ea typeface="宋体"/>
              </a:rPr>
              <a:t>在技术水平不变时，生产同一产量的两种可变要素（L 和 K）所有可能组合的几何轨迹。</a:t>
            </a:r>
          </a:p>
          <a:p>
            <a:pPr>
              <a:lnSpc>
                <a:spcPct val="120000"/>
              </a:lnSpc>
              <a:spcAft>
                <a:spcPts val="600"/>
              </a:spcAft>
            </a:pPr>
            <a:r>
              <a:rPr sz="1250" b="1">
                <a:solidFill>
                  <a:srgbClr val="1B3A5C"/>
                </a:solidFill>
                <a:latin typeface="Times New Roman"/>
                <a:ea typeface="宋体"/>
              </a:rPr>
              <a:t>（2）四大基本特征： </a:t>
            </a:r>
            <a:r>
              <a:rPr sz="1250" b="0">
                <a:solidFill>
                  <a:srgbClr val="1E293B"/>
                </a:solidFill>
                <a:latin typeface="Times New Roman"/>
                <a:ea typeface="宋体"/>
              </a:rPr>
              <a:t>① 负斜率；② 凸向原点（MRTS 递减）；③ 任意两条永不相交；④ 离原点越远产量越高。</a:t>
            </a:r>
          </a:p>
          <a:p>
            <a:pPr>
              <a:lnSpc>
                <a:spcPct val="120000"/>
              </a:lnSpc>
              <a:spcAft>
                <a:spcPts val="600"/>
              </a:spcAft>
            </a:pPr>
            <a:r>
              <a:rPr sz="1250" b="1">
                <a:solidFill>
                  <a:srgbClr val="1B3A5C"/>
                </a:solidFill>
                <a:latin typeface="Times New Roman"/>
                <a:ea typeface="宋体"/>
              </a:rPr>
              <a:t>（3）边际技术替代率（MRTS）： </a:t>
            </a:r>
            <a:r>
              <a:rPr sz="1250" b="0">
                <a:solidFill>
                  <a:srgbClr val="1E293B"/>
                </a:solidFill>
                <a:latin typeface="Times New Roman"/>
                <a:ea typeface="宋体"/>
              </a:rPr>
              <a:t>MRTS_{LK} = -\frac{\Delta K}{\Delta L} = \frac{MP_L}{MP_K}（维持产量不变时，增加 1 单位劳动所能替代的资本数量）。</a:t>
            </a:r>
          </a:p>
          <a:p>
            <a:pPr>
              <a:lnSpc>
                <a:spcPct val="120000"/>
              </a:lnSpc>
              <a:spcAft>
                <a:spcPts val="600"/>
              </a:spcAft>
            </a:pPr>
            <a:r>
              <a:rPr sz="1250" b="1">
                <a:solidFill>
                  <a:srgbClr val="1B3A5C"/>
                </a:solidFill>
                <a:latin typeface="Times New Roman"/>
                <a:ea typeface="宋体"/>
              </a:rPr>
              <a:t>（4）MRTS 递减规律： </a:t>
            </a:r>
            <a:r>
              <a:rPr sz="1250" b="0">
                <a:solidFill>
                  <a:srgbClr val="1E293B"/>
                </a:solidFill>
                <a:latin typeface="Times New Roman"/>
                <a:ea typeface="宋体"/>
              </a:rPr>
              <a:t>随着劳动对资本的持续替代，劳动的边际产出递减而资本的边际产出递增，MRTS 必然持续递减。</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等成本曲线（Isocost Line）与斜率</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（1）等成本方程： </a:t>
            </a:r>
            <a:r>
              <a:rPr sz="1250" b="0">
                <a:solidFill>
                  <a:srgbClr val="1E293B"/>
                </a:solidFill>
                <a:latin typeface="Times New Roman"/>
                <a:ea typeface="宋体"/>
              </a:rPr>
              <a:t>C = wL + rK \implies K = \frac{C}{r} - \frac{w}{r} L \quad (w: 工资, r: 资本租金)</a:t>
            </a:r>
          </a:p>
          <a:p>
            <a:pPr>
              <a:lnSpc>
                <a:spcPct val="120000"/>
              </a:lnSpc>
              <a:spcAft>
                <a:spcPts val="600"/>
              </a:spcAft>
            </a:pPr>
            <a:r>
              <a:rPr sz="1250" b="1">
                <a:solidFill>
                  <a:srgbClr val="2E86C1"/>
                </a:solidFill>
                <a:latin typeface="Times New Roman"/>
                <a:ea typeface="宋体"/>
              </a:rPr>
              <a:t>（2）几何截距与斜率： </a:t>
            </a:r>
            <a:r>
              <a:rPr sz="1250" b="0">
                <a:solidFill>
                  <a:srgbClr val="1E293B"/>
                </a:solidFill>
                <a:latin typeface="Times New Roman"/>
                <a:ea typeface="宋体"/>
              </a:rPr>
              <a:t>纵截距为 C/r，横截距为 C/w，斜率为 -w/r（反映市场上两种要素的相对价格比）。</a:t>
            </a:r>
          </a:p>
          <a:p>
            <a:pPr>
              <a:lnSpc>
                <a:spcPct val="120000"/>
              </a:lnSpc>
              <a:spcAft>
                <a:spcPts val="600"/>
              </a:spcAft>
            </a:pPr>
            <a:r>
              <a:rPr sz="1250" b="1">
                <a:solidFill>
                  <a:srgbClr val="2E86C1"/>
                </a:solidFill>
                <a:latin typeface="Times New Roman"/>
                <a:ea typeface="宋体"/>
              </a:rPr>
              <a:t>（3）平移与转动： </a:t>
            </a:r>
            <a:r>
              <a:rPr sz="1250" b="0">
                <a:solidFill>
                  <a:srgbClr val="1E293B"/>
                </a:solidFill>
                <a:latin typeface="Times New Roman"/>
                <a:ea typeface="宋体"/>
              </a:rPr>
              <a:t>总预算 C 变动使等成本线平行移动；要素相对价格变动使等成本线发生旋转。</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核心要点：等产量曲线体现生产技术约束，等成本曲线体现企业财务预算约束，二者结合决定最优要素配比。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第3节 多种投入要素的最优组合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三、最优投入要素组合切点定理与例题演算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成本最低要素组合切点定理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（1）切点几何条件： </a:t>
            </a:r>
            <a:r>
              <a:rPr sz="1250" b="0">
                <a:solidFill>
                  <a:srgbClr val="1E293B"/>
                </a:solidFill>
                <a:latin typeface="Times New Roman"/>
                <a:ea typeface="宋体"/>
              </a:rPr>
              <a:t>既定产量下等产量曲线与最低等成本线相切于点 E^*，切点处两条线的斜率相等：</a:t>
            </a:r>
          </a:p>
          <a:p>
            <a:pPr>
              <a:lnSpc>
                <a:spcPct val="120000"/>
              </a:lnSpc>
              <a:spcAft>
                <a:spcPts val="600"/>
              </a:spcAft>
            </a:pPr>
            <a:r>
              <a:rPr sz="1250" b="1">
                <a:solidFill>
                  <a:srgbClr val="1B3A5C"/>
                </a:solidFill>
                <a:latin typeface="Times New Roman"/>
                <a:ea typeface="宋体"/>
              </a:rPr>
              <a:t>（2）黄金等边际法则： </a:t>
            </a:r>
            <a:r>
              <a:rPr sz="1250" b="0">
                <a:solidFill>
                  <a:srgbClr val="1E293B"/>
                </a:solidFill>
                <a:latin typeface="Times New Roman"/>
                <a:ea typeface="宋体"/>
              </a:rPr>
              <a:t>MRTS_{LK} = \frac{w}{r} \iff \frac{MP_L}{MP_K} = \frac{w}{r} \iff \frac{MP_L}{w} = \frac{MP_K}{r} = \lambda</a:t>
            </a:r>
          </a:p>
          <a:p>
            <a:pPr>
              <a:lnSpc>
                <a:spcPct val="120000"/>
              </a:lnSpc>
              <a:spcAft>
                <a:spcPts val="600"/>
              </a:spcAft>
            </a:pPr>
            <a:r>
              <a:rPr sz="1250" b="1">
                <a:solidFill>
                  <a:srgbClr val="1B3A5C"/>
                </a:solidFill>
                <a:latin typeface="Times New Roman"/>
                <a:ea typeface="宋体"/>
              </a:rPr>
              <a:t>（3）经济学真谛： </a:t>
            </a:r>
            <a:r>
              <a:rPr sz="1250" b="0">
                <a:solidFill>
                  <a:srgbClr val="1E293B"/>
                </a:solidFill>
                <a:latin typeface="Times New Roman"/>
                <a:ea typeface="宋体"/>
              </a:rPr>
              <a:t>花在劳动力上的最后一元钱的边际产量 = 花在资本上的最后一元钱的边际产量！</a:t>
            </a:r>
          </a:p>
          <a:p>
            <a:pPr>
              <a:lnSpc>
                <a:spcPct val="120000"/>
              </a:lnSpc>
              <a:spcAft>
                <a:spcPts val="600"/>
              </a:spcAft>
            </a:pPr>
            <a:r>
              <a:rPr sz="1250" b="1">
                <a:solidFill>
                  <a:srgbClr val="1B3A5C"/>
                </a:solidFill>
                <a:latin typeface="Times New Roman"/>
                <a:ea typeface="宋体"/>
              </a:rPr>
              <a:t>（4）案例4-2 启示： </a:t>
            </a:r>
            <a:r>
              <a:rPr sz="1250" b="0">
                <a:solidFill>
                  <a:srgbClr val="1E293B"/>
                </a:solidFill>
                <a:latin typeface="Times New Roman"/>
                <a:ea typeface="宋体"/>
              </a:rPr>
              <a:t>'机器换人'的经济学机理：沿海劳动力工资 w 大幅上涨，导致 w/r 升高，企业理性选择提高资本密集度 K/L。</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例4-3 至 例4-5 实战推导</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（1）例4-3 算例： </a:t>
            </a:r>
            <a:r>
              <a:rPr sz="1250" b="0">
                <a:solidFill>
                  <a:srgbClr val="1E293B"/>
                </a:solidFill>
                <a:latin typeface="Times New Roman"/>
                <a:ea typeface="宋体"/>
              </a:rPr>
              <a:t>生产函数 Q = 5LK，w=20元，r=50元，目标产量 Q=1000。求最低成本要素组合。</a:t>
            </a:r>
          </a:p>
          <a:p>
            <a:pPr>
              <a:lnSpc>
                <a:spcPct val="120000"/>
              </a:lnSpc>
              <a:spcAft>
                <a:spcPts val="600"/>
              </a:spcAft>
            </a:pPr>
            <a:r>
              <a:rPr sz="1250" b="1">
                <a:solidFill>
                  <a:srgbClr val="2E86C1"/>
                </a:solidFill>
                <a:latin typeface="Times New Roman"/>
                <a:ea typeface="宋体"/>
              </a:rPr>
              <a:t>（2）联立求解： </a:t>
            </a:r>
            <a:r>
              <a:rPr sz="1250" b="0">
                <a:solidFill>
                  <a:srgbClr val="1E293B"/>
                </a:solidFill>
                <a:latin typeface="Times New Roman"/>
                <a:ea typeface="宋体"/>
              </a:rPr>
              <a:t>MP_L = 5K, MP_K = 5L \implies \frac{5K}{5L} = \frac{20}{50} \implies K = 0.4L。代入产量方程：5L(0.4L) = 1000 \implies 2L^2 = 1000 \implies L^* = 22.36, K^* = 8.94。</a:t>
            </a:r>
          </a:p>
          <a:p>
            <a:pPr>
              <a:lnSpc>
                <a:spcPct val="120000"/>
              </a:lnSpc>
              <a:spcAft>
                <a:spcPts val="600"/>
              </a:spcAft>
            </a:pPr>
            <a:r>
              <a:rPr sz="1250" b="1">
                <a:solidFill>
                  <a:srgbClr val="2E86C1"/>
                </a:solidFill>
                <a:latin typeface="Times New Roman"/>
                <a:ea typeface="宋体"/>
              </a:rPr>
              <a:t>（3）最小总成本： </a:t>
            </a:r>
            <a:r>
              <a:rPr sz="1250" b="0">
                <a:solidFill>
                  <a:srgbClr val="1E293B"/>
                </a:solidFill>
                <a:latin typeface="Times New Roman"/>
                <a:ea typeface="宋体"/>
              </a:rPr>
              <a:t>C_{min} = 20 \times 22.36 + 50 \times 8.94 = 894.4 元。</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核心要点：等边际法则是指导企业采购与配置多要素投入的核心通用算法。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第4节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规模与收益的关系（Returns to Scale）</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系统探讨规模收益三种类型，全要素精细拆解促使规模报酬递增的 9 大细分内在根源。</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第4章 生产决策分析 · 权威教材精细化教学架构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规模与收益的关系</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一、规模收益的三种类型与发展阶段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规模收益的概念与三种基本类型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（1）规模收益定义： </a:t>
            </a:r>
            <a:r>
              <a:rPr sz="1250" b="0">
                <a:solidFill>
                  <a:srgbClr val="1E293B"/>
                </a:solidFill>
                <a:latin typeface="Times New Roman"/>
                <a:ea typeface="宋体"/>
              </a:rPr>
              <a:t>在长期中，当所有投入要素都按相同比例 k (k&gt;1) 增加时，产出量 Q 增加的比例 h 的变动规律。</a:t>
            </a:r>
          </a:p>
          <a:p>
            <a:pPr>
              <a:lnSpc>
                <a:spcPct val="120000"/>
              </a:lnSpc>
              <a:spcAft>
                <a:spcPts val="600"/>
              </a:spcAft>
            </a:pPr>
            <a:r>
              <a:rPr sz="1250" b="1">
                <a:solidFill>
                  <a:srgbClr val="1B3A5C"/>
                </a:solidFill>
                <a:latin typeface="Times New Roman"/>
                <a:ea typeface="宋体"/>
              </a:rPr>
              <a:t>（2）规模收益递增（IRS, h &gt; k）： </a:t>
            </a:r>
            <a:r>
              <a:rPr sz="1250" b="0">
                <a:solidFill>
                  <a:srgbClr val="1E293B"/>
                </a:solidFill>
                <a:latin typeface="Times New Roman"/>
                <a:ea typeface="宋体"/>
              </a:rPr>
              <a:t>产出增长幅度大于要素投入增长幅度（如投入增加 100%，产出增加 150%）。</a:t>
            </a:r>
          </a:p>
          <a:p>
            <a:pPr>
              <a:lnSpc>
                <a:spcPct val="120000"/>
              </a:lnSpc>
              <a:spcAft>
                <a:spcPts val="600"/>
              </a:spcAft>
            </a:pPr>
            <a:r>
              <a:rPr sz="1250" b="1">
                <a:solidFill>
                  <a:srgbClr val="1B3A5C"/>
                </a:solidFill>
                <a:latin typeface="Times New Roman"/>
                <a:ea typeface="宋体"/>
              </a:rPr>
              <a:t>（3）规模收益不变（CRS, h = k）： </a:t>
            </a:r>
            <a:r>
              <a:rPr sz="1250" b="0">
                <a:solidFill>
                  <a:srgbClr val="1E293B"/>
                </a:solidFill>
                <a:latin typeface="Times New Roman"/>
                <a:ea typeface="宋体"/>
              </a:rPr>
              <a:t>产出增长幅度等于要素投入增长幅度（如投入增加 100%，产出也增加 100%）。</a:t>
            </a:r>
          </a:p>
          <a:p>
            <a:pPr>
              <a:lnSpc>
                <a:spcPct val="120000"/>
              </a:lnSpc>
              <a:spcAft>
                <a:spcPts val="600"/>
              </a:spcAft>
            </a:pPr>
            <a:r>
              <a:rPr sz="1250" b="1">
                <a:solidFill>
                  <a:srgbClr val="1B3A5C"/>
                </a:solidFill>
                <a:latin typeface="Times New Roman"/>
                <a:ea typeface="宋体"/>
              </a:rPr>
              <a:t>（4）规模收益递减（DRS, h &lt; k）： </a:t>
            </a:r>
            <a:r>
              <a:rPr sz="1250" b="0">
                <a:solidFill>
                  <a:srgbClr val="1E293B"/>
                </a:solidFill>
                <a:latin typeface="Times New Roman"/>
                <a:ea typeface="宋体"/>
              </a:rPr>
              <a:t>产出增长幅度小于要素投入增长幅度（如投入增加 100%，产出仅增加 60%）。</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企业规模演进的三阶段规律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（1）阶段一（小规模扩产）： </a:t>
            </a:r>
            <a:r>
              <a:rPr sz="1250" b="0">
                <a:solidFill>
                  <a:srgbClr val="1E293B"/>
                </a:solidFill>
                <a:latin typeface="Times New Roman"/>
                <a:ea typeface="宋体"/>
              </a:rPr>
              <a:t>主要由技术装备与专业化分工驱动，经历强劲的规模收益递增阶段。</a:t>
            </a:r>
          </a:p>
          <a:p>
            <a:pPr>
              <a:lnSpc>
                <a:spcPct val="120000"/>
              </a:lnSpc>
              <a:spcAft>
                <a:spcPts val="600"/>
              </a:spcAft>
            </a:pPr>
            <a:r>
              <a:rPr sz="1250" b="1">
                <a:solidFill>
                  <a:srgbClr val="2E86C1"/>
                </a:solidFill>
                <a:latin typeface="Times New Roman"/>
                <a:ea typeface="宋体"/>
              </a:rPr>
              <a:t>（2）阶段二（中等适度规模）： </a:t>
            </a:r>
            <a:r>
              <a:rPr sz="1250" b="0">
                <a:solidFill>
                  <a:srgbClr val="1E293B"/>
                </a:solidFill>
                <a:latin typeface="Times New Roman"/>
                <a:ea typeface="宋体"/>
              </a:rPr>
              <a:t>技术红利充分释放，通过标准化复制工厂维持规模收益不变阶段。</a:t>
            </a:r>
          </a:p>
          <a:p>
            <a:pPr>
              <a:lnSpc>
                <a:spcPct val="120000"/>
              </a:lnSpc>
              <a:spcAft>
                <a:spcPts val="600"/>
              </a:spcAft>
            </a:pPr>
            <a:r>
              <a:rPr sz="1250" b="1">
                <a:solidFill>
                  <a:srgbClr val="2E86C1"/>
                </a:solidFill>
                <a:latin typeface="Times New Roman"/>
                <a:ea typeface="宋体"/>
              </a:rPr>
              <a:t>（3）阶段三（超大规模过度扩张）： </a:t>
            </a:r>
            <a:r>
              <a:rPr sz="1250" b="0">
                <a:solidFill>
                  <a:srgbClr val="1E293B"/>
                </a:solidFill>
                <a:latin typeface="Times New Roman"/>
                <a:ea typeface="宋体"/>
              </a:rPr>
              <a:t>管理协调成本爆发，官僚主义滋生，不可避免滑入规模收益递减阶段。</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核心要点：企业战略的目标是精准识别并把握规模收益递增黄金期，将企业锁定在规模收益不变的最低有效规模（MES）。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规模与收益的关系</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二、促使规模收益递增的九大细分因素（生产与技术维度 1 ~ 3）</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14</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1. 技术装备几何尺度效应</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（1）技术装备因素： </a:t>
            </a:r>
            <a:r>
              <a:rPr sz="1200" b="0">
                <a:solidFill>
                  <a:srgbClr val="1E293B"/>
                </a:solidFill>
                <a:latin typeface="Times New Roman"/>
                <a:ea typeface="宋体"/>
              </a:rPr>
              <a:t>大设备单位生产能力制造与运维费用显著低于小设备。500吨高炉造价5000万，1000吨造价仅9000万，单位产能投资降10%且吨铁能耗更低。</a:t>
            </a:r>
          </a:p>
          <a:p>
            <a:pPr>
              <a:lnSpc>
                <a:spcPct val="120000"/>
              </a:lnSpc>
              <a:spcAft>
                <a:spcPts val="500"/>
              </a:spcAft>
            </a:pPr>
            <a:r>
              <a:rPr sz="1200" b="1">
                <a:solidFill>
                  <a:srgbClr val="1B3A5C"/>
                </a:solidFill>
                <a:latin typeface="Times New Roman"/>
                <a:ea typeface="宋体"/>
              </a:rPr>
              <a:t>• 几何尺度定律： </a:t>
            </a:r>
            <a:r>
              <a:rPr sz="1200" b="0">
                <a:solidFill>
                  <a:srgbClr val="1E293B"/>
                </a:solidFill>
                <a:latin typeface="Times New Roman"/>
                <a:ea typeface="宋体"/>
              </a:rPr>
              <a:t>高炉、油轮、管道容积按立方 (r³) 增长，而表面积与建造成本仅按平方 (r²) 增长！</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2. 深度专业化分工</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（2）专业化分工： </a:t>
            </a:r>
            <a:r>
              <a:rPr sz="1200" b="0">
                <a:solidFill>
                  <a:srgbClr val="1E293B"/>
                </a:solidFill>
                <a:latin typeface="Times New Roman"/>
                <a:ea typeface="宋体"/>
              </a:rPr>
              <a:t>大企业工人规模大、岗位分工更细，工人专注单一工序。</a:t>
            </a:r>
          </a:p>
          <a:p>
            <a:pPr>
              <a:lnSpc>
                <a:spcPct val="120000"/>
              </a:lnSpc>
              <a:spcAft>
                <a:spcPts val="500"/>
              </a:spcAft>
            </a:pPr>
            <a:r>
              <a:rPr sz="1200" b="1">
                <a:solidFill>
                  <a:srgbClr val="2E86C1"/>
                </a:solidFill>
                <a:latin typeface="Times New Roman"/>
                <a:ea typeface="宋体"/>
              </a:rPr>
              <a:t>• 熟练度与生产率： </a:t>
            </a:r>
            <a:r>
              <a:rPr sz="1200" b="0">
                <a:solidFill>
                  <a:srgbClr val="1E293B"/>
                </a:solidFill>
                <a:latin typeface="Times New Roman"/>
                <a:ea typeface="宋体"/>
              </a:rPr>
              <a:t>无需在不同工序间转换工具，操作熟练度指数级提升，劳动生产率成倍增长（亚当·斯密扣针分工典范）。</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3. 专用高精设备与自动化</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（3）专用设备与先进技术： </a:t>
            </a:r>
            <a:r>
              <a:rPr sz="1200" b="0">
                <a:solidFill>
                  <a:srgbClr val="1E293B"/>
                </a:solidFill>
                <a:latin typeface="Times New Roman"/>
                <a:ea typeface="宋体"/>
              </a:rPr>
              <a:t>小企业产量少只能采用通用设备；大企业大批量生产能支撑投资专用的高精自动化冲压与流水线。</a:t>
            </a:r>
          </a:p>
          <a:p>
            <a:pPr>
              <a:lnSpc>
                <a:spcPct val="120000"/>
              </a:lnSpc>
              <a:spcAft>
                <a:spcPts val="500"/>
              </a:spcAft>
            </a:pPr>
            <a:r>
              <a:rPr sz="1200" b="1">
                <a:solidFill>
                  <a:srgbClr val="1A8C5D"/>
                </a:solidFill>
                <a:latin typeface="Times New Roman"/>
                <a:ea typeface="宋体"/>
              </a:rPr>
              <a:t>• 降本提质增效： </a:t>
            </a:r>
            <a:r>
              <a:rPr sz="1200" b="0">
                <a:solidFill>
                  <a:srgbClr val="1E293B"/>
                </a:solidFill>
                <a:latin typeface="Times New Roman"/>
                <a:ea typeface="宋体"/>
              </a:rPr>
              <a:t>专用设备大幅降低残次品率，提升良品率与单位时间产出节拍。</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核心要点：生产与技术层面的不可分割性与几何尺度经济，是制造业规模报酬递增的第一大硬核支柱。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规模与收益的关系</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二、促使规模收益递增的九大细分因素（运营与采购雇佣 4 ~ 6）</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4. 存货与备件经济性</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（4）存货经济性： </a:t>
            </a:r>
            <a:r>
              <a:rPr sz="1200" b="0">
                <a:solidFill>
                  <a:srgbClr val="1E293B"/>
                </a:solidFill>
                <a:latin typeface="Times New Roman"/>
                <a:ea typeface="宋体"/>
              </a:rPr>
              <a:t>大企业备品备件按大数定律概率储备，无需按产量同比例翻倍。</a:t>
            </a:r>
          </a:p>
          <a:p>
            <a:pPr>
              <a:lnSpc>
                <a:spcPct val="120000"/>
              </a:lnSpc>
              <a:spcAft>
                <a:spcPts val="500"/>
              </a:spcAft>
            </a:pPr>
            <a:r>
              <a:rPr sz="1200" b="1">
                <a:solidFill>
                  <a:srgbClr val="1B3A5C"/>
                </a:solidFill>
                <a:latin typeface="Times New Roman"/>
                <a:ea typeface="宋体"/>
              </a:rPr>
              <a:t>• 课本经典概率模型： </a:t>
            </a:r>
            <a:r>
              <a:rPr sz="1200" b="0">
                <a:solidFill>
                  <a:srgbClr val="1E293B"/>
                </a:solidFill>
                <a:latin typeface="Times New Roman"/>
                <a:ea typeface="宋体"/>
              </a:rPr>
              <a:t>10台设备（5%故障率）需备1台备用机；规模扩大到20台时，仍只需1台备用机即可保证生产连续运转，资金占用大幅摊薄！</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5. 大规模集中采购议价</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（5）大规模采购经济性： </a:t>
            </a:r>
            <a:r>
              <a:rPr sz="1200" b="0">
                <a:solidFill>
                  <a:srgbClr val="1E293B"/>
                </a:solidFill>
                <a:latin typeface="Times New Roman"/>
                <a:ea typeface="宋体"/>
              </a:rPr>
              <a:t>小企业采购量小只能接受高零售价；大企业巨量采购具备极强买方议价权，能要求供应商给予阶梯大宗折扣并锁定长期低价！</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6. 大规模雇佣与招聘摊薄</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（6）大规模雇用经济性： </a:t>
            </a:r>
            <a:r>
              <a:rPr sz="1200" b="0">
                <a:solidFill>
                  <a:srgbClr val="1E293B"/>
                </a:solidFill>
                <a:latin typeface="Times New Roman"/>
                <a:ea typeface="宋体"/>
              </a:rPr>
              <a:t>大企业单位招聘、筛选与入职培训成本被大规模入职人数摊平。</a:t>
            </a:r>
          </a:p>
          <a:p>
            <a:pPr>
              <a:lnSpc>
                <a:spcPct val="120000"/>
              </a:lnSpc>
              <a:spcAft>
                <a:spcPts val="500"/>
              </a:spcAft>
            </a:pPr>
            <a:r>
              <a:rPr sz="1200" b="1">
                <a:solidFill>
                  <a:srgbClr val="1A8C5D"/>
                </a:solidFill>
                <a:latin typeface="Times New Roman"/>
                <a:ea typeface="宋体"/>
              </a:rPr>
              <a:t>• 课本经典招聘案例： </a:t>
            </a:r>
            <a:r>
              <a:rPr sz="1200" b="0">
                <a:solidFill>
                  <a:srgbClr val="1E293B"/>
                </a:solidFill>
                <a:latin typeface="Times New Roman"/>
                <a:ea typeface="宋体"/>
              </a:rPr>
              <a:t>登报招工广告费5000元，大企业招100人单人成本仅50元；小企业招10人单人成本高达500元（后者的10倍）！</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核心要点：供应链集中采购与人力资源集中运营的大数法则，赋予了大企业无可比拟的交易费用与成本优势。</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规模与收益的关系</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二、促使规模收益递增的九大细分因素（金融广告与外部效应 7 ~ 9）</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35661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7. 大规模金融信贷特权</a:t>
            </a:r>
          </a:p>
        </p:txBody>
      </p:sp>
      <p:sp>
        <p:nvSpPr>
          <p:cNvPr id="11" name="TextBox 10"/>
          <p:cNvSpPr txBox="1"/>
          <p:nvPr/>
        </p:nvSpPr>
        <p:spPr>
          <a:xfrm>
            <a:off x="59436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B3A5C"/>
                </a:solidFill>
                <a:latin typeface="Times New Roman"/>
                <a:ea typeface="宋体"/>
              </a:rPr>
              <a:t>（7）大规模金融经济性： </a:t>
            </a:r>
            <a:r>
              <a:rPr sz="1200" b="0">
                <a:solidFill>
                  <a:srgbClr val="1E293B"/>
                </a:solidFill>
                <a:latin typeface="Times New Roman"/>
                <a:ea typeface="宋体"/>
              </a:rPr>
              <a:t>小企业资信弱、抵押少，银行要求担保且贷款利率上浮；大企业抗风险能力强，银行主动争相授信且贷款利率享受基准下浮，发债与上市融资成本极低。</a:t>
            </a:r>
          </a:p>
        </p:txBody>
      </p:sp>
      <p:sp>
        <p:nvSpPr>
          <p:cNvPr id="12" name="Rectangle 11"/>
          <p:cNvSpPr/>
          <p:nvPr/>
        </p:nvSpPr>
        <p:spPr>
          <a:xfrm>
            <a:off x="429768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325880"/>
            <a:ext cx="35661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8. 巨额广告费的海量摊薄</a:t>
            </a:r>
          </a:p>
        </p:txBody>
      </p:sp>
      <p:sp>
        <p:nvSpPr>
          <p:cNvPr id="14" name="TextBox 13"/>
          <p:cNvSpPr txBox="1"/>
          <p:nvPr/>
        </p:nvSpPr>
        <p:spPr>
          <a:xfrm>
            <a:off x="443484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2E86C1"/>
                </a:solidFill>
                <a:latin typeface="Times New Roman"/>
                <a:ea typeface="宋体"/>
              </a:rPr>
              <a:t>（8）大规模广告的利益： </a:t>
            </a:r>
            <a:r>
              <a:rPr sz="1200" b="0">
                <a:solidFill>
                  <a:srgbClr val="1E293B"/>
                </a:solidFill>
                <a:latin typeface="Times New Roman"/>
                <a:ea typeface="宋体"/>
              </a:rPr>
              <a:t>小企业无力做品牌广告；大企业广告投入虽总额巨大，但被庞大销量基数摊平。</a:t>
            </a:r>
          </a:p>
          <a:p>
            <a:pPr>
              <a:lnSpc>
                <a:spcPct val="120000"/>
              </a:lnSpc>
              <a:spcAft>
                <a:spcPts val="500"/>
              </a:spcAft>
            </a:pPr>
            <a:r>
              <a:rPr sz="1200" b="1">
                <a:solidFill>
                  <a:srgbClr val="2E86C1"/>
                </a:solidFill>
                <a:latin typeface="Times New Roman"/>
                <a:ea typeface="宋体"/>
              </a:rPr>
              <a:t>• 课本方便面经典数据： </a:t>
            </a:r>
            <a:r>
              <a:rPr sz="1200" b="0">
                <a:solidFill>
                  <a:srgbClr val="1E293B"/>
                </a:solidFill>
                <a:latin typeface="Times New Roman"/>
                <a:ea typeface="宋体"/>
              </a:rPr>
              <a:t>年产100亿包方便面巨头，年投放1亿元顶级广告，均摊到每包方便面上的广告费仅为 0.01元！</a:t>
            </a:r>
          </a:p>
        </p:txBody>
      </p:sp>
      <p:sp>
        <p:nvSpPr>
          <p:cNvPr id="15" name="Rectangle 14"/>
          <p:cNvSpPr/>
          <p:nvPr/>
        </p:nvSpPr>
        <p:spPr>
          <a:xfrm>
            <a:off x="8138160" y="1325880"/>
            <a:ext cx="35661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38160" y="1325880"/>
            <a:ext cx="35661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9. 强大政府关系与外部影响</a:t>
            </a:r>
          </a:p>
        </p:txBody>
      </p:sp>
      <p:sp>
        <p:nvSpPr>
          <p:cNvPr id="17" name="TextBox 16"/>
          <p:cNvSpPr txBox="1"/>
          <p:nvPr/>
        </p:nvSpPr>
        <p:spPr>
          <a:xfrm>
            <a:off x="8275320" y="1874520"/>
            <a:ext cx="3291840" cy="3703320"/>
          </a:xfrm>
          <a:prstGeom prst="rect">
            <a:avLst/>
          </a:prstGeom>
          <a:noFill/>
        </p:spPr>
        <p:txBody>
          <a:bodyPr wrap="square" lIns="0" tIns="0" rIns="0" bIns="0">
            <a:spAutoFit/>
          </a:bodyPr>
          <a:lstStyle/>
          <a:p>
            <a:pPr>
              <a:lnSpc>
                <a:spcPct val="120000"/>
              </a:lnSpc>
              <a:spcAft>
                <a:spcPts val="500"/>
              </a:spcAft>
            </a:pPr>
            <a:r>
              <a:rPr sz="1200" b="1">
                <a:solidFill>
                  <a:srgbClr val="1A8C5D"/>
                </a:solidFill>
                <a:latin typeface="Times New Roman"/>
                <a:ea typeface="宋体"/>
              </a:rPr>
              <a:t>（9）强大影响力利益： </a:t>
            </a:r>
            <a:r>
              <a:rPr sz="1200" b="0">
                <a:solidFill>
                  <a:srgbClr val="1E293B"/>
                </a:solidFill>
                <a:latin typeface="Times New Roman"/>
                <a:ea typeface="宋体"/>
              </a:rPr>
              <a:t>大企业是地方税收与就业支柱，遇危机易获政策纾困扶持，且能深度参与产业政策调研、主导制定行业国家技术标准，赢得制度性红利。</a:t>
            </a:r>
          </a:p>
        </p:txBody>
      </p:sp>
      <p:sp>
        <p:nvSpPr>
          <p:cNvPr id="18" name="Rectangle 17"/>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核心要点：九大细分因素共同构成了大企业在现代市场经济竞争中碾压中小企业的全方位规模壁垒体系。</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规模与收益的关系</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二、促使规模收益不变与递减的深层机理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促使规模收益不变的内在机理</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（1）分工极致与边际递减： </a:t>
            </a:r>
            <a:r>
              <a:rPr sz="1250" b="0">
                <a:solidFill>
                  <a:srgbClr val="1E293B"/>
                </a:solidFill>
                <a:latin typeface="Times New Roman"/>
                <a:ea typeface="宋体"/>
              </a:rPr>
              <a:t>分工过细使工人操作极度单调枯燥，产生心理疲劳，劳动积极性边际递减。</a:t>
            </a:r>
          </a:p>
          <a:p>
            <a:pPr>
              <a:lnSpc>
                <a:spcPct val="120000"/>
              </a:lnSpc>
              <a:spcAft>
                <a:spcPts val="600"/>
              </a:spcAft>
            </a:pPr>
            <a:r>
              <a:rPr sz="1250" b="1">
                <a:solidFill>
                  <a:srgbClr val="1B3A5C"/>
                </a:solidFill>
                <a:latin typeface="Times New Roman"/>
                <a:ea typeface="宋体"/>
              </a:rPr>
              <a:t>（2）设备工程技术上限： </a:t>
            </a:r>
            <a:r>
              <a:rPr sz="1250" b="0">
                <a:solidFill>
                  <a:srgbClr val="1E293B"/>
                </a:solidFill>
                <a:latin typeface="Times New Roman"/>
                <a:ea typeface="宋体"/>
              </a:rPr>
              <a:t>单机设备物理尺寸受材料力学与运输道路极限限制，无法无限做大。</a:t>
            </a:r>
          </a:p>
          <a:p>
            <a:pPr>
              <a:lnSpc>
                <a:spcPct val="120000"/>
              </a:lnSpc>
              <a:spcAft>
                <a:spcPts val="600"/>
              </a:spcAft>
            </a:pPr>
            <a:r>
              <a:rPr sz="1250" b="1">
                <a:solidFill>
                  <a:srgbClr val="1B3A5C"/>
                </a:solidFill>
                <a:latin typeface="Times New Roman"/>
                <a:ea typeface="宋体"/>
              </a:rPr>
              <a:t>（3）标准厂房复制模式： </a:t>
            </a:r>
            <a:r>
              <a:rPr sz="1250" b="0">
                <a:solidFill>
                  <a:srgbClr val="1E293B"/>
                </a:solidFill>
                <a:latin typeface="Times New Roman"/>
                <a:ea typeface="宋体"/>
              </a:rPr>
              <a:t>当单一工厂达到最优效率规模后，企业通过在异地平行新建若干相同规格工厂扩大生产，进入规模收益不变阶段。</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促使规模收益递减的核心根源——管理官僚化</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（1）管理幅度与协调难度剧增： </a:t>
            </a:r>
            <a:r>
              <a:rPr sz="1250" b="0">
                <a:solidFill>
                  <a:srgbClr val="1E293B"/>
                </a:solidFill>
                <a:latin typeface="Times New Roman"/>
                <a:ea typeface="宋体"/>
              </a:rPr>
              <a:t>组织层级成倍增加，信息在多层级金字塔中自上而下传达严重失真与迟缓。</a:t>
            </a:r>
          </a:p>
          <a:p>
            <a:pPr>
              <a:lnSpc>
                <a:spcPct val="120000"/>
              </a:lnSpc>
              <a:spcAft>
                <a:spcPts val="600"/>
              </a:spcAft>
            </a:pPr>
            <a:r>
              <a:rPr sz="1250" b="1">
                <a:solidFill>
                  <a:srgbClr val="2E86C1"/>
                </a:solidFill>
                <a:latin typeface="Times New Roman"/>
                <a:ea typeface="宋体"/>
              </a:rPr>
              <a:t>（2）官僚主义与文牍主义： </a:t>
            </a:r>
            <a:r>
              <a:rPr sz="1250" b="0">
                <a:solidFill>
                  <a:srgbClr val="1E293B"/>
                </a:solidFill>
                <a:latin typeface="Times New Roman"/>
                <a:ea typeface="宋体"/>
              </a:rPr>
              <a:t>高管脱离一线基层市场，内部部门墙高耸，审批繁琐推诿，决策效率极度低下。</a:t>
            </a:r>
          </a:p>
          <a:p>
            <a:pPr>
              <a:lnSpc>
                <a:spcPct val="120000"/>
              </a:lnSpc>
              <a:spcAft>
                <a:spcPts val="600"/>
              </a:spcAft>
            </a:pPr>
            <a:r>
              <a:rPr sz="1250" b="1">
                <a:solidFill>
                  <a:srgbClr val="2E86C1"/>
                </a:solidFill>
                <a:latin typeface="Times New Roman"/>
                <a:ea typeface="宋体"/>
              </a:rPr>
              <a:t>（3）X-非效率（X-Inefficiency）： </a:t>
            </a:r>
            <a:r>
              <a:rPr sz="1250" b="0">
                <a:solidFill>
                  <a:srgbClr val="1E293B"/>
                </a:solidFill>
                <a:latin typeface="Times New Roman"/>
                <a:ea typeface="宋体"/>
              </a:rPr>
              <a:t>大企业内部监督成本高昂，员工缺乏创业激情，普遍存在懈怠与资源浪费。</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核心要点：规模绝非越大越好，克服大企业病与管理官僚主义是跨国巨头突破规模报酬递减诅咒的关键考验。</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第4节 规模与收益的关系</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三、规模收益齐次判定法与马克西-西尔伯斯通汽车曲线</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齐次生产函数（Homogeneous Function）判定法</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（1）齐次定义： </a:t>
            </a:r>
            <a:r>
              <a:rPr sz="1250" b="0">
                <a:solidFill>
                  <a:srgbClr val="1E293B"/>
                </a:solidFill>
                <a:latin typeface="Times New Roman"/>
                <a:ea typeface="宋体"/>
              </a:rPr>
              <a:t>f(kx, ky, kz) = k^n f(x, y, z)，其中 n 为齐次阶数。</a:t>
            </a:r>
          </a:p>
          <a:p>
            <a:pPr>
              <a:lnSpc>
                <a:spcPct val="120000"/>
              </a:lnSpc>
              <a:spcAft>
                <a:spcPts val="600"/>
              </a:spcAft>
            </a:pPr>
            <a:r>
              <a:rPr sz="1250" b="1">
                <a:solidFill>
                  <a:srgbClr val="1B3A5C"/>
                </a:solidFill>
                <a:latin typeface="Times New Roman"/>
                <a:ea typeface="宋体"/>
              </a:rPr>
              <a:t>（2）判别准则： </a:t>
            </a:r>
            <a:r>
              <a:rPr sz="1250" b="0">
                <a:solidFill>
                  <a:srgbClr val="1E293B"/>
                </a:solidFill>
                <a:latin typeface="Times New Roman"/>
                <a:ea typeface="宋体"/>
              </a:rPr>
              <a:t>① n &gt; 1 \implies 规模收益递增；② n = 1 \implies 规模收益不变；③ n &lt; 1 \implies 规模收益递减。</a:t>
            </a:r>
          </a:p>
          <a:p>
            <a:pPr>
              <a:lnSpc>
                <a:spcPct val="120000"/>
              </a:lnSpc>
              <a:spcAft>
                <a:spcPts val="600"/>
              </a:spcAft>
            </a:pPr>
            <a:r>
              <a:rPr sz="1250" b="1">
                <a:solidFill>
                  <a:srgbClr val="1B3A5C"/>
                </a:solidFill>
                <a:latin typeface="Times New Roman"/>
                <a:ea typeface="宋体"/>
              </a:rPr>
              <a:t>（3）例4-6 算例推导： </a:t>
            </a:r>
            <a:r>
              <a:rPr sz="1250" b="0">
                <a:solidFill>
                  <a:srgbClr val="1E293B"/>
                </a:solidFill>
                <a:latin typeface="Times New Roman"/>
                <a:ea typeface="宋体"/>
              </a:rPr>
              <a:t>Q = x^{0.4} y^{0.2} z^{0.8} \implies f(kx, ky, kz) = k^{1.4} Q \implies n=1.4 &gt; 1，严格为规模收益递增型！</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案例4-3：马克西-西尔伯斯通（Maxcy-Silberston）汽车曲线</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（1）单车型批量与单位成本下降规律： </a:t>
            </a:r>
            <a:r>
              <a:rPr sz="1250" b="0">
                <a:solidFill>
                  <a:srgbClr val="1E293B"/>
                </a:solidFill>
                <a:latin typeface="Times New Roman"/>
                <a:ea typeface="宋体"/>
              </a:rPr>
              <a:t/>
            </a:r>
          </a:p>
          <a:p>
            <a:pPr>
              <a:lnSpc>
                <a:spcPct val="120000"/>
              </a:lnSpc>
              <a:spcAft>
                <a:spcPts val="600"/>
              </a:spcAft>
            </a:pPr>
            <a:r>
              <a:rPr sz="1250" b="1">
                <a:solidFill>
                  <a:srgbClr val="2E86C1"/>
                </a:solidFill>
                <a:latin typeface="Times New Roman"/>
                <a:ea typeface="宋体"/>
              </a:rPr>
              <a:t>   • 1000辆 \to 5万辆：单位成本骤降 40%； </a:t>
            </a:r>
            <a:r>
              <a:rPr sz="1250" b="0">
                <a:solidFill>
                  <a:srgbClr val="1E293B"/>
                </a:solidFill>
                <a:latin typeface="Times New Roman"/>
                <a:ea typeface="宋体"/>
              </a:rPr>
              <a:t>5万 \to 10万辆：单位成本再降 15%；</a:t>
            </a:r>
          </a:p>
          <a:p>
            <a:pPr>
              <a:lnSpc>
                <a:spcPct val="120000"/>
              </a:lnSpc>
              <a:spcAft>
                <a:spcPts val="600"/>
              </a:spcAft>
            </a:pPr>
            <a:r>
              <a:rPr sz="1250" b="1">
                <a:solidFill>
                  <a:srgbClr val="2E86C1"/>
                </a:solidFill>
                <a:latin typeface="Times New Roman"/>
                <a:ea typeface="宋体"/>
              </a:rPr>
              <a:t>   • 10万 \to 20万辆：单位成本再降 10%； </a:t>
            </a:r>
            <a:r>
              <a:rPr sz="1250" b="0">
                <a:solidFill>
                  <a:srgbClr val="1E293B"/>
                </a:solidFill>
                <a:latin typeface="Times New Roman"/>
                <a:ea typeface="宋体"/>
              </a:rPr>
              <a:t>20万 \to 40万辆：降5%；&gt;40万辆下降极缓；&gt;100万辆无规模经济。</a:t>
            </a:r>
          </a:p>
          <a:p>
            <a:pPr>
              <a:lnSpc>
                <a:spcPct val="120000"/>
              </a:lnSpc>
              <a:spcAft>
                <a:spcPts val="600"/>
              </a:spcAft>
            </a:pPr>
            <a:r>
              <a:rPr sz="1250" b="1">
                <a:solidFill>
                  <a:srgbClr val="2E86C1"/>
                </a:solidFill>
                <a:latin typeface="Times New Roman"/>
                <a:ea typeface="宋体"/>
              </a:rPr>
              <a:t>（2）三大工序最小最优规模最小公倍数： </a:t>
            </a:r>
            <a:r>
              <a:rPr sz="1250" b="0">
                <a:solidFill>
                  <a:srgbClr val="1E293B"/>
                </a:solidFill>
                <a:latin typeface="Times New Roman"/>
                <a:ea typeface="宋体"/>
              </a:rPr>
              <a:t>组装（6-10万）+ 发动机（50万）+ 冲压（100万）\implies 最优组合为 1套冲压 + 2条发动机线 + 10条组装线 = 100万辆年产能！</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核心要点：马克西曲线证明了汽车等重工业存在严格的最小公倍数最优规模，盲目分散设厂将导致严重的巨额成本劣势。</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9144000" cy="548640"/>
          </a:xfrm>
          <a:prstGeom prst="rect">
            <a:avLst/>
          </a:prstGeom>
          <a:noFill/>
        </p:spPr>
        <p:txBody>
          <a:bodyPr wrap="none" lIns="0" tIns="0" rIns="0" bIns="0">
            <a:spAutoFit/>
          </a:bodyPr>
          <a:lstStyle/>
          <a:p>
            <a:pPr algn="l">
              <a:lnSpc>
                <a:spcPct val="120000"/>
              </a:lnSpc>
            </a:pPr>
            <a:r>
              <a:rPr sz="2200" b="1">
                <a:solidFill>
                  <a:srgbClr val="C88C1B"/>
                </a:solidFill>
                <a:latin typeface="Times New Roman"/>
                <a:ea typeface="宋体"/>
              </a:rPr>
              <a:t>第5 &amp; 6节</a:t>
            </a:r>
          </a:p>
        </p:txBody>
      </p:sp>
      <p:sp>
        <p:nvSpPr>
          <p:cNvPr id="5" name="TextBox 4"/>
          <p:cNvSpPr txBox="1"/>
          <p:nvPr/>
        </p:nvSpPr>
        <p:spPr>
          <a:xfrm>
            <a:off x="914400" y="2606040"/>
            <a:ext cx="10058400" cy="1097280"/>
          </a:xfrm>
          <a:prstGeom prst="rect">
            <a:avLst/>
          </a:prstGeom>
          <a:noFill/>
        </p:spPr>
        <p:txBody>
          <a:bodyPr wrap="square" lIns="0" tIns="0" rIns="0" bIns="0">
            <a:spAutoFit/>
          </a:bodyPr>
          <a:lstStyle/>
          <a:p>
            <a:pPr algn="l">
              <a:lnSpc>
                <a:spcPct val="120000"/>
              </a:lnSpc>
            </a:pPr>
            <a:r>
              <a:rPr sz="3400" b="1">
                <a:solidFill>
                  <a:srgbClr val="FFFFFF"/>
                </a:solidFill>
                <a:latin typeface="Times New Roman"/>
                <a:ea typeface="宋体"/>
              </a:rPr>
              <a:t>柯布-道格拉斯生产函数与技术进步测定</a:t>
            </a:r>
          </a:p>
        </p:txBody>
      </p:sp>
      <p:sp>
        <p:nvSpPr>
          <p:cNvPr id="6" name="Rectangle 5"/>
          <p:cNvSpPr/>
          <p:nvPr/>
        </p:nvSpPr>
        <p:spPr>
          <a:xfrm>
            <a:off x="91440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10058400" cy="1097280"/>
          </a:xfrm>
          <a:prstGeom prst="rect">
            <a:avLst/>
          </a:prstGeom>
          <a:noFill/>
        </p:spPr>
        <p:txBody>
          <a:bodyPr wrap="square" lIns="0" tIns="0" rIns="0" bIns="0">
            <a:spAutoFit/>
          </a:bodyPr>
          <a:lstStyle/>
          <a:p>
            <a:pPr algn="l">
              <a:lnSpc>
                <a:spcPct val="120000"/>
              </a:lnSpc>
            </a:pPr>
            <a:r>
              <a:rPr sz="1400" b="0">
                <a:solidFill>
                  <a:srgbClr val="D6EAF8"/>
                </a:solidFill>
                <a:latin typeface="Times New Roman"/>
                <a:ea typeface="宋体"/>
              </a:rPr>
              <a:t>解析柯布-道格拉斯函数四大性质、技术进步三种类型与索洛余值增长核算方程。</a:t>
            </a:r>
          </a:p>
        </p:txBody>
      </p:sp>
      <p:sp>
        <p:nvSpPr>
          <p:cNvPr id="8" name="TextBox 7"/>
          <p:cNvSpPr txBox="1"/>
          <p:nvPr/>
        </p:nvSpPr>
        <p:spPr>
          <a:xfrm>
            <a:off x="914400" y="5852160"/>
            <a:ext cx="9144000" cy="365760"/>
          </a:xfrm>
          <a:prstGeom prst="rect">
            <a:avLst/>
          </a:prstGeom>
          <a:noFill/>
        </p:spPr>
        <p:txBody>
          <a:bodyPr wrap="none" lIns="0" tIns="0" rIns="0" bIns="0">
            <a:spAutoFit/>
          </a:bodyPr>
          <a:lstStyle/>
          <a:p>
            <a:pPr algn="l">
              <a:lnSpc>
                <a:spcPct val="120000"/>
              </a:lnSpc>
            </a:pPr>
            <a:r>
              <a:rPr sz="1100" b="0">
                <a:solidFill>
                  <a:srgbClr val="64748B"/>
                </a:solidFill>
                <a:latin typeface="Times New Roman"/>
                <a:ea typeface="宋体"/>
              </a:rPr>
              <a:t>第4章 生产决策分析 · 权威教材精细化教学架构</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第5 &amp; 6节 柯布函数与技术进步</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一、柯布-道格拉斯函数与技术进步三大类型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柯布-道格拉斯生产函数四大性质</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300"/>
              </a:spcAft>
            </a:pPr>
            <a:r>
              <a:rPr sz="1150" b="1">
                <a:solidFill>
                  <a:srgbClr val="1B3A5C"/>
                </a:solidFill>
                <a:latin typeface="Times New Roman"/>
                <a:ea typeface="宋体"/>
              </a:rPr>
              <a:t>（1）数学模型： </a:t>
            </a:r>
            <a:r>
              <a:rPr sz="1150" b="0">
                <a:solidFill>
                  <a:srgbClr val="1E293B"/>
                </a:solidFill>
                <a:latin typeface="Times New Roman"/>
                <a:ea typeface="宋体"/>
              </a:rPr>
              <a:t>Q = A K^\alpha L^\beta \quad (A: 技术常数, \alpha, \beta &gt; 0)</a:t>
            </a:r>
          </a:p>
          <a:p>
            <a:pPr>
              <a:lnSpc>
                <a:spcPct val="120000"/>
              </a:lnSpc>
              <a:spcAft>
                <a:spcPts val="300"/>
              </a:spcAft>
            </a:pPr>
            <a:r>
              <a:rPr sz="1150" b="1">
                <a:solidFill>
                  <a:srgbClr val="1B3A5C"/>
                </a:solidFill>
                <a:latin typeface="Times New Roman"/>
                <a:ea typeface="宋体"/>
              </a:rPr>
              <a:t>（2）四大优良性质： </a:t>
            </a:r>
            <a:r>
              <a:rPr sz="1150" b="0">
                <a:solidFill>
                  <a:srgbClr val="1E293B"/>
                </a:solidFill>
                <a:latin typeface="Times New Roman"/>
                <a:ea typeface="宋体"/>
              </a:rPr>
              <a:t/>
            </a:r>
          </a:p>
          <a:p>
            <a:pPr>
              <a:lnSpc>
                <a:spcPct val="120000"/>
              </a:lnSpc>
              <a:spcAft>
                <a:spcPts val="300"/>
              </a:spcAft>
            </a:pPr>
            <a:r>
              <a:rPr sz="1150" b="1">
                <a:solidFill>
                  <a:srgbClr val="1B3A5C"/>
                </a:solidFill>
                <a:latin typeface="Times New Roman"/>
                <a:ea typeface="宋体"/>
              </a:rPr>
              <a:t>   • 性质一（对数线性）： </a:t>
            </a:r>
            <a:r>
              <a:rPr sz="1150" b="0">
                <a:solidFill>
                  <a:srgbClr val="1E293B"/>
                </a:solidFill>
                <a:latin typeface="Times New Roman"/>
                <a:ea typeface="宋体"/>
              </a:rPr>
              <a:t>\ln Q = \ln A + \alpha \ln K + \beta \ln L，极易使用 OLS 线性回归估计。</a:t>
            </a:r>
          </a:p>
          <a:p>
            <a:pPr>
              <a:lnSpc>
                <a:spcPct val="120000"/>
              </a:lnSpc>
              <a:spcAft>
                <a:spcPts val="300"/>
              </a:spcAft>
            </a:pPr>
            <a:r>
              <a:rPr sz="1150" b="1">
                <a:solidFill>
                  <a:srgbClr val="1B3A5C"/>
                </a:solidFill>
                <a:latin typeface="Times New Roman"/>
                <a:ea typeface="宋体"/>
              </a:rPr>
              <a:t>   • 性质二（要素互补）： </a:t>
            </a:r>
            <a:r>
              <a:rPr sz="1150" b="0">
                <a:solidFill>
                  <a:srgbClr val="1E293B"/>
                </a:solidFill>
                <a:latin typeface="Times New Roman"/>
                <a:ea typeface="宋体"/>
              </a:rPr>
              <a:t>MP_L = \beta Q/L, MP_K = \alpha Q/K，要素边际产出取决于彼此投入量。</a:t>
            </a:r>
          </a:p>
          <a:p>
            <a:pPr>
              <a:lnSpc>
                <a:spcPct val="120000"/>
              </a:lnSpc>
              <a:spcAft>
                <a:spcPts val="300"/>
              </a:spcAft>
            </a:pPr>
            <a:r>
              <a:rPr sz="1150" b="1">
                <a:solidFill>
                  <a:srgbClr val="1B3A5C"/>
                </a:solidFill>
                <a:latin typeface="Times New Roman"/>
                <a:ea typeface="宋体"/>
              </a:rPr>
              <a:t>   • 性质三（规模报酬判别）： </a:t>
            </a:r>
            <a:r>
              <a:rPr sz="1150" b="0">
                <a:solidFill>
                  <a:srgbClr val="1E293B"/>
                </a:solidFill>
                <a:latin typeface="Times New Roman"/>
                <a:ea typeface="宋体"/>
              </a:rPr>
              <a:t>\alpha + \beta &gt; 1 (递增), \alpha + \beta = 1 (不变), \alpha + \beta &lt; 1 (递减)。</a:t>
            </a:r>
          </a:p>
          <a:p>
            <a:pPr>
              <a:lnSpc>
                <a:spcPct val="120000"/>
              </a:lnSpc>
              <a:spcAft>
                <a:spcPts val="300"/>
              </a:spcAft>
            </a:pPr>
            <a:r>
              <a:rPr sz="1150" b="1">
                <a:solidFill>
                  <a:srgbClr val="1B3A5C"/>
                </a:solidFill>
                <a:latin typeface="Times New Roman"/>
                <a:ea typeface="宋体"/>
              </a:rPr>
              <a:t>   • 性质四（产出弹性直接对应）： </a:t>
            </a:r>
            <a:r>
              <a:rPr sz="1150" b="0">
                <a:solidFill>
                  <a:srgbClr val="1E293B"/>
                </a:solidFill>
                <a:latin typeface="Times New Roman"/>
                <a:ea typeface="宋体"/>
              </a:rPr>
              <a:t>\alpha 为资本产出弹性，\beta 为劳动产出弹性。</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技术进步的三大分类（等产量线内移）</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（1）劳动节约型（Labor-saving）： </a:t>
            </a:r>
            <a:r>
              <a:rPr sz="1250" b="0">
                <a:solidFill>
                  <a:srgbClr val="1E293B"/>
                </a:solidFill>
                <a:latin typeface="Times New Roman"/>
                <a:ea typeface="宋体"/>
              </a:rPr>
              <a:t>技术进步后资本边际产出提升高于劳动，最优 K/L 资本密集度提高（如工业机器人普及）。</a:t>
            </a:r>
          </a:p>
          <a:p>
            <a:pPr>
              <a:lnSpc>
                <a:spcPct val="120000"/>
              </a:lnSpc>
              <a:spcAft>
                <a:spcPts val="600"/>
              </a:spcAft>
            </a:pPr>
            <a:r>
              <a:rPr sz="1250" b="1">
                <a:solidFill>
                  <a:srgbClr val="2E86C1"/>
                </a:solidFill>
                <a:latin typeface="Times New Roman"/>
                <a:ea typeface="宋体"/>
              </a:rPr>
              <a:t>（2）资本节约型（Capital-saving）： </a:t>
            </a:r>
            <a:r>
              <a:rPr sz="1250" b="0">
                <a:solidFill>
                  <a:srgbClr val="1E293B"/>
                </a:solidFill>
                <a:latin typeface="Times New Roman"/>
                <a:ea typeface="宋体"/>
              </a:rPr>
              <a:t>劳动边际产出提升更高，最优 K/L 比例下降。</a:t>
            </a:r>
          </a:p>
          <a:p>
            <a:pPr>
              <a:lnSpc>
                <a:spcPct val="120000"/>
              </a:lnSpc>
              <a:spcAft>
                <a:spcPts val="600"/>
              </a:spcAft>
            </a:pPr>
            <a:r>
              <a:rPr sz="1250" b="1">
                <a:solidFill>
                  <a:srgbClr val="2E86C1"/>
                </a:solidFill>
                <a:latin typeface="Times New Roman"/>
                <a:ea typeface="宋体"/>
              </a:rPr>
              <a:t>（3）中立型（Neutral）： </a:t>
            </a:r>
            <a:r>
              <a:rPr sz="1250" b="0">
                <a:solidFill>
                  <a:srgbClr val="1E293B"/>
                </a:solidFill>
                <a:latin typeface="Times New Roman"/>
                <a:ea typeface="宋体"/>
              </a:rPr>
              <a:t>两要素边际产出同比例提升，MRTS 与要素配比保持不变。</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核心要点：柯布-道格拉斯生产函数是宏观与微观实证经济学中应用最广、数学性质最优雅的经典生产函数。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第6节 生产函数和技术进步</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三、索洛余值增长核算方程与案例演算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1. 索洛余值（Solow Residual）增长核算方程</a:t>
            </a:r>
          </a:p>
        </p:txBody>
      </p:sp>
      <p:sp>
        <p:nvSpPr>
          <p:cNvPr id="11" name="TextBox 10"/>
          <p:cNvSpPr txBox="1"/>
          <p:nvPr/>
        </p:nvSpPr>
        <p:spPr>
          <a:xfrm>
            <a:off x="64008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1B3A5C"/>
                </a:solidFill>
                <a:latin typeface="Times New Roman"/>
                <a:ea typeface="宋体"/>
              </a:rPr>
              <a:t>（1）生产函数全微分： </a:t>
            </a:r>
            <a:r>
              <a:rPr sz="1250" b="0">
                <a:solidFill>
                  <a:srgbClr val="1E293B"/>
                </a:solidFill>
                <a:latin typeface="Times New Roman"/>
                <a:ea typeface="宋体"/>
              </a:rPr>
              <a:t>dQ = \frac{\partial Q}{\partial A} dA + \frac{\partial Q}{\partial K} dK + \frac{\partial Q}{\partial L} dL</a:t>
            </a:r>
          </a:p>
          <a:p>
            <a:pPr>
              <a:lnSpc>
                <a:spcPct val="120000"/>
              </a:lnSpc>
              <a:spcAft>
                <a:spcPts val="600"/>
              </a:spcAft>
            </a:pPr>
            <a:r>
              <a:rPr sz="1250" b="1">
                <a:solidFill>
                  <a:srgbClr val="1B3A5C"/>
                </a:solidFill>
                <a:latin typeface="Times New Roman"/>
                <a:ea typeface="宋体"/>
              </a:rPr>
              <a:t>（2）经典增长率分解方程： </a:t>
            </a:r>
            <a:r>
              <a:rPr sz="1250" b="0">
                <a:solidFill>
                  <a:srgbClr val="1E293B"/>
                </a:solidFill>
                <a:latin typeface="Times New Roman"/>
                <a:ea typeface="宋体"/>
              </a:rPr>
              <a:t>G_Q = G_A + \alpha G_K + \beta G_L \implies G_A = G_Q - (\alpha G_K + \beta G_L)</a:t>
            </a:r>
          </a:p>
          <a:p>
            <a:pPr>
              <a:lnSpc>
                <a:spcPct val="120000"/>
              </a:lnSpc>
              <a:spcAft>
                <a:spcPts val="600"/>
              </a:spcAft>
            </a:pPr>
            <a:r>
              <a:rPr sz="1250" b="1">
                <a:solidFill>
                  <a:srgbClr val="1B3A5C"/>
                </a:solidFill>
                <a:latin typeface="Times New Roman"/>
                <a:ea typeface="宋体"/>
              </a:rPr>
              <a:t>（3）各变量经济学含义： </a:t>
            </a:r>
            <a:r>
              <a:rPr sz="1250" b="0">
                <a:solidFill>
                  <a:srgbClr val="1E293B"/>
                </a:solidFill>
                <a:latin typeface="Times New Roman"/>
                <a:ea typeface="宋体"/>
              </a:rPr>
              <a:t>G_Q 为产出增长率，G_K 为资本增长率，G_L 为劳动增长率，G_A 为全要素生产率（TFP）增长率。</a:t>
            </a:r>
          </a:p>
          <a:p>
            <a:pPr>
              <a:lnSpc>
                <a:spcPct val="120000"/>
              </a:lnSpc>
              <a:spcAft>
                <a:spcPts val="600"/>
              </a:spcAft>
            </a:pPr>
            <a:r>
              <a:rPr sz="1250" b="1">
                <a:solidFill>
                  <a:srgbClr val="1B3A5C"/>
                </a:solidFill>
                <a:latin typeface="Times New Roman"/>
                <a:ea typeface="宋体"/>
              </a:rPr>
              <a:t>（4）技术进步贡献率测算： </a:t>
            </a:r>
            <a:r>
              <a:rPr sz="1250" b="0">
                <a:solidFill>
                  <a:srgbClr val="1E293B"/>
                </a:solidFill>
                <a:latin typeface="Times New Roman"/>
                <a:ea typeface="宋体"/>
              </a:rPr>
              <a:t>\text{技术进步对增长的贡献率} = \frac{G_A}{G_Q} \times 100\%</a:t>
            </a:r>
          </a:p>
        </p:txBody>
      </p:sp>
      <p:sp>
        <p:nvSpPr>
          <p:cNvPr id="12" name="Rectangle 11"/>
          <p:cNvSpPr/>
          <p:nvPr/>
        </p:nvSpPr>
        <p:spPr>
          <a:xfrm>
            <a:off x="626364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2. 例4-7 实操演算与案例4-4摩尔定律</a:t>
            </a:r>
          </a:p>
        </p:txBody>
      </p:sp>
      <p:sp>
        <p:nvSpPr>
          <p:cNvPr id="14" name="TextBox 13"/>
          <p:cNvSpPr txBox="1"/>
          <p:nvPr/>
        </p:nvSpPr>
        <p:spPr>
          <a:xfrm>
            <a:off x="6446520" y="1965960"/>
            <a:ext cx="5074920" cy="3566160"/>
          </a:xfrm>
          <a:prstGeom prst="rect">
            <a:avLst/>
          </a:prstGeom>
          <a:noFill/>
        </p:spPr>
        <p:txBody>
          <a:bodyPr wrap="square" lIns="0" tIns="0" rIns="0" bIns="0">
            <a:spAutoFit/>
          </a:bodyPr>
          <a:lstStyle/>
          <a:p>
            <a:pPr>
              <a:lnSpc>
                <a:spcPct val="120000"/>
              </a:lnSpc>
              <a:spcAft>
                <a:spcPts val="600"/>
              </a:spcAft>
            </a:pPr>
            <a:r>
              <a:rPr sz="1250" b="1">
                <a:solidFill>
                  <a:srgbClr val="2E86C1"/>
                </a:solidFill>
                <a:latin typeface="Times New Roman"/>
                <a:ea typeface="宋体"/>
              </a:rPr>
              <a:t>（1）例4-7 算例推导： </a:t>
            </a:r>
            <a:r>
              <a:rPr sz="1250" b="0">
                <a:solidFill>
                  <a:srgbClr val="1E293B"/>
                </a:solidFill>
                <a:latin typeface="Times New Roman"/>
                <a:ea typeface="宋体"/>
              </a:rPr>
              <a:t>某国 GDP 增长 G_Q=6\%，资本增长 G_K=9\%，劳动增长 G_L=3\%，资本弹性 \alpha=0.2，劳动弹性 \beta=0.8。</a:t>
            </a:r>
          </a:p>
          <a:p>
            <a:pPr>
              <a:lnSpc>
                <a:spcPct val="120000"/>
              </a:lnSpc>
              <a:spcAft>
                <a:spcPts val="600"/>
              </a:spcAft>
            </a:pPr>
            <a:r>
              <a:rPr sz="1250" b="1">
                <a:solidFill>
                  <a:srgbClr val="2E86C1"/>
                </a:solidFill>
                <a:latin typeface="Times New Roman"/>
                <a:ea typeface="宋体"/>
              </a:rPr>
              <a:t>（2）求解技术进步率： </a:t>
            </a:r>
            <a:r>
              <a:rPr sz="1250" b="0">
                <a:solidFill>
                  <a:srgbClr val="1E293B"/>
                </a:solidFill>
                <a:latin typeface="Times New Roman"/>
                <a:ea typeface="宋体"/>
              </a:rPr>
              <a:t>G_A = 6\% - (0.2 \times 9\% + 0.8 \times 3\%) = 6\% - (1.8\% + 2.4\%) = 1.8\%。</a:t>
            </a:r>
          </a:p>
          <a:p>
            <a:pPr>
              <a:lnSpc>
                <a:spcPct val="120000"/>
              </a:lnSpc>
              <a:spcAft>
                <a:spcPts val="600"/>
              </a:spcAft>
            </a:pPr>
            <a:r>
              <a:rPr sz="1250" b="1">
                <a:solidFill>
                  <a:srgbClr val="2E86C1"/>
                </a:solidFill>
                <a:latin typeface="Times New Roman"/>
                <a:ea typeface="宋体"/>
              </a:rPr>
              <a:t>（3）技术贡献率： </a:t>
            </a:r>
            <a:r>
              <a:rPr sz="1250" b="0">
                <a:solidFill>
                  <a:srgbClr val="1E293B"/>
                </a:solidFill>
                <a:latin typeface="Times New Roman"/>
                <a:ea typeface="宋体"/>
              </a:rPr>
              <a:t>技术进步贡献率 = 1.8\% / 6\% = 30\%。</a:t>
            </a:r>
          </a:p>
          <a:p>
            <a:pPr>
              <a:lnSpc>
                <a:spcPct val="120000"/>
              </a:lnSpc>
              <a:spcAft>
                <a:spcPts val="600"/>
              </a:spcAft>
            </a:pPr>
            <a:r>
              <a:rPr sz="1250" b="1">
                <a:solidFill>
                  <a:srgbClr val="2E86C1"/>
                </a:solidFill>
                <a:latin typeface="Times New Roman"/>
                <a:ea typeface="宋体"/>
              </a:rPr>
              <a:t>（4）案例4-4 启示： </a:t>
            </a:r>
            <a:r>
              <a:rPr sz="1250" b="0">
                <a:solidFill>
                  <a:srgbClr val="1E293B"/>
                </a:solidFill>
                <a:latin typeface="Times New Roman"/>
                <a:ea typeface="宋体"/>
              </a:rPr>
              <a:t>芯片制造摩尔定律每18个月性能翻倍、成本减半，印证了技术进步是推动生产函数持续大幅内移的终极源泉。</a:t>
            </a:r>
          </a:p>
        </p:txBody>
      </p:sp>
      <p:sp>
        <p:nvSpPr>
          <p:cNvPr id="15" name="Rectangle 14"/>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核心要点：现代经济增长早已从依靠汗水与资本堆积的粗放型增长，全面转向依靠全要素生产率 TFP 驱动的集约型增长。</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本章复习</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【第4章】生产决策分析 全章核心要点串讲与决策指南</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22</a:t>
            </a:r>
          </a:p>
        </p:txBody>
      </p:sp>
      <p:sp>
        <p:nvSpPr>
          <p:cNvPr id="9" name="Rectangle 8"/>
          <p:cNvSpPr/>
          <p:nvPr/>
        </p:nvSpPr>
        <p:spPr>
          <a:xfrm>
            <a:off x="457200"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265176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短期单一要素最优化</a:t>
            </a:r>
          </a:p>
        </p:txBody>
      </p:sp>
      <p:sp>
        <p:nvSpPr>
          <p:cNvPr id="11" name="TextBox 10"/>
          <p:cNvSpPr txBox="1"/>
          <p:nvPr/>
        </p:nvSpPr>
        <p:spPr>
          <a:xfrm>
            <a:off x="621792"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TP/AP/MP 三大定理刻画产出几何规律</a:t>
            </a:r>
          </a:p>
          <a:p>
            <a:pPr algn="l">
              <a:lnSpc>
                <a:spcPct val="120000"/>
              </a:lnSpc>
              <a:spcAft>
                <a:spcPts val="400"/>
              </a:spcAft>
            </a:pPr>
            <a:r>
              <a:rPr sz="1150" b="0">
                <a:solidFill>
                  <a:srgbClr val="1E293B"/>
                </a:solidFill>
                <a:latin typeface="Times New Roman"/>
                <a:ea typeface="宋体"/>
              </a:rPr>
              <a:t>- 边际收益递减规律决定曲线倒 U 形态</a:t>
            </a:r>
          </a:p>
          <a:p>
            <a:pPr algn="l">
              <a:lnSpc>
                <a:spcPct val="120000"/>
              </a:lnSpc>
              <a:spcAft>
                <a:spcPts val="400"/>
              </a:spcAft>
            </a:pPr>
            <a:r>
              <a:rPr sz="1150" b="0">
                <a:solidFill>
                  <a:srgbClr val="1E293B"/>
                </a:solidFill>
                <a:latin typeface="Times New Roman"/>
                <a:ea typeface="宋体"/>
              </a:rPr>
              <a:t>- 生产第Ⅱ阶段为唯一经济合理区间</a:t>
            </a:r>
          </a:p>
          <a:p>
            <a:pPr algn="l">
              <a:lnSpc>
                <a:spcPct val="120000"/>
              </a:lnSpc>
              <a:spcAft>
                <a:spcPts val="400"/>
              </a:spcAft>
            </a:pPr>
            <a:r>
              <a:rPr sz="1150" b="0">
                <a:solidFill>
                  <a:srgbClr val="1E293B"/>
                </a:solidFill>
                <a:latin typeface="Times New Roman"/>
                <a:ea typeface="宋体"/>
              </a:rPr>
              <a:t>- 最优雇工条件：MRP_L = MP_L · P = w</a:t>
            </a:r>
          </a:p>
        </p:txBody>
      </p:sp>
      <p:sp>
        <p:nvSpPr>
          <p:cNvPr id="12" name="Rectangle 11"/>
          <p:cNvSpPr/>
          <p:nvPr/>
        </p:nvSpPr>
        <p:spPr>
          <a:xfrm>
            <a:off x="3310128"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128" y="1325880"/>
            <a:ext cx="265176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长期多要素最低成本</a:t>
            </a:r>
          </a:p>
        </p:txBody>
      </p:sp>
      <p:sp>
        <p:nvSpPr>
          <p:cNvPr id="14" name="TextBox 13"/>
          <p:cNvSpPr txBox="1"/>
          <p:nvPr/>
        </p:nvSpPr>
        <p:spPr>
          <a:xfrm>
            <a:off x="3474720"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等产量线凸向原点反映 MRTS 递减</a:t>
            </a:r>
          </a:p>
          <a:p>
            <a:pPr algn="l">
              <a:lnSpc>
                <a:spcPct val="120000"/>
              </a:lnSpc>
              <a:spcAft>
                <a:spcPts val="400"/>
              </a:spcAft>
            </a:pPr>
            <a:r>
              <a:rPr sz="1150" b="0">
                <a:solidFill>
                  <a:srgbClr val="1E293B"/>
                </a:solidFill>
                <a:latin typeface="Times New Roman"/>
                <a:ea typeface="宋体"/>
              </a:rPr>
              <a:t>- 等成本线斜率反映要素市场相对价格比</a:t>
            </a:r>
          </a:p>
          <a:p>
            <a:pPr algn="l">
              <a:lnSpc>
                <a:spcPct val="120000"/>
              </a:lnSpc>
              <a:spcAft>
                <a:spcPts val="400"/>
              </a:spcAft>
            </a:pPr>
            <a:r>
              <a:rPr sz="1150" b="0">
                <a:solidFill>
                  <a:srgbClr val="1E293B"/>
                </a:solidFill>
                <a:latin typeface="Times New Roman"/>
                <a:ea typeface="宋体"/>
              </a:rPr>
              <a:t>- 成本最低切点黄金律：MPL/w = MPK/r</a:t>
            </a:r>
          </a:p>
          <a:p>
            <a:pPr algn="l">
              <a:lnSpc>
                <a:spcPct val="120000"/>
              </a:lnSpc>
              <a:spcAft>
                <a:spcPts val="400"/>
              </a:spcAft>
            </a:pPr>
            <a:r>
              <a:rPr sz="1150" b="0">
                <a:solidFill>
                  <a:srgbClr val="1E293B"/>
                </a:solidFill>
                <a:latin typeface="Times New Roman"/>
                <a:ea typeface="宋体"/>
              </a:rPr>
              <a:t>- 生产扩展线规划企业长期最优扩张路径</a:t>
            </a:r>
          </a:p>
        </p:txBody>
      </p:sp>
      <p:sp>
        <p:nvSpPr>
          <p:cNvPr id="15" name="Rectangle 14"/>
          <p:cNvSpPr/>
          <p:nvPr/>
        </p:nvSpPr>
        <p:spPr>
          <a:xfrm>
            <a:off x="6163056"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1325880"/>
            <a:ext cx="265176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规模收益与九大因素</a:t>
            </a:r>
          </a:p>
        </p:txBody>
      </p:sp>
      <p:sp>
        <p:nvSpPr>
          <p:cNvPr id="17" name="TextBox 16"/>
          <p:cNvSpPr txBox="1"/>
          <p:nvPr/>
        </p:nvSpPr>
        <p:spPr>
          <a:xfrm>
            <a:off x="6327648"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技术/专业化/存货/采销等 9 大细分动因</a:t>
            </a:r>
          </a:p>
          <a:p>
            <a:pPr algn="l">
              <a:lnSpc>
                <a:spcPct val="120000"/>
              </a:lnSpc>
              <a:spcAft>
                <a:spcPts val="400"/>
              </a:spcAft>
            </a:pPr>
            <a:r>
              <a:rPr sz="1150" b="0">
                <a:solidFill>
                  <a:srgbClr val="1E293B"/>
                </a:solidFill>
                <a:latin typeface="Times New Roman"/>
                <a:ea typeface="宋体"/>
              </a:rPr>
              <a:t>- 管理协调与官僚主义引致规模收益递减</a:t>
            </a:r>
          </a:p>
          <a:p>
            <a:pPr algn="l">
              <a:lnSpc>
                <a:spcPct val="120000"/>
              </a:lnSpc>
              <a:spcAft>
                <a:spcPts val="400"/>
              </a:spcAft>
            </a:pPr>
            <a:r>
              <a:rPr sz="1150" b="0">
                <a:solidFill>
                  <a:srgbClr val="1E293B"/>
                </a:solidFill>
                <a:latin typeface="Times New Roman"/>
                <a:ea typeface="宋体"/>
              </a:rPr>
              <a:t>- 齐次生产函数指数 n 判定规模类型</a:t>
            </a:r>
          </a:p>
          <a:p>
            <a:pPr algn="l">
              <a:lnSpc>
                <a:spcPct val="120000"/>
              </a:lnSpc>
              <a:spcAft>
                <a:spcPts val="400"/>
              </a:spcAft>
            </a:pPr>
            <a:r>
              <a:rPr sz="1150" b="0">
                <a:solidFill>
                  <a:srgbClr val="1E293B"/>
                </a:solidFill>
                <a:latin typeface="Times New Roman"/>
                <a:ea typeface="宋体"/>
              </a:rPr>
              <a:t>- 马克西曲线揭示最小公倍数最优规模</a:t>
            </a:r>
          </a:p>
        </p:txBody>
      </p:sp>
      <p:sp>
        <p:nvSpPr>
          <p:cNvPr id="18" name="Rectangle 17"/>
          <p:cNvSpPr/>
          <p:nvPr/>
        </p:nvSpPr>
        <p:spPr>
          <a:xfrm>
            <a:off x="9015984" y="1325880"/>
            <a:ext cx="26517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15984" y="1325880"/>
            <a:ext cx="2651760" cy="4572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500" b="1">
                <a:solidFill>
                  <a:srgbClr val="FFFFFF"/>
                </a:solidFill>
                <a:latin typeface="Times New Roman"/>
                <a:ea typeface="宋体"/>
              </a:rPr>
              <a:t>  柯布函数与技术进步</a:t>
            </a:r>
          </a:p>
        </p:txBody>
      </p:sp>
      <p:sp>
        <p:nvSpPr>
          <p:cNvPr id="20" name="TextBox 19"/>
          <p:cNvSpPr txBox="1"/>
          <p:nvPr/>
        </p:nvSpPr>
        <p:spPr>
          <a:xfrm>
            <a:off x="9180576" y="1920240"/>
            <a:ext cx="2322576" cy="3611880"/>
          </a:xfrm>
          <a:prstGeom prst="rect">
            <a:avLst/>
          </a:prstGeom>
          <a:noFill/>
        </p:spPr>
        <p:txBody>
          <a:bodyPr wrap="square" lIns="0" tIns="0" rIns="0" bIns="0">
            <a:spAutoFit/>
          </a:bodyPr>
          <a:lstStyle/>
          <a:p/>
          <a:p>
            <a:pPr algn="l">
              <a:lnSpc>
                <a:spcPct val="120000"/>
              </a:lnSpc>
              <a:spcAft>
                <a:spcPts val="400"/>
              </a:spcAft>
            </a:pPr>
            <a:r>
              <a:rPr sz="1150" b="0">
                <a:solidFill>
                  <a:srgbClr val="1E293B"/>
                </a:solidFill>
                <a:latin typeface="Times New Roman"/>
                <a:ea typeface="宋体"/>
              </a:rPr>
              <a:t>- Q = A K^α L^β 四大优良数理性质</a:t>
            </a:r>
          </a:p>
          <a:p>
            <a:pPr algn="l">
              <a:lnSpc>
                <a:spcPct val="120000"/>
              </a:lnSpc>
              <a:spcAft>
                <a:spcPts val="400"/>
              </a:spcAft>
            </a:pPr>
            <a:r>
              <a:rPr sz="1150" b="0">
                <a:solidFill>
                  <a:srgbClr val="1E293B"/>
                </a:solidFill>
                <a:latin typeface="Times New Roman"/>
                <a:ea typeface="宋体"/>
              </a:rPr>
              <a:t>- α+β &gt; 1 判定规模报酬递增</a:t>
            </a:r>
          </a:p>
          <a:p>
            <a:pPr algn="l">
              <a:lnSpc>
                <a:spcPct val="120000"/>
              </a:lnSpc>
              <a:spcAft>
                <a:spcPts val="400"/>
              </a:spcAft>
            </a:pPr>
            <a:r>
              <a:rPr sz="1150" b="0">
                <a:solidFill>
                  <a:srgbClr val="1E293B"/>
                </a:solidFill>
                <a:latin typeface="Times New Roman"/>
                <a:ea typeface="宋体"/>
              </a:rPr>
              <a:t>- 劳动节约/资本节约/中立型技术进步</a:t>
            </a:r>
          </a:p>
          <a:p>
            <a:pPr algn="l">
              <a:lnSpc>
                <a:spcPct val="120000"/>
              </a:lnSpc>
              <a:spcAft>
                <a:spcPts val="400"/>
              </a:spcAft>
            </a:pPr>
            <a:r>
              <a:rPr sz="1150" b="0">
                <a:solidFill>
                  <a:srgbClr val="1E293B"/>
                </a:solidFill>
                <a:latin typeface="Times New Roman"/>
                <a:ea typeface="宋体"/>
              </a:rPr>
              <a:t>- 索洛余值核算：GA = GQ - αGK - βGL</a:t>
            </a:r>
          </a:p>
        </p:txBody>
      </p:sp>
      <p:sp>
        <p:nvSpPr>
          <p:cNvPr id="21" name="Rectangle 20"/>
          <p:cNvSpPr/>
          <p:nvPr/>
        </p:nvSpPr>
        <p:spPr>
          <a:xfrm>
            <a:off x="457200" y="5833872"/>
            <a:ext cx="1124712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250" b="1">
                <a:solidFill>
                  <a:srgbClr val="1B3A5C"/>
                </a:solidFill>
                <a:latin typeface="Times New Roman"/>
                <a:ea typeface="宋体"/>
              </a:rPr>
              <a:t>  ★ 战略结语：生产决策分析是企业打磨底层成本护城河的核心武器，统筹兼顾短期要素边际产值、长期最佳要素配比与规模经济边界。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7772400" cy="320040"/>
          </a:xfrm>
          <a:prstGeom prst="rect">
            <a:avLst/>
          </a:prstGeom>
          <a:noFill/>
        </p:spPr>
        <p:txBody>
          <a:bodyPr wrap="square" lIns="0" tIns="0" rIns="0" bIns="0">
            <a:spAutoFit/>
          </a:bodyPr>
          <a:lstStyle/>
          <a:p>
            <a:pPr algn="l">
              <a:lnSpc>
                <a:spcPct val="120000"/>
              </a:lnSpc>
            </a:pPr>
            <a:r>
              <a:rPr sz="1250" b="1">
                <a:solidFill>
                  <a:srgbClr val="2E86C1"/>
                </a:solidFill>
                <a:latin typeface="Times New Roman"/>
                <a:ea typeface="宋体"/>
              </a:rPr>
              <a:t>课后思考与习题</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400" b="1">
                <a:solidFill>
                  <a:srgbClr val="1B3A5C"/>
                </a:solidFill>
                <a:latin typeface="Times New Roman"/>
                <a:ea typeface="宋体"/>
              </a:rPr>
              <a:t>【第4章】课后复习思考题与作业题精选（对标课本）</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54864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管理经济学（第7版·吴德庆）· 五级精细化教学课件</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23</a:t>
            </a:r>
          </a:p>
        </p:txBody>
      </p:sp>
      <p:sp>
        <p:nvSpPr>
          <p:cNvPr id="9" name="Rectangle 8"/>
          <p:cNvSpPr/>
          <p:nvPr/>
        </p:nvSpPr>
        <p:spPr>
          <a:xfrm>
            <a:off x="457200" y="1325880"/>
            <a:ext cx="11247120" cy="48920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1124712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课后复习思考题与 MBA 讨论案例（严格对应课本习题）</a:t>
            </a:r>
          </a:p>
        </p:txBody>
      </p:sp>
      <p:sp>
        <p:nvSpPr>
          <p:cNvPr id="11" name="TextBox 10"/>
          <p:cNvSpPr txBox="1"/>
          <p:nvPr/>
        </p:nvSpPr>
        <p:spPr>
          <a:xfrm>
            <a:off x="731520" y="1965960"/>
            <a:ext cx="10698480" cy="4069080"/>
          </a:xfrm>
          <a:prstGeom prst="rect">
            <a:avLst/>
          </a:prstGeom>
          <a:noFill/>
        </p:spPr>
        <p:txBody>
          <a:bodyPr wrap="square" lIns="0" tIns="0" rIns="0" bIns="0">
            <a:spAutoFit/>
          </a:bodyPr>
          <a:lstStyle/>
          <a:p>
            <a:pPr>
              <a:lnSpc>
                <a:spcPct val="120000"/>
              </a:lnSpc>
              <a:spcAft>
                <a:spcPts val="400"/>
              </a:spcAft>
            </a:pPr>
            <a:r>
              <a:rPr sz="1150" b="1">
                <a:solidFill>
                  <a:srgbClr val="2E86C1"/>
                </a:solidFill>
                <a:latin typeface="Times New Roman"/>
                <a:ea typeface="宋体"/>
              </a:rPr>
              <a:t>1. </a:t>
            </a:r>
            <a:r>
              <a:rPr sz="1150" b="0">
                <a:solidFill>
                  <a:srgbClr val="1E293B"/>
                </a:solidFill>
                <a:latin typeface="Times New Roman"/>
                <a:ea typeface="宋体"/>
              </a:rPr>
              <a:t>【思考题1】请解释总产量、平均产量和边际产量三者之间的相互关系，并说明为什么生产只能在第Ⅱ阶段进行？</a:t>
            </a:r>
          </a:p>
          <a:p>
            <a:pPr>
              <a:lnSpc>
                <a:spcPct val="120000"/>
              </a:lnSpc>
              <a:spcAft>
                <a:spcPts val="400"/>
              </a:spcAft>
            </a:pPr>
            <a:r>
              <a:rPr sz="1150" b="1">
                <a:solidFill>
                  <a:srgbClr val="2E86C1"/>
                </a:solidFill>
                <a:latin typeface="Times New Roman"/>
                <a:ea typeface="宋体"/>
              </a:rPr>
              <a:t>2. </a:t>
            </a:r>
            <a:r>
              <a:rPr sz="1150" b="0">
                <a:solidFill>
                  <a:srgbClr val="1E293B"/>
                </a:solidFill>
                <a:latin typeface="Times New Roman"/>
                <a:ea typeface="宋体"/>
              </a:rPr>
              <a:t>【思考题2】请详述促使企业规模收益递增的九大细分因素，以及为什么企业过度扩张会导致规模收益递减？</a:t>
            </a:r>
          </a:p>
          <a:p>
            <a:pPr>
              <a:lnSpc>
                <a:spcPct val="120000"/>
              </a:lnSpc>
              <a:spcAft>
                <a:spcPts val="400"/>
              </a:spcAft>
            </a:pPr>
            <a:r>
              <a:rPr sz="1150" b="1">
                <a:solidFill>
                  <a:srgbClr val="2E86C1"/>
                </a:solidFill>
                <a:latin typeface="Times New Roman"/>
                <a:ea typeface="宋体"/>
              </a:rPr>
              <a:t>3. </a:t>
            </a:r>
            <a:r>
              <a:rPr sz="1150" b="0">
                <a:solidFill>
                  <a:srgbClr val="1E293B"/>
                </a:solidFill>
                <a:latin typeface="Times New Roman"/>
                <a:ea typeface="宋体"/>
              </a:rPr>
              <a:t>【思考题3】边际收益递减规律和规模收益递增原理是否矛盾？为什么？</a:t>
            </a:r>
          </a:p>
          <a:p>
            <a:pPr>
              <a:lnSpc>
                <a:spcPct val="120000"/>
              </a:lnSpc>
              <a:spcAft>
                <a:spcPts val="400"/>
              </a:spcAft>
            </a:pPr>
            <a:r>
              <a:rPr sz="1150" b="1">
                <a:solidFill>
                  <a:srgbClr val="2E86C1"/>
                </a:solidFill>
                <a:latin typeface="Times New Roman"/>
                <a:ea typeface="宋体"/>
              </a:rPr>
              <a:t>4. </a:t>
            </a:r>
            <a:r>
              <a:rPr sz="1150" b="0">
                <a:solidFill>
                  <a:srgbClr val="1E293B"/>
                </a:solidFill>
                <a:latin typeface="Times New Roman"/>
                <a:ea typeface="宋体"/>
              </a:rPr>
              <a:t>【思考题4】什么是多种投入要素的最优组合？如何运用等产量线与等成本线证明成本最低的切点条件？</a:t>
            </a:r>
          </a:p>
          <a:p>
            <a:pPr>
              <a:lnSpc>
                <a:spcPct val="120000"/>
              </a:lnSpc>
              <a:spcAft>
                <a:spcPts val="400"/>
              </a:spcAft>
            </a:pPr>
            <a:r>
              <a:rPr sz="1150" b="1">
                <a:solidFill>
                  <a:srgbClr val="2E86C1"/>
                </a:solidFill>
                <a:latin typeface="Times New Roman"/>
                <a:ea typeface="宋体"/>
              </a:rPr>
              <a:t>5. </a:t>
            </a:r>
            <a:r>
              <a:rPr sz="1150" b="0">
                <a:solidFill>
                  <a:srgbClr val="1E293B"/>
                </a:solidFill>
                <a:latin typeface="Times New Roman"/>
                <a:ea typeface="宋体"/>
              </a:rPr>
              <a:t>【思考题5】简述柯布-道格拉斯生产函数的四大性质，以及如何利用索洛余值测定技术进步对产出增长的贡献率？</a:t>
            </a:r>
          </a:p>
          <a:p>
            <a:pPr>
              <a:lnSpc>
                <a:spcPct val="120000"/>
              </a:lnSpc>
              <a:spcAft>
                <a:spcPts val="400"/>
              </a:spcAft>
            </a:pPr>
            <a:r>
              <a:rPr sz="1150" b="1">
                <a:solidFill>
                  <a:srgbClr val="2E86C1"/>
                </a:solidFill>
                <a:latin typeface="Times New Roman"/>
                <a:ea typeface="宋体"/>
              </a:rPr>
              <a:t>6. </a:t>
            </a:r>
            <a:r>
              <a:rPr sz="1150" b="0">
                <a:solidFill>
                  <a:srgbClr val="1E293B"/>
                </a:solidFill>
                <a:latin typeface="Times New Roman"/>
                <a:ea typeface="宋体"/>
              </a:rPr>
              <a:t>【作业题2】某生产过程劳动边际产量 MP_L = 10(K^{0.5}/L^{0.5})，资本固定为 64 单位，工资 w=10 元，售价 P=5 元。求最优劳动力投入量。</a:t>
            </a:r>
          </a:p>
          <a:p>
            <a:pPr>
              <a:lnSpc>
                <a:spcPct val="120000"/>
              </a:lnSpc>
              <a:spcAft>
                <a:spcPts val="400"/>
              </a:spcAft>
            </a:pPr>
            <a:r>
              <a:rPr sz="1150" b="1">
                <a:solidFill>
                  <a:srgbClr val="2E86C1"/>
                </a:solidFill>
                <a:latin typeface="Times New Roman"/>
                <a:ea typeface="宋体"/>
              </a:rPr>
              <a:t>7. </a:t>
            </a:r>
            <a:r>
              <a:rPr sz="1150" b="0">
                <a:solidFill>
                  <a:srgbClr val="1E293B"/>
                </a:solidFill>
                <a:latin typeface="Times New Roman"/>
                <a:ea typeface="宋体"/>
              </a:rPr>
              <a:t>【作业题8】某企业生产函数为 Q = 10 L^{0.5} K^{0.5}，工资 w=50 元，资本租金 r=200 元。若企业计划生产 1000 单位产品，求最低总成本及最优要素组合。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