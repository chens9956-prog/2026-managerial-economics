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572000"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0" y="0"/>
            <a:ext cx="54864" cy="685800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3200400" cy="914400"/>
          </a:xfrm>
          <a:prstGeom prst="rect">
            <a:avLst/>
          </a:prstGeom>
          <a:noFill/>
        </p:spPr>
        <p:txBody>
          <a:bodyPr wrap="none" lIns="0" tIns="0" rIns="0" bIns="0">
            <a:spAutoFit/>
          </a:bodyPr>
          <a:lstStyle/>
          <a:p>
            <a:pPr algn="l">
              <a:lnSpc>
                <a:spcPct val="120000"/>
              </a:lnSpc>
            </a:pPr>
            <a:r>
              <a:rPr sz="3200" b="1">
                <a:solidFill>
                  <a:srgbClr val="FFFFFF"/>
                </a:solidFill>
                <a:latin typeface="Times New Roman"/>
                <a:ea typeface="宋体"/>
              </a:rPr>
              <a:t>CH 00</a:t>
            </a:r>
          </a:p>
        </p:txBody>
      </p:sp>
      <p:sp>
        <p:nvSpPr>
          <p:cNvPr id="5" name="Rectangle 4"/>
          <p:cNvSpPr/>
          <p:nvPr/>
        </p:nvSpPr>
        <p:spPr>
          <a:xfrm>
            <a:off x="777240" y="2697480"/>
            <a:ext cx="13716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926080"/>
            <a:ext cx="3200400" cy="1097280"/>
          </a:xfrm>
          <a:prstGeom prst="rect">
            <a:avLst/>
          </a:prstGeom>
          <a:noFill/>
        </p:spPr>
        <p:txBody>
          <a:bodyPr wrap="none" lIns="0" tIns="0" rIns="0" bIns="0">
            <a:spAutoFit/>
          </a:bodyPr>
          <a:lstStyle/>
          <a:p>
            <a:pPr algn="l">
              <a:lnSpc>
                <a:spcPct val="120000"/>
              </a:lnSpc>
              <a:spcAft>
                <a:spcPts val="800"/>
              </a:spcAft>
            </a:pPr>
            <a:r>
              <a:rPr sz="2000" b="1">
                <a:solidFill>
                  <a:srgbClr val="FFFFFF"/>
                </a:solidFill>
                <a:latin typeface="Times New Roman"/>
                <a:ea typeface="宋体"/>
              </a:rPr>
              <a:t>管理经济学</a:t>
            </a:r>
          </a:p>
          <a:p>
            <a:pPr algn="l">
              <a:lnSpc>
                <a:spcPct val="120000"/>
              </a:lnSpc>
              <a:spcAft>
                <a:spcPts val="400"/>
              </a:spcAft>
            </a:pPr>
            <a:r>
              <a:rPr sz="1200" b="0">
                <a:solidFill>
                  <a:srgbClr val="D6EAF8"/>
                </a:solidFill>
                <a:latin typeface="Times New Roman"/>
                <a:ea typeface="宋体"/>
              </a:rPr>
              <a:t>吴德庆 王保林 马月才（第7版）</a:t>
            </a:r>
          </a:p>
          <a:p>
            <a:pPr algn="l">
              <a:lnSpc>
                <a:spcPct val="120000"/>
              </a:lnSpc>
            </a:pPr>
            <a:r>
              <a:rPr sz="1200" b="0">
                <a:solidFill>
                  <a:srgbClr val="64748B"/>
                </a:solidFill>
                <a:latin typeface="Times New Roman"/>
                <a:ea typeface="宋体"/>
              </a:rPr>
              <a:t>五级精细化教学 · 随课本全景课件</a:t>
            </a:r>
          </a:p>
        </p:txBody>
      </p:sp>
      <p:sp>
        <p:nvSpPr>
          <p:cNvPr id="7" name="TextBox 6"/>
          <p:cNvSpPr txBox="1"/>
          <p:nvPr/>
        </p:nvSpPr>
        <p:spPr>
          <a:xfrm>
            <a:off x="5303520" y="1645920"/>
            <a:ext cx="6217920" cy="457200"/>
          </a:xfrm>
          <a:prstGeom prst="rect">
            <a:avLst/>
          </a:prstGeom>
          <a:noFill/>
        </p:spPr>
        <p:txBody>
          <a:bodyPr wrap="none" lIns="0" tIns="0" rIns="0" bIns="0">
            <a:spAutoFit/>
          </a:bodyPr>
          <a:lstStyle/>
          <a:p>
            <a:pPr algn="l">
              <a:lnSpc>
                <a:spcPct val="120000"/>
              </a:lnSpc>
            </a:pPr>
            <a:r>
              <a:rPr sz="2000" b="1">
                <a:solidFill>
                  <a:srgbClr val="C88C1B"/>
                </a:solidFill>
                <a:latin typeface="Times New Roman"/>
                <a:ea typeface="宋体"/>
              </a:rPr>
              <a:t>绪论</a:t>
            </a:r>
          </a:p>
        </p:txBody>
      </p:sp>
      <p:sp>
        <p:nvSpPr>
          <p:cNvPr id="8" name="TextBox 7"/>
          <p:cNvSpPr txBox="1"/>
          <p:nvPr/>
        </p:nvSpPr>
        <p:spPr>
          <a:xfrm>
            <a:off x="5303520" y="2148840"/>
            <a:ext cx="6217920" cy="109728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管理经济学的对象、方法与企业理论</a:t>
            </a:r>
          </a:p>
        </p:txBody>
      </p:sp>
      <p:sp>
        <p:nvSpPr>
          <p:cNvPr id="9" name="Rectangle 8"/>
          <p:cNvSpPr/>
          <p:nvPr/>
        </p:nvSpPr>
        <p:spPr>
          <a:xfrm>
            <a:off x="5349240" y="3337560"/>
            <a:ext cx="18288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0" y="3566160"/>
            <a:ext cx="6217920" cy="29260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第1节 管理经济学的研究对象和任务（微观基础与决策桥梁）</a:t>
            </a:r>
          </a:p>
          <a:p>
            <a:pPr algn="l">
              <a:lnSpc>
                <a:spcPct val="120000"/>
              </a:lnSpc>
              <a:spcAft>
                <a:spcPts val="600"/>
              </a:spcAft>
            </a:pPr>
            <a:r>
              <a:rPr sz="1300" b="0">
                <a:solidFill>
                  <a:srgbClr val="1E293B"/>
                </a:solidFill>
                <a:latin typeface="Times New Roman"/>
                <a:ea typeface="宋体"/>
              </a:rPr>
              <a:t>- 第2节 管理经济学与企业管理决策（科学决策七步流程与失误警示）</a:t>
            </a:r>
          </a:p>
          <a:p>
            <a:pPr algn="l">
              <a:lnSpc>
                <a:spcPct val="120000"/>
              </a:lnSpc>
              <a:spcAft>
                <a:spcPts val="600"/>
              </a:spcAft>
            </a:pPr>
            <a:r>
              <a:rPr sz="1300" b="0">
                <a:solidFill>
                  <a:srgbClr val="1E293B"/>
                </a:solidFill>
                <a:latin typeface="Times New Roman"/>
                <a:ea typeface="宋体"/>
              </a:rPr>
              <a:t>- 第3节 边际分析法及其在决策中的应用（向前看原则与等边际法则）</a:t>
            </a:r>
          </a:p>
          <a:p>
            <a:pPr algn="l">
              <a:lnSpc>
                <a:spcPct val="120000"/>
              </a:lnSpc>
              <a:spcAft>
                <a:spcPts val="600"/>
              </a:spcAft>
            </a:pPr>
            <a:r>
              <a:rPr sz="1300" b="0">
                <a:solidFill>
                  <a:srgbClr val="1E293B"/>
                </a:solidFill>
                <a:latin typeface="Times New Roman"/>
                <a:ea typeface="宋体"/>
              </a:rPr>
              <a:t>- 第4节 企业的性质、地位和作用以及目标（企业理论与价值最大化）</a:t>
            </a:r>
          </a:p>
          <a:p>
            <a:pPr algn="l">
              <a:lnSpc>
                <a:spcPct val="120000"/>
              </a:lnSpc>
              <a:spcAft>
                <a:spcPts val="600"/>
              </a:spcAft>
            </a:pPr>
            <a:r>
              <a:rPr sz="1300" b="0">
                <a:solidFill>
                  <a:srgbClr val="1E293B"/>
                </a:solidFill>
                <a:latin typeface="Times New Roman"/>
                <a:ea typeface="宋体"/>
              </a:rPr>
              <a:t>- 第5节 企业的利润（会计利润、经济利润与七大机会成本计量）</a:t>
            </a:r>
          </a:p>
          <a:p>
            <a:pPr algn="l">
              <a:lnSpc>
                <a:spcPct val="120000"/>
              </a:lnSpc>
              <a:spcAft>
                <a:spcPts val="600"/>
              </a:spcAft>
            </a:pPr>
            <a:r>
              <a:rPr sz="1300" b="0">
                <a:solidFill>
                  <a:srgbClr val="1E293B"/>
                </a:solidFill>
                <a:latin typeface="Times New Roman"/>
                <a:ea typeface="宋体"/>
              </a:rPr>
              <a:t>- 本章复习思考题与 MBA 案例研讨（严格对应课本思考与作业题）</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本章概览</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【绪论】管理经济学的对象与方法 知识架构与五层逻辑体系</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a:t>
            </a:r>
          </a:p>
        </p:txBody>
      </p:sp>
      <p:sp>
        <p:nvSpPr>
          <p:cNvPr id="9" name="Rectangle 8"/>
          <p:cNvSpPr/>
          <p:nvPr/>
        </p:nvSpPr>
        <p:spPr>
          <a:xfrm>
            <a:off x="54864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371600"/>
            <a:ext cx="2560320" cy="10972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45920"/>
            <a:ext cx="2103120" cy="640080"/>
          </a:xfrm>
          <a:prstGeom prst="rect">
            <a:avLst/>
          </a:prstGeom>
          <a:noFill/>
        </p:spPr>
        <p:txBody>
          <a:bodyPr wrap="none" lIns="0" tIns="0" rIns="0" bIns="0">
            <a:spAutoFit/>
          </a:bodyPr>
          <a:lstStyle/>
          <a:p>
            <a:pPr algn="l">
              <a:lnSpc>
                <a:spcPct val="120000"/>
              </a:lnSpc>
            </a:pPr>
            <a:r>
              <a:rPr sz="3800" b="1">
                <a:solidFill>
                  <a:srgbClr val="1B3A5C"/>
                </a:solidFill>
                <a:latin typeface="Times New Roman"/>
                <a:ea typeface="宋体"/>
              </a:rPr>
              <a:t>01</a:t>
            </a:r>
          </a:p>
        </p:txBody>
      </p:sp>
      <p:sp>
        <p:nvSpPr>
          <p:cNvPr id="12" name="TextBox 11"/>
          <p:cNvSpPr txBox="1"/>
          <p:nvPr/>
        </p:nvSpPr>
        <p:spPr>
          <a:xfrm>
            <a:off x="77724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01 学科定位与决策任务</a:t>
            </a:r>
          </a:p>
        </p:txBody>
      </p:sp>
      <p:sp>
        <p:nvSpPr>
          <p:cNvPr id="13" name="Rectangle 12"/>
          <p:cNvSpPr/>
          <p:nvPr/>
        </p:nvSpPr>
        <p:spPr>
          <a:xfrm>
            <a:off x="777240" y="3017520"/>
            <a:ext cx="548640" cy="2743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理论基础：微观经济学</a:t>
            </a:r>
          </a:p>
          <a:p>
            <a:pPr algn="l">
              <a:lnSpc>
                <a:spcPct val="120000"/>
              </a:lnSpc>
              <a:spcAft>
                <a:spcPts val="500"/>
              </a:spcAft>
            </a:pPr>
            <a:r>
              <a:rPr sz="1250" b="0">
                <a:solidFill>
                  <a:srgbClr val="1E293B"/>
                </a:solidFill>
                <a:latin typeface="Times New Roman"/>
                <a:ea typeface="宋体"/>
              </a:rPr>
              <a:t>- 应用工具：决策科学方法</a:t>
            </a:r>
          </a:p>
          <a:p>
            <a:pPr algn="l">
              <a:lnSpc>
                <a:spcPct val="120000"/>
              </a:lnSpc>
              <a:spcAft>
                <a:spcPts val="500"/>
              </a:spcAft>
            </a:pPr>
            <a:r>
              <a:rPr sz="1250" b="0">
                <a:solidFill>
                  <a:srgbClr val="1E293B"/>
                </a:solidFill>
                <a:latin typeface="Times New Roman"/>
                <a:ea typeface="宋体"/>
              </a:rPr>
              <a:t>- 桥梁纽带：企业管理实践</a:t>
            </a:r>
          </a:p>
          <a:p>
            <a:pPr algn="l">
              <a:lnSpc>
                <a:spcPct val="120000"/>
              </a:lnSpc>
              <a:spcAft>
                <a:spcPts val="500"/>
              </a:spcAft>
            </a:pPr>
            <a:r>
              <a:rPr sz="1250" b="0">
                <a:solidFill>
                  <a:srgbClr val="1E293B"/>
                </a:solidFill>
                <a:latin typeface="Times New Roman"/>
                <a:ea typeface="宋体"/>
              </a:rPr>
              <a:t>- 核心使命：资源优化配置</a:t>
            </a:r>
          </a:p>
        </p:txBody>
      </p:sp>
      <p:sp>
        <p:nvSpPr>
          <p:cNvPr id="15" name="Rectangle 14"/>
          <p:cNvSpPr/>
          <p:nvPr/>
        </p:nvSpPr>
        <p:spPr>
          <a:xfrm>
            <a:off x="338328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83280" y="1371600"/>
            <a:ext cx="2560320" cy="10972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11880" y="1645920"/>
            <a:ext cx="2103120" cy="640080"/>
          </a:xfrm>
          <a:prstGeom prst="rect">
            <a:avLst/>
          </a:prstGeom>
          <a:noFill/>
        </p:spPr>
        <p:txBody>
          <a:bodyPr wrap="none" lIns="0" tIns="0" rIns="0" bIns="0">
            <a:spAutoFit/>
          </a:bodyPr>
          <a:lstStyle/>
          <a:p>
            <a:pPr algn="l">
              <a:lnSpc>
                <a:spcPct val="120000"/>
              </a:lnSpc>
            </a:pPr>
            <a:r>
              <a:rPr sz="3800" b="1">
                <a:solidFill>
                  <a:srgbClr val="2E86C1"/>
                </a:solidFill>
                <a:latin typeface="Times New Roman"/>
                <a:ea typeface="宋体"/>
              </a:rPr>
              <a:t>02</a:t>
            </a:r>
          </a:p>
        </p:txBody>
      </p:sp>
      <p:sp>
        <p:nvSpPr>
          <p:cNvPr id="18" name="TextBox 17"/>
          <p:cNvSpPr txBox="1"/>
          <p:nvPr/>
        </p:nvSpPr>
        <p:spPr>
          <a:xfrm>
            <a:off x="361188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02 边际分析与向前看</a:t>
            </a:r>
          </a:p>
        </p:txBody>
      </p:sp>
      <p:sp>
        <p:nvSpPr>
          <p:cNvPr id="19" name="Rectangle 18"/>
          <p:cNvSpPr/>
          <p:nvPr/>
        </p:nvSpPr>
        <p:spPr>
          <a:xfrm>
            <a:off x="3611880" y="3017520"/>
            <a:ext cx="548640" cy="2743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1188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向前看思维：沉没成本不入决策</a:t>
            </a:r>
          </a:p>
          <a:p>
            <a:pPr algn="l">
              <a:lnSpc>
                <a:spcPct val="120000"/>
              </a:lnSpc>
              <a:spcAft>
                <a:spcPts val="500"/>
              </a:spcAft>
            </a:pPr>
            <a:r>
              <a:rPr sz="1250" b="0">
                <a:solidFill>
                  <a:srgbClr val="1E293B"/>
                </a:solidFill>
                <a:latin typeface="Times New Roman"/>
                <a:ea typeface="宋体"/>
              </a:rPr>
              <a:t>- 无约束极值：边际收入=边际成本</a:t>
            </a:r>
          </a:p>
          <a:p>
            <a:pPr algn="l">
              <a:lnSpc>
                <a:spcPct val="120000"/>
              </a:lnSpc>
              <a:spcAft>
                <a:spcPts val="500"/>
              </a:spcAft>
            </a:pPr>
            <a:r>
              <a:rPr sz="1250" b="0">
                <a:solidFill>
                  <a:srgbClr val="1E293B"/>
                </a:solidFill>
                <a:latin typeface="Times New Roman"/>
                <a:ea typeface="宋体"/>
              </a:rPr>
              <a:t>- 有约束分配：各方向等边际收益</a:t>
            </a:r>
          </a:p>
          <a:p>
            <a:pPr algn="l">
              <a:lnSpc>
                <a:spcPct val="120000"/>
              </a:lnSpc>
              <a:spcAft>
                <a:spcPts val="500"/>
              </a:spcAft>
            </a:pPr>
            <a:r>
              <a:rPr sz="1250" b="0">
                <a:solidFill>
                  <a:srgbClr val="1E293B"/>
                </a:solidFill>
                <a:latin typeface="Times New Roman"/>
                <a:ea typeface="宋体"/>
              </a:rPr>
              <a:t>- 增量分析法：边际法的工程变形</a:t>
            </a:r>
          </a:p>
        </p:txBody>
      </p:sp>
      <p:sp>
        <p:nvSpPr>
          <p:cNvPr id="21" name="Rectangle 20"/>
          <p:cNvSpPr/>
          <p:nvPr/>
        </p:nvSpPr>
        <p:spPr>
          <a:xfrm>
            <a:off x="621792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1371600"/>
            <a:ext cx="2560320" cy="109728"/>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1645920"/>
            <a:ext cx="2103120" cy="640080"/>
          </a:xfrm>
          <a:prstGeom prst="rect">
            <a:avLst/>
          </a:prstGeom>
          <a:noFill/>
        </p:spPr>
        <p:txBody>
          <a:bodyPr wrap="none" lIns="0" tIns="0" rIns="0" bIns="0">
            <a:spAutoFit/>
          </a:bodyPr>
          <a:lstStyle/>
          <a:p>
            <a:pPr algn="l">
              <a:lnSpc>
                <a:spcPct val="120000"/>
              </a:lnSpc>
            </a:pPr>
            <a:r>
              <a:rPr sz="3800" b="1">
                <a:solidFill>
                  <a:srgbClr val="1A8C5D"/>
                </a:solidFill>
                <a:latin typeface="Times New Roman"/>
                <a:ea typeface="宋体"/>
              </a:rPr>
              <a:t>03</a:t>
            </a:r>
          </a:p>
        </p:txBody>
      </p:sp>
      <p:sp>
        <p:nvSpPr>
          <p:cNvPr id="24" name="TextBox 23"/>
          <p:cNvSpPr txBox="1"/>
          <p:nvPr/>
        </p:nvSpPr>
        <p:spPr>
          <a:xfrm>
            <a:off x="644652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03 契约理论与价值最大化</a:t>
            </a:r>
          </a:p>
        </p:txBody>
      </p:sp>
      <p:sp>
        <p:nvSpPr>
          <p:cNvPr id="25" name="Rectangle 24"/>
          <p:cNvSpPr/>
          <p:nvPr/>
        </p:nvSpPr>
        <p:spPr>
          <a:xfrm>
            <a:off x="6446520" y="3017520"/>
            <a:ext cx="548640" cy="27432"/>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4652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企业本质：替代市场交易的契约集合</a:t>
            </a:r>
          </a:p>
          <a:p>
            <a:pPr algn="l">
              <a:lnSpc>
                <a:spcPct val="120000"/>
              </a:lnSpc>
              <a:spcAft>
                <a:spcPts val="500"/>
              </a:spcAft>
            </a:pPr>
            <a:r>
              <a:rPr sz="1250" b="0">
                <a:solidFill>
                  <a:srgbClr val="1E293B"/>
                </a:solidFill>
                <a:latin typeface="Times New Roman"/>
                <a:ea typeface="宋体"/>
              </a:rPr>
              <a:t>- 短期目标：兼顾多方利益相关者</a:t>
            </a:r>
          </a:p>
          <a:p>
            <a:pPr algn="l">
              <a:lnSpc>
                <a:spcPct val="120000"/>
              </a:lnSpc>
              <a:spcAft>
                <a:spcPts val="500"/>
              </a:spcAft>
            </a:pPr>
            <a:r>
              <a:rPr sz="1250" b="0">
                <a:solidFill>
                  <a:srgbClr val="1E293B"/>
                </a:solidFill>
                <a:latin typeface="Times New Roman"/>
                <a:ea typeface="宋体"/>
              </a:rPr>
              <a:t>- 长期目标：企业总价值现值最大化</a:t>
            </a:r>
          </a:p>
          <a:p>
            <a:pPr algn="l">
              <a:lnSpc>
                <a:spcPct val="120000"/>
              </a:lnSpc>
              <a:spcAft>
                <a:spcPts val="500"/>
              </a:spcAft>
            </a:pPr>
            <a:r>
              <a:rPr sz="1250" b="0">
                <a:solidFill>
                  <a:srgbClr val="1E293B"/>
                </a:solidFill>
                <a:latin typeface="Times New Roman"/>
                <a:ea typeface="宋体"/>
              </a:rPr>
              <a:t>- 委托代理：期权激励与公司治理</a:t>
            </a:r>
          </a:p>
        </p:txBody>
      </p:sp>
      <p:sp>
        <p:nvSpPr>
          <p:cNvPr id="27" name="Rectangle 26"/>
          <p:cNvSpPr/>
          <p:nvPr/>
        </p:nvSpPr>
        <p:spPr>
          <a:xfrm>
            <a:off x="905256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52560" y="1371600"/>
            <a:ext cx="2560320" cy="109728"/>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81160" y="1645920"/>
            <a:ext cx="2103120" cy="640080"/>
          </a:xfrm>
          <a:prstGeom prst="rect">
            <a:avLst/>
          </a:prstGeom>
          <a:noFill/>
        </p:spPr>
        <p:txBody>
          <a:bodyPr wrap="none" lIns="0" tIns="0" rIns="0" bIns="0">
            <a:spAutoFit/>
          </a:bodyPr>
          <a:lstStyle/>
          <a:p>
            <a:pPr algn="l">
              <a:lnSpc>
                <a:spcPct val="120000"/>
              </a:lnSpc>
            </a:pPr>
            <a:r>
              <a:rPr sz="3800" b="1">
                <a:solidFill>
                  <a:srgbClr val="C88C1B"/>
                </a:solidFill>
                <a:latin typeface="Times New Roman"/>
                <a:ea typeface="宋体"/>
              </a:rPr>
              <a:t>04</a:t>
            </a:r>
          </a:p>
        </p:txBody>
      </p:sp>
      <p:sp>
        <p:nvSpPr>
          <p:cNvPr id="30" name="TextBox 29"/>
          <p:cNvSpPr txBox="1"/>
          <p:nvPr/>
        </p:nvSpPr>
        <p:spPr>
          <a:xfrm>
            <a:off x="928116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04 经济利润与机会成本</a:t>
            </a:r>
          </a:p>
        </p:txBody>
      </p:sp>
      <p:sp>
        <p:nvSpPr>
          <p:cNvPr id="31" name="Rectangle 30"/>
          <p:cNvSpPr/>
          <p:nvPr/>
        </p:nvSpPr>
        <p:spPr>
          <a:xfrm>
            <a:off x="9281160" y="3017520"/>
            <a:ext cx="54864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8116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会计利润：总收益减去外显成本</a:t>
            </a:r>
          </a:p>
          <a:p>
            <a:pPr algn="l">
              <a:lnSpc>
                <a:spcPct val="120000"/>
              </a:lnSpc>
              <a:spcAft>
                <a:spcPts val="500"/>
              </a:spcAft>
            </a:pPr>
            <a:r>
              <a:rPr sz="1250" b="0">
                <a:solidFill>
                  <a:srgbClr val="1E293B"/>
                </a:solidFill>
                <a:latin typeface="Times New Roman"/>
                <a:ea typeface="宋体"/>
              </a:rPr>
              <a:t>- 经济利润：总收益减去全部机会成本</a:t>
            </a:r>
          </a:p>
          <a:p>
            <a:pPr algn="l">
              <a:lnSpc>
                <a:spcPct val="120000"/>
              </a:lnSpc>
              <a:spcAft>
                <a:spcPts val="500"/>
              </a:spcAft>
            </a:pPr>
            <a:r>
              <a:rPr sz="1250" b="0">
                <a:solidFill>
                  <a:srgbClr val="1E293B"/>
                </a:solidFill>
                <a:latin typeface="Times New Roman"/>
                <a:ea typeface="宋体"/>
              </a:rPr>
              <a:t>- 内涵成本：自有要素的最优放弃收益</a:t>
            </a:r>
          </a:p>
          <a:p>
            <a:pPr algn="l">
              <a:lnSpc>
                <a:spcPct val="120000"/>
              </a:lnSpc>
              <a:spcAft>
                <a:spcPts val="500"/>
              </a:spcAft>
            </a:pPr>
            <a:r>
              <a:rPr sz="1250" b="0">
                <a:solidFill>
                  <a:srgbClr val="1E293B"/>
                </a:solidFill>
                <a:latin typeface="Times New Roman"/>
                <a:ea typeface="宋体"/>
              </a:rPr>
              <a:t>- 七大场景：闲置/重置/自有资金计量</a:t>
            </a:r>
          </a:p>
        </p:txBody>
      </p:sp>
      <p:sp>
        <p:nvSpPr>
          <p:cNvPr id="33" name="TextBox 32"/>
          <p:cNvSpPr txBox="1"/>
          <p:nvPr/>
        </p:nvSpPr>
        <p:spPr>
          <a:xfrm>
            <a:off x="548640" y="5715000"/>
            <a:ext cx="11094415" cy="457200"/>
          </a:xfrm>
          <a:prstGeom prst="rect">
            <a:avLst/>
          </a:prstGeom>
          <a:noFill/>
        </p:spPr>
        <p:txBody>
          <a:bodyPr wrap="square" lIns="0" tIns="0" rIns="0" bIns="0">
            <a:spAutoFit/>
          </a:bodyPr>
          <a:lstStyle/>
          <a:p>
            <a:pPr algn="l">
              <a:lnSpc>
                <a:spcPct val="120000"/>
              </a:lnSpc>
            </a:pPr>
            <a:r>
              <a:rPr sz="1300" b="1">
                <a:solidFill>
                  <a:srgbClr val="2E86C1"/>
                </a:solidFill>
                <a:latin typeface="Times New Roman"/>
                <a:ea typeface="宋体"/>
              </a:rPr>
              <a:t>核心逻辑：以经济学理论与数理决策方法为工具，指导企业在不确定市场环境下实现资源最优配置与长期价值最大化。</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第1节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管理经济学的研究对象和任务</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系统阐明管理经济学的学科属性、研究对象以及在管理学科群中的桥梁纽带作用。</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绪论 管理经济学的对象与方法 · 权威教材精细化教学架构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第1节 管理经济学的研究对象和任务</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一、管理经济学的对象与核心任务</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4</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1. 研究对象与学科交叉属性</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（1）学科定义：</a:t>
            </a:r>
            <a:r>
              <a:rPr sz="1250" b="0">
                <a:solidFill>
                  <a:srgbClr val="1E293B"/>
                </a:solidFill>
                <a:latin typeface="Times New Roman"/>
                <a:ea typeface="宋体"/>
              </a:rPr>
              <a:t>管理经济学是一门研究如何把传统经济学（特别是微观经济学）的理论和定性分析方法应用于企业管理决策实践的学科。</a:t>
            </a:r>
          </a:p>
          <a:p>
            <a:pPr>
              <a:lnSpc>
                <a:spcPct val="120000"/>
              </a:lnSpc>
              <a:spcAft>
                <a:spcPts val="600"/>
              </a:spcAft>
            </a:pPr>
            <a:r>
              <a:rPr sz="1250" b="1">
                <a:solidFill>
                  <a:srgbClr val="1B3A5C"/>
                </a:solidFill>
                <a:latin typeface="Times New Roman"/>
                <a:ea typeface="宋体"/>
              </a:rPr>
              <a:t>（2）理论桥梁：</a:t>
            </a:r>
            <a:r>
              <a:rPr sz="1250" b="0">
                <a:solidFill>
                  <a:srgbClr val="1E293B"/>
                </a:solidFill>
                <a:latin typeface="Times New Roman"/>
                <a:ea typeface="宋体"/>
              </a:rPr>
              <a:t>架设在纯学术理论（微观经济学/宏观经济学）与企业管理决策实践（营销/财务/运营）之间的跨学科纽带。</a:t>
            </a:r>
          </a:p>
          <a:p>
            <a:pPr>
              <a:lnSpc>
                <a:spcPct val="120000"/>
              </a:lnSpc>
              <a:spcAft>
                <a:spcPts val="600"/>
              </a:spcAft>
            </a:pPr>
            <a:r>
              <a:rPr sz="1250" b="1">
                <a:solidFill>
                  <a:srgbClr val="1B3A5C"/>
                </a:solidFill>
                <a:latin typeface="Times New Roman"/>
                <a:ea typeface="宋体"/>
              </a:rPr>
              <a:t>（3）决策工具：</a:t>
            </a:r>
            <a:r>
              <a:rPr sz="1250" b="0">
                <a:solidFill>
                  <a:srgbClr val="1E293B"/>
                </a:solidFill>
                <a:latin typeface="Times New Roman"/>
                <a:ea typeface="宋体"/>
              </a:rPr>
              <a:t>融合数学、统计学、运筹学与计量经济学，建立可量化、可检验的数理决策模型。</a:t>
            </a:r>
          </a:p>
          <a:p>
            <a:pPr>
              <a:lnSpc>
                <a:spcPct val="120000"/>
              </a:lnSpc>
              <a:spcAft>
                <a:spcPts val="600"/>
              </a:spcAft>
            </a:pPr>
            <a:r>
              <a:rPr sz="1250" b="1">
                <a:solidFill>
                  <a:srgbClr val="1B3A5C"/>
                </a:solidFill>
                <a:latin typeface="Times New Roman"/>
                <a:ea typeface="宋体"/>
              </a:rPr>
              <a:t>（4）核心任务：</a:t>
            </a:r>
            <a:r>
              <a:rPr sz="1250" b="0">
                <a:solidFill>
                  <a:srgbClr val="1E293B"/>
                </a:solidFill>
                <a:latin typeface="Times New Roman"/>
                <a:ea typeface="宋体"/>
              </a:rPr>
              <a:t>帮助企业管理人员在有限资源的约束条件下，权衡利弊、规避风险，做出合理的最优经营决策。</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2. 资源配置决策的核心问题</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（1）生产什么：</a:t>
            </a:r>
            <a:r>
              <a:rPr sz="1250" b="0">
                <a:solidFill>
                  <a:srgbClr val="1E293B"/>
                </a:solidFill>
                <a:latin typeface="Times New Roman"/>
                <a:ea typeface="宋体"/>
              </a:rPr>
              <a:t>依据市场需求弹性与竞争结构，确定最佳产品结构与服务组合。</a:t>
            </a:r>
          </a:p>
          <a:p>
            <a:pPr>
              <a:lnSpc>
                <a:spcPct val="120000"/>
              </a:lnSpc>
              <a:spcAft>
                <a:spcPts val="600"/>
              </a:spcAft>
            </a:pPr>
            <a:r>
              <a:rPr sz="1250" b="1">
                <a:solidFill>
                  <a:srgbClr val="2E86C1"/>
                </a:solidFill>
                <a:latin typeface="Times New Roman"/>
                <a:ea typeface="宋体"/>
              </a:rPr>
              <a:t>（2）生产多少：</a:t>
            </a:r>
            <a:r>
              <a:rPr sz="1250" b="0">
                <a:solidFill>
                  <a:srgbClr val="1E293B"/>
                </a:solidFill>
                <a:latin typeface="Times New Roman"/>
                <a:ea typeface="宋体"/>
              </a:rPr>
              <a:t>运用成本函数与边际分析法，确定利润最大化的最佳生产规模与产销量。</a:t>
            </a:r>
          </a:p>
          <a:p>
            <a:pPr>
              <a:lnSpc>
                <a:spcPct val="120000"/>
              </a:lnSpc>
              <a:spcAft>
                <a:spcPts val="600"/>
              </a:spcAft>
            </a:pPr>
            <a:r>
              <a:rPr sz="1250" b="1">
                <a:solidFill>
                  <a:srgbClr val="2E86C1"/>
                </a:solidFill>
                <a:latin typeface="Times New Roman"/>
                <a:ea typeface="宋体"/>
              </a:rPr>
              <a:t>（3）如何生产：</a:t>
            </a:r>
            <a:r>
              <a:rPr sz="1250" b="0">
                <a:solidFill>
                  <a:srgbClr val="1E293B"/>
                </a:solidFill>
                <a:latin typeface="Times New Roman"/>
                <a:ea typeface="宋体"/>
              </a:rPr>
              <a:t>分析等产量线与边际技术替代率，寻找资本、劳动力等投入要素的最低成本组合。</a:t>
            </a:r>
          </a:p>
          <a:p>
            <a:pPr>
              <a:lnSpc>
                <a:spcPct val="120000"/>
              </a:lnSpc>
              <a:spcAft>
                <a:spcPts val="600"/>
              </a:spcAft>
            </a:pPr>
            <a:r>
              <a:rPr sz="1250" b="1">
                <a:solidFill>
                  <a:srgbClr val="2E86C1"/>
                </a:solidFill>
                <a:latin typeface="Times New Roman"/>
                <a:ea typeface="宋体"/>
              </a:rPr>
              <a:t>（4）为谁生产：</a:t>
            </a:r>
            <a:r>
              <a:rPr sz="1250" b="0">
                <a:solidFill>
                  <a:srgbClr val="1E293B"/>
                </a:solidFill>
                <a:latin typeface="Times New Roman"/>
                <a:ea typeface="宋体"/>
              </a:rPr>
              <a:t>通过差别定价与市场细分策略，将产品高效分配给支付意愿最高的消费者群体。</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核心要点：管理经济学以微观经济学为理论基石，以决策科学为方法工具，以企业资源优化配置为终极目标。</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第1节 管理经济学的研究对象和任务</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二、管理经济学与相关学科的关系矩阵</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5</a:t>
            </a:r>
          </a:p>
        </p:txBody>
      </p:sp>
      <p:sp>
        <p:nvSpPr>
          <p:cNvPr id="9" name="Rectangle 8"/>
          <p:cNvSpPr/>
          <p:nvPr/>
        </p:nvSpPr>
        <p:spPr>
          <a:xfrm>
            <a:off x="457200"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2651760" cy="914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1554480"/>
            <a:ext cx="640080"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000" b="1">
                <a:solidFill>
                  <a:srgbClr val="FFFFFF"/>
                </a:solidFill>
                <a:latin typeface="Times New Roman"/>
                <a:ea typeface="宋体"/>
              </a:rPr>
              <a:t>01</a:t>
            </a:r>
          </a:p>
        </p:txBody>
      </p:sp>
      <p:sp>
        <p:nvSpPr>
          <p:cNvPr id="12" name="TextBox 11"/>
          <p:cNvSpPr txBox="1"/>
          <p:nvPr/>
        </p:nvSpPr>
        <p:spPr>
          <a:xfrm>
            <a:off x="640080" y="2286000"/>
            <a:ext cx="2286000" cy="45720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微观经济学</a:t>
            </a:r>
          </a:p>
        </p:txBody>
      </p:sp>
      <p:sp>
        <p:nvSpPr>
          <p:cNvPr id="13" name="Rectangle 12"/>
          <p:cNvSpPr/>
          <p:nvPr/>
        </p:nvSpPr>
        <p:spPr>
          <a:xfrm>
            <a:off x="640080" y="2770632"/>
            <a:ext cx="640080" cy="2743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880360"/>
            <a:ext cx="2286000" cy="2651760"/>
          </a:xfrm>
          <a:prstGeom prst="rect">
            <a:avLst/>
          </a:prstGeom>
          <a:noFill/>
        </p:spPr>
        <p:txBody>
          <a:bodyPr wrap="square" lIns="0" tIns="0" rIns="0" bIns="0">
            <a:spAutoFit/>
          </a:bodyPr>
          <a:lstStyle/>
          <a:p>
            <a:pPr>
              <a:lnSpc>
                <a:spcPct val="120000"/>
              </a:lnSpc>
              <a:spcAft>
                <a:spcPts val="500"/>
              </a:spcAft>
            </a:pPr>
            <a:r>
              <a:rPr sz="1200" b="1">
                <a:solidFill>
                  <a:srgbClr val="1B3A5C"/>
                </a:solidFill>
                <a:latin typeface="Times New Roman"/>
                <a:ea typeface="宋体"/>
              </a:rPr>
              <a:t>（1）研究目的：</a:t>
            </a:r>
            <a:r>
              <a:rPr sz="1200" b="0">
                <a:solidFill>
                  <a:srgbClr val="1E293B"/>
                </a:solidFill>
                <a:latin typeface="Times New Roman"/>
                <a:ea typeface="宋体"/>
              </a:rPr>
              <a:t>解释价格机制与资源配置规律（理论导向）。</a:t>
            </a:r>
          </a:p>
          <a:p>
            <a:pPr>
              <a:lnSpc>
                <a:spcPct val="120000"/>
              </a:lnSpc>
              <a:spcAft>
                <a:spcPts val="500"/>
              </a:spcAft>
            </a:pPr>
            <a:r>
              <a:rPr sz="1200" b="1">
                <a:solidFill>
                  <a:srgbClr val="1B3A5C"/>
                </a:solidFill>
                <a:latin typeface="Times New Roman"/>
                <a:ea typeface="宋体"/>
              </a:rPr>
              <a:t>（2）核心假设：</a:t>
            </a:r>
            <a:r>
              <a:rPr sz="1200" b="0">
                <a:solidFill>
                  <a:srgbClr val="1E293B"/>
                </a:solidFill>
                <a:latin typeface="Times New Roman"/>
                <a:ea typeface="宋体"/>
              </a:rPr>
              <a:t>假定信息完全与市场抽象确定性。</a:t>
            </a:r>
          </a:p>
          <a:p>
            <a:pPr>
              <a:lnSpc>
                <a:spcPct val="120000"/>
              </a:lnSpc>
              <a:spcAft>
                <a:spcPts val="500"/>
              </a:spcAft>
            </a:pPr>
            <a:r>
              <a:rPr sz="1200" b="1">
                <a:solidFill>
                  <a:srgbClr val="1B3A5C"/>
                </a:solidFill>
                <a:latin typeface="Times New Roman"/>
                <a:ea typeface="宋体"/>
              </a:rPr>
              <a:t>（3）关系：</a:t>
            </a:r>
            <a:r>
              <a:rPr sz="1200" b="0">
                <a:solidFill>
                  <a:srgbClr val="1E293B"/>
                </a:solidFill>
                <a:latin typeface="Times New Roman"/>
                <a:ea typeface="宋体"/>
              </a:rPr>
              <a:t>管理经济学的理论基石与数理分析源泉。</a:t>
            </a:r>
          </a:p>
        </p:txBody>
      </p:sp>
      <p:sp>
        <p:nvSpPr>
          <p:cNvPr id="15" name="Rectangle 14"/>
          <p:cNvSpPr/>
          <p:nvPr/>
        </p:nvSpPr>
        <p:spPr>
          <a:xfrm>
            <a:off x="3310128"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10128" y="1325880"/>
            <a:ext cx="2651760" cy="9144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93008" y="1554480"/>
            <a:ext cx="640080" cy="6400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000" b="1">
                <a:solidFill>
                  <a:srgbClr val="FFFFFF"/>
                </a:solidFill>
                <a:latin typeface="Times New Roman"/>
                <a:ea typeface="宋体"/>
              </a:rPr>
              <a:t>02</a:t>
            </a:r>
          </a:p>
        </p:txBody>
      </p:sp>
      <p:sp>
        <p:nvSpPr>
          <p:cNvPr id="18" name="TextBox 17"/>
          <p:cNvSpPr txBox="1"/>
          <p:nvPr/>
        </p:nvSpPr>
        <p:spPr>
          <a:xfrm>
            <a:off x="3493008" y="2286000"/>
            <a:ext cx="2286000" cy="45720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决策科学与数学</a:t>
            </a:r>
          </a:p>
        </p:txBody>
      </p:sp>
      <p:sp>
        <p:nvSpPr>
          <p:cNvPr id="19" name="Rectangle 18"/>
          <p:cNvSpPr/>
          <p:nvPr/>
        </p:nvSpPr>
        <p:spPr>
          <a:xfrm>
            <a:off x="3493008" y="2770632"/>
            <a:ext cx="640080" cy="2743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93008" y="2880360"/>
            <a:ext cx="2286000" cy="2651760"/>
          </a:xfrm>
          <a:prstGeom prst="rect">
            <a:avLst/>
          </a:prstGeom>
          <a:noFill/>
        </p:spPr>
        <p:txBody>
          <a:bodyPr wrap="square" lIns="0" tIns="0" rIns="0" bIns="0">
            <a:spAutoFit/>
          </a:bodyPr>
          <a:lstStyle/>
          <a:p>
            <a:pPr>
              <a:lnSpc>
                <a:spcPct val="120000"/>
              </a:lnSpc>
              <a:spcAft>
                <a:spcPts val="500"/>
              </a:spcAft>
            </a:pPr>
            <a:r>
              <a:rPr sz="1200" b="1">
                <a:solidFill>
                  <a:srgbClr val="2E86C1"/>
                </a:solidFill>
                <a:latin typeface="Times New Roman"/>
                <a:ea typeface="宋体"/>
              </a:rPr>
              <a:t>（1）工具支撑：</a:t>
            </a:r>
            <a:r>
              <a:rPr sz="1200" b="0">
                <a:solidFill>
                  <a:srgbClr val="1E293B"/>
                </a:solidFill>
                <a:latin typeface="Times New Roman"/>
                <a:ea typeface="宋体"/>
              </a:rPr>
              <a:t>微分极值法、线性规划、回归预测与概率论。</a:t>
            </a:r>
          </a:p>
          <a:p>
            <a:pPr>
              <a:lnSpc>
                <a:spcPct val="120000"/>
              </a:lnSpc>
              <a:spcAft>
                <a:spcPts val="500"/>
              </a:spcAft>
            </a:pPr>
            <a:r>
              <a:rPr sz="1200" b="1">
                <a:solidFill>
                  <a:srgbClr val="2E86C1"/>
                </a:solidFill>
                <a:latin typeface="Times New Roman"/>
                <a:ea typeface="宋体"/>
              </a:rPr>
              <a:t>（2）量化分析：</a:t>
            </a:r>
            <a:r>
              <a:rPr sz="1200" b="0">
                <a:solidFill>
                  <a:srgbClr val="1E293B"/>
                </a:solidFill>
                <a:latin typeface="Times New Roman"/>
                <a:ea typeface="宋体"/>
              </a:rPr>
              <a:t>将经济学定性逻辑转化为具体可解的数值模型。</a:t>
            </a:r>
          </a:p>
          <a:p>
            <a:pPr>
              <a:lnSpc>
                <a:spcPct val="120000"/>
              </a:lnSpc>
              <a:spcAft>
                <a:spcPts val="500"/>
              </a:spcAft>
            </a:pPr>
            <a:r>
              <a:rPr sz="1200" b="1">
                <a:solidFill>
                  <a:srgbClr val="2E86C1"/>
                </a:solidFill>
                <a:latin typeface="Times New Roman"/>
                <a:ea typeface="宋体"/>
              </a:rPr>
              <a:t>（3）关系：</a:t>
            </a:r>
            <a:r>
              <a:rPr sz="1200" b="0">
                <a:solidFill>
                  <a:srgbClr val="1E293B"/>
                </a:solidFill>
                <a:latin typeface="Times New Roman"/>
                <a:ea typeface="宋体"/>
              </a:rPr>
              <a:t>提供决策建模、数据检验与算法求解手段。</a:t>
            </a:r>
          </a:p>
        </p:txBody>
      </p:sp>
      <p:sp>
        <p:nvSpPr>
          <p:cNvPr id="21" name="Rectangle 20"/>
          <p:cNvSpPr/>
          <p:nvPr/>
        </p:nvSpPr>
        <p:spPr>
          <a:xfrm>
            <a:off x="6163056"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1325880"/>
            <a:ext cx="2651760" cy="9144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45936" y="1554480"/>
            <a:ext cx="640080" cy="64008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000" b="1">
                <a:solidFill>
                  <a:srgbClr val="FFFFFF"/>
                </a:solidFill>
                <a:latin typeface="Times New Roman"/>
                <a:ea typeface="宋体"/>
              </a:rPr>
              <a:t>03</a:t>
            </a:r>
          </a:p>
        </p:txBody>
      </p:sp>
      <p:sp>
        <p:nvSpPr>
          <p:cNvPr id="24" name="TextBox 23"/>
          <p:cNvSpPr txBox="1"/>
          <p:nvPr/>
        </p:nvSpPr>
        <p:spPr>
          <a:xfrm>
            <a:off x="6345936" y="2286000"/>
            <a:ext cx="2286000" cy="45720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财务与管理会计</a:t>
            </a:r>
          </a:p>
        </p:txBody>
      </p:sp>
      <p:sp>
        <p:nvSpPr>
          <p:cNvPr id="25" name="Rectangle 24"/>
          <p:cNvSpPr/>
          <p:nvPr/>
        </p:nvSpPr>
        <p:spPr>
          <a:xfrm>
            <a:off x="6345936" y="2770632"/>
            <a:ext cx="640080" cy="27432"/>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45936" y="2880360"/>
            <a:ext cx="2286000" cy="2651760"/>
          </a:xfrm>
          <a:prstGeom prst="rect">
            <a:avLst/>
          </a:prstGeom>
          <a:noFill/>
        </p:spPr>
        <p:txBody>
          <a:bodyPr wrap="square" lIns="0" tIns="0" rIns="0" bIns="0">
            <a:spAutoFit/>
          </a:bodyPr>
          <a:lstStyle/>
          <a:p>
            <a:pPr>
              <a:lnSpc>
                <a:spcPct val="120000"/>
              </a:lnSpc>
              <a:spcAft>
                <a:spcPts val="500"/>
              </a:spcAft>
            </a:pPr>
            <a:r>
              <a:rPr sz="1200" b="1">
                <a:solidFill>
                  <a:srgbClr val="1A8C5D"/>
                </a:solidFill>
                <a:latin typeface="Times New Roman"/>
                <a:ea typeface="宋体"/>
              </a:rPr>
              <a:t>（1）数据来源：</a:t>
            </a:r>
            <a:r>
              <a:rPr sz="1200" b="0">
                <a:solidFill>
                  <a:srgbClr val="1E293B"/>
                </a:solidFill>
                <a:latin typeface="Times New Roman"/>
                <a:ea typeface="宋体"/>
              </a:rPr>
              <a:t>提供历史财务报表与经营成本核算数据。</a:t>
            </a:r>
          </a:p>
          <a:p>
            <a:pPr>
              <a:lnSpc>
                <a:spcPct val="120000"/>
              </a:lnSpc>
              <a:spcAft>
                <a:spcPts val="500"/>
              </a:spcAft>
            </a:pPr>
            <a:r>
              <a:rPr sz="1200" b="1">
                <a:solidFill>
                  <a:srgbClr val="1A8C5D"/>
                </a:solidFill>
                <a:latin typeface="Times New Roman"/>
                <a:ea typeface="宋体"/>
              </a:rPr>
              <a:t>（2）本质差异：</a:t>
            </a:r>
            <a:r>
              <a:rPr sz="1200" b="0">
                <a:solidFill>
                  <a:srgbClr val="1E293B"/>
                </a:solidFill>
                <a:latin typeface="Times New Roman"/>
                <a:ea typeface="宋体"/>
              </a:rPr>
              <a:t>会计重在历史记录与合规，经济重在未来预期。</a:t>
            </a:r>
          </a:p>
          <a:p>
            <a:pPr>
              <a:lnSpc>
                <a:spcPct val="120000"/>
              </a:lnSpc>
              <a:spcAft>
                <a:spcPts val="500"/>
              </a:spcAft>
            </a:pPr>
            <a:r>
              <a:rPr sz="1200" b="1">
                <a:solidFill>
                  <a:srgbClr val="1A8C5D"/>
                </a:solidFill>
                <a:latin typeface="Times New Roman"/>
                <a:ea typeface="宋体"/>
              </a:rPr>
              <a:t>（3）关系：</a:t>
            </a:r>
            <a:r>
              <a:rPr sz="1200" b="0">
                <a:solidFill>
                  <a:srgbClr val="1E293B"/>
                </a:solidFill>
                <a:latin typeface="Times New Roman"/>
                <a:ea typeface="宋体"/>
              </a:rPr>
              <a:t>管理经济学将历史会计数据转化为未来机会成本。</a:t>
            </a:r>
          </a:p>
        </p:txBody>
      </p:sp>
      <p:sp>
        <p:nvSpPr>
          <p:cNvPr id="27" name="Rectangle 26"/>
          <p:cNvSpPr/>
          <p:nvPr/>
        </p:nvSpPr>
        <p:spPr>
          <a:xfrm>
            <a:off x="9015984"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15984" y="1325880"/>
            <a:ext cx="2651760"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198864" y="1554480"/>
            <a:ext cx="640080" cy="64008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000" b="1">
                <a:solidFill>
                  <a:srgbClr val="FFFFFF"/>
                </a:solidFill>
                <a:latin typeface="Times New Roman"/>
                <a:ea typeface="宋体"/>
              </a:rPr>
              <a:t>04</a:t>
            </a:r>
          </a:p>
        </p:txBody>
      </p:sp>
      <p:sp>
        <p:nvSpPr>
          <p:cNvPr id="30" name="TextBox 29"/>
          <p:cNvSpPr txBox="1"/>
          <p:nvPr/>
        </p:nvSpPr>
        <p:spPr>
          <a:xfrm>
            <a:off x="9198864" y="2286000"/>
            <a:ext cx="2286000" cy="45720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战略与运营管理</a:t>
            </a:r>
          </a:p>
        </p:txBody>
      </p:sp>
      <p:sp>
        <p:nvSpPr>
          <p:cNvPr id="31" name="Rectangle 30"/>
          <p:cNvSpPr/>
          <p:nvPr/>
        </p:nvSpPr>
        <p:spPr>
          <a:xfrm>
            <a:off x="9198864" y="2770632"/>
            <a:ext cx="64008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98864" y="2880360"/>
            <a:ext cx="2286000" cy="2651760"/>
          </a:xfrm>
          <a:prstGeom prst="rect">
            <a:avLst/>
          </a:prstGeom>
          <a:noFill/>
        </p:spPr>
        <p:txBody>
          <a:bodyPr wrap="square" lIns="0" tIns="0" rIns="0" bIns="0">
            <a:spAutoFit/>
          </a:bodyPr>
          <a:lstStyle/>
          <a:p>
            <a:pPr>
              <a:lnSpc>
                <a:spcPct val="120000"/>
              </a:lnSpc>
              <a:spcAft>
                <a:spcPts val="500"/>
              </a:spcAft>
            </a:pPr>
            <a:r>
              <a:rPr sz="1200" b="1">
                <a:solidFill>
                  <a:srgbClr val="C88C1B"/>
                </a:solidFill>
                <a:latin typeface="Times New Roman"/>
                <a:ea typeface="宋体"/>
              </a:rPr>
              <a:t>（1）应用场景：</a:t>
            </a:r>
            <a:r>
              <a:rPr sz="1200" b="0">
                <a:solidFill>
                  <a:srgbClr val="1E293B"/>
                </a:solidFill>
                <a:latin typeface="Times New Roman"/>
                <a:ea typeface="宋体"/>
              </a:rPr>
              <a:t>涵盖市场进入、竞争博弈、产品定价与产能投资。</a:t>
            </a:r>
          </a:p>
          <a:p>
            <a:pPr>
              <a:lnSpc>
                <a:spcPct val="120000"/>
              </a:lnSpc>
              <a:spcAft>
                <a:spcPts val="500"/>
              </a:spcAft>
            </a:pPr>
            <a:r>
              <a:rPr sz="1200" b="1">
                <a:solidFill>
                  <a:srgbClr val="C88C1B"/>
                </a:solidFill>
                <a:latin typeface="Times New Roman"/>
                <a:ea typeface="宋体"/>
              </a:rPr>
              <a:t>（2）决策落地：</a:t>
            </a:r>
            <a:r>
              <a:rPr sz="1200" b="0">
                <a:solidFill>
                  <a:srgbClr val="1E293B"/>
                </a:solidFill>
                <a:latin typeface="Times New Roman"/>
                <a:ea typeface="宋体"/>
              </a:rPr>
              <a:t>为企业战略规划提供数理边界与经济可行性论证。</a:t>
            </a:r>
          </a:p>
          <a:p>
            <a:pPr>
              <a:lnSpc>
                <a:spcPct val="120000"/>
              </a:lnSpc>
              <a:spcAft>
                <a:spcPts val="500"/>
              </a:spcAft>
            </a:pPr>
            <a:r>
              <a:rPr sz="1200" b="1">
                <a:solidFill>
                  <a:srgbClr val="C88C1B"/>
                </a:solidFill>
                <a:latin typeface="Times New Roman"/>
                <a:ea typeface="宋体"/>
              </a:rPr>
              <a:t>（3）关系：</a:t>
            </a:r>
            <a:r>
              <a:rPr sz="1200" b="0">
                <a:solidFill>
                  <a:srgbClr val="1E293B"/>
                </a:solidFill>
                <a:latin typeface="Times New Roman"/>
                <a:ea typeface="宋体"/>
              </a:rPr>
              <a:t>战略指导方向，管理经济学决定最优数量界限。</a:t>
            </a:r>
          </a:p>
        </p:txBody>
      </p:sp>
      <p:sp>
        <p:nvSpPr>
          <p:cNvPr id="33" name="Rectangle 32"/>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重点启示：管理经济学是微观理论与企业职能管理的交叉枢纽，重在运用前瞻性经济思维赋能实战决策。</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第2节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管理经济学与企业管理决策</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详尽解析企业管理决策的科学七步流程，并结合经典商业决策失误展开深度复盘。</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绪论 管理经济学的对象与方法 · 权威教材精细化教学架构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第2节 管理经济学与企业管理决策</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一、企业科学管理决策的七步工作流程</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7</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1. 决策前端分析流程（步骤 1 ~ 4）</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（1）确定目标：</a:t>
            </a:r>
            <a:r>
              <a:rPr sz="1250" b="0">
                <a:solidFill>
                  <a:srgbClr val="1E293B"/>
                </a:solidFill>
                <a:latin typeface="Times New Roman"/>
                <a:ea typeface="宋体"/>
              </a:rPr>
              <a:t>明确企业希望达到的经营结果（如利润最大化、市场份额提升、现金流稳定）。</a:t>
            </a:r>
          </a:p>
          <a:p>
            <a:pPr>
              <a:lnSpc>
                <a:spcPct val="120000"/>
              </a:lnSpc>
              <a:spcAft>
                <a:spcPts val="600"/>
              </a:spcAft>
            </a:pPr>
            <a:r>
              <a:rPr sz="1250" b="1">
                <a:solidFill>
                  <a:srgbClr val="1B3A5C"/>
                </a:solidFill>
                <a:latin typeface="Times New Roman"/>
                <a:ea typeface="宋体"/>
              </a:rPr>
              <a:t>（2）界定问题：</a:t>
            </a:r>
            <a:r>
              <a:rPr sz="1250" b="0">
                <a:solidFill>
                  <a:srgbClr val="1E293B"/>
                </a:solidFill>
                <a:latin typeface="Times New Roman"/>
                <a:ea typeface="宋体"/>
              </a:rPr>
              <a:t>识别目标与现状之间的现实差距，找准决策切入点与制约瓶颈。</a:t>
            </a:r>
          </a:p>
          <a:p>
            <a:pPr>
              <a:lnSpc>
                <a:spcPct val="120000"/>
              </a:lnSpc>
              <a:spcAft>
                <a:spcPts val="600"/>
              </a:spcAft>
            </a:pPr>
            <a:r>
              <a:rPr sz="1250" b="1">
                <a:solidFill>
                  <a:srgbClr val="1B3A5C"/>
                </a:solidFill>
                <a:latin typeface="Times New Roman"/>
                <a:ea typeface="宋体"/>
              </a:rPr>
              <a:t>（3）找出原因：</a:t>
            </a:r>
            <a:r>
              <a:rPr sz="1250" b="0">
                <a:solidFill>
                  <a:srgbClr val="1E293B"/>
                </a:solidFill>
                <a:latin typeface="Times New Roman"/>
                <a:ea typeface="宋体"/>
              </a:rPr>
              <a:t>透过表象深挖根源，区分外部市场环境突变与内部管理运营缺陷。</a:t>
            </a:r>
          </a:p>
          <a:p>
            <a:pPr>
              <a:lnSpc>
                <a:spcPct val="120000"/>
              </a:lnSpc>
              <a:spcAft>
                <a:spcPts val="600"/>
              </a:spcAft>
            </a:pPr>
            <a:r>
              <a:rPr sz="1250" b="1">
                <a:solidFill>
                  <a:srgbClr val="1B3A5C"/>
                </a:solidFill>
                <a:latin typeface="Times New Roman"/>
                <a:ea typeface="宋体"/>
              </a:rPr>
              <a:t>（4）提出方案：</a:t>
            </a:r>
            <a:r>
              <a:rPr sz="1250" b="0">
                <a:solidFill>
                  <a:srgbClr val="1E293B"/>
                </a:solidFill>
                <a:latin typeface="Times New Roman"/>
                <a:ea typeface="宋体"/>
              </a:rPr>
              <a:t>集思广益设计多个互斥的可选备选行动方案，确保方案具有可行性与创新性。</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2. 决策后端执行流程（步骤 5 ~ 7）</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（1）收集数据：</a:t>
            </a:r>
            <a:r>
              <a:rPr sz="1250" b="0">
                <a:solidFill>
                  <a:srgbClr val="1E293B"/>
                </a:solidFill>
                <a:latin typeface="Times New Roman"/>
                <a:ea typeface="宋体"/>
              </a:rPr>
              <a:t>搜集与未来行动相关的增量成本、边际收益与市场需求预期数据。</a:t>
            </a:r>
          </a:p>
          <a:p>
            <a:pPr>
              <a:lnSpc>
                <a:spcPct val="120000"/>
              </a:lnSpc>
              <a:spcAft>
                <a:spcPts val="600"/>
              </a:spcAft>
            </a:pPr>
            <a:r>
              <a:rPr sz="1250" b="1">
                <a:solidFill>
                  <a:srgbClr val="2E86C1"/>
                </a:solidFill>
                <a:latin typeface="Times New Roman"/>
                <a:ea typeface="宋体"/>
              </a:rPr>
              <a:t>（2）评估方案：</a:t>
            </a:r>
            <a:r>
              <a:rPr sz="1250" b="0">
                <a:solidFill>
                  <a:srgbClr val="1E293B"/>
                </a:solidFill>
                <a:latin typeface="Times New Roman"/>
                <a:ea typeface="宋体"/>
              </a:rPr>
              <a:t>运用净现值、边际分析、风险期望值对备选方案进行定量权衡，选出最优方案。</a:t>
            </a:r>
          </a:p>
          <a:p>
            <a:pPr>
              <a:lnSpc>
                <a:spcPct val="120000"/>
              </a:lnSpc>
              <a:spcAft>
                <a:spcPts val="600"/>
              </a:spcAft>
            </a:pPr>
            <a:r>
              <a:rPr sz="1250" b="1">
                <a:solidFill>
                  <a:srgbClr val="2E86C1"/>
                </a:solidFill>
                <a:latin typeface="Times New Roman"/>
                <a:ea typeface="宋体"/>
              </a:rPr>
              <a:t>（3）实施监控：</a:t>
            </a:r>
            <a:r>
              <a:rPr sz="1250" b="0">
                <a:solidFill>
                  <a:srgbClr val="1E293B"/>
                </a:solidFill>
                <a:latin typeface="Times New Roman"/>
                <a:ea typeface="宋体"/>
              </a:rPr>
              <a:t>将方案分解为行动计划并下达执行，建立实时反馈机制，动态纠偏与调整。</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核心要点：科学决策是一个闭环迭代系统，严格按七步流程推进可最大程度规避拍脑袋决策的灾难性风险。</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第2节 管理经济学与企业管理决策</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案例 0-1：福特汽车埃德塞尔（Edsel）轿车商业决策失误复盘</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8</a:t>
            </a:r>
          </a:p>
        </p:txBody>
      </p:sp>
      <p:sp>
        <p:nvSpPr>
          <p:cNvPr id="9" name="Rectangle 8"/>
          <p:cNvSpPr/>
          <p:nvPr/>
        </p:nvSpPr>
        <p:spPr>
          <a:xfrm>
            <a:off x="457200" y="1325880"/>
            <a:ext cx="3566160" cy="32918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3566160" cy="3657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300" b="1">
                <a:solidFill>
                  <a:srgbClr val="FFFFFF"/>
                </a:solidFill>
                <a:latin typeface="Times New Roman"/>
                <a:ea typeface="宋体"/>
              </a:rPr>
              <a:t>阶段一：乐观立项</a:t>
            </a:r>
          </a:p>
        </p:txBody>
      </p:sp>
      <p:sp>
        <p:nvSpPr>
          <p:cNvPr id="11" name="TextBox 10"/>
          <p:cNvSpPr txBox="1"/>
          <p:nvPr/>
        </p:nvSpPr>
        <p:spPr>
          <a:xfrm>
            <a:off x="594360" y="1764792"/>
            <a:ext cx="3291840" cy="457200"/>
          </a:xfrm>
          <a:prstGeom prst="rect">
            <a:avLst/>
          </a:prstGeom>
          <a:noFill/>
        </p:spPr>
        <p:txBody>
          <a:bodyPr wrap="square" lIns="0" tIns="0" rIns="0" bIns="0">
            <a:spAutoFit/>
          </a:bodyPr>
          <a:lstStyle/>
          <a:p>
            <a:pPr algn="l">
              <a:lnSpc>
                <a:spcPct val="120000"/>
              </a:lnSpc>
            </a:pPr>
            <a:r>
              <a:rPr sz="1400" b="1">
                <a:solidFill>
                  <a:srgbClr val="1B3A5C"/>
                </a:solidFill>
                <a:latin typeface="Times New Roman"/>
                <a:ea typeface="宋体"/>
              </a:rPr>
              <a:t>基于过时数据的豪华定位</a:t>
            </a:r>
          </a:p>
        </p:txBody>
      </p:sp>
      <p:sp>
        <p:nvSpPr>
          <p:cNvPr id="12" name="TextBox 11"/>
          <p:cNvSpPr txBox="1"/>
          <p:nvPr/>
        </p:nvSpPr>
        <p:spPr>
          <a:xfrm>
            <a:off x="594360" y="2286000"/>
            <a:ext cx="3291840" cy="22402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- 20世纪50年代中期福特投入4亿美元研发Edsel高端轿车</a:t>
            </a:r>
          </a:p>
          <a:p>
            <a:pPr algn="l">
              <a:lnSpc>
                <a:spcPct val="120000"/>
              </a:lnSpc>
              <a:spcAft>
                <a:spcPts val="400"/>
              </a:spcAft>
            </a:pPr>
            <a:r>
              <a:rPr sz="1150" b="0">
                <a:solidFill>
                  <a:srgbClr val="1E293B"/>
                </a:solidFill>
                <a:latin typeface="Times New Roman"/>
                <a:ea typeface="宋体"/>
              </a:rPr>
              <a:t>- 依赖战后经济繁荣期历史数据，预测中产消费将持续升级</a:t>
            </a:r>
          </a:p>
          <a:p>
            <a:pPr algn="l">
              <a:lnSpc>
                <a:spcPct val="120000"/>
              </a:lnSpc>
              <a:spcAft>
                <a:spcPts val="400"/>
              </a:spcAft>
            </a:pPr>
            <a:r>
              <a:rPr sz="1150" b="0">
                <a:solidFill>
                  <a:srgbClr val="1E293B"/>
                </a:solidFill>
                <a:latin typeface="Times New Roman"/>
                <a:ea typeface="宋体"/>
              </a:rPr>
              <a:t>- 过分迷信前期消费者焦点访谈，未建立量化需求估计模型</a:t>
            </a:r>
          </a:p>
        </p:txBody>
      </p:sp>
      <p:sp>
        <p:nvSpPr>
          <p:cNvPr id="13" name="Rectangle 12"/>
          <p:cNvSpPr/>
          <p:nvPr/>
        </p:nvSpPr>
        <p:spPr>
          <a:xfrm>
            <a:off x="4297680" y="1325880"/>
            <a:ext cx="3566160" cy="32918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325880"/>
            <a:ext cx="3566160" cy="36576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300" b="1">
                <a:solidFill>
                  <a:srgbClr val="FFFFFF"/>
                </a:solidFill>
                <a:latin typeface="Times New Roman"/>
                <a:ea typeface="宋体"/>
              </a:rPr>
              <a:t>阶段二：环境突变</a:t>
            </a:r>
          </a:p>
        </p:txBody>
      </p:sp>
      <p:sp>
        <p:nvSpPr>
          <p:cNvPr id="15" name="TextBox 14"/>
          <p:cNvSpPr txBox="1"/>
          <p:nvPr/>
        </p:nvSpPr>
        <p:spPr>
          <a:xfrm>
            <a:off x="4434840" y="1764792"/>
            <a:ext cx="3291840" cy="457200"/>
          </a:xfrm>
          <a:prstGeom prst="rect">
            <a:avLst/>
          </a:prstGeom>
          <a:noFill/>
        </p:spPr>
        <p:txBody>
          <a:bodyPr wrap="square" lIns="0" tIns="0" rIns="0" bIns="0">
            <a:spAutoFit/>
          </a:bodyPr>
          <a:lstStyle/>
          <a:p>
            <a:pPr algn="l">
              <a:lnSpc>
                <a:spcPct val="120000"/>
              </a:lnSpc>
            </a:pPr>
            <a:r>
              <a:rPr sz="1400" b="1">
                <a:solidFill>
                  <a:srgbClr val="1B3A5C"/>
                </a:solidFill>
                <a:latin typeface="Times New Roman"/>
                <a:ea typeface="宋体"/>
              </a:rPr>
              <a:t>遭遇经济衰退与偏好转向</a:t>
            </a:r>
          </a:p>
        </p:txBody>
      </p:sp>
      <p:sp>
        <p:nvSpPr>
          <p:cNvPr id="16" name="TextBox 15"/>
          <p:cNvSpPr txBox="1"/>
          <p:nvPr/>
        </p:nvSpPr>
        <p:spPr>
          <a:xfrm>
            <a:off x="4434840" y="2286000"/>
            <a:ext cx="3291840" cy="22402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- 1957年新车上市正值美国经济陷入突发性衰退周期</a:t>
            </a:r>
          </a:p>
          <a:p>
            <a:pPr algn="l">
              <a:lnSpc>
                <a:spcPct val="120000"/>
              </a:lnSpc>
              <a:spcAft>
                <a:spcPts val="400"/>
              </a:spcAft>
            </a:pPr>
            <a:r>
              <a:rPr sz="1150" b="0">
                <a:solidFill>
                  <a:srgbClr val="1E293B"/>
                </a:solidFill>
                <a:latin typeface="Times New Roman"/>
                <a:ea typeface="宋体"/>
              </a:rPr>
              <a:t>- 消费者转向青睐紧凑省油的小型车，大排量豪华车需求雪崩</a:t>
            </a:r>
          </a:p>
          <a:p>
            <a:pPr algn="l">
              <a:lnSpc>
                <a:spcPct val="120000"/>
              </a:lnSpc>
              <a:spcAft>
                <a:spcPts val="400"/>
              </a:spcAft>
            </a:pPr>
            <a:r>
              <a:rPr sz="1150" b="0">
                <a:solidFill>
                  <a:srgbClr val="1E293B"/>
                </a:solidFill>
                <a:latin typeface="Times New Roman"/>
                <a:ea typeface="宋体"/>
              </a:rPr>
              <a:t>- 产品存在严重质量瑕疵与过度怪异的前脸进气格栅设计</a:t>
            </a:r>
          </a:p>
        </p:txBody>
      </p:sp>
      <p:sp>
        <p:nvSpPr>
          <p:cNvPr id="17" name="Rectangle 16"/>
          <p:cNvSpPr/>
          <p:nvPr/>
        </p:nvSpPr>
        <p:spPr>
          <a:xfrm>
            <a:off x="8138160" y="1325880"/>
            <a:ext cx="3566160" cy="32918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38160" y="1325880"/>
            <a:ext cx="3566160" cy="36576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300" b="1">
                <a:solidFill>
                  <a:srgbClr val="FFFFFF"/>
                </a:solidFill>
                <a:latin typeface="Times New Roman"/>
                <a:ea typeface="宋体"/>
              </a:rPr>
              <a:t>阶段三：惨败停产</a:t>
            </a:r>
          </a:p>
        </p:txBody>
      </p:sp>
      <p:sp>
        <p:nvSpPr>
          <p:cNvPr id="19" name="TextBox 18"/>
          <p:cNvSpPr txBox="1"/>
          <p:nvPr/>
        </p:nvSpPr>
        <p:spPr>
          <a:xfrm>
            <a:off x="8275320" y="1764792"/>
            <a:ext cx="3291840" cy="457200"/>
          </a:xfrm>
          <a:prstGeom prst="rect">
            <a:avLst/>
          </a:prstGeom>
          <a:noFill/>
        </p:spPr>
        <p:txBody>
          <a:bodyPr wrap="square" lIns="0" tIns="0" rIns="0" bIns="0">
            <a:spAutoFit/>
          </a:bodyPr>
          <a:lstStyle/>
          <a:p>
            <a:pPr algn="l">
              <a:lnSpc>
                <a:spcPct val="120000"/>
              </a:lnSpc>
            </a:pPr>
            <a:r>
              <a:rPr sz="1400" b="1">
                <a:solidFill>
                  <a:srgbClr val="1B3A5C"/>
                </a:solidFill>
                <a:latin typeface="Times New Roman"/>
                <a:ea typeface="宋体"/>
              </a:rPr>
              <a:t>巨亏退出与历史教训</a:t>
            </a:r>
          </a:p>
        </p:txBody>
      </p:sp>
      <p:sp>
        <p:nvSpPr>
          <p:cNvPr id="20" name="TextBox 19"/>
          <p:cNvSpPr txBox="1"/>
          <p:nvPr/>
        </p:nvSpPr>
        <p:spPr>
          <a:xfrm>
            <a:off x="8275320" y="2286000"/>
            <a:ext cx="3291840" cy="22402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三年累计销量仅11万辆（不及盈亏平衡点产量的四分之一）</a:t>
            </a:r>
          </a:p>
          <a:p>
            <a:pPr algn="l">
              <a:lnSpc>
                <a:spcPct val="120000"/>
              </a:lnSpc>
              <a:spcAft>
                <a:spcPts val="400"/>
              </a:spcAft>
            </a:pPr>
            <a:r>
              <a:rPr sz="1150" b="0">
                <a:solidFill>
                  <a:srgbClr val="1E293B"/>
                </a:solidFill>
                <a:latin typeface="Times New Roman"/>
                <a:ea typeface="宋体"/>
              </a:rPr>
              <a:t>- 1959年11月福特被迫宣布停产，直接经济损失超3.5亿美元</a:t>
            </a:r>
          </a:p>
          <a:p>
            <a:pPr algn="l">
              <a:lnSpc>
                <a:spcPct val="120000"/>
              </a:lnSpc>
              <a:spcAft>
                <a:spcPts val="400"/>
              </a:spcAft>
            </a:pPr>
            <a:r>
              <a:rPr sz="1150" b="0">
                <a:solidFill>
                  <a:srgbClr val="1E293B"/>
                </a:solidFill>
                <a:latin typeface="Times New Roman"/>
                <a:ea typeface="宋体"/>
              </a:rPr>
              <a:t>- 成为商业史上忽视动态数据收集与敏捷监控的经典败局</a:t>
            </a:r>
          </a:p>
        </p:txBody>
      </p:sp>
      <p:sp>
        <p:nvSpPr>
          <p:cNvPr id="21" name="Rectangle 20"/>
          <p:cNvSpPr/>
          <p:nvPr/>
        </p:nvSpPr>
        <p:spPr>
          <a:xfrm>
            <a:off x="457200" y="4754880"/>
            <a:ext cx="11247120" cy="150876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4754880"/>
            <a:ext cx="11247120" cy="3200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300" b="1">
                <a:solidFill>
                  <a:srgbClr val="FFFFFF"/>
                </a:solidFill>
                <a:latin typeface="Times New Roman"/>
                <a:ea typeface="宋体"/>
              </a:rPr>
              <a:t>管理启示与决策复盘</a:t>
            </a:r>
          </a:p>
        </p:txBody>
      </p:sp>
      <p:sp>
        <p:nvSpPr>
          <p:cNvPr id="23" name="TextBox 22"/>
          <p:cNvSpPr txBox="1"/>
          <p:nvPr/>
        </p:nvSpPr>
        <p:spPr>
          <a:xfrm>
            <a:off x="640080" y="5120640"/>
            <a:ext cx="10881360" cy="1097280"/>
          </a:xfrm>
          <a:prstGeom prst="rect">
            <a:avLst/>
          </a:prstGeom>
          <a:noFill/>
        </p:spPr>
        <p:txBody>
          <a:bodyPr wrap="square" lIns="0" tIns="0" rIns="0" bIns="0">
            <a:spAutoFit/>
          </a:bodyPr>
          <a:lstStyle/>
          <a:p/>
          <a:p>
            <a:pPr algn="l">
              <a:lnSpc>
                <a:spcPct val="120000"/>
              </a:lnSpc>
              <a:spcAft>
                <a:spcPts val="300"/>
              </a:spcAft>
            </a:pPr>
            <a:r>
              <a:rPr sz="1200" b="0">
                <a:solidFill>
                  <a:srgbClr val="1E293B"/>
                </a:solidFill>
                <a:latin typeface="Times New Roman"/>
                <a:ea typeface="宋体"/>
              </a:rPr>
              <a:t>★ 【决策失误根源】：静态套用历史数据，违背决策七步法中'动态收集最新前瞻数据'与'敏感性风险评估'原则。</a:t>
            </a:r>
          </a:p>
          <a:p>
            <a:pPr algn="l">
              <a:lnSpc>
                <a:spcPct val="120000"/>
              </a:lnSpc>
              <a:spcAft>
                <a:spcPts val="300"/>
              </a:spcAft>
            </a:pPr>
            <a:r>
              <a:rPr sz="1200" b="0">
                <a:solidFill>
                  <a:srgbClr val="1E293B"/>
                </a:solidFill>
                <a:latin typeface="Times New Roman"/>
                <a:ea typeface="宋体"/>
              </a:rPr>
              <a:t>★ 【管理启示】：企业重大资本预算必须充分评估外部宏观环境冲击，建立随市场波动而调整的退出与止损机制。</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第3节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边际分析法及其在决策中的应用</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深入阐述向前看决策原则、无约束/有约束极值定理及增量分析法的商业运用。</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绪论 管理经济学的对象与方法 · 权威教材精细化教学架构</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第3节 边际分析法及其在决策中的应用</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一、边际分析法体现向前看的决策思想</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10</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1. 沉没成本与向前看原则</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（1）沉没成本定义：</a:t>
            </a:r>
            <a:r>
              <a:rPr sz="1250" b="0">
                <a:solidFill>
                  <a:srgbClr val="1E293B"/>
                </a:solidFill>
                <a:latin typeface="Times New Roman"/>
                <a:ea typeface="宋体"/>
              </a:rPr>
              <a:t>过去已经发生、无法由现在或将来的任何决策改变的成本支出。</a:t>
            </a:r>
          </a:p>
          <a:p>
            <a:pPr>
              <a:lnSpc>
                <a:spcPct val="120000"/>
              </a:lnSpc>
              <a:spcAft>
                <a:spcPts val="600"/>
              </a:spcAft>
            </a:pPr>
            <a:r>
              <a:rPr sz="1250" b="1">
                <a:solidFill>
                  <a:srgbClr val="1B3A5C"/>
                </a:solidFill>
                <a:latin typeface="Times New Roman"/>
                <a:ea typeface="宋体"/>
              </a:rPr>
              <a:t>（2）向前看核心法则：</a:t>
            </a:r>
            <a:r>
              <a:rPr sz="1250" b="0">
                <a:solidFill>
                  <a:srgbClr val="1E293B"/>
                </a:solidFill>
                <a:latin typeface="Times New Roman"/>
                <a:ea typeface="宋体"/>
              </a:rPr>
              <a:t>决策只看未来的增量收益（MR）与增量成本（MC），沉没成本完全非相关！</a:t>
            </a:r>
          </a:p>
          <a:p>
            <a:pPr>
              <a:lnSpc>
                <a:spcPct val="120000"/>
              </a:lnSpc>
              <a:spcAft>
                <a:spcPts val="600"/>
              </a:spcAft>
            </a:pPr>
            <a:r>
              <a:rPr sz="1250" b="1">
                <a:solidFill>
                  <a:srgbClr val="1B3A5C"/>
                </a:solidFill>
                <a:latin typeface="Times New Roman"/>
                <a:ea typeface="宋体"/>
              </a:rPr>
              <a:t>（3）心理学沉没成本谬误：</a:t>
            </a:r>
            <a:r>
              <a:rPr sz="1250" b="0">
                <a:solidFill>
                  <a:srgbClr val="1E293B"/>
                </a:solidFill>
                <a:latin typeface="Times New Roman"/>
                <a:ea typeface="宋体"/>
              </a:rPr>
              <a:t>管理者常因'已投入巨资'而继续追加投资，导致更大亏损。</a:t>
            </a:r>
          </a:p>
          <a:p>
            <a:pPr>
              <a:lnSpc>
                <a:spcPct val="120000"/>
              </a:lnSpc>
              <a:spcAft>
                <a:spcPts val="600"/>
              </a:spcAft>
            </a:pPr>
            <a:r>
              <a:rPr sz="1250" b="1">
                <a:solidFill>
                  <a:srgbClr val="1B3A5C"/>
                </a:solidFill>
                <a:latin typeface="Times New Roman"/>
                <a:ea typeface="宋体"/>
              </a:rPr>
              <a:t>（4）理性决策准则：</a:t>
            </a:r>
            <a:r>
              <a:rPr sz="1250" b="0">
                <a:solidFill>
                  <a:srgbClr val="1E293B"/>
                </a:solidFill>
                <a:latin typeface="Times New Roman"/>
                <a:ea typeface="宋体"/>
              </a:rPr>
              <a:t>只要一项业务活动带来的未来边际收入大于边际成本，该项业务就值得进行。</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2. 例0-1：航空公司空座机票降价决策</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（1）已知条件：</a:t>
            </a:r>
            <a:r>
              <a:rPr sz="1250" b="0">
                <a:solidFill>
                  <a:srgbClr val="1E293B"/>
                </a:solidFill>
                <a:latin typeface="Times New Roman"/>
                <a:ea typeface="宋体"/>
              </a:rPr>
              <a:t>大型客机飞一次总成本10万元，总座位200个，平均座位成本500元/人。</a:t>
            </a:r>
          </a:p>
          <a:p>
            <a:pPr>
              <a:lnSpc>
                <a:spcPct val="120000"/>
              </a:lnSpc>
              <a:spcAft>
                <a:spcPts val="600"/>
              </a:spcAft>
            </a:pPr>
            <a:r>
              <a:rPr sz="1250" b="1">
                <a:solidFill>
                  <a:srgbClr val="2E86C1"/>
                </a:solidFill>
                <a:latin typeface="Times New Roman"/>
                <a:ea typeface="宋体"/>
              </a:rPr>
              <a:t>（2）决策情境：</a:t>
            </a:r>
            <a:r>
              <a:rPr sz="1250" b="0">
                <a:solidFill>
                  <a:srgbClr val="1E293B"/>
                </a:solidFill>
                <a:latin typeface="Times New Roman"/>
                <a:ea typeface="宋体"/>
              </a:rPr>
              <a:t>起飞前尚有10个空座，有一散客愿意出价300元购买其中一张机票。</a:t>
            </a:r>
          </a:p>
          <a:p>
            <a:pPr>
              <a:lnSpc>
                <a:spcPct val="120000"/>
              </a:lnSpc>
              <a:spcAft>
                <a:spcPts val="600"/>
              </a:spcAft>
            </a:pPr>
            <a:r>
              <a:rPr sz="1250" b="1">
                <a:solidFill>
                  <a:srgbClr val="2E86C1"/>
                </a:solidFill>
                <a:latin typeface="Times New Roman"/>
                <a:ea typeface="宋体"/>
              </a:rPr>
              <a:t>（3）传统思维误区：</a:t>
            </a:r>
            <a:r>
              <a:rPr sz="1250" b="0">
                <a:solidFill>
                  <a:srgbClr val="1E293B"/>
                </a:solidFill>
                <a:latin typeface="Times New Roman"/>
                <a:ea typeface="宋体"/>
              </a:rPr>
              <a:t>出价300元低于平均成本500元，售票将亏损200元，故拒绝出售（错误！）。</a:t>
            </a:r>
          </a:p>
          <a:p>
            <a:pPr>
              <a:lnSpc>
                <a:spcPct val="120000"/>
              </a:lnSpc>
              <a:spcAft>
                <a:spcPts val="600"/>
              </a:spcAft>
            </a:pPr>
            <a:r>
              <a:rPr sz="1250" b="1">
                <a:solidFill>
                  <a:srgbClr val="2E86C1"/>
                </a:solidFill>
                <a:latin typeface="Times New Roman"/>
                <a:ea typeface="宋体"/>
              </a:rPr>
              <a:t>（4）边际分析求解：</a:t>
            </a:r>
            <a:r>
              <a:rPr sz="1250" b="0">
                <a:solidFill>
                  <a:srgbClr val="1E293B"/>
                </a:solidFill>
                <a:latin typeface="Times New Roman"/>
                <a:ea typeface="宋体"/>
              </a:rPr>
              <a:t>边际收入MR=300元，增载乘客边际成本MC≈50元（航空餐与燃油增量），边际利润=250元，必须果断出售！</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核心要点：沉没成本是历史覆水，边际分析让企业彻底摆脱历史包袱，专注未来增量利润创造。</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第3节 边际分析法及其在决策中的应用</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二、边际分析法与最优化原理（无约束条件）</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11</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1. 无约束业务量最优化数学定理</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（1）总利润函数：</a:t>
            </a:r>
            <a:r>
              <a:rPr sz="1250" b="0">
                <a:solidFill>
                  <a:srgbClr val="1E293B"/>
                </a:solidFill>
                <a:latin typeface="Times New Roman"/>
                <a:ea typeface="宋体"/>
              </a:rPr>
              <a:t>π(Q) = TR(Q) - TC(Q)</a:t>
            </a:r>
          </a:p>
          <a:p>
            <a:pPr>
              <a:lnSpc>
                <a:spcPct val="120000"/>
              </a:lnSpc>
              <a:spcAft>
                <a:spcPts val="600"/>
              </a:spcAft>
            </a:pPr>
            <a:r>
              <a:rPr sz="1250" b="1">
                <a:solidFill>
                  <a:srgbClr val="1B3A5C"/>
                </a:solidFill>
                <a:latin typeface="Times New Roman"/>
                <a:ea typeface="宋体"/>
              </a:rPr>
              <a:t>（2）一阶极值条件（FOC）：</a:t>
            </a:r>
            <a:r>
              <a:rPr sz="1250" b="0">
                <a:solidFill>
                  <a:srgbClr val="1E293B"/>
                </a:solidFill>
                <a:latin typeface="Times New Roman"/>
                <a:ea typeface="宋体"/>
              </a:rPr>
              <a:t>dπ / dQ = dTR/dQ - dTC/dQ = 0 ⇒ MR = MC</a:t>
            </a:r>
          </a:p>
          <a:p>
            <a:pPr>
              <a:lnSpc>
                <a:spcPct val="120000"/>
              </a:lnSpc>
              <a:spcAft>
                <a:spcPts val="600"/>
              </a:spcAft>
            </a:pPr>
            <a:r>
              <a:rPr sz="1250" b="1">
                <a:solidFill>
                  <a:srgbClr val="1B3A5C"/>
                </a:solidFill>
                <a:latin typeface="Times New Roman"/>
                <a:ea typeface="宋体"/>
              </a:rPr>
              <a:t>（3）二阶充分条件（SOC）：</a:t>
            </a:r>
            <a:r>
              <a:rPr sz="1250" b="0">
                <a:solidFill>
                  <a:srgbClr val="1E293B"/>
                </a:solidFill>
                <a:latin typeface="Times New Roman"/>
                <a:ea typeface="宋体"/>
              </a:rPr>
              <a:t>d²π / dQ² = dMR/dQ - dMC/dQ &lt; 0 ⇒ dMC/dQ &gt; dMR/dQ</a:t>
            </a:r>
          </a:p>
          <a:p>
            <a:pPr>
              <a:lnSpc>
                <a:spcPct val="120000"/>
              </a:lnSpc>
              <a:spcAft>
                <a:spcPts val="600"/>
              </a:spcAft>
            </a:pPr>
            <a:r>
              <a:rPr sz="1250" b="1">
                <a:solidFill>
                  <a:srgbClr val="1B3A5C"/>
                </a:solidFill>
                <a:latin typeface="Times New Roman"/>
                <a:ea typeface="宋体"/>
              </a:rPr>
              <a:t>（4）经济学含义：</a:t>
            </a:r>
            <a:r>
              <a:rPr sz="1250" b="0">
                <a:solidFill>
                  <a:srgbClr val="1E293B"/>
                </a:solidFill>
                <a:latin typeface="Times New Roman"/>
                <a:ea typeface="宋体"/>
              </a:rPr>
              <a:t>当边际收入大于边际成本时，增加产量使总利润增加；当边际收入小于边际成本时，减少产量使总利润增加；当且仅当 MR=MC 时总利润达到最大。</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2. 例0-2：某企业最优产量与最大利润求解</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（1）函数方程：</a:t>
            </a:r>
            <a:r>
              <a:rPr sz="1250" b="0">
                <a:solidFill>
                  <a:srgbClr val="1E293B"/>
                </a:solidFill>
                <a:latin typeface="Times New Roman"/>
                <a:ea typeface="宋体"/>
              </a:rPr>
              <a:t>总收入 TR = 100Q - 0.5Q²，总成本 TC = 10Q + 0.5Q² + 100</a:t>
            </a:r>
          </a:p>
          <a:p>
            <a:pPr>
              <a:lnSpc>
                <a:spcPct val="120000"/>
              </a:lnSpc>
              <a:spcAft>
                <a:spcPts val="600"/>
              </a:spcAft>
            </a:pPr>
            <a:r>
              <a:rPr sz="1250" b="1">
                <a:solidFill>
                  <a:srgbClr val="2E86C1"/>
                </a:solidFill>
                <a:latin typeface="Times New Roman"/>
                <a:ea typeface="宋体"/>
              </a:rPr>
              <a:t>（2）求导推导：</a:t>
            </a:r>
            <a:r>
              <a:rPr sz="1250" b="0">
                <a:solidFill>
                  <a:srgbClr val="1E293B"/>
                </a:solidFill>
                <a:latin typeface="Times New Roman"/>
                <a:ea typeface="宋体"/>
              </a:rPr>
              <a:t>边际收入 MR = 100 - Q，边际成本 MC = 10 + Q</a:t>
            </a:r>
          </a:p>
          <a:p>
            <a:pPr>
              <a:lnSpc>
                <a:spcPct val="120000"/>
              </a:lnSpc>
              <a:spcAft>
                <a:spcPts val="600"/>
              </a:spcAft>
            </a:pPr>
            <a:r>
              <a:rPr sz="1250" b="1">
                <a:solidFill>
                  <a:srgbClr val="2E86C1"/>
                </a:solidFill>
                <a:latin typeface="Times New Roman"/>
                <a:ea typeface="宋体"/>
              </a:rPr>
              <a:t>（3）极值联立：</a:t>
            </a:r>
            <a:r>
              <a:rPr sz="1250" b="0">
                <a:solidFill>
                  <a:srgbClr val="1E293B"/>
                </a:solidFill>
                <a:latin typeface="Times New Roman"/>
                <a:ea typeface="宋体"/>
              </a:rPr>
              <a:t>令 MR = MC ⇒ 100 - Q = 10 + Q ⇒ 2Q = 90 ⇒ Q* = 45 单位</a:t>
            </a:r>
          </a:p>
          <a:p>
            <a:pPr>
              <a:lnSpc>
                <a:spcPct val="120000"/>
              </a:lnSpc>
              <a:spcAft>
                <a:spcPts val="600"/>
              </a:spcAft>
            </a:pPr>
            <a:r>
              <a:rPr sz="1250" b="1">
                <a:solidFill>
                  <a:srgbClr val="2E86C1"/>
                </a:solidFill>
                <a:latin typeface="Times New Roman"/>
                <a:ea typeface="宋体"/>
              </a:rPr>
              <a:t>（4）最大利润：</a:t>
            </a:r>
            <a:r>
              <a:rPr sz="1250" b="0">
                <a:solidFill>
                  <a:srgbClr val="1E293B"/>
                </a:solidFill>
                <a:latin typeface="Times New Roman"/>
                <a:ea typeface="宋体"/>
              </a:rPr>
              <a:t>π_max = TR(45) - TC(45) = (100 × 45 - 0.5 × 45²) - (10 × 45 + 0.5 × 45² + 100) = 1925 元</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核心要点：在无约束资源条件下，微观经济决策的黄金法则是将业务量推进至 MR = MC 的均衡点。</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第3节 边际分析法及其在决策中的应用</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二、边际分析法与最优化原理（有约束条件）</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12</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1. 有约束资源分配的等边际法则</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（1）约束问题设定：</a:t>
            </a:r>
            <a:r>
              <a:rPr sz="1250" b="0">
                <a:solidFill>
                  <a:srgbClr val="1E293B"/>
                </a:solidFill>
                <a:latin typeface="Times New Roman"/>
                <a:ea typeface="宋体"/>
              </a:rPr>
              <a:t>企业拥有有限的资源总量 X̄（如固定预算、总产能），需在多个部门/产品间分配。</a:t>
            </a:r>
          </a:p>
          <a:p>
            <a:pPr>
              <a:lnSpc>
                <a:spcPct val="120000"/>
              </a:lnSpc>
              <a:spcAft>
                <a:spcPts val="600"/>
              </a:spcAft>
            </a:pPr>
            <a:r>
              <a:rPr sz="1250" b="1">
                <a:solidFill>
                  <a:srgbClr val="1B3A5C"/>
                </a:solidFill>
                <a:latin typeface="Times New Roman"/>
                <a:ea typeface="宋体"/>
              </a:rPr>
              <a:t>（2）数学规划模型：</a:t>
            </a:r>
            <a:r>
              <a:rPr sz="1250" b="0">
                <a:solidFill>
                  <a:srgbClr val="1E293B"/>
                </a:solidFill>
                <a:latin typeface="Times New Roman"/>
                <a:ea typeface="宋体"/>
              </a:rPr>
              <a:t>Max ∑ πᵢ(Xᵢ) s.t. ∑ Xᵢ = X̄</a:t>
            </a:r>
          </a:p>
          <a:p>
            <a:pPr>
              <a:lnSpc>
                <a:spcPct val="120000"/>
              </a:lnSpc>
              <a:spcAft>
                <a:spcPts val="600"/>
              </a:spcAft>
            </a:pPr>
            <a:r>
              <a:rPr sz="1250" b="1">
                <a:solidFill>
                  <a:srgbClr val="1B3A5C"/>
                </a:solidFill>
                <a:latin typeface="Times New Roman"/>
                <a:ea typeface="宋体"/>
              </a:rPr>
              <a:t>（3）拉格朗日乘数推导：</a:t>
            </a:r>
            <a:r>
              <a:rPr sz="1250" b="0">
                <a:solidFill>
                  <a:srgbClr val="1E293B"/>
                </a:solidFill>
                <a:latin typeface="Times New Roman"/>
                <a:ea typeface="宋体"/>
              </a:rPr>
              <a:t>最优分配必须满足：各用途的边际收益相等，即 MU₁/P₁ = MU₂/P₂ = ... = λ</a:t>
            </a:r>
          </a:p>
          <a:p>
            <a:pPr>
              <a:lnSpc>
                <a:spcPct val="120000"/>
              </a:lnSpc>
              <a:spcAft>
                <a:spcPts val="600"/>
              </a:spcAft>
            </a:pPr>
            <a:r>
              <a:rPr sz="1250" b="1">
                <a:solidFill>
                  <a:srgbClr val="1B3A5C"/>
                </a:solidFill>
                <a:latin typeface="Times New Roman"/>
                <a:ea typeface="宋体"/>
              </a:rPr>
              <a:t>（4）管理启示：</a:t>
            </a:r>
            <a:r>
              <a:rPr sz="1250" b="0">
                <a:solidFill>
                  <a:srgbClr val="1E293B"/>
                </a:solidFill>
                <a:latin typeface="Times New Roman"/>
                <a:ea typeface="宋体"/>
              </a:rPr>
              <a:t>若部门 A 边际收益高于部门 B，应削减 B 资源并追加给 A，直至两者边际收益完全拉平。</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2. 例0-3 &amp; 例0-4：广告预算与多工厂产能分配</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（1）例0-3 广告预算分配：</a:t>
            </a:r>
            <a:r>
              <a:rPr sz="1250" b="0">
                <a:solidFill>
                  <a:srgbClr val="1E293B"/>
                </a:solidFill>
                <a:latin typeface="Times New Roman"/>
                <a:ea typeface="宋体"/>
              </a:rPr>
              <a:t>总预算10万元在电视广告与网络广告间分配，最优方案为两渠道最后一万元带来的边际销售额完全相等。</a:t>
            </a:r>
          </a:p>
          <a:p>
            <a:pPr>
              <a:lnSpc>
                <a:spcPct val="120000"/>
              </a:lnSpc>
              <a:spcAft>
                <a:spcPts val="600"/>
              </a:spcAft>
            </a:pPr>
            <a:r>
              <a:rPr sz="1250" b="1">
                <a:solidFill>
                  <a:srgbClr val="2E86C1"/>
                </a:solidFill>
                <a:latin typeface="Times New Roman"/>
                <a:ea typeface="宋体"/>
              </a:rPr>
              <a:t>（2）例0-4 双工厂产量分配：</a:t>
            </a:r>
            <a:r>
              <a:rPr sz="1250" b="0">
                <a:solidFill>
                  <a:srgbClr val="1E293B"/>
                </a:solidFill>
                <a:latin typeface="Times New Roman"/>
                <a:ea typeface="宋体"/>
              </a:rPr>
              <a:t>总订单需由 A 厂与 B 厂共同完成，总成本最低条件为两家工厂最后一单位产量的边际成本相等：MC_A = MC_B。</a:t>
            </a:r>
          </a:p>
          <a:p>
            <a:pPr>
              <a:lnSpc>
                <a:spcPct val="120000"/>
              </a:lnSpc>
              <a:spcAft>
                <a:spcPts val="600"/>
              </a:spcAft>
            </a:pPr>
            <a:r>
              <a:rPr sz="1250" b="1">
                <a:solidFill>
                  <a:srgbClr val="2E86C1"/>
                </a:solidFill>
                <a:latin typeface="Times New Roman"/>
                <a:ea typeface="宋体"/>
              </a:rPr>
              <a:t>（3）推论检验：</a:t>
            </a:r>
            <a:r>
              <a:rPr sz="1250" b="0">
                <a:solidFill>
                  <a:srgbClr val="1E293B"/>
                </a:solidFill>
                <a:latin typeface="Times New Roman"/>
                <a:ea typeface="宋体"/>
              </a:rPr>
              <a:t>若 MC_A &lt; MC_B，将一单位产量从 B 转移到 A 必使企业总成本净下降！</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核心要点：有限资源分配的核心原则：把每一块钱投在能产生最大边际产出的地方，实现全系统等边际收益。</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第3节 边际分析法及其在决策中的应用</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四、增量分析法——边际分析法的工程实用变形</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13</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1. 增量分析法的原理与适用场景</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（1）基本定义：</a:t>
            </a:r>
            <a:r>
              <a:rPr sz="1250" b="0">
                <a:solidFill>
                  <a:srgbClr val="1E293B"/>
                </a:solidFill>
                <a:latin typeface="Times New Roman"/>
                <a:ea typeface="宋体"/>
              </a:rPr>
              <a:t>增量分析法是分析某项管理决策引起的总收入变化（增量收入 Δ TR）与总成本变化（增量成本 Δ TC）的差额法。</a:t>
            </a:r>
          </a:p>
          <a:p>
            <a:pPr>
              <a:lnSpc>
                <a:spcPct val="120000"/>
              </a:lnSpc>
              <a:spcAft>
                <a:spcPts val="600"/>
              </a:spcAft>
            </a:pPr>
            <a:r>
              <a:rPr sz="1250" b="1">
                <a:solidFill>
                  <a:srgbClr val="1B3A5C"/>
                </a:solidFill>
                <a:latin typeface="Times New Roman"/>
                <a:ea typeface="宋体"/>
              </a:rPr>
              <a:t>（2）决策黄金准则：</a:t>
            </a:r>
            <a:r>
              <a:rPr sz="1250" b="0">
                <a:solidFill>
                  <a:srgbClr val="1E293B"/>
                </a:solidFill>
                <a:latin typeface="Times New Roman"/>
                <a:ea typeface="宋体"/>
              </a:rPr>
              <a:t>增量利润 Δ π = Δ TR - Δ TC &gt; 0，则方案可行且盈利；反之不可行。</a:t>
            </a:r>
          </a:p>
          <a:p>
            <a:pPr>
              <a:lnSpc>
                <a:spcPct val="120000"/>
              </a:lnSpc>
              <a:spcAft>
                <a:spcPts val="600"/>
              </a:spcAft>
            </a:pPr>
            <a:r>
              <a:rPr sz="1250" b="1">
                <a:solidFill>
                  <a:srgbClr val="1B3A5C"/>
                </a:solidFill>
                <a:latin typeface="Times New Roman"/>
                <a:ea typeface="宋体"/>
              </a:rPr>
              <a:t>（3）与边际分析关系：</a:t>
            </a:r>
            <a:r>
              <a:rPr sz="1250" b="0">
                <a:solidFill>
                  <a:srgbClr val="1E293B"/>
                </a:solidFill>
                <a:latin typeface="Times New Roman"/>
                <a:ea typeface="宋体"/>
              </a:rPr>
              <a:t>边际分析关注单单位微小变化（微分），增量分析关注一个决策批次或方案段落的离散变化（差分）。</a:t>
            </a:r>
          </a:p>
          <a:p>
            <a:pPr>
              <a:lnSpc>
                <a:spcPct val="120000"/>
              </a:lnSpc>
              <a:spcAft>
                <a:spcPts val="600"/>
              </a:spcAft>
            </a:pPr>
            <a:r>
              <a:rPr sz="1250" b="1">
                <a:solidFill>
                  <a:srgbClr val="1B3A5C"/>
                </a:solidFill>
                <a:latin typeface="Times New Roman"/>
                <a:ea typeface="宋体"/>
              </a:rPr>
              <a:t>（4）核心优势：</a:t>
            </a:r>
            <a:r>
              <a:rPr sz="1250" b="0">
                <a:solidFill>
                  <a:srgbClr val="1E293B"/>
                </a:solidFill>
                <a:latin typeface="Times New Roman"/>
                <a:ea typeface="宋体"/>
              </a:rPr>
              <a:t>免去对企业全部庞杂固定成本的摊销核算，直接抓取决策带来的真实增量现金流。</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2. 生活中的经济学 0-1：随到随走的机票策略</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（1）商业现象：</a:t>
            </a:r>
            <a:r>
              <a:rPr sz="1250" b="0">
                <a:solidFill>
                  <a:srgbClr val="1E293B"/>
                </a:solidFill>
                <a:latin typeface="Times New Roman"/>
                <a:ea typeface="宋体"/>
              </a:rPr>
              <a:t>欧洲廉价航空公司推出'盲盒机票'与'起飞前两小时极低特价'。</a:t>
            </a:r>
          </a:p>
          <a:p>
            <a:pPr>
              <a:lnSpc>
                <a:spcPct val="120000"/>
              </a:lnSpc>
              <a:spcAft>
                <a:spcPts val="600"/>
              </a:spcAft>
            </a:pPr>
            <a:r>
              <a:rPr sz="1250" b="1">
                <a:solidFill>
                  <a:srgbClr val="2E86C1"/>
                </a:solidFill>
                <a:latin typeface="Times New Roman"/>
                <a:ea typeface="宋体"/>
              </a:rPr>
              <a:t>（2）传统会计眼光：</a:t>
            </a:r>
            <a:r>
              <a:rPr sz="1250" b="0">
                <a:solidFill>
                  <a:srgbClr val="1E293B"/>
                </a:solidFill>
                <a:latin typeface="Times New Roman"/>
                <a:ea typeface="宋体"/>
              </a:rPr>
              <a:t>票价仅为50元，远低于该航线平均每人300元的运营成本，涉嫌亏本倾销。</a:t>
            </a:r>
          </a:p>
          <a:p>
            <a:pPr>
              <a:lnSpc>
                <a:spcPct val="120000"/>
              </a:lnSpc>
              <a:spcAft>
                <a:spcPts val="600"/>
              </a:spcAft>
            </a:pPr>
            <a:r>
              <a:rPr sz="1250" b="1">
                <a:solidFill>
                  <a:srgbClr val="2E86C1"/>
                </a:solidFill>
                <a:latin typeface="Times New Roman"/>
                <a:ea typeface="宋体"/>
              </a:rPr>
              <a:t>（3）增量经济学真谛：</a:t>
            </a:r>
            <a:r>
              <a:rPr sz="1250" b="0">
                <a:solidFill>
                  <a:srgbClr val="1E293B"/>
                </a:solidFill>
                <a:latin typeface="Times New Roman"/>
                <a:ea typeface="宋体"/>
              </a:rPr>
              <a:t>航班起飞不可逆，空座价值起飞即归零。增量收入50元 &gt; 增量行李与地面费10元，净增现金流40元！</a:t>
            </a:r>
          </a:p>
          <a:p>
            <a:pPr>
              <a:lnSpc>
                <a:spcPct val="120000"/>
              </a:lnSpc>
              <a:spcAft>
                <a:spcPts val="600"/>
              </a:spcAft>
            </a:pPr>
            <a:r>
              <a:rPr sz="1250" b="1">
                <a:solidFill>
                  <a:srgbClr val="2E86C1"/>
                </a:solidFill>
                <a:latin typeface="Times New Roman"/>
                <a:ea typeface="宋体"/>
              </a:rPr>
              <a:t>（4）企业战略启示：</a:t>
            </a:r>
            <a:r>
              <a:rPr sz="1250" b="0">
                <a:solidFill>
                  <a:srgbClr val="1E293B"/>
                </a:solidFill>
                <a:latin typeface="Times New Roman"/>
                <a:ea typeface="宋体"/>
              </a:rPr>
              <a:t>固定资产充裕且边际成本极低的服务型企业，应积极采用增量定价法盘活过剩产能。</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核心要点：增量分析法是现代管理会计与商业实战中最锋利的定量决策手术刀。</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第4节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企业的性质、地位和作用以及目标</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系统探讨科斯企业契约理论、企业多目标体系与委托代理治理机制。</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绪论 管理经济学的对象与方法 · 权威教材精细化教学架构</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第4节 企业的性质、地位和作用以及目标</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一、企业的性质与市场地位（科斯交易成本理论）</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15</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1. 企业的性质与存在根源</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（1）罗纳德·科斯经典理论：</a:t>
            </a:r>
            <a:r>
              <a:rPr sz="1250" b="0">
                <a:solidFill>
                  <a:srgbClr val="1E293B"/>
                </a:solidFill>
                <a:latin typeface="Times New Roman"/>
                <a:ea typeface="宋体"/>
              </a:rPr>
              <a:t>企业是价格机制（市场交易）的替代物。企业通过内部行政管理指令组织生产，节约了搜寻、谈判、签约和履约的市场交易成本。</a:t>
            </a:r>
          </a:p>
          <a:p>
            <a:pPr>
              <a:lnSpc>
                <a:spcPct val="120000"/>
              </a:lnSpc>
              <a:spcAft>
                <a:spcPts val="600"/>
              </a:spcAft>
            </a:pPr>
            <a:r>
              <a:rPr sz="1250" b="1">
                <a:solidFill>
                  <a:srgbClr val="1B3A5C"/>
                </a:solidFill>
                <a:latin typeface="Times New Roman"/>
                <a:ea typeface="宋体"/>
              </a:rPr>
              <a:t>（2）企业边界确定：</a:t>
            </a:r>
            <a:r>
              <a:rPr sz="1250" b="0">
                <a:solidFill>
                  <a:srgbClr val="1E293B"/>
                </a:solidFill>
                <a:latin typeface="Times New Roman"/>
                <a:ea typeface="宋体"/>
              </a:rPr>
              <a:t>企业内部组织交易的边际成本 = 市场公开交易的边际成本时，达到企业最优扩张边界。</a:t>
            </a:r>
          </a:p>
          <a:p>
            <a:pPr>
              <a:lnSpc>
                <a:spcPct val="120000"/>
              </a:lnSpc>
              <a:spcAft>
                <a:spcPts val="600"/>
              </a:spcAft>
            </a:pPr>
            <a:r>
              <a:rPr sz="1250" b="1">
                <a:solidFill>
                  <a:srgbClr val="1B3A5C"/>
                </a:solidFill>
                <a:latin typeface="Times New Roman"/>
                <a:ea typeface="宋体"/>
              </a:rPr>
              <a:t>（3）现代企业法人属性：</a:t>
            </a:r>
            <a:r>
              <a:rPr sz="1250" b="0">
                <a:solidFill>
                  <a:srgbClr val="1E293B"/>
                </a:solidFill>
                <a:latin typeface="Times New Roman"/>
                <a:ea typeface="宋体"/>
              </a:rPr>
              <a:t>拥有独立法人财产，自主经营、自负盈亏、自我发展、自我约束的独立市场竞争主体。</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2. 企业在国民经济中的地位与功能</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（1）生产财富的基本细胞：</a:t>
            </a:r>
            <a:r>
              <a:rPr sz="1250" b="0">
                <a:solidFill>
                  <a:srgbClr val="1E293B"/>
                </a:solidFill>
                <a:latin typeface="Times New Roman"/>
                <a:ea typeface="宋体"/>
              </a:rPr>
              <a:t>将劳动力、资本、土地与技术要素转化为满足社会需求的商品与服务。</a:t>
            </a:r>
          </a:p>
          <a:p>
            <a:pPr>
              <a:lnSpc>
                <a:spcPct val="120000"/>
              </a:lnSpc>
              <a:spcAft>
                <a:spcPts val="600"/>
              </a:spcAft>
            </a:pPr>
            <a:r>
              <a:rPr sz="1250" b="1">
                <a:solidFill>
                  <a:srgbClr val="2E86C1"/>
                </a:solidFill>
                <a:latin typeface="Times New Roman"/>
                <a:ea typeface="宋体"/>
              </a:rPr>
              <a:t>（2）技术创新的核心引擎：</a:t>
            </a:r>
            <a:r>
              <a:rPr sz="1250" b="0">
                <a:solidFill>
                  <a:srgbClr val="1E293B"/>
                </a:solidFill>
                <a:latin typeface="Times New Roman"/>
                <a:ea typeface="宋体"/>
              </a:rPr>
              <a:t>承担全社会绝大部分 R&amp;D 研发投入与科技成果工程化落地。</a:t>
            </a:r>
          </a:p>
          <a:p>
            <a:pPr>
              <a:lnSpc>
                <a:spcPct val="120000"/>
              </a:lnSpc>
              <a:spcAft>
                <a:spcPts val="600"/>
              </a:spcAft>
            </a:pPr>
            <a:r>
              <a:rPr sz="1250" b="1">
                <a:solidFill>
                  <a:srgbClr val="2E86C1"/>
                </a:solidFill>
                <a:latin typeface="Times New Roman"/>
                <a:ea typeface="宋体"/>
              </a:rPr>
              <a:t>（3）就业与税收的支柱载体：</a:t>
            </a:r>
            <a:r>
              <a:rPr sz="1250" b="0">
                <a:solidFill>
                  <a:srgbClr val="1E293B"/>
                </a:solidFill>
                <a:latin typeface="Times New Roman"/>
                <a:ea typeface="宋体"/>
              </a:rPr>
              <a:t>吸纳社会劳动力就业，为国家财政与公共基础设施建设提供持续税源支撑。</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核心要点：企业通过内部化协同降低社会总交易费用，是市场经济体制下财富创造与技术革新的核心主体。</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第4节 企业的性质、地位和作用以及目标</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三、企业的目标体系：短期利益相关者 vs 长期价值最大化</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16</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1. 企业的短期目标：利益相关者满意</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300"/>
              </a:spcAft>
            </a:pPr>
            <a:r>
              <a:rPr sz="1150" b="1">
                <a:solidFill>
                  <a:srgbClr val="1B3A5C"/>
                </a:solidFill>
                <a:latin typeface="Times New Roman"/>
                <a:ea typeface="宋体"/>
              </a:rPr>
              <a:t>（1）股东群体：</a:t>
            </a:r>
            <a:r>
              <a:rPr sz="1150" b="0">
                <a:solidFill>
                  <a:srgbClr val="1E293B"/>
                </a:solidFill>
                <a:latin typeface="Times New Roman"/>
                <a:ea typeface="宋体"/>
              </a:rPr>
              <a:t>追求当期满意的投资回报率（ROE）与稳定现金分红。</a:t>
            </a:r>
          </a:p>
          <a:p>
            <a:pPr>
              <a:lnSpc>
                <a:spcPct val="120000"/>
              </a:lnSpc>
              <a:spcAft>
                <a:spcPts val="300"/>
              </a:spcAft>
            </a:pPr>
            <a:r>
              <a:rPr sz="1150" b="1">
                <a:solidFill>
                  <a:srgbClr val="1B3A5C"/>
                </a:solidFill>
                <a:latin typeface="Times New Roman"/>
                <a:ea typeface="宋体"/>
              </a:rPr>
              <a:t>（2）广大员工：</a:t>
            </a:r>
            <a:r>
              <a:rPr sz="1150" b="0">
                <a:solidFill>
                  <a:srgbClr val="1E293B"/>
                </a:solidFill>
                <a:latin typeface="Times New Roman"/>
                <a:ea typeface="宋体"/>
              </a:rPr>
              <a:t>期望合理的薪酬待遇、安全的工作环境与持续的职业发展通道。</a:t>
            </a:r>
          </a:p>
          <a:p>
            <a:pPr>
              <a:lnSpc>
                <a:spcPct val="120000"/>
              </a:lnSpc>
              <a:spcAft>
                <a:spcPts val="300"/>
              </a:spcAft>
            </a:pPr>
            <a:r>
              <a:rPr sz="1150" b="1">
                <a:solidFill>
                  <a:srgbClr val="1B3A5C"/>
                </a:solidFill>
                <a:latin typeface="Times New Roman"/>
                <a:ea typeface="宋体"/>
              </a:rPr>
              <a:t>（3）客户与消费者：</a:t>
            </a:r>
            <a:r>
              <a:rPr sz="1150" b="0">
                <a:solidFill>
                  <a:srgbClr val="1E293B"/>
                </a:solidFill>
                <a:latin typeface="Times New Roman"/>
                <a:ea typeface="宋体"/>
              </a:rPr>
              <a:t>要求优良的产品品质、公道透明的价格与完善周到的售后服务。</a:t>
            </a:r>
          </a:p>
          <a:p>
            <a:pPr>
              <a:lnSpc>
                <a:spcPct val="120000"/>
              </a:lnSpc>
              <a:spcAft>
                <a:spcPts val="300"/>
              </a:spcAft>
            </a:pPr>
            <a:r>
              <a:rPr sz="1150" b="1">
                <a:solidFill>
                  <a:srgbClr val="1B3A5C"/>
                </a:solidFill>
                <a:latin typeface="Times New Roman"/>
                <a:ea typeface="宋体"/>
              </a:rPr>
              <a:t>（4）债权人与供应商：</a:t>
            </a:r>
            <a:r>
              <a:rPr sz="1150" b="0">
                <a:solidFill>
                  <a:srgbClr val="1E293B"/>
                </a:solidFill>
                <a:latin typeface="Times New Roman"/>
                <a:ea typeface="宋体"/>
              </a:rPr>
              <a:t>关注充足的偿债保障倍数与长期互信共赢的供应链采购履约。</a:t>
            </a:r>
          </a:p>
          <a:p>
            <a:pPr>
              <a:lnSpc>
                <a:spcPct val="120000"/>
              </a:lnSpc>
              <a:spcAft>
                <a:spcPts val="300"/>
              </a:spcAft>
            </a:pPr>
            <a:r>
              <a:rPr sz="1150" b="1">
                <a:solidFill>
                  <a:srgbClr val="1B3A5C"/>
                </a:solidFill>
                <a:latin typeface="Times New Roman"/>
                <a:ea typeface="宋体"/>
              </a:rPr>
              <a:t>（5）政府与公众：</a:t>
            </a:r>
            <a:r>
              <a:rPr sz="1150" b="0">
                <a:solidFill>
                  <a:srgbClr val="1E293B"/>
                </a:solidFill>
                <a:latin typeface="Times New Roman"/>
                <a:ea typeface="宋体"/>
              </a:rPr>
              <a:t>依法合规纳税、保护生态环境、积极承担企业社会责任（CSR）。</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2. 企业的长期目标：企业总价值最大化</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300"/>
              </a:spcAft>
            </a:pPr>
            <a:r>
              <a:rPr sz="1150" b="1">
                <a:solidFill>
                  <a:srgbClr val="2E86C1"/>
                </a:solidFill>
                <a:latin typeface="Times New Roman"/>
                <a:ea typeface="宋体"/>
              </a:rPr>
              <a:t>（1）企业价值定义模型：</a:t>
            </a:r>
            <a:r>
              <a:rPr sz="1150" b="0">
                <a:solidFill>
                  <a:srgbClr val="1E293B"/>
                </a:solidFill>
                <a:latin typeface="Times New Roman"/>
                <a:ea typeface="宋体"/>
              </a:rPr>
              <a:t>V = ∑ⁿ (πₜ) / ((1 + r)ᵗ)，其中 πₜ 为第 t 期预期利润，r 为贴现率。</a:t>
            </a:r>
          </a:p>
          <a:p>
            <a:pPr>
              <a:lnSpc>
                <a:spcPct val="120000"/>
              </a:lnSpc>
              <a:spcAft>
                <a:spcPts val="300"/>
              </a:spcAft>
            </a:pPr>
            <a:r>
              <a:rPr sz="1150" b="1">
                <a:solidFill>
                  <a:srgbClr val="2E86C1"/>
                </a:solidFill>
                <a:latin typeface="Times New Roman"/>
                <a:ea typeface="宋体"/>
              </a:rPr>
              <a:t>（2）优于单纯利润最大化：</a:t>
            </a:r>
            <a:r>
              <a:rPr sz="1150" b="0">
                <a:solidFill>
                  <a:srgbClr val="1E293B"/>
                </a:solidFill>
                <a:latin typeface="Times New Roman"/>
                <a:ea typeface="宋体"/>
              </a:rPr>
              <a:t>全面克服了单期利润最大化的三大致命缺陷：</a:t>
            </a:r>
          </a:p>
          <a:p>
            <a:pPr>
              <a:lnSpc>
                <a:spcPct val="120000"/>
              </a:lnSpc>
              <a:spcAft>
                <a:spcPts val="300"/>
              </a:spcAft>
            </a:pPr>
            <a:r>
              <a:rPr sz="1150" b="1">
                <a:solidFill>
                  <a:srgbClr val="2E86C1"/>
                </a:solidFill>
                <a:latin typeface="Times New Roman"/>
                <a:ea typeface="宋体"/>
              </a:rPr>
              <a:t>• 克服时间忽视：</a:t>
            </a:r>
            <a:r>
              <a:rPr sz="1150" b="0">
                <a:solidFill>
                  <a:srgbClr val="1E293B"/>
                </a:solidFill>
                <a:latin typeface="Times New Roman"/>
                <a:ea typeface="宋体"/>
              </a:rPr>
              <a:t>明确引入资金时间价值贴现，防范牺牲未来的短期行为。</a:t>
            </a:r>
          </a:p>
          <a:p>
            <a:pPr>
              <a:lnSpc>
                <a:spcPct val="120000"/>
              </a:lnSpc>
              <a:spcAft>
                <a:spcPts val="300"/>
              </a:spcAft>
            </a:pPr>
            <a:r>
              <a:rPr sz="1150" b="1">
                <a:solidFill>
                  <a:srgbClr val="2E86C1"/>
                </a:solidFill>
                <a:latin typeface="Times New Roman"/>
                <a:ea typeface="宋体"/>
              </a:rPr>
              <a:t>• 克服风险忽视：</a:t>
            </a:r>
            <a:r>
              <a:rPr sz="1150" b="0">
                <a:solidFill>
                  <a:srgbClr val="1E293B"/>
                </a:solidFill>
                <a:latin typeface="Times New Roman"/>
                <a:ea typeface="宋体"/>
              </a:rPr>
              <a:t>通过调整贴现率 r 反映经营风险，高风险项目要求更高折现。</a:t>
            </a:r>
          </a:p>
          <a:p>
            <a:pPr>
              <a:lnSpc>
                <a:spcPct val="120000"/>
              </a:lnSpc>
              <a:spcAft>
                <a:spcPts val="300"/>
              </a:spcAft>
            </a:pPr>
            <a:r>
              <a:rPr sz="1150" b="1">
                <a:solidFill>
                  <a:srgbClr val="2E86C1"/>
                </a:solidFill>
                <a:latin typeface="Times New Roman"/>
                <a:ea typeface="宋体"/>
              </a:rPr>
              <a:t>• 克服质量忽视：</a:t>
            </a:r>
            <a:r>
              <a:rPr sz="1150" b="0">
                <a:solidFill>
                  <a:srgbClr val="1E293B"/>
                </a:solidFill>
                <a:latin typeface="Times New Roman"/>
                <a:ea typeface="宋体"/>
              </a:rPr>
              <a:t>强调长期现金流创造能力而非账面会计数字虚增。</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核心要点：现代公司治理的核心理念：短期内平衡各方利益相关者诉求，长期内坚定追求企业未来现金流折现值最大化。</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第4节 企业的性质、地位和作用以及目标</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三、企业战略阶段与委托代理问题治理</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17</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1. 案例0-2：海尔集团三大发展战略演进</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（1）名牌战略阶段（1984-1991）：</a:t>
            </a:r>
            <a:r>
              <a:rPr sz="1250" b="0">
                <a:solidFill>
                  <a:srgbClr val="1E293B"/>
                </a:solidFill>
                <a:latin typeface="Times New Roman"/>
                <a:ea typeface="宋体"/>
              </a:rPr>
              <a:t>砸冰箱事件树立质量第一信仰，专注于冰箱单品做精做强，创立国家驰名商标。</a:t>
            </a:r>
          </a:p>
          <a:p>
            <a:pPr>
              <a:lnSpc>
                <a:spcPct val="120000"/>
              </a:lnSpc>
              <a:spcAft>
                <a:spcPts val="600"/>
              </a:spcAft>
            </a:pPr>
            <a:r>
              <a:rPr sz="1250" b="1">
                <a:solidFill>
                  <a:srgbClr val="1B3A5C"/>
                </a:solidFill>
                <a:latin typeface="Times New Roman"/>
                <a:ea typeface="宋体"/>
              </a:rPr>
              <a:t>（2）多元化战略阶段（1992-1998）：</a:t>
            </a:r>
            <a:r>
              <a:rPr sz="1250" b="0">
                <a:solidFill>
                  <a:srgbClr val="1E293B"/>
                </a:solidFill>
                <a:latin typeface="Times New Roman"/>
                <a:ea typeface="宋体"/>
              </a:rPr>
              <a:t>以'吃休克鱼'方式低成本兼并扩张，产品线延伸至洗衣机、空调、彩电，实现规模经济。</a:t>
            </a:r>
          </a:p>
          <a:p>
            <a:pPr>
              <a:lnSpc>
                <a:spcPct val="120000"/>
              </a:lnSpc>
              <a:spcAft>
                <a:spcPts val="600"/>
              </a:spcAft>
            </a:pPr>
            <a:r>
              <a:rPr sz="1250" b="1">
                <a:solidFill>
                  <a:srgbClr val="1B3A5C"/>
                </a:solidFill>
                <a:latin typeface="Times New Roman"/>
                <a:ea typeface="宋体"/>
              </a:rPr>
              <a:t>（3）国际化战略阶段（1998以后）：</a:t>
            </a:r>
            <a:r>
              <a:rPr sz="1250" b="0">
                <a:solidFill>
                  <a:srgbClr val="1E293B"/>
                </a:solidFill>
                <a:latin typeface="Times New Roman"/>
                <a:ea typeface="宋体"/>
              </a:rPr>
              <a:t>坚持'先难后易'出海创牌，在美国建立本土化设计、制造、营销三位一体基地，实现全球价值链布局。</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2. 委托代理问题与激励约束机制</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（1）代理问题根源：</a:t>
            </a:r>
            <a:r>
              <a:rPr sz="1250" b="0">
                <a:solidFill>
                  <a:srgbClr val="1E293B"/>
                </a:solidFill>
                <a:latin typeface="Times New Roman"/>
                <a:ea typeface="宋体"/>
              </a:rPr>
              <a:t>所有权与经营权分离，股东（委托人）追求价值最大化，经理人（代理人）追求在职消费与权力扩张。</a:t>
            </a:r>
          </a:p>
          <a:p>
            <a:pPr>
              <a:lnSpc>
                <a:spcPct val="120000"/>
              </a:lnSpc>
              <a:spcAft>
                <a:spcPts val="600"/>
              </a:spcAft>
            </a:pPr>
            <a:r>
              <a:rPr sz="1250" b="1">
                <a:solidFill>
                  <a:srgbClr val="2E86C1"/>
                </a:solidFill>
                <a:latin typeface="Times New Roman"/>
                <a:ea typeface="宋体"/>
              </a:rPr>
              <a:t>（2）激励机制设计：</a:t>
            </a:r>
            <a:r>
              <a:rPr sz="1250" b="0">
                <a:solidFill>
                  <a:srgbClr val="1E293B"/>
                </a:solidFill>
                <a:latin typeface="Times New Roman"/>
                <a:ea typeface="宋体"/>
              </a:rPr>
              <a:t>股票期权（Stock Options）、限制性股票、业绩挂钩年薪制，使经理人与股东利益深度绑定。</a:t>
            </a:r>
          </a:p>
          <a:p>
            <a:pPr>
              <a:lnSpc>
                <a:spcPct val="120000"/>
              </a:lnSpc>
              <a:spcAft>
                <a:spcPts val="600"/>
              </a:spcAft>
            </a:pPr>
            <a:r>
              <a:rPr sz="1250" b="1">
                <a:solidFill>
                  <a:srgbClr val="2E86C1"/>
                </a:solidFill>
                <a:latin typeface="Times New Roman"/>
                <a:ea typeface="宋体"/>
              </a:rPr>
              <a:t>（3）外部市场约束：</a:t>
            </a:r>
            <a:r>
              <a:rPr sz="1250" b="0">
                <a:solidFill>
                  <a:srgbClr val="1E293B"/>
                </a:solidFill>
                <a:latin typeface="Times New Roman"/>
                <a:ea typeface="宋体"/>
              </a:rPr>
              <a:t>资本市场接管兼并压力、经理人声誉市场评价与独立董事监管审计制度。</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核心要点：战略演进体现长期价值创造路径，完善的公司治理则是防范内部人控制、保障战略落地的制度基石。</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第5节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企业的利润</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全面剖析会计利润、经济利润与正常利润的内在逻辑，精解七大特殊场景下的机会成本计量。</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绪论 管理经济学的对象与方法 · 权威教材精细化教学架构</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第5节 企业的利润</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一、会计利润与经济利润的严格区别</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19</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1. 成本与利润的核心公式界定</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300"/>
              </a:spcAft>
            </a:pPr>
            <a:r>
              <a:rPr sz="1150" b="1">
                <a:solidFill>
                  <a:srgbClr val="1B3A5C"/>
                </a:solidFill>
                <a:latin typeface="Times New Roman"/>
                <a:ea typeface="宋体"/>
              </a:rPr>
              <a:t>（1）会计利润：</a:t>
            </a:r>
            <a:r>
              <a:rPr sz="1150" b="0">
                <a:solidFill>
                  <a:srgbClr val="1E293B"/>
                </a:solidFill>
                <a:latin typeface="Times New Roman"/>
                <a:ea typeface="宋体"/>
              </a:rPr>
              <a:t>会计利润 = 总收益 (TR) - 外显成本 (Explicit Costs)</a:t>
            </a:r>
          </a:p>
          <a:p>
            <a:pPr>
              <a:lnSpc>
                <a:spcPct val="120000"/>
              </a:lnSpc>
              <a:spcAft>
                <a:spcPts val="300"/>
              </a:spcAft>
            </a:pPr>
            <a:r>
              <a:rPr sz="1150" b="1">
                <a:solidFill>
                  <a:srgbClr val="1B3A5C"/>
                </a:solidFill>
                <a:latin typeface="Times New Roman"/>
                <a:ea typeface="宋体"/>
              </a:rPr>
              <a:t>（2）外显成本：</a:t>
            </a:r>
            <a:r>
              <a:rPr sz="1150" b="0">
                <a:solidFill>
                  <a:srgbClr val="1E293B"/>
                </a:solidFill>
                <a:latin typeface="Times New Roman"/>
                <a:ea typeface="宋体"/>
              </a:rPr>
              <a:t>企业在生产要素市场上购买或租用所需要素实际发生的货币支出（如原材料、工资、租金）。</a:t>
            </a:r>
          </a:p>
          <a:p>
            <a:pPr>
              <a:lnSpc>
                <a:spcPct val="120000"/>
              </a:lnSpc>
              <a:spcAft>
                <a:spcPts val="300"/>
              </a:spcAft>
            </a:pPr>
            <a:r>
              <a:rPr sz="1150" b="1">
                <a:solidFill>
                  <a:srgbClr val="1B3A5C"/>
                </a:solidFill>
                <a:latin typeface="Times New Roman"/>
                <a:ea typeface="宋体"/>
              </a:rPr>
              <a:t>（3）经济成本：</a:t>
            </a:r>
            <a:r>
              <a:rPr sz="1150" b="0">
                <a:solidFill>
                  <a:srgbClr val="1E293B"/>
                </a:solidFill>
                <a:latin typeface="Times New Roman"/>
                <a:ea typeface="宋体"/>
              </a:rPr>
              <a:t>经济成本 = 外显成本 + 内涵成本 (Implicit Costs) = 全部机会成本</a:t>
            </a:r>
          </a:p>
          <a:p>
            <a:pPr>
              <a:lnSpc>
                <a:spcPct val="120000"/>
              </a:lnSpc>
              <a:spcAft>
                <a:spcPts val="300"/>
              </a:spcAft>
            </a:pPr>
            <a:r>
              <a:rPr sz="1150" b="1">
                <a:solidFill>
                  <a:srgbClr val="1B3A5C"/>
                </a:solidFill>
                <a:latin typeface="Times New Roman"/>
                <a:ea typeface="宋体"/>
              </a:rPr>
              <a:t>（4）内涵成本：</a:t>
            </a:r>
            <a:r>
              <a:rPr sz="1150" b="0">
                <a:solidFill>
                  <a:srgbClr val="1E293B"/>
                </a:solidFill>
                <a:latin typeface="Times New Roman"/>
                <a:ea typeface="宋体"/>
              </a:rPr>
              <a:t>企业使用自有生产要素所放弃的在其他最佳替代用途中可能获得的最大收益。</a:t>
            </a:r>
          </a:p>
          <a:p>
            <a:pPr>
              <a:lnSpc>
                <a:spcPct val="120000"/>
              </a:lnSpc>
              <a:spcAft>
                <a:spcPts val="300"/>
              </a:spcAft>
            </a:pPr>
            <a:r>
              <a:rPr sz="1150" b="1">
                <a:solidFill>
                  <a:srgbClr val="1B3A5C"/>
                </a:solidFill>
                <a:latin typeface="Times New Roman"/>
                <a:ea typeface="宋体"/>
              </a:rPr>
              <a:t>（5）经济利润：</a:t>
            </a:r>
            <a:r>
              <a:rPr sz="1150" b="0">
                <a:solidFill>
                  <a:srgbClr val="1E293B"/>
                </a:solidFill>
                <a:latin typeface="Times New Roman"/>
                <a:ea typeface="宋体"/>
              </a:rPr>
              <a:t>经济利润 = 总收益 - 经济成本 = 会计利润 - 内涵成本</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2. 经济利润在资源配置中的指示灯功能</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（1）经济利润 &gt; 0：</a:t>
            </a:r>
            <a:r>
              <a:rPr sz="1250" b="0">
                <a:solidFill>
                  <a:srgbClr val="1E293B"/>
                </a:solidFill>
                <a:latin typeface="Times New Roman"/>
                <a:ea typeface="宋体"/>
              </a:rPr>
              <a:t>企业不仅覆盖了全部外显支出与自有要素机会收益，还获得了超额回报，资源利用效率卓越。</a:t>
            </a:r>
          </a:p>
          <a:p>
            <a:pPr>
              <a:lnSpc>
                <a:spcPct val="120000"/>
              </a:lnSpc>
              <a:spcAft>
                <a:spcPts val="600"/>
              </a:spcAft>
            </a:pPr>
            <a:r>
              <a:rPr sz="1250" b="1">
                <a:solidFill>
                  <a:srgbClr val="2E86C1"/>
                </a:solidFill>
                <a:latin typeface="Times New Roman"/>
                <a:ea typeface="宋体"/>
              </a:rPr>
              <a:t>（2）经济利润 = 0：</a:t>
            </a:r>
            <a:r>
              <a:rPr sz="1250" b="0">
                <a:solidFill>
                  <a:srgbClr val="1E293B"/>
                </a:solidFill>
                <a:latin typeface="Times New Roman"/>
                <a:ea typeface="宋体"/>
              </a:rPr>
              <a:t>企业恰好获得正常利润（自有要素获得平均市场回报），资本保值，继续维持经营。</a:t>
            </a:r>
          </a:p>
          <a:p>
            <a:pPr>
              <a:lnSpc>
                <a:spcPct val="120000"/>
              </a:lnSpc>
              <a:spcAft>
                <a:spcPts val="600"/>
              </a:spcAft>
            </a:pPr>
            <a:r>
              <a:rPr sz="1250" b="1">
                <a:solidFill>
                  <a:srgbClr val="2E86C1"/>
                </a:solidFill>
                <a:latin typeface="Times New Roman"/>
                <a:ea typeface="宋体"/>
              </a:rPr>
              <a:t>（3）经济利润 &lt; 0：</a:t>
            </a:r>
            <a:r>
              <a:rPr sz="1250" b="0">
                <a:solidFill>
                  <a:srgbClr val="1E293B"/>
                </a:solidFill>
                <a:latin typeface="Times New Roman"/>
                <a:ea typeface="宋体"/>
              </a:rPr>
              <a:t>即便账面会计利润为正，但自有资金或资产未跑赢市场平均收益，发生资源错配，应考虑转行退出！</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核心要点：决策必须以经济利润而非会计利润为准绳，经济利润才是指引社会稀缺资源流向最高效领域的指南针。</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第5节 企业的利润</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二、七种特殊情况下机会成本的精确计算方法（一）</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20</a:t>
            </a:r>
          </a:p>
        </p:txBody>
      </p:sp>
      <p:sp>
        <p:nvSpPr>
          <p:cNvPr id="9" name="Rectangle 8"/>
          <p:cNvSpPr/>
          <p:nvPr/>
        </p:nvSpPr>
        <p:spPr>
          <a:xfrm>
            <a:off x="457200" y="1325880"/>
            <a:ext cx="35661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3566160" cy="4572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1. 自有资金与自有资产</a:t>
            </a:r>
          </a:p>
        </p:txBody>
      </p:sp>
      <p:sp>
        <p:nvSpPr>
          <p:cNvPr id="11" name="TextBox 10"/>
          <p:cNvSpPr txBox="1"/>
          <p:nvPr/>
        </p:nvSpPr>
        <p:spPr>
          <a:xfrm>
            <a:off x="594360" y="1874520"/>
            <a:ext cx="3291840" cy="3703320"/>
          </a:xfrm>
          <a:prstGeom prst="rect">
            <a:avLst/>
          </a:prstGeom>
          <a:noFill/>
        </p:spPr>
        <p:txBody>
          <a:bodyPr wrap="square" lIns="0" tIns="0" rIns="0" bIns="0">
            <a:spAutoFit/>
          </a:bodyPr>
          <a:lstStyle/>
          <a:p>
            <a:pPr>
              <a:lnSpc>
                <a:spcPct val="120000"/>
              </a:lnSpc>
              <a:spcAft>
                <a:spcPts val="500"/>
              </a:spcAft>
            </a:pPr>
            <a:r>
              <a:rPr sz="1200" b="1">
                <a:solidFill>
                  <a:srgbClr val="1B3A5C"/>
                </a:solidFill>
                <a:latin typeface="Times New Roman"/>
                <a:ea typeface="宋体"/>
              </a:rPr>
              <a:t>（1）业主自有资金：</a:t>
            </a:r>
            <a:r>
              <a:rPr sz="1200" b="0">
                <a:solidFill>
                  <a:srgbClr val="1E293B"/>
                </a:solidFill>
                <a:latin typeface="Times New Roman"/>
                <a:ea typeface="宋体"/>
              </a:rPr>
              <a:t>机会成本等于将这笔资金借出或投资于同等风险金融资产所能获得的利息或最高收益（例0-5）。</a:t>
            </a:r>
          </a:p>
          <a:p>
            <a:pPr>
              <a:lnSpc>
                <a:spcPct val="120000"/>
              </a:lnSpc>
              <a:spcAft>
                <a:spcPts val="500"/>
              </a:spcAft>
            </a:pPr>
            <a:r>
              <a:rPr sz="1200" b="1">
                <a:solidFill>
                  <a:srgbClr val="1B3A5C"/>
                </a:solidFill>
                <a:latin typeface="Times New Roman"/>
                <a:ea typeface="宋体"/>
              </a:rPr>
              <a:t>（2）业主自有房产土地：</a:t>
            </a:r>
            <a:r>
              <a:rPr sz="1200" b="0">
                <a:solidFill>
                  <a:srgbClr val="1E293B"/>
                </a:solidFill>
                <a:latin typeface="Times New Roman"/>
                <a:ea typeface="宋体"/>
              </a:rPr>
              <a:t>机会成本等于将该厂房或店面出租给第三方在市场上可收取的公允租金收入。</a:t>
            </a:r>
          </a:p>
          <a:p>
            <a:pPr>
              <a:lnSpc>
                <a:spcPct val="120000"/>
              </a:lnSpc>
              <a:spcAft>
                <a:spcPts val="500"/>
              </a:spcAft>
            </a:pPr>
            <a:r>
              <a:rPr sz="1200" b="1">
                <a:solidFill>
                  <a:srgbClr val="1B3A5C"/>
                </a:solidFill>
                <a:latin typeface="Times New Roman"/>
                <a:ea typeface="宋体"/>
              </a:rPr>
              <a:t>（3）业主自身劳动力：</a:t>
            </a:r>
            <a:r>
              <a:rPr sz="1200" b="0">
                <a:solidFill>
                  <a:srgbClr val="1E293B"/>
                </a:solidFill>
                <a:latin typeface="Times New Roman"/>
                <a:ea typeface="宋体"/>
              </a:rPr>
              <a:t>机会成本等于业主如果去其他企业受聘任职可能获得的最高年薪与福利待遇。</a:t>
            </a:r>
          </a:p>
        </p:txBody>
      </p:sp>
      <p:sp>
        <p:nvSpPr>
          <p:cNvPr id="12" name="Rectangle 11"/>
          <p:cNvSpPr/>
          <p:nvPr/>
        </p:nvSpPr>
        <p:spPr>
          <a:xfrm>
            <a:off x="4297680" y="1325880"/>
            <a:ext cx="35661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325880"/>
            <a:ext cx="3566160" cy="4572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2. 设备与机器使用状态</a:t>
            </a:r>
          </a:p>
        </p:txBody>
      </p:sp>
      <p:sp>
        <p:nvSpPr>
          <p:cNvPr id="14" name="TextBox 13"/>
          <p:cNvSpPr txBox="1"/>
          <p:nvPr/>
        </p:nvSpPr>
        <p:spPr>
          <a:xfrm>
            <a:off x="4434840" y="1874520"/>
            <a:ext cx="3291840" cy="3703320"/>
          </a:xfrm>
          <a:prstGeom prst="rect">
            <a:avLst/>
          </a:prstGeom>
          <a:noFill/>
        </p:spPr>
        <p:txBody>
          <a:bodyPr wrap="square" lIns="0" tIns="0" rIns="0" bIns="0">
            <a:spAutoFit/>
          </a:bodyPr>
          <a:lstStyle/>
          <a:p>
            <a:pPr>
              <a:lnSpc>
                <a:spcPct val="120000"/>
              </a:lnSpc>
              <a:spcAft>
                <a:spcPts val="500"/>
              </a:spcAft>
            </a:pPr>
            <a:r>
              <a:rPr sz="1200" b="1">
                <a:solidFill>
                  <a:srgbClr val="2E86C1"/>
                </a:solidFill>
                <a:latin typeface="Times New Roman"/>
                <a:ea typeface="宋体"/>
              </a:rPr>
              <a:t>（1）闲置设备的使用：</a:t>
            </a:r>
            <a:r>
              <a:rPr sz="1200" b="0">
                <a:solidFill>
                  <a:srgbClr val="1E293B"/>
                </a:solidFill>
                <a:latin typeface="Times New Roman"/>
                <a:ea typeface="宋体"/>
              </a:rPr>
              <a:t>若设备原本无其他用途且无法出租出售，用来生产某产品的机会成本为 0（例0-6）。</a:t>
            </a:r>
          </a:p>
          <a:p>
            <a:pPr>
              <a:lnSpc>
                <a:spcPct val="120000"/>
              </a:lnSpc>
              <a:spcAft>
                <a:spcPts val="500"/>
              </a:spcAft>
            </a:pPr>
            <a:r>
              <a:rPr sz="1200" b="1">
                <a:solidFill>
                  <a:srgbClr val="2E86C1"/>
                </a:solidFill>
                <a:latin typeface="Times New Roman"/>
                <a:ea typeface="宋体"/>
              </a:rPr>
              <a:t>（2）转产设备的使用：</a:t>
            </a:r>
            <a:r>
              <a:rPr sz="1200" b="0">
                <a:solidFill>
                  <a:srgbClr val="1E293B"/>
                </a:solidFill>
                <a:latin typeface="Times New Roman"/>
                <a:ea typeface="宋体"/>
              </a:rPr>
              <a:t>若设备原生产产品 A 可获净利润 1 万元，现改产产品 B 的机会成本即为放弃的 1 万元（例0-7）。</a:t>
            </a:r>
          </a:p>
          <a:p>
            <a:pPr>
              <a:lnSpc>
                <a:spcPct val="120000"/>
              </a:lnSpc>
              <a:spcAft>
                <a:spcPts val="500"/>
              </a:spcAft>
            </a:pPr>
            <a:r>
              <a:rPr sz="1200" b="1">
                <a:solidFill>
                  <a:srgbClr val="2E86C1"/>
                </a:solidFill>
                <a:latin typeface="Times New Roman"/>
                <a:ea typeface="宋体"/>
              </a:rPr>
              <a:t>（3）设备折旧的机会成本：</a:t>
            </a:r>
            <a:r>
              <a:rPr sz="1200" b="0">
                <a:solidFill>
                  <a:srgbClr val="1E293B"/>
                </a:solidFill>
                <a:latin typeface="Times New Roman"/>
                <a:ea typeface="宋体"/>
              </a:rPr>
              <a:t>非会计历史原值直线折旧，而是该设备期初变现价值与期末变现价值之差额！</a:t>
            </a:r>
          </a:p>
        </p:txBody>
      </p:sp>
      <p:sp>
        <p:nvSpPr>
          <p:cNvPr id="15" name="Rectangle 14"/>
          <p:cNvSpPr/>
          <p:nvPr/>
        </p:nvSpPr>
        <p:spPr>
          <a:xfrm>
            <a:off x="8138160" y="1325880"/>
            <a:ext cx="35661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38160" y="1325880"/>
            <a:ext cx="3566160" cy="45720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3. 库存原材料与零部件</a:t>
            </a:r>
          </a:p>
        </p:txBody>
      </p:sp>
      <p:sp>
        <p:nvSpPr>
          <p:cNvPr id="17" name="TextBox 16"/>
          <p:cNvSpPr txBox="1"/>
          <p:nvPr/>
        </p:nvSpPr>
        <p:spPr>
          <a:xfrm>
            <a:off x="8275320" y="1874520"/>
            <a:ext cx="3291840" cy="3703320"/>
          </a:xfrm>
          <a:prstGeom prst="rect">
            <a:avLst/>
          </a:prstGeom>
          <a:noFill/>
        </p:spPr>
        <p:txBody>
          <a:bodyPr wrap="square" lIns="0" tIns="0" rIns="0" bIns="0">
            <a:spAutoFit/>
          </a:bodyPr>
          <a:lstStyle/>
          <a:p>
            <a:pPr>
              <a:lnSpc>
                <a:spcPct val="120000"/>
              </a:lnSpc>
              <a:spcAft>
                <a:spcPts val="500"/>
              </a:spcAft>
            </a:pPr>
            <a:r>
              <a:rPr sz="1200" b="1">
                <a:solidFill>
                  <a:srgbClr val="1A8C5D"/>
                </a:solidFill>
                <a:latin typeface="Times New Roman"/>
                <a:ea typeface="宋体"/>
              </a:rPr>
              <a:t>（1）有现成市价的库存：</a:t>
            </a:r>
            <a:r>
              <a:rPr sz="1200" b="0">
                <a:solidFill>
                  <a:srgbClr val="1E293B"/>
                </a:solidFill>
                <a:latin typeface="Times New Roman"/>
                <a:ea typeface="宋体"/>
              </a:rPr>
              <a:t>机会成本等于该原材料当前的现行市场重置成本或出售可得净变现价值，而非当初历史进价（例0-8）。</a:t>
            </a:r>
          </a:p>
          <a:p>
            <a:pPr>
              <a:lnSpc>
                <a:spcPct val="120000"/>
              </a:lnSpc>
              <a:spcAft>
                <a:spcPts val="500"/>
              </a:spcAft>
            </a:pPr>
            <a:r>
              <a:rPr sz="1200" b="1">
                <a:solidFill>
                  <a:srgbClr val="1A8C5D"/>
                </a:solidFill>
                <a:latin typeface="Times New Roman"/>
                <a:ea typeface="宋体"/>
              </a:rPr>
              <a:t>（2）专有定制无市价库存：</a:t>
            </a:r>
            <a:r>
              <a:rPr sz="1200" b="0">
                <a:solidFill>
                  <a:srgbClr val="1E293B"/>
                </a:solidFill>
                <a:latin typeface="Times New Roman"/>
                <a:ea typeface="宋体"/>
              </a:rPr>
              <a:t>若只能降级作废料处理，其机会成本仅为废料变卖残值；若可改作他用，取他用之最高净收益。</a:t>
            </a:r>
          </a:p>
        </p:txBody>
      </p:sp>
      <p:sp>
        <p:nvSpPr>
          <p:cNvPr id="18" name="Rectangle 17"/>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核心要点：机会成本的本质不是实际付出的现金，而是决策中被放弃的所有备选方案中价值最高的那一个。</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第5节 企业的利润</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二、课本经典例题演算：机会成本实战计量</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21</a:t>
            </a:r>
          </a:p>
        </p:txBody>
      </p:sp>
      <p:sp>
        <p:nvSpPr>
          <p:cNvPr id="9" name="Rectangle 8"/>
          <p:cNvSpPr/>
          <p:nvPr/>
        </p:nvSpPr>
        <p:spPr>
          <a:xfrm>
            <a:off x="457200" y="1325880"/>
            <a:ext cx="1124712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1124712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例0-5 至 例0-8 逐题推演与决策判定</a:t>
            </a:r>
          </a:p>
        </p:txBody>
      </p:sp>
      <p:sp>
        <p:nvSpPr>
          <p:cNvPr id="11" name="TextBox 10"/>
          <p:cNvSpPr txBox="1"/>
          <p:nvPr/>
        </p:nvSpPr>
        <p:spPr>
          <a:xfrm>
            <a:off x="685800" y="1965960"/>
            <a:ext cx="10789920" cy="3566160"/>
          </a:xfrm>
          <a:prstGeom prst="rect">
            <a:avLst/>
          </a:prstGeom>
          <a:noFill/>
        </p:spPr>
        <p:txBody>
          <a:bodyPr wrap="square" lIns="0" tIns="0" rIns="0" bIns="0">
            <a:spAutoFit/>
          </a:bodyPr>
          <a:lstStyle/>
          <a:p>
            <a:pPr>
              <a:lnSpc>
                <a:spcPct val="120000"/>
              </a:lnSpc>
              <a:spcAft>
                <a:spcPts val="300"/>
              </a:spcAft>
            </a:pPr>
            <a:r>
              <a:rPr sz="1200" b="1">
                <a:solidFill>
                  <a:srgbClr val="1B3A5C"/>
                </a:solidFill>
                <a:latin typeface="Times New Roman"/>
                <a:ea typeface="宋体"/>
              </a:rPr>
              <a:t>【例0-5 资金机会成本】</a:t>
            </a:r>
            <a:r>
              <a:rPr sz="1200" b="0">
                <a:solidFill>
                  <a:srgbClr val="1E293B"/>
                </a:solidFill>
                <a:latin typeface="Times New Roman"/>
                <a:ea typeface="宋体"/>
              </a:rPr>
              <a:t>企业主投入自有资金100万元开店，若存银行年息3%，买国债年息4%，投资稳健基金年息6%。则开店占用的100万元资金年机会成本为最高收益 6 万元。</a:t>
            </a:r>
          </a:p>
          <a:p>
            <a:pPr algn="l">
              <a:lnSpc>
                <a:spcPct val="120000"/>
              </a:lnSpc>
              <a:spcAft>
                <a:spcPts val="300"/>
              </a:spcAft>
            </a:pPr>
            <a:r>
              <a:rPr sz="1350" b="1">
                <a:solidFill>
                  <a:srgbClr val="2E86C1"/>
                </a:solidFill>
                <a:latin typeface="Times New Roman"/>
                <a:ea typeface="宋体"/>
              </a:rPr>
              <a:t>【例0-5 &amp; 例0-6：资金借贷与闲置厂房决策】</a:t>
            </a:r>
          </a:p>
          <a:p>
            <a:pPr>
              <a:lnSpc>
                <a:spcPct val="120000"/>
              </a:lnSpc>
              <a:spcAft>
                <a:spcPts val="300"/>
              </a:spcAft>
            </a:pPr>
            <a:r>
              <a:rPr sz="1200" b="1">
                <a:solidFill>
                  <a:srgbClr val="1B3A5C"/>
                </a:solidFill>
                <a:latin typeface="Times New Roman"/>
                <a:ea typeface="宋体"/>
              </a:rPr>
              <a:t>【例0-6 闲置厂房利用】</a:t>
            </a:r>
            <a:r>
              <a:rPr sz="1200" b="0">
                <a:solidFill>
                  <a:srgbClr val="1E293B"/>
                </a:solidFill>
                <a:latin typeface="Times New Roman"/>
                <a:ea typeface="宋体"/>
              </a:rPr>
              <a:t>某车间有一闲置库房，对外出租无人问津。现拟改造为职工活动室，其占用厂房的经济机会成本为 0（因无任何替代收益被放弃）。</a:t>
            </a:r>
          </a:p>
          <a:p>
            <a:pPr algn="l">
              <a:lnSpc>
                <a:spcPct val="120000"/>
              </a:lnSpc>
              <a:spcAft>
                <a:spcPts val="200"/>
              </a:spcAft>
            </a:pPr>
          </a:p>
          <a:p>
            <a:pPr algn="l">
              <a:lnSpc>
                <a:spcPct val="120000"/>
              </a:lnSpc>
              <a:spcAft>
                <a:spcPts val="300"/>
              </a:spcAft>
            </a:pPr>
            <a:r>
              <a:rPr sz="1350" b="1">
                <a:solidFill>
                  <a:srgbClr val="2E86C1"/>
                </a:solidFill>
                <a:latin typeface="Times New Roman"/>
                <a:ea typeface="宋体"/>
              </a:rPr>
              <a:t>【例0-7 &amp; 例0-8：转产损失与原材料现行市价计量】</a:t>
            </a:r>
          </a:p>
          <a:p>
            <a:pPr>
              <a:lnSpc>
                <a:spcPct val="120000"/>
              </a:lnSpc>
              <a:spcAft>
                <a:spcPts val="300"/>
              </a:spcAft>
            </a:pPr>
            <a:r>
              <a:rPr sz="1200" b="1">
                <a:solidFill>
                  <a:srgbClr val="1B3A5C"/>
                </a:solidFill>
                <a:latin typeface="Times New Roman"/>
                <a:ea typeface="宋体"/>
              </a:rPr>
              <a:t>【例0-7 转产产品决策】</a:t>
            </a:r>
            <a:r>
              <a:rPr sz="1200" b="0">
                <a:solidFill>
                  <a:srgbClr val="1E293B"/>
                </a:solidFill>
                <a:latin typeface="Times New Roman"/>
                <a:ea typeface="宋体"/>
              </a:rPr>
              <a:t>某生产线原生产 A 产品可获利润 50 万元。现有一批外贸 B 产品订单，报价扣除外显变动成本后毛利为 60 万元。问是否接单？决策：增量收益 60万 &gt; 机会成本 50万，净增经济利润 10 万元，应接单！</a:t>
            </a:r>
          </a:p>
          <a:p>
            <a:pPr>
              <a:lnSpc>
                <a:spcPct val="120000"/>
              </a:lnSpc>
              <a:spcAft>
                <a:spcPts val="300"/>
              </a:spcAft>
            </a:pPr>
            <a:r>
              <a:rPr sz="1200" b="1">
                <a:solidFill>
                  <a:srgbClr val="1B3A5C"/>
                </a:solidFill>
                <a:latin typeface="Times New Roman"/>
                <a:ea typeface="宋体"/>
              </a:rPr>
              <a:t>【例0-8 库存钢材成本计量】</a:t>
            </a:r>
            <a:r>
              <a:rPr sz="1200" b="0">
                <a:solidFill>
                  <a:srgbClr val="1E293B"/>
                </a:solidFill>
                <a:latin typeface="Times New Roman"/>
                <a:ea typeface="宋体"/>
              </a:rPr>
              <a:t>某机械厂半年前按 4000元/吨 买进钢材 100 吨。现钢材市价涨至 5500元/吨。现有一工程需用该批钢材。核算该工程成本时，钢材成本应按现行市价 5500元/吨（机会成本）计算，而非历史成本 4000元/吨。</a:t>
            </a:r>
          </a:p>
          <a:p>
            <a:pPr algn="l">
              <a:lnSpc>
                <a:spcPct val="120000"/>
              </a:lnSpc>
              <a:spcAft>
                <a:spcPts val="200"/>
              </a:spcAft>
            </a:pPr>
          </a:p>
        </p:txBody>
      </p:sp>
      <p:sp>
        <p:nvSpPr>
          <p:cNvPr id="12" name="Rectangle 11"/>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核心精要：掌握机会成本的动态计量方法，是避免企业落入'账面盈利、经济亏损'陷阱的根本法宝。</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第5节 企业的利润</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三、例0-9 综合解析：张三辞职开办咨询公司决策</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22</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1. 例0-9 详细收支数据推演</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300"/>
              </a:spcAft>
            </a:pPr>
            <a:r>
              <a:rPr sz="1150" b="1">
                <a:solidFill>
                  <a:srgbClr val="1B3A5C"/>
                </a:solidFill>
                <a:latin typeface="Times New Roman"/>
                <a:ea typeface="宋体"/>
              </a:rPr>
              <a:t>（1）背景情况：</a:t>
            </a:r>
            <a:r>
              <a:rPr sz="1150" b="0">
                <a:solidFill>
                  <a:srgbClr val="1E293B"/>
                </a:solidFill>
                <a:latin typeface="Times New Roman"/>
                <a:ea typeface="宋体"/>
              </a:rPr>
              <a:t>张三辞去原年薪6万元的稳定工作，自筹资金40万元（原年利息收入4万元）创办管理咨询公司。</a:t>
            </a:r>
          </a:p>
          <a:p>
            <a:pPr>
              <a:lnSpc>
                <a:spcPct val="120000"/>
              </a:lnSpc>
              <a:spcAft>
                <a:spcPts val="300"/>
              </a:spcAft>
            </a:pPr>
            <a:r>
              <a:rPr sz="1150" b="1">
                <a:solidFill>
                  <a:srgbClr val="1B3A5C"/>
                </a:solidFill>
                <a:latin typeface="Times New Roman"/>
                <a:ea typeface="宋体"/>
              </a:rPr>
              <a:t>（2）年度实际收支：</a:t>
            </a:r>
            <a:r>
              <a:rPr sz="1150" b="0">
                <a:solidFill>
                  <a:srgbClr val="1E293B"/>
                </a:solidFill>
                <a:latin typeface="Times New Roman"/>
                <a:ea typeface="宋体"/>
              </a:rPr>
              <a:t>总营业收入 30 万元；支付雇员工资、办公房租与耗材等外显成本共计 15 万元。</a:t>
            </a:r>
          </a:p>
          <a:p>
            <a:pPr>
              <a:lnSpc>
                <a:spcPct val="120000"/>
              </a:lnSpc>
              <a:spcAft>
                <a:spcPts val="300"/>
              </a:spcAft>
            </a:pPr>
            <a:r>
              <a:rPr sz="1150" b="1">
                <a:solidFill>
                  <a:srgbClr val="1B3A5C"/>
                </a:solidFill>
                <a:latin typeface="Times New Roman"/>
                <a:ea typeface="宋体"/>
              </a:rPr>
              <a:t>（3）会计利润核算：</a:t>
            </a:r>
            <a:r>
              <a:rPr sz="1150" b="0">
                <a:solidFill>
                  <a:srgbClr val="1E293B"/>
                </a:solidFill>
                <a:latin typeface="Times New Roman"/>
                <a:ea typeface="宋体"/>
              </a:rPr>
              <a:t>会计利润 = 30 - 15 = 15 万元（账面看似盈利丰厚！）。</a:t>
            </a:r>
          </a:p>
          <a:p>
            <a:pPr>
              <a:lnSpc>
                <a:spcPct val="120000"/>
              </a:lnSpc>
              <a:spcAft>
                <a:spcPts val="300"/>
              </a:spcAft>
            </a:pPr>
            <a:r>
              <a:rPr sz="1150" b="1">
                <a:solidFill>
                  <a:srgbClr val="1B3A5C"/>
                </a:solidFill>
                <a:latin typeface="Times New Roman"/>
                <a:ea typeface="宋体"/>
              </a:rPr>
              <a:t>（4）内涵成本识别：</a:t>
            </a:r>
            <a:r>
              <a:rPr sz="1150" b="0">
                <a:solidFill>
                  <a:srgbClr val="1E293B"/>
                </a:solidFill>
                <a:latin typeface="Times New Roman"/>
                <a:ea typeface="宋体"/>
              </a:rPr>
              <a:t>放弃的薪水 6 万元 + 放弃的资金利息 4 万元 = 10 万元（这 10 万元也是正常利润！）。</a:t>
            </a:r>
          </a:p>
          <a:p>
            <a:pPr>
              <a:lnSpc>
                <a:spcPct val="120000"/>
              </a:lnSpc>
              <a:spcAft>
                <a:spcPts val="300"/>
              </a:spcAft>
            </a:pPr>
            <a:r>
              <a:rPr sz="1150" b="1">
                <a:solidFill>
                  <a:srgbClr val="1B3A5C"/>
                </a:solidFill>
                <a:latin typeface="Times New Roman"/>
                <a:ea typeface="宋体"/>
              </a:rPr>
              <a:t>（5）经济利润核算：</a:t>
            </a:r>
            <a:r>
              <a:rPr sz="1150" b="0">
                <a:solidFill>
                  <a:srgbClr val="1E293B"/>
                </a:solidFill>
                <a:latin typeface="Times New Roman"/>
                <a:ea typeface="宋体"/>
              </a:rPr>
              <a:t>经济利润 = 15 - 10 = +5 万元 &gt; 0，说明辞职创业实现了资源优化配置，决策正确！</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2. 正常利润与外显/内涵成本全景矩阵</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（1）正常利润本质：</a:t>
            </a:r>
            <a:r>
              <a:rPr sz="1250" b="0">
                <a:solidFill>
                  <a:srgbClr val="1E293B"/>
                </a:solidFill>
                <a:latin typeface="Times New Roman"/>
                <a:ea typeface="宋体"/>
              </a:rPr>
              <a:t>正常利润是指企业家才能与自有资金投入所必须获得的最低报酬，在经济学上属于隐性成本的一部分！</a:t>
            </a:r>
          </a:p>
          <a:p>
            <a:pPr>
              <a:lnSpc>
                <a:spcPct val="120000"/>
              </a:lnSpc>
              <a:spcAft>
                <a:spcPts val="600"/>
              </a:spcAft>
            </a:pPr>
            <a:r>
              <a:rPr sz="1250" b="1">
                <a:solidFill>
                  <a:srgbClr val="2E86C1"/>
                </a:solidFill>
                <a:latin typeface="Times New Roman"/>
                <a:ea typeface="宋体"/>
              </a:rPr>
              <a:t>（2）外显成本（Explicit）：</a:t>
            </a:r>
            <a:r>
              <a:rPr sz="1250" b="0">
                <a:solidFill>
                  <a:srgbClr val="1E293B"/>
                </a:solidFill>
                <a:latin typeface="Times New Roman"/>
                <a:ea typeface="宋体"/>
              </a:rPr>
              <a:t>直接发生账面现金流转的要素支出（工资、原料、租金、利息、税费）。</a:t>
            </a:r>
          </a:p>
          <a:p>
            <a:pPr>
              <a:lnSpc>
                <a:spcPct val="120000"/>
              </a:lnSpc>
              <a:spcAft>
                <a:spcPts val="600"/>
              </a:spcAft>
            </a:pPr>
            <a:r>
              <a:rPr sz="1250" b="1">
                <a:solidFill>
                  <a:srgbClr val="2E86C1"/>
                </a:solidFill>
                <a:latin typeface="Times New Roman"/>
                <a:ea typeface="宋体"/>
              </a:rPr>
              <a:t>（3）内涵成本（Implicit）：</a:t>
            </a:r>
            <a:r>
              <a:rPr sz="1250" b="0">
                <a:solidFill>
                  <a:srgbClr val="1E293B"/>
                </a:solidFill>
                <a:latin typeface="Times New Roman"/>
                <a:ea typeface="宋体"/>
              </a:rPr>
              <a:t>未发生实际现金流转、但被占用的自有要素市场公允机会代价。</a:t>
            </a:r>
          </a:p>
          <a:p>
            <a:pPr>
              <a:lnSpc>
                <a:spcPct val="120000"/>
              </a:lnSpc>
              <a:spcAft>
                <a:spcPts val="600"/>
              </a:spcAft>
            </a:pPr>
            <a:r>
              <a:rPr sz="1250" b="1">
                <a:solidFill>
                  <a:srgbClr val="2E86C1"/>
                </a:solidFill>
                <a:latin typeface="Times New Roman"/>
                <a:ea typeface="宋体"/>
              </a:rPr>
              <a:t>（4）生活中的经济学0-2启示：</a:t>
            </a:r>
            <a:r>
              <a:rPr sz="1250" b="0">
                <a:solidFill>
                  <a:srgbClr val="1E293B"/>
                </a:solidFill>
                <a:latin typeface="Times New Roman"/>
                <a:ea typeface="宋体"/>
              </a:rPr>
              <a:t>许多个体户'起早贪黑赚小钱'，若算上全家劳动力机会成本与自有门面租金，真实经济利润往往为负！</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核心要点：经济利润是扣减包括正常利润在内的全部机会成本后的超额剩余，是创业与资本配置的唯一硬标准。</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本章复习</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【绪论】管理经济学的对象与方法 全章核心要点串讲与决策指南</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23</a:t>
            </a:r>
          </a:p>
        </p:txBody>
      </p:sp>
      <p:sp>
        <p:nvSpPr>
          <p:cNvPr id="9" name="Rectangle 8"/>
          <p:cNvSpPr/>
          <p:nvPr/>
        </p:nvSpPr>
        <p:spPr>
          <a:xfrm>
            <a:off x="457200"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2651760" cy="4572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学科使命与理论框架</a:t>
            </a:r>
          </a:p>
        </p:txBody>
      </p:sp>
      <p:sp>
        <p:nvSpPr>
          <p:cNvPr id="11" name="TextBox 10"/>
          <p:cNvSpPr txBox="1"/>
          <p:nvPr/>
        </p:nvSpPr>
        <p:spPr>
          <a:xfrm>
            <a:off x="621792"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以微观经济学为理论核心</a:t>
            </a:r>
          </a:p>
          <a:p>
            <a:pPr algn="l">
              <a:lnSpc>
                <a:spcPct val="120000"/>
              </a:lnSpc>
              <a:spcAft>
                <a:spcPts val="400"/>
              </a:spcAft>
            </a:pPr>
            <a:r>
              <a:rPr sz="1150" b="0">
                <a:solidFill>
                  <a:srgbClr val="1E293B"/>
                </a:solidFill>
                <a:latin typeface="Times New Roman"/>
                <a:ea typeface="宋体"/>
              </a:rPr>
              <a:t>- 以数理决策科学为工具箱</a:t>
            </a:r>
          </a:p>
          <a:p>
            <a:pPr algn="l">
              <a:lnSpc>
                <a:spcPct val="120000"/>
              </a:lnSpc>
              <a:spcAft>
                <a:spcPts val="400"/>
              </a:spcAft>
            </a:pPr>
            <a:r>
              <a:rPr sz="1150" b="0">
                <a:solidFill>
                  <a:srgbClr val="1E293B"/>
                </a:solidFill>
                <a:latin typeface="Times New Roman"/>
                <a:ea typeface="宋体"/>
              </a:rPr>
              <a:t>- 以稀缺资源最优配置为使命</a:t>
            </a:r>
          </a:p>
          <a:p>
            <a:pPr algn="l">
              <a:lnSpc>
                <a:spcPct val="120000"/>
              </a:lnSpc>
              <a:spcAft>
                <a:spcPts val="400"/>
              </a:spcAft>
            </a:pPr>
            <a:r>
              <a:rPr sz="1150" b="0">
                <a:solidFill>
                  <a:srgbClr val="1E293B"/>
                </a:solidFill>
                <a:latin typeface="Times New Roman"/>
                <a:ea typeface="宋体"/>
              </a:rPr>
              <a:t>- 架设学术理论通向实战桥梁</a:t>
            </a:r>
          </a:p>
        </p:txBody>
      </p:sp>
      <p:sp>
        <p:nvSpPr>
          <p:cNvPr id="12" name="Rectangle 11"/>
          <p:cNvSpPr/>
          <p:nvPr/>
        </p:nvSpPr>
        <p:spPr>
          <a:xfrm>
            <a:off x="3310128"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10128" y="1325880"/>
            <a:ext cx="2651760" cy="4572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边际分析与向前看</a:t>
            </a:r>
          </a:p>
        </p:txBody>
      </p:sp>
      <p:sp>
        <p:nvSpPr>
          <p:cNvPr id="14" name="TextBox 13"/>
          <p:cNvSpPr txBox="1"/>
          <p:nvPr/>
        </p:nvSpPr>
        <p:spPr>
          <a:xfrm>
            <a:off x="3474720"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沉没成本是历史，决策向前看</a:t>
            </a:r>
          </a:p>
          <a:p>
            <a:pPr algn="l">
              <a:lnSpc>
                <a:spcPct val="120000"/>
              </a:lnSpc>
              <a:spcAft>
                <a:spcPts val="400"/>
              </a:spcAft>
            </a:pPr>
            <a:r>
              <a:rPr sz="1150" b="0">
                <a:solidFill>
                  <a:srgbClr val="1E293B"/>
                </a:solidFill>
                <a:latin typeface="Times New Roman"/>
                <a:ea typeface="宋体"/>
              </a:rPr>
              <a:t>- 无约束黄金律：MR = MC</a:t>
            </a:r>
          </a:p>
          <a:p>
            <a:pPr algn="l">
              <a:lnSpc>
                <a:spcPct val="120000"/>
              </a:lnSpc>
              <a:spcAft>
                <a:spcPts val="400"/>
              </a:spcAft>
            </a:pPr>
            <a:r>
              <a:rPr sz="1150" b="0">
                <a:solidFill>
                  <a:srgbClr val="1E293B"/>
                </a:solidFill>
                <a:latin typeface="Times New Roman"/>
                <a:ea typeface="宋体"/>
              </a:rPr>
              <a:t>- 有约束资源：等边际效益法则</a:t>
            </a:r>
          </a:p>
          <a:p>
            <a:pPr algn="l">
              <a:lnSpc>
                <a:spcPct val="120000"/>
              </a:lnSpc>
              <a:spcAft>
                <a:spcPts val="400"/>
              </a:spcAft>
            </a:pPr>
            <a:r>
              <a:rPr sz="1150" b="0">
                <a:solidFill>
                  <a:srgbClr val="1E293B"/>
                </a:solidFill>
                <a:latin typeface="Times New Roman"/>
                <a:ea typeface="宋体"/>
              </a:rPr>
              <a:t>- 增量分析：增量利润大于零即行</a:t>
            </a:r>
          </a:p>
        </p:txBody>
      </p:sp>
      <p:sp>
        <p:nvSpPr>
          <p:cNvPr id="15" name="Rectangle 14"/>
          <p:cNvSpPr/>
          <p:nvPr/>
        </p:nvSpPr>
        <p:spPr>
          <a:xfrm>
            <a:off x="6163056"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63056" y="1325880"/>
            <a:ext cx="2651760" cy="45720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契约理论与价值最大化</a:t>
            </a:r>
          </a:p>
        </p:txBody>
      </p:sp>
      <p:sp>
        <p:nvSpPr>
          <p:cNvPr id="17" name="TextBox 16"/>
          <p:cNvSpPr txBox="1"/>
          <p:nvPr/>
        </p:nvSpPr>
        <p:spPr>
          <a:xfrm>
            <a:off x="6327648"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企业本质是节约交易费用的契约</a:t>
            </a:r>
          </a:p>
          <a:p>
            <a:pPr algn="l">
              <a:lnSpc>
                <a:spcPct val="120000"/>
              </a:lnSpc>
              <a:spcAft>
                <a:spcPts val="400"/>
              </a:spcAft>
            </a:pPr>
            <a:r>
              <a:rPr sz="1150" b="0">
                <a:solidFill>
                  <a:srgbClr val="1E293B"/>
                </a:solidFill>
                <a:latin typeface="Times New Roman"/>
                <a:ea typeface="宋体"/>
              </a:rPr>
              <a:t>- 短期满意利益相关者多元诉求</a:t>
            </a:r>
          </a:p>
          <a:p>
            <a:pPr algn="l">
              <a:lnSpc>
                <a:spcPct val="120000"/>
              </a:lnSpc>
              <a:spcAft>
                <a:spcPts val="400"/>
              </a:spcAft>
            </a:pPr>
            <a:r>
              <a:rPr sz="1150" b="0">
                <a:solidFill>
                  <a:srgbClr val="1E293B"/>
                </a:solidFill>
                <a:latin typeface="Times New Roman"/>
                <a:ea typeface="宋体"/>
              </a:rPr>
              <a:t>- 长期坚定追求企业总价值最大化</a:t>
            </a:r>
          </a:p>
          <a:p>
            <a:pPr algn="l">
              <a:lnSpc>
                <a:spcPct val="120000"/>
              </a:lnSpc>
              <a:spcAft>
                <a:spcPts val="400"/>
              </a:spcAft>
            </a:pPr>
            <a:r>
              <a:rPr sz="1150" b="0">
                <a:solidFill>
                  <a:srgbClr val="1E293B"/>
                </a:solidFill>
                <a:latin typeface="Times New Roman"/>
                <a:ea typeface="宋体"/>
              </a:rPr>
              <a:t>- 通过期权与治理克服委托代理</a:t>
            </a:r>
          </a:p>
        </p:txBody>
      </p:sp>
      <p:sp>
        <p:nvSpPr>
          <p:cNvPr id="18" name="Rectangle 17"/>
          <p:cNvSpPr/>
          <p:nvPr/>
        </p:nvSpPr>
        <p:spPr>
          <a:xfrm>
            <a:off x="9015984"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015984" y="1325880"/>
            <a:ext cx="2651760" cy="45720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经济利润与机会成本</a:t>
            </a:r>
          </a:p>
        </p:txBody>
      </p:sp>
      <p:sp>
        <p:nvSpPr>
          <p:cNvPr id="20" name="TextBox 19"/>
          <p:cNvSpPr txBox="1"/>
          <p:nvPr/>
        </p:nvSpPr>
        <p:spPr>
          <a:xfrm>
            <a:off x="9180576"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会计利润仅扣外显，经济利润扣全部</a:t>
            </a:r>
          </a:p>
          <a:p>
            <a:pPr algn="l">
              <a:lnSpc>
                <a:spcPct val="120000"/>
              </a:lnSpc>
              <a:spcAft>
                <a:spcPts val="400"/>
              </a:spcAft>
            </a:pPr>
            <a:r>
              <a:rPr sz="1150" b="0">
                <a:solidFill>
                  <a:srgbClr val="1E293B"/>
                </a:solidFill>
                <a:latin typeface="Times New Roman"/>
                <a:ea typeface="宋体"/>
              </a:rPr>
              <a:t>- 内涵成本是自有要素放弃的最高回报</a:t>
            </a:r>
          </a:p>
          <a:p>
            <a:pPr algn="l">
              <a:lnSpc>
                <a:spcPct val="120000"/>
              </a:lnSpc>
              <a:spcAft>
                <a:spcPts val="400"/>
              </a:spcAft>
            </a:pPr>
            <a:r>
              <a:rPr sz="1150" b="0">
                <a:solidFill>
                  <a:srgbClr val="1E293B"/>
                </a:solidFill>
                <a:latin typeface="Times New Roman"/>
                <a:ea typeface="宋体"/>
              </a:rPr>
              <a:t>- 七大特殊场景精准计量机会成本</a:t>
            </a:r>
          </a:p>
          <a:p>
            <a:pPr algn="l">
              <a:lnSpc>
                <a:spcPct val="120000"/>
              </a:lnSpc>
              <a:spcAft>
                <a:spcPts val="400"/>
              </a:spcAft>
            </a:pPr>
            <a:r>
              <a:rPr sz="1150" b="0">
                <a:solidFill>
                  <a:srgbClr val="1E293B"/>
                </a:solidFill>
                <a:latin typeface="Times New Roman"/>
                <a:ea typeface="宋体"/>
              </a:rPr>
              <a:t>- 经济利润是指引资源流动的晴雨表</a:t>
            </a:r>
          </a:p>
        </p:txBody>
      </p:sp>
      <p:sp>
        <p:nvSpPr>
          <p:cNvPr id="21" name="Rectangle 20"/>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战略结语：牢固树立'向前看'的边际思维与'不计沉没、精算机会'的成本观，是现代卓越管理者的第一核心素养。</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课后思考与习题</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【绪论】课后复习思考题与作业题精选（对标课本）</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24</a:t>
            </a:r>
          </a:p>
        </p:txBody>
      </p:sp>
      <p:sp>
        <p:nvSpPr>
          <p:cNvPr id="9" name="Rectangle 8"/>
          <p:cNvSpPr/>
          <p:nvPr/>
        </p:nvSpPr>
        <p:spPr>
          <a:xfrm>
            <a:off x="457200" y="1325880"/>
            <a:ext cx="11247120" cy="48920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1124712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课后复习思考题与 MBA 讨论案例（严格对应课本习题）</a:t>
            </a:r>
          </a:p>
        </p:txBody>
      </p:sp>
      <p:sp>
        <p:nvSpPr>
          <p:cNvPr id="11" name="TextBox 10"/>
          <p:cNvSpPr txBox="1"/>
          <p:nvPr/>
        </p:nvSpPr>
        <p:spPr>
          <a:xfrm>
            <a:off x="731520" y="1965960"/>
            <a:ext cx="10698480" cy="4069080"/>
          </a:xfrm>
          <a:prstGeom prst="rect">
            <a:avLst/>
          </a:prstGeom>
          <a:noFill/>
        </p:spPr>
        <p:txBody>
          <a:bodyPr wrap="square" lIns="0" tIns="0" rIns="0" bIns="0">
            <a:spAutoFit/>
          </a:bodyPr>
          <a:lstStyle/>
          <a:p>
            <a:pPr>
              <a:lnSpc>
                <a:spcPct val="120000"/>
              </a:lnSpc>
              <a:spcAft>
                <a:spcPts val="400"/>
              </a:spcAft>
            </a:pPr>
            <a:r>
              <a:rPr sz="1150" b="1">
                <a:solidFill>
                  <a:srgbClr val="2E86C1"/>
                </a:solidFill>
                <a:latin typeface="Times New Roman"/>
                <a:ea typeface="宋体"/>
              </a:rPr>
              <a:t>1.</a:t>
            </a:r>
            <a:r>
              <a:rPr sz="1150" b="0">
                <a:solidFill>
                  <a:srgbClr val="1E293B"/>
                </a:solidFill>
                <a:latin typeface="Times New Roman"/>
                <a:ea typeface="宋体"/>
              </a:rPr>
              <a:t>【思考题1】管理经济学的研究内容是什么？它与微观经济学、财务管理及决策科学之间有什么本质区别和内在联系？</a:t>
            </a:r>
          </a:p>
          <a:p>
            <a:pPr>
              <a:lnSpc>
                <a:spcPct val="120000"/>
              </a:lnSpc>
              <a:spcAft>
                <a:spcPts val="400"/>
              </a:spcAft>
            </a:pPr>
            <a:r>
              <a:rPr sz="1150" b="1">
                <a:solidFill>
                  <a:srgbClr val="2E86C1"/>
                </a:solidFill>
                <a:latin typeface="Times New Roman"/>
                <a:ea typeface="宋体"/>
              </a:rPr>
              <a:t>2.</a:t>
            </a:r>
            <a:r>
              <a:rPr sz="1150" b="0">
                <a:solidFill>
                  <a:srgbClr val="1E293B"/>
                </a:solidFill>
                <a:latin typeface="Times New Roman"/>
                <a:ea typeface="宋体"/>
              </a:rPr>
              <a:t>【思考题2】请详述企业科学管理决策的七个阶段，并说明为什么说忽视动态数据收集会导致重大战略失误？</a:t>
            </a:r>
          </a:p>
          <a:p>
            <a:pPr>
              <a:lnSpc>
                <a:spcPct val="120000"/>
              </a:lnSpc>
              <a:spcAft>
                <a:spcPts val="400"/>
              </a:spcAft>
            </a:pPr>
            <a:r>
              <a:rPr sz="1150" b="1">
                <a:solidFill>
                  <a:srgbClr val="2E86C1"/>
                </a:solidFill>
                <a:latin typeface="Times New Roman"/>
                <a:ea typeface="宋体"/>
              </a:rPr>
              <a:t>3.</a:t>
            </a:r>
            <a:r>
              <a:rPr sz="1150" b="0">
                <a:solidFill>
                  <a:srgbClr val="1E293B"/>
                </a:solidFill>
                <a:latin typeface="Times New Roman"/>
                <a:ea typeface="宋体"/>
              </a:rPr>
              <a:t>【思考题3】什么是边际分析法？在无约束与有约束两种资源条件下，企业如何运用边际分析实现利润最大化？</a:t>
            </a:r>
          </a:p>
          <a:p>
            <a:pPr>
              <a:lnSpc>
                <a:spcPct val="120000"/>
              </a:lnSpc>
              <a:spcAft>
                <a:spcPts val="400"/>
              </a:spcAft>
            </a:pPr>
            <a:r>
              <a:rPr sz="1150" b="1">
                <a:solidFill>
                  <a:srgbClr val="2E86C1"/>
                </a:solidFill>
                <a:latin typeface="Times New Roman"/>
                <a:ea typeface="宋体"/>
              </a:rPr>
              <a:t>4.</a:t>
            </a:r>
            <a:r>
              <a:rPr sz="1150" b="0">
                <a:solidFill>
                  <a:srgbClr val="1E293B"/>
                </a:solidFill>
                <a:latin typeface="Times New Roman"/>
                <a:ea typeface="宋体"/>
              </a:rPr>
              <a:t>【思考题4】在市场经济条件下，企业产生的根源是什么？为什么说股东与经理人之间存在委托—代理问题，如何解决？</a:t>
            </a:r>
          </a:p>
          <a:p>
            <a:pPr>
              <a:lnSpc>
                <a:spcPct val="120000"/>
              </a:lnSpc>
              <a:spcAft>
                <a:spcPts val="400"/>
              </a:spcAft>
            </a:pPr>
            <a:r>
              <a:rPr sz="1150" b="1">
                <a:solidFill>
                  <a:srgbClr val="2E86C1"/>
                </a:solidFill>
                <a:latin typeface="Times New Roman"/>
                <a:ea typeface="宋体"/>
              </a:rPr>
              <a:t>5.</a:t>
            </a:r>
            <a:r>
              <a:rPr sz="1150" b="0">
                <a:solidFill>
                  <a:srgbClr val="1E293B"/>
                </a:solidFill>
                <a:latin typeface="Times New Roman"/>
                <a:ea typeface="宋体"/>
              </a:rPr>
              <a:t>【思考题5】什么是经济利润？什么是机会成本？为什么说经济利润才是企业进行长期投资与经营决策的唯一科学基础？</a:t>
            </a:r>
          </a:p>
          <a:p>
            <a:pPr>
              <a:lnSpc>
                <a:spcPct val="120000"/>
              </a:lnSpc>
              <a:spcAft>
                <a:spcPts val="400"/>
              </a:spcAft>
            </a:pPr>
            <a:r>
              <a:rPr sz="1150" b="1">
                <a:solidFill>
                  <a:srgbClr val="2E86C1"/>
                </a:solidFill>
                <a:latin typeface="Times New Roman"/>
                <a:ea typeface="宋体"/>
              </a:rPr>
              <a:t>6.</a:t>
            </a:r>
            <a:r>
              <a:rPr sz="1150" b="0">
                <a:solidFill>
                  <a:srgbClr val="1E293B"/>
                </a:solidFill>
                <a:latin typeface="Times New Roman"/>
                <a:ea typeface="宋体"/>
              </a:rPr>
              <a:t>【作业题1】某垄断企业产品成本函数为 TC = Q² + 200Q + 400，需求函数为 P = 1000 - Q。试求利润最大化的最优产量、价格及最大利润。</a:t>
            </a:r>
          </a:p>
          <a:p>
            <a:pPr>
              <a:lnSpc>
                <a:spcPct val="120000"/>
              </a:lnSpc>
              <a:spcAft>
                <a:spcPts val="400"/>
              </a:spcAft>
            </a:pPr>
            <a:r>
              <a:rPr sz="1150" b="1">
                <a:solidFill>
                  <a:srgbClr val="2E86C1"/>
                </a:solidFill>
                <a:latin typeface="Times New Roman"/>
                <a:ea typeface="宋体"/>
              </a:rPr>
              <a:t>7.</a:t>
            </a:r>
            <a:r>
              <a:rPr sz="1150" b="0">
                <a:solidFill>
                  <a:srgbClr val="1E293B"/>
                </a:solidFill>
                <a:latin typeface="Times New Roman"/>
                <a:ea typeface="宋体"/>
              </a:rPr>
              <a:t>【作业题6】张三原年薪60000元，自筹资金100000元（年利息率10%）创办咨询公司。预期年营收200000元，雇员工资房租80000元。求其会计利润与经济利润。</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