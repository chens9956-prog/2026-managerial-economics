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572000"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0" y="0"/>
            <a:ext cx="54864" cy="685800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3200400" cy="914400"/>
          </a:xfrm>
          <a:prstGeom prst="rect">
            <a:avLst/>
          </a:prstGeom>
          <a:noFill/>
        </p:spPr>
        <p:txBody>
          <a:bodyPr wrap="none" lIns="0" tIns="0" rIns="0" bIns="0">
            <a:spAutoFit/>
          </a:bodyPr>
          <a:lstStyle/>
          <a:p>
            <a:pPr algn="l">
              <a:lnSpc>
                <a:spcPct val="120000"/>
              </a:lnSpc>
            </a:pPr>
            <a:r>
              <a:rPr sz="3200" b="1">
                <a:solidFill>
                  <a:srgbClr val="FFFFFF"/>
                </a:solidFill>
                <a:latin typeface="Times New Roman"/>
                <a:ea typeface="宋体"/>
              </a:rPr>
              <a:t>CH 11</a:t>
            </a:r>
          </a:p>
        </p:txBody>
      </p:sp>
      <p:sp>
        <p:nvSpPr>
          <p:cNvPr id="5" name="Rectangle 4"/>
          <p:cNvSpPr/>
          <p:nvPr/>
        </p:nvSpPr>
        <p:spPr>
          <a:xfrm>
            <a:off x="777240" y="2697480"/>
            <a:ext cx="13716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926080"/>
            <a:ext cx="3200400" cy="1097280"/>
          </a:xfrm>
          <a:prstGeom prst="rect">
            <a:avLst/>
          </a:prstGeom>
          <a:noFill/>
        </p:spPr>
        <p:txBody>
          <a:bodyPr wrap="none" lIns="0" tIns="0" rIns="0" bIns="0">
            <a:spAutoFit/>
          </a:bodyPr>
          <a:lstStyle/>
          <a:p>
            <a:pPr algn="l">
              <a:lnSpc>
                <a:spcPct val="120000"/>
              </a:lnSpc>
              <a:spcAft>
                <a:spcPts val="800"/>
              </a:spcAft>
            </a:pPr>
            <a:r>
              <a:rPr sz="2000" b="1">
                <a:solidFill>
                  <a:srgbClr val="FFFFFF"/>
                </a:solidFill>
                <a:latin typeface="Times New Roman"/>
                <a:ea typeface="宋体"/>
              </a:rPr>
              <a:t>管理经济学</a:t>
            </a:r>
          </a:p>
          <a:p>
            <a:pPr algn="l">
              <a:lnSpc>
                <a:spcPct val="120000"/>
              </a:lnSpc>
              <a:spcAft>
                <a:spcPts val="400"/>
              </a:spcAft>
            </a:pPr>
            <a:r>
              <a:rPr sz="1200" b="0">
                <a:solidFill>
                  <a:srgbClr val="D6EAF8"/>
                </a:solidFill>
                <a:latin typeface="Times New Roman"/>
                <a:ea typeface="宋体"/>
              </a:rPr>
              <a:t>吴德庆 王保林 马月才（第7版）</a:t>
            </a:r>
          </a:p>
          <a:p>
            <a:pPr algn="l">
              <a:lnSpc>
                <a:spcPct val="120000"/>
              </a:lnSpc>
            </a:pPr>
            <a:r>
              <a:rPr sz="1200" b="0">
                <a:solidFill>
                  <a:srgbClr val="64748B"/>
                </a:solidFill>
                <a:latin typeface="Times New Roman"/>
                <a:ea typeface="宋体"/>
              </a:rPr>
              <a:t>五级精细化教学 · 随课本全景课件</a:t>
            </a:r>
          </a:p>
        </p:txBody>
      </p:sp>
      <p:sp>
        <p:nvSpPr>
          <p:cNvPr id="7" name="TextBox 6"/>
          <p:cNvSpPr txBox="1"/>
          <p:nvPr/>
        </p:nvSpPr>
        <p:spPr>
          <a:xfrm>
            <a:off x="5303520" y="1645920"/>
            <a:ext cx="6217920" cy="457200"/>
          </a:xfrm>
          <a:prstGeom prst="rect">
            <a:avLst/>
          </a:prstGeom>
          <a:noFill/>
        </p:spPr>
        <p:txBody>
          <a:bodyPr wrap="none" lIns="0" tIns="0" rIns="0" bIns="0">
            <a:spAutoFit/>
          </a:bodyPr>
          <a:lstStyle/>
          <a:p>
            <a:pPr algn="l">
              <a:lnSpc>
                <a:spcPct val="120000"/>
              </a:lnSpc>
            </a:pPr>
            <a:r>
              <a:rPr sz="2000" b="1">
                <a:solidFill>
                  <a:srgbClr val="C88C1B"/>
                </a:solidFill>
                <a:latin typeface="Times New Roman"/>
                <a:ea typeface="宋体"/>
              </a:rPr>
              <a:t>第11章</a:t>
            </a:r>
          </a:p>
        </p:txBody>
      </p:sp>
      <p:sp>
        <p:nvSpPr>
          <p:cNvPr id="8" name="TextBox 7"/>
          <p:cNvSpPr txBox="1"/>
          <p:nvPr/>
        </p:nvSpPr>
        <p:spPr>
          <a:xfrm>
            <a:off x="5303520" y="2148840"/>
            <a:ext cx="6217920" cy="109728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全球化背景下的企业经营决策（贸易、汇率与跨国直接投资）</a:t>
            </a:r>
          </a:p>
        </p:txBody>
      </p:sp>
      <p:sp>
        <p:nvSpPr>
          <p:cNvPr id="9" name="Rectangle 8"/>
          <p:cNvSpPr/>
          <p:nvPr/>
        </p:nvSpPr>
        <p:spPr>
          <a:xfrm>
            <a:off x="5349240" y="3337560"/>
            <a:ext cx="18288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0" y="3566160"/>
            <a:ext cx="6217920" cy="29260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第1节 国际贸易理论基础（比较优势原理、克鲁格曼新贸易理论与要素禀赋）</a:t>
            </a:r>
          </a:p>
          <a:p>
            <a:pPr algn="l">
              <a:lnSpc>
                <a:spcPct val="120000"/>
              </a:lnSpc>
              <a:spcAft>
                <a:spcPts val="600"/>
              </a:spcAft>
            </a:pPr>
            <a:r>
              <a:rPr sz="1300" b="0">
                <a:solidFill>
                  <a:srgbClr val="1E293B"/>
                </a:solidFill>
                <a:latin typeface="Times New Roman"/>
                <a:ea typeface="宋体"/>
              </a:rPr>
              <a:t>- 第2节 外汇市场与汇率风险（汇率标价、进出口收支影响与三大汇率风险套保）</a:t>
            </a:r>
          </a:p>
          <a:p>
            <a:pPr algn="l">
              <a:lnSpc>
                <a:spcPct val="120000"/>
              </a:lnSpc>
              <a:spcAft>
                <a:spcPts val="600"/>
              </a:spcAft>
            </a:pPr>
            <a:r>
              <a:rPr sz="1300" b="0">
                <a:solidFill>
                  <a:srgbClr val="1E293B"/>
                </a:solidFill>
                <a:latin typeface="Times New Roman"/>
                <a:ea typeface="宋体"/>
              </a:rPr>
              <a:t>- 第3节 贸易保护政策的经济福利效应（关税经济福利分解、双重死重损失DWL与配额寻租）</a:t>
            </a:r>
          </a:p>
          <a:p>
            <a:pPr algn="l">
              <a:lnSpc>
                <a:spcPct val="120000"/>
              </a:lnSpc>
              <a:spcAft>
                <a:spcPts val="600"/>
              </a:spcAft>
            </a:pPr>
            <a:r>
              <a:rPr sz="1300" b="0">
                <a:solidFill>
                  <a:srgbClr val="1E293B"/>
                </a:solidFill>
                <a:latin typeface="Times New Roman"/>
                <a:ea typeface="宋体"/>
              </a:rPr>
              <a:t>- 第4节 跨国直接投资与国际化战略（邓宁OLI折衷理论、四大进入模式全景权衡）</a:t>
            </a:r>
          </a:p>
          <a:p>
            <a:pPr algn="l">
              <a:lnSpc>
                <a:spcPct val="120000"/>
              </a:lnSpc>
              <a:spcAft>
                <a:spcPts val="600"/>
              </a:spcAft>
            </a:pPr>
            <a:r>
              <a:rPr sz="1300" b="0">
                <a:solidFill>
                  <a:srgbClr val="1E293B"/>
                </a:solidFill>
                <a:latin typeface="Times New Roman"/>
                <a:ea typeface="宋体"/>
              </a:rPr>
              <a:t>- 本章复习思考题与作业题精解（严格对标课本习题）</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本章概览</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【第11章】全球化背景下的企业经营决策 知识架构与五层逻辑体系</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a:t>
            </a:r>
          </a:p>
        </p:txBody>
      </p:sp>
      <p:sp>
        <p:nvSpPr>
          <p:cNvPr id="9" name="Rectangle 8"/>
          <p:cNvSpPr/>
          <p:nvPr/>
        </p:nvSpPr>
        <p:spPr>
          <a:xfrm>
            <a:off x="54864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371600"/>
            <a:ext cx="2560320" cy="10972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45920"/>
            <a:ext cx="2103120" cy="640080"/>
          </a:xfrm>
          <a:prstGeom prst="rect">
            <a:avLst/>
          </a:prstGeom>
          <a:noFill/>
        </p:spPr>
        <p:txBody>
          <a:bodyPr wrap="none" lIns="0" tIns="0" rIns="0" bIns="0">
            <a:spAutoFit/>
          </a:bodyPr>
          <a:lstStyle/>
          <a:p>
            <a:pPr algn="l">
              <a:lnSpc>
                <a:spcPct val="120000"/>
              </a:lnSpc>
            </a:pPr>
            <a:r>
              <a:rPr sz="3800" b="1">
                <a:solidFill>
                  <a:srgbClr val="1B3A5C"/>
                </a:solidFill>
                <a:latin typeface="Times New Roman"/>
                <a:ea typeface="宋体"/>
              </a:rPr>
              <a:t>01</a:t>
            </a:r>
          </a:p>
        </p:txBody>
      </p:sp>
      <p:sp>
        <p:nvSpPr>
          <p:cNvPr id="12" name="TextBox 11"/>
          <p:cNvSpPr txBox="1"/>
          <p:nvPr/>
        </p:nvSpPr>
        <p:spPr>
          <a:xfrm>
            <a:off x="777240" y="2468880"/>
            <a:ext cx="2103120" cy="50292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01 比较优势与新贸易理论</a:t>
            </a:r>
          </a:p>
        </p:txBody>
      </p:sp>
      <p:sp>
        <p:nvSpPr>
          <p:cNvPr id="13" name="Rectangle 12"/>
          <p:cNvSpPr/>
          <p:nvPr/>
        </p:nvSpPr>
        <p:spPr>
          <a:xfrm>
            <a:off x="777240" y="3017520"/>
            <a:ext cx="548640" cy="2743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0400"/>
            <a:ext cx="2103120" cy="210312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李嘉图比较优势：两利相权取其重</a:t>
            </a:r>
          </a:p>
          <a:p>
            <a:pPr algn="l">
              <a:lnSpc>
                <a:spcPct val="120000"/>
              </a:lnSpc>
              <a:spcAft>
                <a:spcPts val="500"/>
              </a:spcAft>
            </a:pPr>
            <a:r>
              <a:rPr sz="1250" b="0">
                <a:solidFill>
                  <a:srgbClr val="1E293B"/>
                </a:solidFill>
                <a:latin typeface="Times New Roman"/>
                <a:ea typeface="宋体"/>
              </a:rPr>
              <a:t>- 机会成本决定专业化分工格局</a:t>
            </a:r>
          </a:p>
          <a:p>
            <a:pPr algn="l">
              <a:lnSpc>
                <a:spcPct val="120000"/>
              </a:lnSpc>
              <a:spcAft>
                <a:spcPts val="500"/>
              </a:spcAft>
            </a:pPr>
            <a:r>
              <a:rPr sz="1250" b="0">
                <a:solidFill>
                  <a:srgbClr val="1E293B"/>
                </a:solidFill>
                <a:latin typeface="Times New Roman"/>
                <a:ea typeface="宋体"/>
              </a:rPr>
              <a:t>- 克鲁格曼新贸易理论：规模经济</a:t>
            </a:r>
          </a:p>
          <a:p>
            <a:pPr algn="l">
              <a:lnSpc>
                <a:spcPct val="120000"/>
              </a:lnSpc>
              <a:spcAft>
                <a:spcPts val="500"/>
              </a:spcAft>
            </a:pPr>
            <a:r>
              <a:rPr sz="1250" b="0">
                <a:solidFill>
                  <a:srgbClr val="1E293B"/>
                </a:solidFill>
                <a:latin typeface="Times New Roman"/>
                <a:ea typeface="宋体"/>
              </a:rPr>
              <a:t>- 差异化工业品产业内双向贸易</a:t>
            </a:r>
          </a:p>
        </p:txBody>
      </p:sp>
      <p:sp>
        <p:nvSpPr>
          <p:cNvPr id="15" name="Rectangle 14"/>
          <p:cNvSpPr/>
          <p:nvPr/>
        </p:nvSpPr>
        <p:spPr>
          <a:xfrm>
            <a:off x="338328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83280" y="1371600"/>
            <a:ext cx="2560320" cy="10972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11880" y="1645920"/>
            <a:ext cx="2103120" cy="640080"/>
          </a:xfrm>
          <a:prstGeom prst="rect">
            <a:avLst/>
          </a:prstGeom>
          <a:noFill/>
        </p:spPr>
        <p:txBody>
          <a:bodyPr wrap="none" lIns="0" tIns="0" rIns="0" bIns="0">
            <a:spAutoFit/>
          </a:bodyPr>
          <a:lstStyle/>
          <a:p>
            <a:pPr algn="l">
              <a:lnSpc>
                <a:spcPct val="120000"/>
              </a:lnSpc>
            </a:pPr>
            <a:r>
              <a:rPr sz="3800" b="1">
                <a:solidFill>
                  <a:srgbClr val="2E86C1"/>
                </a:solidFill>
                <a:latin typeface="Times New Roman"/>
                <a:ea typeface="宋体"/>
              </a:rPr>
              <a:t>02</a:t>
            </a:r>
          </a:p>
        </p:txBody>
      </p:sp>
      <p:sp>
        <p:nvSpPr>
          <p:cNvPr id="18" name="TextBox 17"/>
          <p:cNvSpPr txBox="1"/>
          <p:nvPr/>
        </p:nvSpPr>
        <p:spPr>
          <a:xfrm>
            <a:off x="3611880" y="2468880"/>
            <a:ext cx="2103120" cy="50292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02 汇率波动与三大风险</a:t>
            </a:r>
          </a:p>
        </p:txBody>
      </p:sp>
      <p:sp>
        <p:nvSpPr>
          <p:cNvPr id="19" name="Rectangle 18"/>
          <p:cNvSpPr/>
          <p:nvPr/>
        </p:nvSpPr>
        <p:spPr>
          <a:xfrm>
            <a:off x="3611880" y="3017520"/>
            <a:ext cx="548640" cy="2743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11880" y="3200400"/>
            <a:ext cx="2103120" cy="210312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本币升贬值对进出口异向冲击</a:t>
            </a:r>
          </a:p>
          <a:p>
            <a:pPr algn="l">
              <a:lnSpc>
                <a:spcPct val="120000"/>
              </a:lnSpc>
              <a:spcAft>
                <a:spcPts val="500"/>
              </a:spcAft>
            </a:pPr>
            <a:r>
              <a:rPr sz="1250" b="0">
                <a:solidFill>
                  <a:srgbClr val="1E293B"/>
                </a:solidFill>
                <a:latin typeface="Times New Roman"/>
                <a:ea typeface="宋体"/>
              </a:rPr>
              <a:t>- 交易风险：已签约未交割款项</a:t>
            </a:r>
          </a:p>
          <a:p>
            <a:pPr algn="l">
              <a:lnSpc>
                <a:spcPct val="120000"/>
              </a:lnSpc>
              <a:spcAft>
                <a:spcPts val="500"/>
              </a:spcAft>
            </a:pPr>
            <a:r>
              <a:rPr sz="1250" b="0">
                <a:solidFill>
                  <a:srgbClr val="1E293B"/>
                </a:solidFill>
                <a:latin typeface="Times New Roman"/>
                <a:ea typeface="宋体"/>
              </a:rPr>
              <a:t>- 折算风险：母子公司合并报表</a:t>
            </a:r>
          </a:p>
          <a:p>
            <a:pPr algn="l">
              <a:lnSpc>
                <a:spcPct val="120000"/>
              </a:lnSpc>
              <a:spcAft>
                <a:spcPts val="500"/>
              </a:spcAft>
            </a:pPr>
            <a:r>
              <a:rPr sz="1250" b="0">
                <a:solidFill>
                  <a:srgbClr val="1E293B"/>
                </a:solidFill>
                <a:latin typeface="Times New Roman"/>
                <a:ea typeface="宋体"/>
              </a:rPr>
              <a:t>- 经济风险：长期现金流与竞争力</a:t>
            </a:r>
          </a:p>
        </p:txBody>
      </p:sp>
      <p:sp>
        <p:nvSpPr>
          <p:cNvPr id="21" name="Rectangle 20"/>
          <p:cNvSpPr/>
          <p:nvPr/>
        </p:nvSpPr>
        <p:spPr>
          <a:xfrm>
            <a:off x="621792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1371600"/>
            <a:ext cx="2560320" cy="109728"/>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1645920"/>
            <a:ext cx="2103120" cy="640080"/>
          </a:xfrm>
          <a:prstGeom prst="rect">
            <a:avLst/>
          </a:prstGeom>
          <a:noFill/>
        </p:spPr>
        <p:txBody>
          <a:bodyPr wrap="none" lIns="0" tIns="0" rIns="0" bIns="0">
            <a:spAutoFit/>
          </a:bodyPr>
          <a:lstStyle/>
          <a:p>
            <a:pPr algn="l">
              <a:lnSpc>
                <a:spcPct val="120000"/>
              </a:lnSpc>
            </a:pPr>
            <a:r>
              <a:rPr sz="3800" b="1">
                <a:solidFill>
                  <a:srgbClr val="1A8C5D"/>
                </a:solidFill>
                <a:latin typeface="Times New Roman"/>
                <a:ea typeface="宋体"/>
              </a:rPr>
              <a:t>03</a:t>
            </a:r>
          </a:p>
        </p:txBody>
      </p:sp>
      <p:sp>
        <p:nvSpPr>
          <p:cNvPr id="24" name="TextBox 23"/>
          <p:cNvSpPr txBox="1"/>
          <p:nvPr/>
        </p:nvSpPr>
        <p:spPr>
          <a:xfrm>
            <a:off x="6446520" y="2468880"/>
            <a:ext cx="2103120" cy="50292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03 关税保护与死重损失</a:t>
            </a:r>
          </a:p>
        </p:txBody>
      </p:sp>
      <p:sp>
        <p:nvSpPr>
          <p:cNvPr id="25" name="Rectangle 24"/>
          <p:cNvSpPr/>
          <p:nvPr/>
        </p:nvSpPr>
        <p:spPr>
          <a:xfrm>
            <a:off x="6446520" y="3017520"/>
            <a:ext cx="548640" cy="27432"/>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46520" y="3200400"/>
            <a:ext cx="2103120" cy="210312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自由贸易实现全球福利最大化</a:t>
            </a:r>
          </a:p>
          <a:p>
            <a:pPr algn="l">
              <a:lnSpc>
                <a:spcPct val="120000"/>
              </a:lnSpc>
              <a:spcAft>
                <a:spcPts val="500"/>
              </a:spcAft>
            </a:pPr>
            <a:r>
              <a:rPr sz="1250" b="0">
                <a:solidFill>
                  <a:srgbClr val="1E293B"/>
                </a:solidFill>
                <a:latin typeface="Times New Roman"/>
                <a:ea typeface="宋体"/>
              </a:rPr>
              <a:t>- 关税抬高国内售价、抑制消费</a:t>
            </a:r>
          </a:p>
          <a:p>
            <a:pPr algn="l">
              <a:lnSpc>
                <a:spcPct val="120000"/>
              </a:lnSpc>
              <a:spcAft>
                <a:spcPts val="500"/>
              </a:spcAft>
            </a:pPr>
            <a:r>
              <a:rPr sz="1250" b="0">
                <a:solidFill>
                  <a:srgbClr val="1E293B"/>
                </a:solidFill>
                <a:latin typeface="Times New Roman"/>
                <a:ea typeface="宋体"/>
              </a:rPr>
              <a:t>- 双重死重损失 DWL 生产消费扭曲</a:t>
            </a:r>
          </a:p>
          <a:p>
            <a:pPr algn="l">
              <a:lnSpc>
                <a:spcPct val="120000"/>
              </a:lnSpc>
              <a:spcAft>
                <a:spcPts val="500"/>
              </a:spcAft>
            </a:pPr>
            <a:r>
              <a:rPr sz="1250" b="0">
                <a:solidFill>
                  <a:srgbClr val="1E293B"/>
                </a:solidFill>
                <a:latin typeface="Times New Roman"/>
                <a:ea typeface="宋体"/>
              </a:rPr>
              <a:t>- 进口配额寻租与自愿出口限制</a:t>
            </a:r>
          </a:p>
        </p:txBody>
      </p:sp>
      <p:sp>
        <p:nvSpPr>
          <p:cNvPr id="27" name="Rectangle 26"/>
          <p:cNvSpPr/>
          <p:nvPr/>
        </p:nvSpPr>
        <p:spPr>
          <a:xfrm>
            <a:off x="905256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52560" y="1371600"/>
            <a:ext cx="2560320" cy="109728"/>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81160" y="1645920"/>
            <a:ext cx="2103120" cy="640080"/>
          </a:xfrm>
          <a:prstGeom prst="rect">
            <a:avLst/>
          </a:prstGeom>
          <a:noFill/>
        </p:spPr>
        <p:txBody>
          <a:bodyPr wrap="none" lIns="0" tIns="0" rIns="0" bIns="0">
            <a:spAutoFit/>
          </a:bodyPr>
          <a:lstStyle/>
          <a:p>
            <a:pPr algn="l">
              <a:lnSpc>
                <a:spcPct val="120000"/>
              </a:lnSpc>
            </a:pPr>
            <a:r>
              <a:rPr sz="3800" b="1">
                <a:solidFill>
                  <a:srgbClr val="C88C1B"/>
                </a:solidFill>
                <a:latin typeface="Times New Roman"/>
                <a:ea typeface="宋体"/>
              </a:rPr>
              <a:t>04</a:t>
            </a:r>
          </a:p>
        </p:txBody>
      </p:sp>
      <p:sp>
        <p:nvSpPr>
          <p:cNvPr id="30" name="TextBox 29"/>
          <p:cNvSpPr txBox="1"/>
          <p:nvPr/>
        </p:nvSpPr>
        <p:spPr>
          <a:xfrm>
            <a:off x="9281160" y="2468880"/>
            <a:ext cx="2103120" cy="50292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04 跨国 FDI 与 OLI 理论</a:t>
            </a:r>
          </a:p>
        </p:txBody>
      </p:sp>
      <p:sp>
        <p:nvSpPr>
          <p:cNvPr id="31" name="Rectangle 30"/>
          <p:cNvSpPr/>
          <p:nvPr/>
        </p:nvSpPr>
        <p:spPr>
          <a:xfrm>
            <a:off x="9281160" y="3017520"/>
            <a:ext cx="54864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81160" y="3200400"/>
            <a:ext cx="2103120" cy="210312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邓宁国际生产折衷理论 OLI</a:t>
            </a:r>
          </a:p>
          <a:p>
            <a:pPr algn="l">
              <a:lnSpc>
                <a:spcPct val="120000"/>
              </a:lnSpc>
              <a:spcAft>
                <a:spcPts val="500"/>
              </a:spcAft>
            </a:pPr>
            <a:r>
              <a:rPr sz="1250" b="0">
                <a:solidFill>
                  <a:srgbClr val="1E293B"/>
                </a:solidFill>
                <a:latin typeface="Times New Roman"/>
                <a:ea typeface="宋体"/>
              </a:rPr>
              <a:t>- 所有权优势 O / 内部化 I / 区位 L</a:t>
            </a:r>
          </a:p>
          <a:p>
            <a:pPr algn="l">
              <a:lnSpc>
                <a:spcPct val="120000"/>
              </a:lnSpc>
              <a:spcAft>
                <a:spcPts val="500"/>
              </a:spcAft>
            </a:pPr>
            <a:r>
              <a:rPr sz="1250" b="0">
                <a:solidFill>
                  <a:srgbClr val="1E293B"/>
                </a:solidFill>
                <a:latin typeface="Times New Roman"/>
                <a:ea typeface="宋体"/>
              </a:rPr>
              <a:t>- 出口/许可/合资/独资四大进入模式</a:t>
            </a:r>
          </a:p>
          <a:p>
            <a:pPr algn="l">
              <a:lnSpc>
                <a:spcPct val="120000"/>
              </a:lnSpc>
              <a:spcAft>
                <a:spcPts val="500"/>
              </a:spcAft>
            </a:pPr>
            <a:r>
              <a:rPr sz="1250" b="0">
                <a:solidFill>
                  <a:srgbClr val="1E293B"/>
                </a:solidFill>
                <a:latin typeface="Times New Roman"/>
                <a:ea typeface="宋体"/>
              </a:rPr>
              <a:t>- 全球化布局与敏捷供应链韧性</a:t>
            </a:r>
          </a:p>
        </p:txBody>
      </p:sp>
      <p:sp>
        <p:nvSpPr>
          <p:cNvPr id="33" name="TextBox 32"/>
          <p:cNvSpPr txBox="1"/>
          <p:nvPr/>
        </p:nvSpPr>
        <p:spPr>
          <a:xfrm>
            <a:off x="548640" y="5715000"/>
            <a:ext cx="11094415" cy="457200"/>
          </a:xfrm>
          <a:prstGeom prst="rect">
            <a:avLst/>
          </a:prstGeom>
          <a:noFill/>
        </p:spPr>
        <p:txBody>
          <a:bodyPr wrap="square" lIns="0" tIns="0" rIns="0" bIns="0">
            <a:spAutoFit/>
          </a:bodyPr>
          <a:lstStyle/>
          <a:p>
            <a:pPr algn="l">
              <a:lnSpc>
                <a:spcPct val="120000"/>
              </a:lnSpc>
            </a:pPr>
            <a:r>
              <a:rPr sz="1300" b="1">
                <a:solidFill>
                  <a:srgbClr val="2E86C1"/>
                </a:solidFill>
                <a:latin typeface="Times New Roman"/>
                <a:ea typeface="宋体"/>
              </a:rPr>
              <a:t>核心逻辑：全球化经营决策要求企业在全球版图配置资源，综合权衡比较优势、汇率风险套保、关税壁垒与跨国 FDI 投资路径。</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第1节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国际贸易理论基础</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精解李嘉图比较优势机会成本法则、克鲁格曼规模经济新贸易论及赫克歇尔-俄林要素禀赋理论。</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第11章 全球化背景下的企业经营决策 · 权威教材精细化教学架构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第1节 国际贸易理论基础</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一、李嘉图比较优势原理与机会成本法则</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4</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大卫·李嘉图比较优势原理（Comparative Advantage）</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（1）理论核心突破： </a:t>
            </a:r>
            <a:r>
              <a:rPr sz="1250" b="0">
                <a:solidFill>
                  <a:srgbClr val="1E293B"/>
                </a:solidFill>
                <a:latin typeface="Times New Roman"/>
                <a:ea typeface="宋体"/>
              </a:rPr>
              <a:t>传统绝对优势理论认为只有生产率绝对领先才能出口。李嘉图证明：只要两国生产不同商品的机会成本存在相对差异，各自集中生产比较优势商品进行自由贸易，双方均能获益！</a:t>
            </a:r>
          </a:p>
          <a:p>
            <a:pPr>
              <a:lnSpc>
                <a:spcPct val="120000"/>
              </a:lnSpc>
              <a:spcAft>
                <a:spcPts val="600"/>
              </a:spcAft>
            </a:pPr>
            <a:r>
              <a:rPr sz="1250" b="1">
                <a:solidFill>
                  <a:srgbClr val="1B3A5C"/>
                </a:solidFill>
                <a:latin typeface="Times New Roman"/>
                <a:ea typeface="宋体"/>
              </a:rPr>
              <a:t>（2）黄金决策口诀： </a:t>
            </a:r>
            <a:r>
              <a:rPr sz="1250" b="0">
                <a:solidFill>
                  <a:srgbClr val="1E293B"/>
                </a:solidFill>
                <a:latin typeface="Times New Roman"/>
                <a:ea typeface="宋体"/>
              </a:rPr>
              <a:t>'两优相权取其重，两劣相衡取其轻'。</a:t>
            </a:r>
          </a:p>
          <a:p>
            <a:pPr>
              <a:lnSpc>
                <a:spcPct val="120000"/>
              </a:lnSpc>
              <a:spcAft>
                <a:spcPts val="600"/>
              </a:spcAft>
            </a:pPr>
            <a:r>
              <a:rPr sz="1250" b="1">
                <a:solidFill>
                  <a:srgbClr val="1B3A5C"/>
                </a:solidFill>
                <a:latin typeface="Times New Roman"/>
                <a:ea typeface="宋体"/>
              </a:rPr>
              <a:t>（3）机会成本度量： </a:t>
            </a:r>
            <a:r>
              <a:rPr sz="1250" b="0">
                <a:solidFill>
                  <a:srgbClr val="1E293B"/>
                </a:solidFill>
                <a:latin typeface="Times New Roman"/>
                <a:ea typeface="宋体"/>
              </a:rPr>
              <a:t>若 A 国生产 1 吨钢需放弃 2 吨布（成本为 2 布），B 国生产 1 吨钢需放弃 3 吨布（成本为 3 布） \implies A 国在产钢上具有比较优势！</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生活中的经济学 11-1：保罗·艾伦打字与专职秘书分工</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（1）商业故事： </a:t>
            </a:r>
            <a:r>
              <a:rPr sz="1250" b="0">
                <a:solidFill>
                  <a:srgbClr val="1E293B"/>
                </a:solidFill>
                <a:latin typeface="Times New Roman"/>
                <a:ea typeface="宋体"/>
              </a:rPr>
              <a:t>微软联合创始人保罗·艾伦打字速度是专职秘书的两倍（具备绝对优势）。</a:t>
            </a:r>
          </a:p>
          <a:p>
            <a:pPr>
              <a:lnSpc>
                <a:spcPct val="120000"/>
              </a:lnSpc>
              <a:spcAft>
                <a:spcPts val="600"/>
              </a:spcAft>
            </a:pPr>
            <a:r>
              <a:rPr sz="1250" b="1">
                <a:solidFill>
                  <a:srgbClr val="2E86C1"/>
                </a:solidFill>
                <a:latin typeface="Times New Roman"/>
                <a:ea typeface="宋体"/>
              </a:rPr>
              <a:t>（2）机会成本权衡： </a:t>
            </a:r>
            <a:r>
              <a:rPr sz="1250" b="0">
                <a:solidFill>
                  <a:srgbClr val="1E293B"/>
                </a:solidFill>
                <a:latin typeface="Times New Roman"/>
                <a:ea typeface="宋体"/>
              </a:rPr>
              <a:t>保罗·艾伦自己打字 1 小时放弃的是价值数万美元的高管商业决策；雇佣秘书打字只需支付 20 美元时薪。</a:t>
            </a:r>
          </a:p>
          <a:p>
            <a:pPr>
              <a:lnSpc>
                <a:spcPct val="120000"/>
              </a:lnSpc>
              <a:spcAft>
                <a:spcPts val="600"/>
              </a:spcAft>
            </a:pPr>
            <a:r>
              <a:rPr sz="1250" b="1">
                <a:solidFill>
                  <a:srgbClr val="2E86C1"/>
                </a:solidFill>
                <a:latin typeface="Times New Roman"/>
                <a:ea typeface="宋体"/>
              </a:rPr>
              <a:t>（3）管理启示： </a:t>
            </a:r>
            <a:r>
              <a:rPr sz="1250" b="0">
                <a:solidFill>
                  <a:srgbClr val="1E293B"/>
                </a:solidFill>
                <a:latin typeface="Times New Roman"/>
                <a:ea typeface="宋体"/>
              </a:rPr>
              <a:t>顶级管理者必须将时间配置在自身机会成本最高、核心竞争力最强的战略事项上，将基础事务果断专业化分工外包。</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核心要点：比较优势原理是人类社会开展专业化分工、降低全社会运行成本最深刻的经济学逻辑。</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第1节 国际贸易理论基础</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二、克鲁格曼新贸易理论与要素禀赋理论（H-O 模型）</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5</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保罗·克鲁格曼新贸易理论（New Trade Theory）</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（1）解释现实谜题： </a:t>
            </a:r>
            <a:r>
              <a:rPr sz="1250" b="0">
                <a:solidFill>
                  <a:srgbClr val="1E293B"/>
                </a:solidFill>
                <a:latin typeface="Times New Roman"/>
                <a:ea typeface="宋体"/>
              </a:rPr>
              <a:t>传统理论无法解释为何发达国家之间大规模双向互换汽车、大飞机、精密机床等同类高端工业品（产业内贸易）。</a:t>
            </a:r>
          </a:p>
          <a:p>
            <a:pPr>
              <a:lnSpc>
                <a:spcPct val="120000"/>
              </a:lnSpc>
              <a:spcAft>
                <a:spcPts val="600"/>
              </a:spcAft>
            </a:pPr>
            <a:r>
              <a:rPr sz="1250" b="1">
                <a:solidFill>
                  <a:srgbClr val="1B3A5C"/>
                </a:solidFill>
                <a:latin typeface="Times New Roman"/>
                <a:ea typeface="宋体"/>
              </a:rPr>
              <a:t>（2）两大理论支柱： </a:t>
            </a:r>
            <a:r>
              <a:rPr sz="1250" b="0">
                <a:solidFill>
                  <a:srgbClr val="1E293B"/>
                </a:solidFill>
                <a:latin typeface="Times New Roman"/>
                <a:ea typeface="宋体"/>
              </a:rPr>
              <a:t>① 制造业生产存在强烈的规模收益递增（规模经济大幅拉低单件成本）+ ② 消费者偏好具有多样性。</a:t>
            </a:r>
          </a:p>
          <a:p>
            <a:pPr>
              <a:lnSpc>
                <a:spcPct val="120000"/>
              </a:lnSpc>
              <a:spcAft>
                <a:spcPts val="600"/>
              </a:spcAft>
            </a:pPr>
            <a:r>
              <a:rPr sz="1250" b="1">
                <a:solidFill>
                  <a:srgbClr val="1B3A5C"/>
                </a:solidFill>
                <a:latin typeface="Times New Roman"/>
                <a:ea typeface="宋体"/>
              </a:rPr>
              <a:t>（3）战略贸易政策启示： </a:t>
            </a:r>
            <a:r>
              <a:rPr sz="1250" b="0">
                <a:solidFill>
                  <a:srgbClr val="1E293B"/>
                </a:solidFill>
                <a:latin typeface="Times New Roman"/>
                <a:ea typeface="宋体"/>
              </a:rPr>
              <a:t>大国政府通过研发补贴与产业政策支持本国龙头（如空客与波音）抢先占领全球规模制高点。</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赫克歇尔-俄林要素禀赋理论（H-O 模型）</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（1）要素禀赋决定比较优势： </a:t>
            </a:r>
            <a:r>
              <a:rPr sz="1250" b="0">
                <a:solidFill>
                  <a:srgbClr val="1E293B"/>
                </a:solidFill>
                <a:latin typeface="Times New Roman"/>
                <a:ea typeface="宋体"/>
              </a:rPr>
              <a:t>一国应生产并出口密集使用本国相对充裕且便宜生产要素的商品，进口密集使用本国相对稀缺昂贵要素的商品。</a:t>
            </a:r>
          </a:p>
          <a:p>
            <a:pPr>
              <a:lnSpc>
                <a:spcPct val="120000"/>
              </a:lnSpc>
              <a:spcAft>
                <a:spcPts val="600"/>
              </a:spcAft>
            </a:pPr>
            <a:r>
              <a:rPr sz="1250" b="1">
                <a:solidFill>
                  <a:srgbClr val="2E86C1"/>
                </a:solidFill>
                <a:latin typeface="Times New Roman"/>
                <a:ea typeface="宋体"/>
              </a:rPr>
              <a:t>（2）全球产业链分工： </a:t>
            </a:r>
            <a:r>
              <a:rPr sz="1250" b="0">
                <a:solidFill>
                  <a:srgbClr val="1E293B"/>
                </a:solidFill>
                <a:latin typeface="Times New Roman"/>
                <a:ea typeface="宋体"/>
              </a:rPr>
              <a:t>劳动力充裕国家发展劳动密集型组装，资本与技术充裕国家发展高端芯片研发与精密制造。</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核心要点：新贸易理论与要素禀赋理论共同勾勒了现代全球化产业链垂直与水平分工的全景拼图。</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第1节 国际贸易理论基础</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三、迈克尔·波特国家竞争优势'钻石模型'</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6</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钻石模型四大核心决定要素</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（1）生产要素条件（Factor Conditions）： </a:t>
            </a:r>
            <a:r>
              <a:rPr sz="1250" b="0">
                <a:solidFill>
                  <a:srgbClr val="1E293B"/>
                </a:solidFill>
                <a:latin typeface="Times New Roman"/>
                <a:ea typeface="宋体"/>
              </a:rPr>
              <a:t>不仅包括自然资源与初级劳动力，更强调高级要素（高端科研人才、先进基础设施与风险资本）。</a:t>
            </a:r>
          </a:p>
          <a:p>
            <a:pPr>
              <a:lnSpc>
                <a:spcPct val="120000"/>
              </a:lnSpc>
              <a:spcAft>
                <a:spcPts val="600"/>
              </a:spcAft>
            </a:pPr>
            <a:r>
              <a:rPr sz="1250" b="1">
                <a:solidFill>
                  <a:srgbClr val="1B3A5C"/>
                </a:solidFill>
                <a:latin typeface="Times New Roman"/>
                <a:ea typeface="宋体"/>
              </a:rPr>
              <a:t>（2）需求条件（Demand Conditions）： </a:t>
            </a:r>
            <a:r>
              <a:rPr sz="1250" b="0">
                <a:solidFill>
                  <a:srgbClr val="1E293B"/>
                </a:solidFill>
                <a:latin typeface="Times New Roman"/>
                <a:ea typeface="宋体"/>
              </a:rPr>
              <a:t>国内消费者挑剔苛刻的品质要求倒逼本土企业追求极致工艺。</a:t>
            </a:r>
          </a:p>
          <a:p>
            <a:pPr>
              <a:lnSpc>
                <a:spcPct val="120000"/>
              </a:lnSpc>
              <a:spcAft>
                <a:spcPts val="600"/>
              </a:spcAft>
            </a:pPr>
            <a:r>
              <a:rPr sz="1250" b="1">
                <a:solidFill>
                  <a:srgbClr val="1B3A5C"/>
                </a:solidFill>
                <a:latin typeface="Times New Roman"/>
                <a:ea typeface="宋体"/>
              </a:rPr>
              <a:t>（3）相关与支持性产业（Related &amp; Supporting）： </a:t>
            </a:r>
            <a:r>
              <a:rPr sz="1250" b="0">
                <a:solidFill>
                  <a:srgbClr val="1E293B"/>
                </a:solidFill>
                <a:latin typeface="Times New Roman"/>
                <a:ea typeface="宋体"/>
              </a:rPr>
              <a:t>拥有世界级上下游产业集群生态支撑（如德国汽车零部件集群）。</a:t>
            </a:r>
          </a:p>
          <a:p>
            <a:pPr>
              <a:lnSpc>
                <a:spcPct val="120000"/>
              </a:lnSpc>
              <a:spcAft>
                <a:spcPts val="600"/>
              </a:spcAft>
            </a:pPr>
            <a:r>
              <a:rPr sz="1250" b="1">
                <a:solidFill>
                  <a:srgbClr val="1B3A5C"/>
                </a:solidFill>
                <a:latin typeface="Times New Roman"/>
                <a:ea typeface="宋体"/>
              </a:rPr>
              <a:t>（4）企业战略、结构与同业竞争： </a:t>
            </a:r>
            <a:r>
              <a:rPr sz="1250" b="0">
                <a:solidFill>
                  <a:srgbClr val="1E293B"/>
                </a:solidFill>
                <a:latin typeface="Times New Roman"/>
                <a:ea typeface="宋体"/>
              </a:rPr>
              <a:t>国内激烈竞争迫使企业不断技术迭代出海。</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政府与机会两大辅助变量</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（1）政府功能： </a:t>
            </a:r>
            <a:r>
              <a:rPr sz="1250" b="0">
                <a:solidFill>
                  <a:srgbClr val="1E293B"/>
                </a:solidFill>
                <a:latin typeface="Times New Roman"/>
                <a:ea typeface="宋体"/>
              </a:rPr>
              <a:t>制定公平规则、投资教育与产业基建，而非直接干预补贴。</a:t>
            </a:r>
          </a:p>
          <a:p>
            <a:pPr>
              <a:lnSpc>
                <a:spcPct val="120000"/>
              </a:lnSpc>
              <a:spcAft>
                <a:spcPts val="600"/>
              </a:spcAft>
            </a:pPr>
            <a:r>
              <a:rPr sz="1250" b="1">
                <a:solidFill>
                  <a:srgbClr val="2E86C1"/>
                </a:solidFill>
                <a:latin typeface="Times New Roman"/>
                <a:ea typeface="宋体"/>
              </a:rPr>
              <a:t>（2）机会变动： </a:t>
            </a:r>
            <a:r>
              <a:rPr sz="1250" b="0">
                <a:solidFill>
                  <a:srgbClr val="1E293B"/>
                </a:solidFill>
                <a:latin typeface="Times New Roman"/>
                <a:ea typeface="宋体"/>
              </a:rPr>
              <a:t>捕捉技术颠覆（如新能源汽车换道超车）重大历史窗口。</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核心要点：波特钻石模型将国际贸易从成本价格战升华为国家与产业综合创新生态系统战。</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第2节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外汇市场与汇率风险（Foreign Exchange Risk）</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掌握汇率标价法与升贬值对进出口的异向冲击，解析跨国企业三大汇率风险与金融套保对冲。</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第11章 全球化背景下的企业经营决策 · 权威教材精细化教学架构</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第2节 外汇市场与汇率风险</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一、汇率标价法与汇率变动对进出口的异向冲击</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8</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直接标价法与间接标价法</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（1）直接标价法（Direct Quotation）： </a:t>
            </a:r>
            <a:r>
              <a:rPr sz="1250" b="0">
                <a:solidFill>
                  <a:srgbClr val="1E293B"/>
                </a:solidFill>
                <a:latin typeface="Times New Roman"/>
                <a:ea typeface="宋体"/>
              </a:rPr>
              <a:t>以一定单位的外国货币为标准计算应付多少单位本国货币（如 1 美元 = 7.20 人民币，数值上升代表本币贬值）。</a:t>
            </a:r>
          </a:p>
          <a:p>
            <a:pPr>
              <a:lnSpc>
                <a:spcPct val="120000"/>
              </a:lnSpc>
              <a:spcAft>
                <a:spcPts val="600"/>
              </a:spcAft>
            </a:pPr>
            <a:r>
              <a:rPr sz="1250" b="1">
                <a:solidFill>
                  <a:srgbClr val="1B3A5C"/>
                </a:solidFill>
                <a:latin typeface="Times New Roman"/>
                <a:ea typeface="宋体"/>
              </a:rPr>
              <a:t>（2）间接标价法（Indirect Quotation）： </a:t>
            </a:r>
            <a:r>
              <a:rPr sz="1250" b="0">
                <a:solidFill>
                  <a:srgbClr val="1E293B"/>
                </a:solidFill>
                <a:latin typeface="Times New Roman"/>
                <a:ea typeface="宋体"/>
              </a:rPr>
              <a:t>以一定单位的本国货币为标准计算应收多少单位外国货币（如 1 英镑 = 1.25 美元）。</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汇率升贬值对企业贸易收支的异向影响</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（1）本币贬值（如 7.0 \to 7.3）： </a:t>
            </a:r>
            <a:r>
              <a:rPr sz="1250" b="0">
                <a:solidFill>
                  <a:srgbClr val="1E293B"/>
                </a:solidFill>
                <a:latin typeface="Times New Roman"/>
                <a:ea typeface="宋体"/>
              </a:rPr>
              <a:t>本国出口商品折算外币后价格大幅下降，极大刺激海外出口销量与换汇收入；但进口海外原材料折算本币涨价，抬升进口成本。</a:t>
            </a:r>
          </a:p>
          <a:p>
            <a:pPr>
              <a:lnSpc>
                <a:spcPct val="120000"/>
              </a:lnSpc>
              <a:spcAft>
                <a:spcPts val="600"/>
              </a:spcAft>
            </a:pPr>
            <a:r>
              <a:rPr sz="1250" b="1">
                <a:solidFill>
                  <a:srgbClr val="2E86C1"/>
                </a:solidFill>
                <a:latin typeface="Times New Roman"/>
                <a:ea typeface="宋体"/>
              </a:rPr>
              <a:t>（2）本币升值（如 7.0 \to 6.5）： </a:t>
            </a:r>
            <a:r>
              <a:rPr sz="1250" b="0">
                <a:solidFill>
                  <a:srgbClr val="1E293B"/>
                </a:solidFill>
                <a:latin typeface="Times New Roman"/>
                <a:ea typeface="宋体"/>
              </a:rPr>
              <a:t>抑制出口外贸企业盈利，但大幅降低进口大宗能源、粮食与海外跨国并购的资本成本。</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核心要点：汇率波动是影响外贸企业利润最直接的宏观价格杠杆，建立汇率弹性敏捷定价机制至关重要。</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第2节 外汇市场与汇率风险</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二、跨国企业面临的三大汇率风险与对冲工具</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9</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跨国企业面临的三大汇率风险分类</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（1）交易风险（Transaction Risk / 短期）： </a:t>
            </a:r>
            <a:r>
              <a:rPr sz="1250" b="0">
                <a:solidFill>
                  <a:srgbClr val="1E293B"/>
                </a:solidFill>
                <a:latin typeface="Times New Roman"/>
                <a:ea typeface="宋体"/>
              </a:rPr>
              <a:t>已签订以外币计价结算的进出口合同在未来实际结汇时，因汇率剧烈波动造成的直接现金损益。</a:t>
            </a:r>
          </a:p>
          <a:p>
            <a:pPr>
              <a:lnSpc>
                <a:spcPct val="120000"/>
              </a:lnSpc>
              <a:spcAft>
                <a:spcPts val="600"/>
              </a:spcAft>
            </a:pPr>
            <a:r>
              <a:rPr sz="1250" b="1">
                <a:solidFill>
                  <a:srgbClr val="1B3A5C"/>
                </a:solidFill>
                <a:latin typeface="Times New Roman"/>
                <a:ea typeface="宋体"/>
              </a:rPr>
              <a:t>（2）折算风险（Translation Risk / 会计风险）： </a:t>
            </a:r>
            <a:r>
              <a:rPr sz="1250" b="0">
                <a:solidFill>
                  <a:srgbClr val="1E293B"/>
                </a:solidFill>
                <a:latin typeface="Times New Roman"/>
                <a:ea typeface="宋体"/>
              </a:rPr>
              <a:t>跨国公司期末将海外子公司的外币资产负债表合并折算为母公司本币报表时产生的账面权益浮动。</a:t>
            </a:r>
          </a:p>
          <a:p>
            <a:pPr>
              <a:lnSpc>
                <a:spcPct val="120000"/>
              </a:lnSpc>
              <a:spcAft>
                <a:spcPts val="600"/>
              </a:spcAft>
            </a:pPr>
            <a:r>
              <a:rPr sz="1250" b="1">
                <a:solidFill>
                  <a:srgbClr val="1B3A5C"/>
                </a:solidFill>
                <a:latin typeface="Times New Roman"/>
                <a:ea typeface="宋体"/>
              </a:rPr>
              <a:t>（3）经济风险（Economic Risk / 长期战略风险）： </a:t>
            </a:r>
            <a:r>
              <a:rPr sz="1250" b="0">
                <a:solidFill>
                  <a:srgbClr val="1E293B"/>
                </a:solidFill>
                <a:latin typeface="Times New Roman"/>
                <a:ea typeface="宋体"/>
              </a:rPr>
              <a:t>汇率长期持续异动对企业全球生产布局、竞争对手相对成本结构及未来多年预期现金流的深远实质冲击。</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金融衍生品与供应链自然对冲工具</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（1）远期外汇合约（Forward Contract）： </a:t>
            </a:r>
            <a:r>
              <a:rPr sz="1250" b="0">
                <a:solidFill>
                  <a:srgbClr val="1E293B"/>
                </a:solidFill>
                <a:latin typeface="Times New Roman"/>
                <a:ea typeface="宋体"/>
              </a:rPr>
              <a:t>提前与商业银行锁定未来特定结售汇日期的确定汇率，锁定利润底线。</a:t>
            </a:r>
          </a:p>
          <a:p>
            <a:pPr>
              <a:lnSpc>
                <a:spcPct val="120000"/>
              </a:lnSpc>
              <a:spcAft>
                <a:spcPts val="600"/>
              </a:spcAft>
            </a:pPr>
            <a:r>
              <a:rPr sz="1250" b="1">
                <a:solidFill>
                  <a:srgbClr val="2E86C1"/>
                </a:solidFill>
                <a:latin typeface="Times New Roman"/>
                <a:ea typeface="宋体"/>
              </a:rPr>
              <a:t>（2）外汇期权（Currency Options）： </a:t>
            </a:r>
            <a:r>
              <a:rPr sz="1250" b="0">
                <a:solidFill>
                  <a:srgbClr val="1E293B"/>
                </a:solidFill>
                <a:latin typeface="Times New Roman"/>
                <a:ea typeface="宋体"/>
              </a:rPr>
              <a:t>买入看跌/看涨期权，既防范单边汇率暴跌风险，又保留汇率反向有利变动带来的额外收益。</a:t>
            </a:r>
          </a:p>
          <a:p>
            <a:pPr>
              <a:lnSpc>
                <a:spcPct val="120000"/>
              </a:lnSpc>
              <a:spcAft>
                <a:spcPts val="600"/>
              </a:spcAft>
            </a:pPr>
            <a:r>
              <a:rPr sz="1250" b="1">
                <a:solidFill>
                  <a:srgbClr val="2E86C1"/>
                </a:solidFill>
                <a:latin typeface="Times New Roman"/>
                <a:ea typeface="宋体"/>
              </a:rPr>
              <a:t>（3）全球多币种产销平衡自然对冲： </a:t>
            </a:r>
            <a:r>
              <a:rPr sz="1250" b="0">
                <a:solidFill>
                  <a:srgbClr val="1E293B"/>
                </a:solidFill>
                <a:latin typeface="Times New Roman"/>
                <a:ea typeface="宋体"/>
              </a:rPr>
              <a:t>在当地采购、当地生产、当地销售并使用当地货币结算，实现现金流的天然免疫对冲。</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核心要点：汇率风险管理是跨国企业出海的第一必修课，必须坚持'风险中性'原则，杜绝单边外汇投机。</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第2节 外汇市场与汇率风险</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三、跨国供应链外汇风险操作四步防御体系</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10</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结算货币选择与提前/延期结汇（Leading and Lagging）</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（1）货币篮子选择策略： </a:t>
            </a:r>
            <a:r>
              <a:rPr sz="1250" b="0">
                <a:solidFill>
                  <a:srgbClr val="1E293B"/>
                </a:solidFill>
                <a:latin typeface="Times New Roman"/>
                <a:ea typeface="宋体"/>
              </a:rPr>
              <a:t>出口争取使用硬货币（预期升值货币）计价结算，进口争取使用软货币（预期贬值货币）计价结算。</a:t>
            </a:r>
          </a:p>
          <a:p>
            <a:pPr>
              <a:lnSpc>
                <a:spcPct val="120000"/>
              </a:lnSpc>
              <a:spcAft>
                <a:spcPts val="600"/>
              </a:spcAft>
            </a:pPr>
            <a:r>
              <a:rPr sz="1250" b="1">
                <a:solidFill>
                  <a:srgbClr val="1B3A5C"/>
                </a:solidFill>
                <a:latin typeface="Times New Roman"/>
                <a:ea typeface="宋体"/>
              </a:rPr>
              <a:t>（2）提前结汇（Leading）： </a:t>
            </a:r>
            <a:r>
              <a:rPr sz="1250" b="0">
                <a:solidFill>
                  <a:srgbClr val="1E293B"/>
                </a:solidFill>
                <a:latin typeface="Times New Roman"/>
                <a:ea typeface="宋体"/>
              </a:rPr>
              <a:t>预期应收外币即将大幅贬值时，提供早付现金折扣促使海外客户提前付款。</a:t>
            </a:r>
          </a:p>
          <a:p>
            <a:pPr>
              <a:lnSpc>
                <a:spcPct val="120000"/>
              </a:lnSpc>
              <a:spcAft>
                <a:spcPts val="600"/>
              </a:spcAft>
            </a:pPr>
            <a:r>
              <a:rPr sz="1250" b="1">
                <a:solidFill>
                  <a:srgbClr val="1B3A5C"/>
                </a:solidFill>
                <a:latin typeface="Times New Roman"/>
                <a:ea typeface="宋体"/>
              </a:rPr>
              <a:t>（3）延期结汇（Lagging）： </a:t>
            </a:r>
            <a:r>
              <a:rPr sz="1250" b="0">
                <a:solidFill>
                  <a:srgbClr val="1E293B"/>
                </a:solidFill>
                <a:latin typeface="Times New Roman"/>
                <a:ea typeface="宋体"/>
              </a:rPr>
              <a:t>预期应付外币即将贬值时，协商延长应付账款账期以享受贬值红利。</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跨国资金池（Global Cash Pooling）与内部净额对冲</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（1）内部轧差（Netting）： </a:t>
            </a:r>
            <a:r>
              <a:rPr sz="1250" b="0">
                <a:solidFill>
                  <a:srgbClr val="1E293B"/>
                </a:solidFill>
                <a:latin typeface="Times New Roman"/>
                <a:ea typeface="宋体"/>
              </a:rPr>
              <a:t>跨国集团建立全球资金清算中心，各子公司之间的应收应付款项先在集团内部直接轧差冲抵，仅将净差额对外换汇，大幅削减外汇兑换手续费与敞口风险。</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核心要点：操作性外汇管理工具与金融衍生品双轨并进，打造跨国企业立体抗汇率波动防御网。</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第3节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贸易保护政策的经济福利效应</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量化分解进口关税对消费者与生产者的福利转移，解析双重死重损失 DWL 及进口配额寻租。</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第11章 全球化背景下的企业经营决策 · 权威教材精细化教学架构</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第3节 贸易保护政策的经济福利效应</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一、进口关税的经济福利效应分解与双重死重损失（DWL）</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12</a:t>
            </a:r>
          </a:p>
        </p:txBody>
      </p:sp>
      <p:pic>
        <p:nvPicPr>
          <p:cNvPr id="9" name="Picture 8" descr="chart_11_1.png"/>
          <p:cNvPicPr>
            <a:picLocks noChangeAspect="1"/>
          </p:cNvPicPr>
          <p:nvPr/>
        </p:nvPicPr>
        <p:blipFill>
          <a:blip r:embed="rId2"/>
          <a:stretch>
            <a:fillRect/>
          </a:stretch>
        </p:blipFill>
        <p:spPr>
          <a:xfrm>
            <a:off x="457200" y="1325880"/>
            <a:ext cx="5303520" cy="3977640"/>
          </a:xfrm>
          <a:prstGeom prst="rect">
            <a:avLst/>
          </a:prstGeom>
        </p:spPr>
      </p:pic>
      <p:sp>
        <p:nvSpPr>
          <p:cNvPr id="10" name="Rectangle 9"/>
          <p:cNvSpPr/>
          <p:nvPr/>
        </p:nvSpPr>
        <p:spPr>
          <a:xfrm>
            <a:off x="5989320" y="1325880"/>
            <a:ext cx="571500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89320" y="1325880"/>
            <a:ext cx="57150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关税价格效应与社会福利净损失</a:t>
            </a:r>
          </a:p>
        </p:txBody>
      </p:sp>
      <p:sp>
        <p:nvSpPr>
          <p:cNvPr id="12" name="TextBox 11"/>
          <p:cNvSpPr txBox="1"/>
          <p:nvPr/>
        </p:nvSpPr>
        <p:spPr>
          <a:xfrm>
            <a:off x="6172200" y="1920240"/>
            <a:ext cx="5349240" cy="3657600"/>
          </a:xfrm>
          <a:prstGeom prst="rect">
            <a:avLst/>
          </a:prstGeom>
          <a:noFill/>
        </p:spPr>
        <p:txBody>
          <a:bodyPr wrap="square" lIns="0" tIns="0" rIns="0" bIns="0">
            <a:spAutoFit/>
          </a:bodyPr>
          <a:lstStyle/>
          <a:p>
            <a:pPr>
              <a:lnSpc>
                <a:spcPct val="120000"/>
              </a:lnSpc>
              <a:spcAft>
                <a:spcPts val="300"/>
              </a:spcAft>
            </a:pPr>
            <a:r>
              <a:rPr sz="1100" b="1">
                <a:solidFill>
                  <a:srgbClr val="1B3A5C"/>
                </a:solidFill>
                <a:latin typeface="Times New Roman"/>
                <a:ea typeface="宋体"/>
              </a:rPr>
              <a:t>（1）自由贸易基准： </a:t>
            </a:r>
            <a:r>
              <a:rPr sz="1100" b="0">
                <a:solidFill>
                  <a:srgbClr val="1E293B"/>
                </a:solidFill>
                <a:latin typeface="Times New Roman"/>
                <a:ea typeface="宋体"/>
              </a:rPr>
              <a:t>世界价格为 P_w，国内产量为 Q_1，国内消费为 Q_2，进口量为 Q_2 - Q_1。</a:t>
            </a:r>
          </a:p>
          <a:p>
            <a:pPr>
              <a:lnSpc>
                <a:spcPct val="120000"/>
              </a:lnSpc>
              <a:spcAft>
                <a:spcPts val="300"/>
              </a:spcAft>
            </a:pPr>
            <a:r>
              <a:rPr sz="1100" b="1">
                <a:solidFill>
                  <a:srgbClr val="1B3A5C"/>
                </a:solidFill>
                <a:latin typeface="Times New Roman"/>
                <a:ea typeface="宋体"/>
              </a:rPr>
              <a:t>（2）征收进口关税 t 后： </a:t>
            </a:r>
            <a:r>
              <a:rPr sz="1100" b="0">
                <a:solidFill>
                  <a:srgbClr val="1E293B"/>
                </a:solidFill>
                <a:latin typeface="Times New Roman"/>
                <a:ea typeface="宋体"/>
              </a:rPr>
              <a:t>国内价格抬升至 P_t = P_w + t，刺激国内低效生产增至 Q_3，抑制国内消费降至 Q_4，进口萎缩至 Q_4 - Q_3。</a:t>
            </a:r>
          </a:p>
          <a:p>
            <a:pPr>
              <a:lnSpc>
                <a:spcPct val="120000"/>
              </a:lnSpc>
              <a:spcAft>
                <a:spcPts val="300"/>
              </a:spcAft>
            </a:pPr>
            <a:r>
              <a:rPr sz="1100" b="1">
                <a:solidFill>
                  <a:srgbClr val="1B3A5C"/>
                </a:solidFill>
                <a:latin typeface="Times New Roman"/>
                <a:ea typeface="宋体"/>
              </a:rPr>
              <a:t>（3）消费者剩余损失分解 (a + b + c + d)： </a:t>
            </a:r>
            <a:r>
              <a:rPr sz="1100" b="0">
                <a:solidFill>
                  <a:srgbClr val="1E293B"/>
                </a:solidFill>
                <a:latin typeface="Times New Roman"/>
                <a:ea typeface="宋体"/>
              </a:rPr>
              <a:t/>
            </a:r>
          </a:p>
          <a:p>
            <a:pPr>
              <a:lnSpc>
                <a:spcPct val="120000"/>
              </a:lnSpc>
              <a:spcAft>
                <a:spcPts val="300"/>
              </a:spcAft>
            </a:pPr>
            <a:r>
              <a:rPr sz="1100" b="1">
                <a:solidFill>
                  <a:srgbClr val="1B3A5C"/>
                </a:solidFill>
                <a:latin typeface="Times New Roman"/>
                <a:ea typeface="宋体"/>
              </a:rPr>
              <a:t>   • 梯形 a： </a:t>
            </a:r>
            <a:r>
              <a:rPr sz="1100" b="0">
                <a:solidFill>
                  <a:srgbClr val="1E293B"/>
                </a:solidFill>
                <a:latin typeface="Times New Roman"/>
                <a:ea typeface="宋体"/>
              </a:rPr>
              <a:t>转移给国内受保护生产者的超额利润（生产者剩余增加）。</a:t>
            </a:r>
          </a:p>
          <a:p>
            <a:pPr>
              <a:lnSpc>
                <a:spcPct val="120000"/>
              </a:lnSpc>
              <a:spcAft>
                <a:spcPts val="300"/>
              </a:spcAft>
            </a:pPr>
            <a:r>
              <a:rPr sz="1100" b="1">
                <a:solidFill>
                  <a:srgbClr val="1B3A5C"/>
                </a:solidFill>
                <a:latin typeface="Times New Roman"/>
                <a:ea typeface="宋体"/>
              </a:rPr>
              <a:t>   • 矩形 c： </a:t>
            </a:r>
            <a:r>
              <a:rPr sz="1100" b="0">
                <a:solidFill>
                  <a:srgbClr val="1E293B"/>
                </a:solidFill>
                <a:latin typeface="Times New Roman"/>
                <a:ea typeface="宋体"/>
              </a:rPr>
              <a:t>政府征收的关税财政税收收入 (t \times 进口量)。</a:t>
            </a:r>
          </a:p>
          <a:p>
            <a:pPr>
              <a:lnSpc>
                <a:spcPct val="120000"/>
              </a:lnSpc>
              <a:spcAft>
                <a:spcPts val="300"/>
              </a:spcAft>
            </a:pPr>
            <a:r>
              <a:rPr sz="1100" b="1">
                <a:solidFill>
                  <a:srgbClr val="1B3A5C"/>
                </a:solidFill>
                <a:latin typeface="Times New Roman"/>
                <a:ea typeface="宋体"/>
              </a:rPr>
              <a:t>   • 三角形 b（生产扭曲死重损失 DWL_1）： </a:t>
            </a:r>
            <a:r>
              <a:rPr sz="1100" b="0">
                <a:solidFill>
                  <a:srgbClr val="1E293B"/>
                </a:solidFill>
                <a:latin typeface="Times New Roman"/>
                <a:ea typeface="宋体"/>
              </a:rPr>
              <a:t>低效国内生产替代高效国外进口导致的生产资源错配纯浪费！</a:t>
            </a:r>
          </a:p>
          <a:p>
            <a:pPr>
              <a:lnSpc>
                <a:spcPct val="120000"/>
              </a:lnSpc>
              <a:spcAft>
                <a:spcPts val="300"/>
              </a:spcAft>
            </a:pPr>
            <a:r>
              <a:rPr sz="1100" b="1">
                <a:solidFill>
                  <a:srgbClr val="1B3A5C"/>
                </a:solidFill>
                <a:latin typeface="Times New Roman"/>
                <a:ea typeface="宋体"/>
              </a:rPr>
              <a:t>   • 三角形 d（消费扭曲死重损失 DWL_2）： </a:t>
            </a:r>
            <a:r>
              <a:rPr sz="1100" b="0">
                <a:solidFill>
                  <a:srgbClr val="1E293B"/>
                </a:solidFill>
                <a:latin typeface="Times New Roman"/>
                <a:ea typeface="宋体"/>
              </a:rPr>
              <a:t>高物价剥夺消费者潜在消费福利导致的纯死重损失！</a:t>
            </a:r>
          </a:p>
        </p:txBody>
      </p:sp>
      <p:sp>
        <p:nvSpPr>
          <p:cNvPr id="13" name="Rectangle 12"/>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理论精要：关税保护实质是以全社会净福利死重损失（b+d）和消费者福利受损为代价，向特定低效受保护利益集团输送租金。</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第3节 贸易保护政策的经济福利效应</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二、进口配额（Quotas）寻租租金与自愿出口限制</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13</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进口配额（Import Quotas）的经济效应与租金归属</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（1）配额限制机制： </a:t>
            </a:r>
            <a:r>
              <a:rPr sz="1250" b="0">
                <a:solidFill>
                  <a:srgbClr val="1E293B"/>
                </a:solidFill>
                <a:latin typeface="Times New Roman"/>
                <a:ea typeface="宋体"/>
              </a:rPr>
              <a:t>政府通过行政法令直接限定某类商品在一定时期内的最高进口实物数量。</a:t>
            </a:r>
          </a:p>
          <a:p>
            <a:pPr>
              <a:lnSpc>
                <a:spcPct val="120000"/>
              </a:lnSpc>
              <a:spcAft>
                <a:spcPts val="600"/>
              </a:spcAft>
            </a:pPr>
            <a:r>
              <a:rPr sz="1250" b="1">
                <a:solidFill>
                  <a:srgbClr val="1B3A5C"/>
                </a:solidFill>
                <a:latin typeface="Times New Roman"/>
                <a:ea typeface="宋体"/>
              </a:rPr>
              <a:t>（2）配额与关税对比： </a:t>
            </a:r>
            <a:r>
              <a:rPr sz="1250" b="0">
                <a:solidFill>
                  <a:srgbClr val="1E293B"/>
                </a:solidFill>
                <a:latin typeface="Times New Roman"/>
                <a:ea typeface="宋体"/>
              </a:rPr>
              <a:t>关税通过价格间接调节进口量，配额则直接封死进口上限，即便国际物价暴跌也无法扩大进口，对国内价格推升刚性更强！</a:t>
            </a:r>
          </a:p>
          <a:p>
            <a:pPr>
              <a:lnSpc>
                <a:spcPct val="120000"/>
              </a:lnSpc>
              <a:spcAft>
                <a:spcPts val="600"/>
              </a:spcAft>
            </a:pPr>
            <a:r>
              <a:rPr sz="1250" b="1">
                <a:solidFill>
                  <a:srgbClr val="1B3A5C"/>
                </a:solidFill>
                <a:latin typeface="Times New Roman"/>
                <a:ea typeface="宋体"/>
              </a:rPr>
              <a:t>（3）配额租金（Quota Rents）三种流向： </a:t>
            </a:r>
            <a:r>
              <a:rPr sz="1250" b="0">
                <a:solidFill>
                  <a:srgbClr val="1E293B"/>
                </a:solidFill>
                <a:latin typeface="Times New Roman"/>
                <a:ea typeface="宋体"/>
              </a:rPr>
              <a:t>① 政府公开拍卖许可证 \to 归国库；② 免费分配给特定代理商 \to 成为进口商暴利；③ 出口国自愿配额 \to 拱手送给外国出口商。</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寻租腐败与非关税技术壁垒</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（1）寻租行为（Rent-Seeking）： </a:t>
            </a:r>
            <a:r>
              <a:rPr sz="1250" b="0">
                <a:solidFill>
                  <a:srgbClr val="1E293B"/>
                </a:solidFill>
                <a:latin typeface="Times New Roman"/>
                <a:ea typeface="宋体"/>
              </a:rPr>
              <a:t>企业耗费巨资用于游说公关官员以获取稀缺配额批文，造成巨大的社会资源纯浪费。</a:t>
            </a:r>
          </a:p>
          <a:p>
            <a:pPr>
              <a:lnSpc>
                <a:spcPct val="120000"/>
              </a:lnSpc>
              <a:spcAft>
                <a:spcPts val="600"/>
              </a:spcAft>
            </a:pPr>
            <a:r>
              <a:rPr sz="1250" b="1">
                <a:solidFill>
                  <a:srgbClr val="2E86C1"/>
                </a:solidFill>
                <a:latin typeface="Times New Roman"/>
                <a:ea typeface="宋体"/>
              </a:rPr>
              <a:t>（2）自愿出口限制（VER）与技术性贸易壁垒（TBT）： </a:t>
            </a:r>
            <a:r>
              <a:rPr sz="1250" b="0">
                <a:solidFill>
                  <a:srgbClr val="1E293B"/>
                </a:solidFill>
                <a:latin typeface="Times New Roman"/>
                <a:ea typeface="宋体"/>
              </a:rPr>
              <a:t>利用绿色环保、技术安全检测等隐形标准阻碍竞争。</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核心要点：非关税壁垒与配额寻租加剧了市场扭曲，出海企业必须高度重视东道国非关税合规风险。</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第3节 贸易保护政策的经济福利效应</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三、区域经济一体化：贸易创造与贸易转移效应</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14</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区域自由贸易协定（FTA / 关税同盟）</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（1）运作机制： </a:t>
            </a:r>
            <a:r>
              <a:rPr sz="1250" b="0">
                <a:solidFill>
                  <a:srgbClr val="1E293B"/>
                </a:solidFill>
                <a:latin typeface="Times New Roman"/>
                <a:ea typeface="宋体"/>
              </a:rPr>
              <a:t>成员国之间相互免除关税壁垒，对外建立统一或各自独立的关税体系（如 RCEP、CPTPP、欧盟）。</a:t>
            </a:r>
          </a:p>
          <a:p>
            <a:pPr>
              <a:lnSpc>
                <a:spcPct val="120000"/>
              </a:lnSpc>
              <a:spcAft>
                <a:spcPts val="600"/>
              </a:spcAft>
            </a:pPr>
            <a:r>
              <a:rPr sz="1250" b="1">
                <a:solidFill>
                  <a:srgbClr val="1B3A5C"/>
                </a:solidFill>
                <a:latin typeface="Times New Roman"/>
                <a:ea typeface="宋体"/>
              </a:rPr>
              <a:t>（2）原产地累积规则： </a:t>
            </a:r>
            <a:r>
              <a:rPr sz="1250" b="0">
                <a:solidFill>
                  <a:srgbClr val="1E293B"/>
                </a:solidFill>
                <a:latin typeface="Times New Roman"/>
                <a:ea typeface="宋体"/>
              </a:rPr>
              <a:t>区域内零部件采购享受零关税累加，重塑亚太跨国供应链布局。</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瓦伊纳（Viner）关税同盟两大福利效应</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（1）贸易创造效应（Trade Creation / 福利增加）： </a:t>
            </a:r>
            <a:r>
              <a:rPr sz="1250" b="0">
                <a:solidFill>
                  <a:srgbClr val="1E293B"/>
                </a:solidFill>
                <a:latin typeface="Times New Roman"/>
                <a:ea typeface="宋体"/>
              </a:rPr>
              <a:t>成员国之间取消关税后，以区域内高效成员国的低价生产替代了本国的高成本生产，全社会净福利增加！</a:t>
            </a:r>
          </a:p>
          <a:p>
            <a:pPr>
              <a:lnSpc>
                <a:spcPct val="120000"/>
              </a:lnSpc>
              <a:spcAft>
                <a:spcPts val="600"/>
              </a:spcAft>
            </a:pPr>
            <a:r>
              <a:rPr sz="1250" b="1">
                <a:solidFill>
                  <a:srgbClr val="2E86C1"/>
                </a:solidFill>
                <a:latin typeface="Times New Roman"/>
                <a:ea typeface="宋体"/>
              </a:rPr>
              <a:t>（2）贸易转移效应（Trade Diversion / 福利损失）： </a:t>
            </a:r>
            <a:r>
              <a:rPr sz="1250" b="0">
                <a:solidFill>
                  <a:srgbClr val="1E293B"/>
                </a:solidFill>
                <a:latin typeface="Times New Roman"/>
                <a:ea typeface="宋体"/>
              </a:rPr>
              <a:t>由于关税差异，从区域外全球最低成本生产国转向购买区域内享受免税但成本略高的成员国商品。</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核心要点：企业跨国布局应优先锚定高标准自由贸易协定（FTA）成员国网络，最大化享受零关税与通关便利。</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第3节 贸易保护政策的经济福利效应</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四、反倾销（Anti-Dumping）与反补贴（CVD）应对策略</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15</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WTO 反倾销法理判定三大要件</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（1）倾销事实判定： </a:t>
            </a:r>
            <a:r>
              <a:rPr sz="1250" b="0">
                <a:solidFill>
                  <a:srgbClr val="1E293B"/>
                </a:solidFill>
                <a:latin typeface="Times New Roman"/>
                <a:ea typeface="宋体"/>
              </a:rPr>
              <a:t>出口价格低于出口国国内正常价值（Normal Value），或低于完全生产成本加合理利润。</a:t>
            </a:r>
          </a:p>
          <a:p>
            <a:pPr>
              <a:lnSpc>
                <a:spcPct val="120000"/>
              </a:lnSpc>
              <a:spcAft>
                <a:spcPts val="600"/>
              </a:spcAft>
            </a:pPr>
            <a:r>
              <a:rPr sz="1250" b="1">
                <a:solidFill>
                  <a:srgbClr val="1B3A5C"/>
                </a:solidFill>
                <a:latin typeface="Times New Roman"/>
                <a:ea typeface="宋体"/>
              </a:rPr>
              <a:t>（2）实质损害判定： </a:t>
            </a:r>
            <a:r>
              <a:rPr sz="1250" b="0">
                <a:solidFill>
                  <a:srgbClr val="1E293B"/>
                </a:solidFill>
                <a:latin typeface="Times New Roman"/>
                <a:ea typeface="宋体"/>
              </a:rPr>
              <a:t>进口国相关产业遭受实质性生产萎缩、利润暴跌或失业加剧。</a:t>
            </a:r>
          </a:p>
          <a:p>
            <a:pPr>
              <a:lnSpc>
                <a:spcPct val="120000"/>
              </a:lnSpc>
              <a:spcAft>
                <a:spcPts val="600"/>
              </a:spcAft>
            </a:pPr>
            <a:r>
              <a:rPr sz="1250" b="1">
                <a:solidFill>
                  <a:srgbClr val="1B3A5C"/>
                </a:solidFill>
                <a:latin typeface="Times New Roman"/>
                <a:ea typeface="宋体"/>
              </a:rPr>
              <a:t>（3）因果关系判定： </a:t>
            </a:r>
            <a:r>
              <a:rPr sz="1250" b="0">
                <a:solidFill>
                  <a:srgbClr val="1E293B"/>
                </a:solidFill>
                <a:latin typeface="Times New Roman"/>
                <a:ea typeface="宋体"/>
              </a:rPr>
              <a:t>证明倾销行为与实质损害之间存在直接确凿的因果链条。</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出海企业的合规抗辩与规避路径</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（1）建立合规成本会计体系： </a:t>
            </a:r>
            <a:r>
              <a:rPr sz="1250" b="0">
                <a:solidFill>
                  <a:srgbClr val="1E293B"/>
                </a:solidFill>
                <a:latin typeface="Times New Roman"/>
                <a:ea typeface="宋体"/>
              </a:rPr>
              <a:t>规范出口全链条成本与定价台账，积极应诉获取单独税率。</a:t>
            </a:r>
          </a:p>
          <a:p>
            <a:pPr>
              <a:lnSpc>
                <a:spcPct val="120000"/>
              </a:lnSpc>
              <a:spcAft>
                <a:spcPts val="600"/>
              </a:spcAft>
            </a:pPr>
            <a:r>
              <a:rPr sz="1250" b="1">
                <a:solidFill>
                  <a:srgbClr val="2E86C1"/>
                </a:solidFill>
                <a:latin typeface="Times New Roman"/>
                <a:ea typeface="宋体"/>
              </a:rPr>
              <a:t>（2）海外本土化 FDI 规避壁垒： </a:t>
            </a:r>
            <a:r>
              <a:rPr sz="1250" b="0">
                <a:solidFill>
                  <a:srgbClr val="1E293B"/>
                </a:solidFill>
                <a:latin typeface="Times New Roman"/>
                <a:ea typeface="宋体"/>
              </a:rPr>
              <a:t>直接赴目标国投资设厂本地化生产交付，彻底规避反倾销高额惩罚性关税。</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核心要点：反倾销是国际贸易战中最常见的合法性保护武器，企业必须强化国际法务抗辩与全球产能多元化配置。</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第4节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跨国直接投资与国际化战略（FDI）</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精讲邓宁 OLI 国际生产折衷理论，全景权衡出口、技术许可、合资与海外独资四大进入模式。</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第11章 全球化背景下的企业经营决策 · 权威教材精细化教学架构</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第4节 跨国直接投资与国际化战略</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一、邓宁（Dunning）OLI 国际生产折衷理论</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17</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OLI 理论三大核心优势支柱</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（1）所有权特定优势（Ownership, O）： </a:t>
            </a:r>
            <a:r>
              <a:rPr sz="1250" b="0">
                <a:solidFill>
                  <a:srgbClr val="1E293B"/>
                </a:solidFill>
                <a:latin typeface="Times New Roman"/>
                <a:ea typeface="宋体"/>
              </a:rPr>
              <a:t>企业独占的技术专利、核心品牌、规模经济与管理专有技能（企业跨国出海的基础门槛）。</a:t>
            </a:r>
          </a:p>
          <a:p>
            <a:pPr>
              <a:lnSpc>
                <a:spcPct val="120000"/>
              </a:lnSpc>
              <a:spcAft>
                <a:spcPts val="600"/>
              </a:spcAft>
            </a:pPr>
            <a:r>
              <a:rPr sz="1250" b="1">
                <a:solidFill>
                  <a:srgbClr val="1B3A5C"/>
                </a:solidFill>
                <a:latin typeface="Times New Roman"/>
                <a:ea typeface="宋体"/>
              </a:rPr>
              <a:t>（2）内部化优势（Internalization, I）： </a:t>
            </a:r>
            <a:r>
              <a:rPr sz="1250" b="0">
                <a:solidFill>
                  <a:srgbClr val="1E293B"/>
                </a:solidFill>
                <a:latin typeface="Times New Roman"/>
                <a:ea typeface="宋体"/>
              </a:rPr>
              <a:t>通过跨国公司内部组织交易替代不完全外部技术转让市场，防止核心机密泄露与被侵权。</a:t>
            </a:r>
          </a:p>
          <a:p>
            <a:pPr>
              <a:lnSpc>
                <a:spcPct val="120000"/>
              </a:lnSpc>
              <a:spcAft>
                <a:spcPts val="600"/>
              </a:spcAft>
            </a:pPr>
            <a:r>
              <a:rPr sz="1250" b="1">
                <a:solidFill>
                  <a:srgbClr val="1B3A5C"/>
                </a:solidFill>
                <a:latin typeface="Times New Roman"/>
                <a:ea typeface="宋体"/>
              </a:rPr>
              <a:t>（3）区位特定优势（Location, L）： </a:t>
            </a:r>
            <a:r>
              <a:rPr sz="1250" b="0">
                <a:solidFill>
                  <a:srgbClr val="1E293B"/>
                </a:solidFill>
                <a:latin typeface="Times New Roman"/>
                <a:ea typeface="宋体"/>
              </a:rPr>
              <a:t>东道国低廉的土地要素与工人工资、充裕的自然资源、庞大的本地市场需求及优惠的税收政策。</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FDI 决策三维逻辑判定矩阵</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（1）仅具备所有权优势 (O)： </a:t>
            </a:r>
            <a:r>
              <a:rPr sz="1250" b="0">
                <a:solidFill>
                  <a:srgbClr val="1E293B"/>
                </a:solidFill>
                <a:latin typeface="Times New Roman"/>
                <a:ea typeface="宋体"/>
              </a:rPr>
              <a:t>选择国内生产并出口商品（Exporting）。</a:t>
            </a:r>
          </a:p>
          <a:p>
            <a:pPr>
              <a:lnSpc>
                <a:spcPct val="120000"/>
              </a:lnSpc>
              <a:spcAft>
                <a:spcPts val="600"/>
              </a:spcAft>
            </a:pPr>
            <a:r>
              <a:rPr sz="1250" b="1">
                <a:solidFill>
                  <a:srgbClr val="2E86C1"/>
                </a:solidFill>
                <a:latin typeface="Times New Roman"/>
                <a:ea typeface="宋体"/>
              </a:rPr>
              <a:t>（2）具备所有权优势 (O) + 内部化优势 (I)： </a:t>
            </a:r>
            <a:r>
              <a:rPr sz="1250" b="0">
                <a:solidFill>
                  <a:srgbClr val="1E293B"/>
                </a:solidFill>
                <a:latin typeface="Times New Roman"/>
                <a:ea typeface="宋体"/>
              </a:rPr>
              <a:t>选择在国内生产直接出口，或对外进行国际技术许可授权（Licensing）。</a:t>
            </a:r>
          </a:p>
          <a:p>
            <a:pPr>
              <a:lnSpc>
                <a:spcPct val="120000"/>
              </a:lnSpc>
              <a:spcAft>
                <a:spcPts val="600"/>
              </a:spcAft>
            </a:pPr>
            <a:r>
              <a:rPr sz="1250" b="1">
                <a:solidFill>
                  <a:srgbClr val="2E86C1"/>
                </a:solidFill>
                <a:latin typeface="Times New Roman"/>
                <a:ea typeface="宋体"/>
              </a:rPr>
              <a:t>（3）同时具备 O + I + L 三大优势： </a:t>
            </a:r>
            <a:r>
              <a:rPr sz="1250" b="0">
                <a:solidFill>
                  <a:srgbClr val="1E293B"/>
                </a:solidFill>
                <a:latin typeface="Times New Roman"/>
                <a:ea typeface="宋体"/>
              </a:rPr>
              <a:t>企业才会做出对外直接投资（FDI）在海外建厂生产的最优战略选择！</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核心要点：邓宁 OLI 理论为跨国企业判定何时出海、如何出海提供了最经典的理论决策分析框架。</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第4节 跨国直接投资与国际化战略</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二、全球化四大市场进入模式全景权衡矩阵</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18</a:t>
            </a:r>
          </a:p>
        </p:txBody>
      </p:sp>
      <p:graphicFrame>
        <p:nvGraphicFramePr>
          <p:cNvPr id="9" name="Table 8"/>
          <p:cNvGraphicFramePr>
            <a:graphicFrameLocks noGrp="1"/>
          </p:cNvGraphicFramePr>
          <p:nvPr/>
        </p:nvGraphicFramePr>
        <p:xfrm>
          <a:off x="457200" y="1325880"/>
          <a:ext cx="12161520" cy="4343400"/>
        </p:xfrm>
        <a:graphic>
          <a:graphicData uri="http://schemas.openxmlformats.org/drawingml/2006/table">
            <a:tbl>
              <a:tblPr firstRow="1" bandRow="1">
                <a:tableStyleId>{5C22544A-7EE6-4342-B048-85BDC9FD1C3A}</a:tableStyleId>
              </a:tblPr>
              <a:tblGrid>
                <a:gridCol w="2286000"/>
                <a:gridCol w="1463040"/>
                <a:gridCol w="2194560"/>
                <a:gridCol w="1828800"/>
                <a:gridCol w="1828800"/>
                <a:gridCol w="2560320"/>
              </a:tblGrid>
              <a:tr h="868680">
                <a:tc>
                  <a:txBody>
                    <a:bodyPr wrap="square" anchor="ctr"/>
                    <a:lstStyle/>
                    <a:p>
                      <a:pPr algn="ctr">
                        <a:lnSpc>
                          <a:spcPct val="120000"/>
                        </a:lnSpc>
                      </a:pPr>
                      <a:r>
                        <a:rPr sz="1250" b="1">
                          <a:solidFill>
                            <a:srgbClr val="FFFFFF"/>
                          </a:solidFill>
                          <a:latin typeface="Times New Roman"/>
                          <a:ea typeface="宋体"/>
                        </a:rPr>
                        <a:t>市场进入模式</a:t>
                      </a:r>
                    </a:p>
                  </a:txBody>
                  <a:tcPr>
                    <a:solidFill>
                      <a:srgbClr val="1B3A5C"/>
                    </a:solidFill>
                  </a:tcPr>
                </a:tc>
                <a:tc>
                  <a:txBody>
                    <a:bodyPr wrap="square" anchor="ctr"/>
                    <a:lstStyle/>
                    <a:p>
                      <a:pPr algn="ctr">
                        <a:lnSpc>
                          <a:spcPct val="120000"/>
                        </a:lnSpc>
                      </a:pPr>
                      <a:r>
                        <a:rPr sz="1250" b="1">
                          <a:solidFill>
                            <a:srgbClr val="FFFFFF"/>
                          </a:solidFill>
                          <a:latin typeface="Times New Roman"/>
                          <a:ea typeface="宋体"/>
                        </a:rPr>
                        <a:t>控制权水平</a:t>
                      </a:r>
                    </a:p>
                  </a:txBody>
                  <a:tcPr>
                    <a:solidFill>
                      <a:srgbClr val="1B3A5C"/>
                    </a:solidFill>
                  </a:tcPr>
                </a:tc>
                <a:tc>
                  <a:txBody>
                    <a:bodyPr wrap="square" anchor="ctr"/>
                    <a:lstStyle/>
                    <a:p>
                      <a:pPr algn="ctr">
                        <a:lnSpc>
                          <a:spcPct val="120000"/>
                        </a:lnSpc>
                      </a:pPr>
                      <a:r>
                        <a:rPr sz="1250" b="1">
                          <a:solidFill>
                            <a:srgbClr val="FFFFFF"/>
                          </a:solidFill>
                          <a:latin typeface="Times New Roman"/>
                          <a:ea typeface="宋体"/>
                        </a:rPr>
                        <a:t>资源投入与资本风险</a:t>
                      </a:r>
                    </a:p>
                  </a:txBody>
                  <a:tcPr>
                    <a:solidFill>
                      <a:srgbClr val="1B3A5C"/>
                    </a:solidFill>
                  </a:tcPr>
                </a:tc>
                <a:tc>
                  <a:txBody>
                    <a:bodyPr wrap="square" anchor="ctr"/>
                    <a:lstStyle/>
                    <a:p>
                      <a:pPr algn="ctr">
                        <a:lnSpc>
                          <a:spcPct val="120000"/>
                        </a:lnSpc>
                      </a:pPr>
                      <a:r>
                        <a:rPr sz="1250" b="1">
                          <a:solidFill>
                            <a:srgbClr val="FFFFFF"/>
                          </a:solidFill>
                          <a:latin typeface="Times New Roman"/>
                          <a:ea typeface="宋体"/>
                        </a:rPr>
                        <a:t>技术扩散风险</a:t>
                      </a:r>
                    </a:p>
                  </a:txBody>
                  <a:tcPr>
                    <a:solidFill>
                      <a:srgbClr val="1B3A5C"/>
                    </a:solidFill>
                  </a:tcPr>
                </a:tc>
                <a:tc>
                  <a:txBody>
                    <a:bodyPr wrap="square" anchor="ctr"/>
                    <a:lstStyle/>
                    <a:p>
                      <a:pPr algn="ctr">
                        <a:lnSpc>
                          <a:spcPct val="120000"/>
                        </a:lnSpc>
                      </a:pPr>
                      <a:r>
                        <a:rPr sz="1250" b="1">
                          <a:solidFill>
                            <a:srgbClr val="FFFFFF"/>
                          </a:solidFill>
                          <a:latin typeface="Times New Roman"/>
                          <a:ea typeface="宋体"/>
                        </a:rPr>
                        <a:t>面临关税与运费</a:t>
                      </a:r>
                    </a:p>
                  </a:txBody>
                  <a:tcPr>
                    <a:solidFill>
                      <a:srgbClr val="1B3A5C"/>
                    </a:solidFill>
                  </a:tcPr>
                </a:tc>
                <a:tc>
                  <a:txBody>
                    <a:bodyPr wrap="square" anchor="ctr"/>
                    <a:lstStyle/>
                    <a:p>
                      <a:pPr algn="ctr">
                        <a:lnSpc>
                          <a:spcPct val="120000"/>
                        </a:lnSpc>
                      </a:pPr>
                      <a:r>
                        <a:rPr sz="1250" b="1">
                          <a:solidFill>
                            <a:srgbClr val="FFFFFF"/>
                          </a:solidFill>
                          <a:latin typeface="Times New Roman"/>
                          <a:ea typeface="宋体"/>
                        </a:rPr>
                        <a:t>适用战略场景</a:t>
                      </a:r>
                    </a:p>
                  </a:txBody>
                  <a:tcPr>
                    <a:solidFill>
                      <a:srgbClr val="1B3A5C"/>
                    </a:solidFill>
                  </a:tcPr>
                </a:tc>
              </a:tr>
              <a:tr h="868680">
                <a:tc>
                  <a:txBody>
                    <a:bodyPr wrap="square" anchor="ctr"/>
                    <a:lstStyle/>
                    <a:p>
                      <a:pPr algn="l">
                        <a:lnSpc>
                          <a:spcPct val="120000"/>
                        </a:lnSpc>
                      </a:pPr>
                      <a:r>
                        <a:rPr sz="1150" b="1">
                          <a:solidFill>
                            <a:srgbClr val="1B3A5C"/>
                          </a:solidFill>
                          <a:latin typeface="Times New Roman"/>
                          <a:ea typeface="宋体"/>
                        </a:rPr>
                        <a:t>产品直接出口 (Exporting)</a:t>
                      </a:r>
                    </a:p>
                  </a:txBody>
                  <a:tcPr>
                    <a:solidFill>
                      <a:srgbClr val="FFFFFF"/>
                    </a:solidFill>
                  </a:tcPr>
                </a:tc>
                <a:tc>
                  <a:txBody>
                    <a:bodyPr wrap="square" anchor="ctr"/>
                    <a:lstStyle/>
                    <a:p>
                      <a:pPr algn="l">
                        <a:lnSpc>
                          <a:spcPct val="120000"/>
                        </a:lnSpc>
                      </a:pPr>
                      <a:r>
                        <a:rPr sz="1150" b="0">
                          <a:solidFill>
                            <a:srgbClr val="1E293B"/>
                          </a:solidFill>
                          <a:latin typeface="Times New Roman"/>
                          <a:ea typeface="宋体"/>
                        </a:rPr>
                        <a:t>低</a:t>
                      </a:r>
                    </a:p>
                  </a:txBody>
                  <a:tcPr>
                    <a:solidFill>
                      <a:srgbClr val="FFFFFF"/>
                    </a:solidFill>
                  </a:tcPr>
                </a:tc>
                <a:tc>
                  <a:txBody>
                    <a:bodyPr wrap="square" anchor="ctr"/>
                    <a:lstStyle/>
                    <a:p>
                      <a:pPr algn="l">
                        <a:lnSpc>
                          <a:spcPct val="120000"/>
                        </a:lnSpc>
                      </a:pPr>
                      <a:r>
                        <a:rPr sz="1150" b="0">
                          <a:solidFill>
                            <a:srgbClr val="1E293B"/>
                          </a:solidFill>
                          <a:latin typeface="Times New Roman"/>
                          <a:ea typeface="宋体"/>
                        </a:rPr>
                        <a:t>极低 (轻资产灵活性高)</a:t>
                      </a:r>
                    </a:p>
                  </a:txBody>
                  <a:tcPr>
                    <a:solidFill>
                      <a:srgbClr val="FFFFFF"/>
                    </a:solidFill>
                  </a:tcPr>
                </a:tc>
                <a:tc>
                  <a:txBody>
                    <a:bodyPr wrap="square" anchor="ctr"/>
                    <a:lstStyle/>
                    <a:p>
                      <a:pPr algn="l">
                        <a:lnSpc>
                          <a:spcPct val="120000"/>
                        </a:lnSpc>
                      </a:pPr>
                      <a:r>
                        <a:rPr sz="1150" b="0">
                          <a:solidFill>
                            <a:srgbClr val="1E293B"/>
                          </a:solidFill>
                          <a:latin typeface="Times New Roman"/>
                          <a:ea typeface="宋体"/>
                        </a:rPr>
                        <a:t>极低 (黑盒出海)</a:t>
                      </a:r>
                    </a:p>
                  </a:txBody>
                  <a:tcPr>
                    <a:solidFill>
                      <a:srgbClr val="FFFFFF"/>
                    </a:solidFill>
                  </a:tcPr>
                </a:tc>
                <a:tc>
                  <a:txBody>
                    <a:bodyPr wrap="square" anchor="ctr"/>
                    <a:lstStyle/>
                    <a:p>
                      <a:pPr algn="l">
                        <a:lnSpc>
                          <a:spcPct val="120000"/>
                        </a:lnSpc>
                      </a:pPr>
                      <a:r>
                        <a:rPr sz="1150" b="0">
                          <a:solidFill>
                            <a:srgbClr val="1E293B"/>
                          </a:solidFill>
                          <a:latin typeface="Times New Roman"/>
                          <a:ea typeface="宋体"/>
                        </a:rPr>
                        <a:t>高 (受贸易壁垒制约)</a:t>
                      </a:r>
                    </a:p>
                  </a:txBody>
                  <a:tcPr>
                    <a:solidFill>
                      <a:srgbClr val="FFFFFF"/>
                    </a:solidFill>
                  </a:tcPr>
                </a:tc>
                <a:tc>
                  <a:txBody>
                    <a:bodyPr wrap="square" anchor="ctr"/>
                    <a:lstStyle/>
                    <a:p>
                      <a:pPr algn="l">
                        <a:lnSpc>
                          <a:spcPct val="120000"/>
                        </a:lnSpc>
                      </a:pPr>
                      <a:r>
                        <a:rPr sz="1150" b="0">
                          <a:solidFill>
                            <a:srgbClr val="1E293B"/>
                          </a:solidFill>
                          <a:latin typeface="Times New Roman"/>
                          <a:ea typeface="宋体"/>
                        </a:rPr>
                        <a:t>出海试水阶段、国内产能富余</a:t>
                      </a:r>
                    </a:p>
                  </a:txBody>
                  <a:tcPr>
                    <a:solidFill>
                      <a:srgbClr val="FFFFFF"/>
                    </a:solidFill>
                  </a:tcPr>
                </a:tc>
              </a:tr>
              <a:tr h="868680">
                <a:tc>
                  <a:txBody>
                    <a:bodyPr wrap="square" anchor="ctr"/>
                    <a:lstStyle/>
                    <a:p>
                      <a:pPr algn="l">
                        <a:lnSpc>
                          <a:spcPct val="120000"/>
                        </a:lnSpc>
                      </a:pPr>
                      <a:r>
                        <a:rPr sz="1150" b="1">
                          <a:solidFill>
                            <a:srgbClr val="1B3A5C"/>
                          </a:solidFill>
                          <a:latin typeface="Times New Roman"/>
                          <a:ea typeface="宋体"/>
                        </a:rPr>
                        <a:t>国际技术许可 (Licensing)</a:t>
                      </a:r>
                    </a:p>
                  </a:txBody>
                  <a:tcPr>
                    <a:solidFill>
                      <a:srgbClr val="F2F2F2"/>
                    </a:solidFill>
                  </a:tcPr>
                </a:tc>
                <a:tc>
                  <a:txBody>
                    <a:bodyPr wrap="square" anchor="ctr"/>
                    <a:lstStyle/>
                    <a:p>
                      <a:pPr algn="l">
                        <a:lnSpc>
                          <a:spcPct val="120000"/>
                        </a:lnSpc>
                      </a:pPr>
                      <a:r>
                        <a:rPr sz="1150" b="0">
                          <a:solidFill>
                            <a:srgbClr val="1E293B"/>
                          </a:solidFill>
                          <a:latin typeface="Times New Roman"/>
                          <a:ea typeface="宋体"/>
                        </a:rPr>
                        <a:t>极低</a:t>
                      </a:r>
                    </a:p>
                  </a:txBody>
                  <a:tcPr>
                    <a:solidFill>
                      <a:srgbClr val="F2F2F2"/>
                    </a:solidFill>
                  </a:tcPr>
                </a:tc>
                <a:tc>
                  <a:txBody>
                    <a:bodyPr wrap="square" anchor="ctr"/>
                    <a:lstStyle/>
                    <a:p>
                      <a:pPr algn="l">
                        <a:lnSpc>
                          <a:spcPct val="120000"/>
                        </a:lnSpc>
                      </a:pPr>
                      <a:r>
                        <a:rPr sz="1150" b="0">
                          <a:solidFill>
                            <a:srgbClr val="1E293B"/>
                          </a:solidFill>
                          <a:latin typeface="Times New Roman"/>
                          <a:ea typeface="宋体"/>
                        </a:rPr>
                        <a:t>零 (纯收取特许权费)</a:t>
                      </a:r>
                    </a:p>
                  </a:txBody>
                  <a:tcPr>
                    <a:solidFill>
                      <a:srgbClr val="F2F2F2"/>
                    </a:solidFill>
                  </a:tcPr>
                </a:tc>
                <a:tc>
                  <a:txBody>
                    <a:bodyPr wrap="square" anchor="ctr"/>
                    <a:lstStyle/>
                    <a:p>
                      <a:pPr algn="l">
                        <a:lnSpc>
                          <a:spcPct val="120000"/>
                        </a:lnSpc>
                      </a:pPr>
                      <a:r>
                        <a:rPr sz="1150" b="0">
                          <a:solidFill>
                            <a:srgbClr val="1E293B"/>
                          </a:solidFill>
                          <a:latin typeface="Times New Roman"/>
                          <a:ea typeface="宋体"/>
                        </a:rPr>
                        <a:t>极高 (可能培养潜在对手)</a:t>
                      </a:r>
                    </a:p>
                  </a:txBody>
                  <a:tcPr>
                    <a:solidFill>
                      <a:srgbClr val="F2F2F2"/>
                    </a:solidFill>
                  </a:tcPr>
                </a:tc>
                <a:tc>
                  <a:txBody>
                    <a:bodyPr wrap="square" anchor="ctr"/>
                    <a:lstStyle/>
                    <a:p>
                      <a:pPr algn="l">
                        <a:lnSpc>
                          <a:spcPct val="120000"/>
                        </a:lnSpc>
                      </a:pPr>
                      <a:r>
                        <a:rPr sz="1150" b="0">
                          <a:solidFill>
                            <a:srgbClr val="1E293B"/>
                          </a:solidFill>
                          <a:latin typeface="Times New Roman"/>
                          <a:ea typeface="宋体"/>
                        </a:rPr>
                        <a:t>零 (由被许可方生产)</a:t>
                      </a:r>
                    </a:p>
                  </a:txBody>
                  <a:tcPr>
                    <a:solidFill>
                      <a:srgbClr val="F2F2F2"/>
                    </a:solidFill>
                  </a:tcPr>
                </a:tc>
                <a:tc>
                  <a:txBody>
                    <a:bodyPr wrap="square" anchor="ctr"/>
                    <a:lstStyle/>
                    <a:p>
                      <a:pPr algn="l">
                        <a:lnSpc>
                          <a:spcPct val="120000"/>
                        </a:lnSpc>
                      </a:pPr>
                      <a:r>
                        <a:rPr sz="1150" b="0">
                          <a:solidFill>
                            <a:srgbClr val="1E293B"/>
                          </a:solidFill>
                          <a:latin typeface="Times New Roman"/>
                          <a:ea typeface="宋体"/>
                        </a:rPr>
                        <a:t>非核心技术、东道国限制外资进入</a:t>
                      </a:r>
                    </a:p>
                  </a:txBody>
                  <a:tcPr>
                    <a:solidFill>
                      <a:srgbClr val="F2F2F2"/>
                    </a:solidFill>
                  </a:tcPr>
                </a:tc>
              </a:tr>
              <a:tr h="868680">
                <a:tc>
                  <a:txBody>
                    <a:bodyPr wrap="square" anchor="ctr"/>
                    <a:lstStyle/>
                    <a:p>
                      <a:pPr algn="l">
                        <a:lnSpc>
                          <a:spcPct val="120000"/>
                        </a:lnSpc>
                      </a:pPr>
                      <a:r>
                        <a:rPr sz="1150" b="1">
                          <a:solidFill>
                            <a:srgbClr val="1B3A5C"/>
                          </a:solidFill>
                          <a:latin typeface="Times New Roman"/>
                          <a:ea typeface="宋体"/>
                        </a:rPr>
                        <a:t>海外合资企业 (Joint Venture)</a:t>
                      </a:r>
                    </a:p>
                  </a:txBody>
                  <a:tcPr>
                    <a:solidFill>
                      <a:srgbClr val="FFFFFF"/>
                    </a:solidFill>
                  </a:tcPr>
                </a:tc>
                <a:tc>
                  <a:txBody>
                    <a:bodyPr wrap="square" anchor="ctr"/>
                    <a:lstStyle/>
                    <a:p>
                      <a:pPr algn="l">
                        <a:lnSpc>
                          <a:spcPct val="120000"/>
                        </a:lnSpc>
                      </a:pPr>
                      <a:r>
                        <a:rPr sz="1150" b="0">
                          <a:solidFill>
                            <a:srgbClr val="1E293B"/>
                          </a:solidFill>
                          <a:latin typeface="Times New Roman"/>
                          <a:ea typeface="宋体"/>
                        </a:rPr>
                        <a:t>中等 (受制于外方伙伴)</a:t>
                      </a:r>
                    </a:p>
                  </a:txBody>
                  <a:tcPr>
                    <a:solidFill>
                      <a:srgbClr val="FFFFFF"/>
                    </a:solidFill>
                  </a:tcPr>
                </a:tc>
                <a:tc>
                  <a:txBody>
                    <a:bodyPr wrap="square" anchor="ctr"/>
                    <a:lstStyle/>
                    <a:p>
                      <a:pPr algn="l">
                        <a:lnSpc>
                          <a:spcPct val="120000"/>
                        </a:lnSpc>
                      </a:pPr>
                      <a:r>
                        <a:rPr sz="1150" b="0">
                          <a:solidFill>
                            <a:srgbClr val="1E293B"/>
                          </a:solidFill>
                          <a:latin typeface="Times New Roman"/>
                          <a:ea typeface="宋体"/>
                        </a:rPr>
                        <a:t>中等 (按股权比例分担)</a:t>
                      </a:r>
                    </a:p>
                  </a:txBody>
                  <a:tcPr>
                    <a:solidFill>
                      <a:srgbClr val="FFFFFF"/>
                    </a:solidFill>
                  </a:tcPr>
                </a:tc>
                <a:tc>
                  <a:txBody>
                    <a:bodyPr wrap="square" anchor="ctr"/>
                    <a:lstStyle/>
                    <a:p>
                      <a:pPr algn="l">
                        <a:lnSpc>
                          <a:spcPct val="120000"/>
                        </a:lnSpc>
                      </a:pPr>
                      <a:r>
                        <a:rPr sz="1150" b="0">
                          <a:solidFill>
                            <a:srgbClr val="1E293B"/>
                          </a:solidFill>
                          <a:latin typeface="Times New Roman"/>
                          <a:ea typeface="宋体"/>
                        </a:rPr>
                        <a:t>中等 (存在技术外溢)</a:t>
                      </a:r>
                    </a:p>
                  </a:txBody>
                  <a:tcPr>
                    <a:solidFill>
                      <a:srgbClr val="FFFFFF"/>
                    </a:solidFill>
                  </a:tcPr>
                </a:tc>
                <a:tc>
                  <a:txBody>
                    <a:bodyPr wrap="square" anchor="ctr"/>
                    <a:lstStyle/>
                    <a:p>
                      <a:pPr algn="l">
                        <a:lnSpc>
                          <a:spcPct val="120000"/>
                        </a:lnSpc>
                      </a:pPr>
                      <a:r>
                        <a:rPr sz="1150" b="0">
                          <a:solidFill>
                            <a:srgbClr val="1E293B"/>
                          </a:solidFill>
                          <a:latin typeface="Times New Roman"/>
                          <a:ea typeface="宋体"/>
                        </a:rPr>
                        <a:t>零 (本土化制造交付)</a:t>
                      </a:r>
                    </a:p>
                  </a:txBody>
                  <a:tcPr>
                    <a:solidFill>
                      <a:srgbClr val="FFFFFF"/>
                    </a:solidFill>
                  </a:tcPr>
                </a:tc>
                <a:tc>
                  <a:txBody>
                    <a:bodyPr wrap="square" anchor="ctr"/>
                    <a:lstStyle/>
                    <a:p>
                      <a:pPr algn="l">
                        <a:lnSpc>
                          <a:spcPct val="120000"/>
                        </a:lnSpc>
                      </a:pPr>
                      <a:r>
                        <a:rPr sz="1150" b="0">
                          <a:solidFill>
                            <a:srgbClr val="1E293B"/>
                          </a:solidFill>
                          <a:latin typeface="Times New Roman"/>
                          <a:ea typeface="宋体"/>
                        </a:rPr>
                        <a:t>东道国政策强制合资、借助本地渠道</a:t>
                      </a:r>
                    </a:p>
                  </a:txBody>
                  <a:tcPr>
                    <a:solidFill>
                      <a:srgbClr val="FFFFFF"/>
                    </a:solidFill>
                  </a:tcPr>
                </a:tc>
              </a:tr>
              <a:tr h="868680">
                <a:tc>
                  <a:txBody>
                    <a:bodyPr wrap="square" anchor="ctr"/>
                    <a:lstStyle/>
                    <a:p>
                      <a:pPr algn="l">
                        <a:lnSpc>
                          <a:spcPct val="120000"/>
                        </a:lnSpc>
                      </a:pPr>
                      <a:r>
                        <a:rPr sz="1150" b="1">
                          <a:solidFill>
                            <a:srgbClr val="1B3A5C"/>
                          </a:solidFill>
                          <a:latin typeface="Times New Roman"/>
                          <a:ea typeface="宋体"/>
                        </a:rPr>
                        <a:t>海外独资建厂 (Wholly-Owned FDI)</a:t>
                      </a:r>
                    </a:p>
                  </a:txBody>
                  <a:tcPr>
                    <a:solidFill>
                      <a:srgbClr val="F2F2F2"/>
                    </a:solidFill>
                  </a:tcPr>
                </a:tc>
                <a:tc>
                  <a:txBody>
                    <a:bodyPr wrap="square" anchor="ctr"/>
                    <a:lstStyle/>
                    <a:p>
                      <a:pPr algn="l">
                        <a:lnSpc>
                          <a:spcPct val="120000"/>
                        </a:lnSpc>
                      </a:pPr>
                      <a:r>
                        <a:rPr sz="1150" b="0">
                          <a:solidFill>
                            <a:srgbClr val="1E293B"/>
                          </a:solidFill>
                          <a:latin typeface="Times New Roman"/>
                          <a:ea typeface="宋体"/>
                        </a:rPr>
                        <a:t>极高 (100% 绝对掌控)</a:t>
                      </a:r>
                    </a:p>
                  </a:txBody>
                  <a:tcPr>
                    <a:solidFill>
                      <a:srgbClr val="F2F2F2"/>
                    </a:solidFill>
                  </a:tcPr>
                </a:tc>
                <a:tc>
                  <a:txBody>
                    <a:bodyPr wrap="square" anchor="ctr"/>
                    <a:lstStyle/>
                    <a:p>
                      <a:pPr algn="l">
                        <a:lnSpc>
                          <a:spcPct val="120000"/>
                        </a:lnSpc>
                      </a:pPr>
                      <a:r>
                        <a:rPr sz="1150" b="0">
                          <a:solidFill>
                            <a:srgbClr val="1E293B"/>
                          </a:solidFill>
                          <a:latin typeface="Times New Roman"/>
                          <a:ea typeface="宋体"/>
                        </a:rPr>
                        <a:t>极高 (重资产沉没投资)</a:t>
                      </a:r>
                    </a:p>
                  </a:txBody>
                  <a:tcPr>
                    <a:solidFill>
                      <a:srgbClr val="F2F2F2"/>
                    </a:solidFill>
                  </a:tcPr>
                </a:tc>
                <a:tc>
                  <a:txBody>
                    <a:bodyPr wrap="square" anchor="ctr"/>
                    <a:lstStyle/>
                    <a:p>
                      <a:pPr algn="l">
                        <a:lnSpc>
                          <a:spcPct val="120000"/>
                        </a:lnSpc>
                      </a:pPr>
                      <a:r>
                        <a:rPr sz="1150" b="0">
                          <a:solidFill>
                            <a:srgbClr val="1E293B"/>
                          </a:solidFill>
                          <a:latin typeface="Times New Roman"/>
                          <a:ea typeface="宋体"/>
                        </a:rPr>
                        <a:t>零 (核心技术绝对保密)</a:t>
                      </a:r>
                    </a:p>
                  </a:txBody>
                  <a:tcPr>
                    <a:solidFill>
                      <a:srgbClr val="F2F2F2"/>
                    </a:solidFill>
                  </a:tcPr>
                </a:tc>
                <a:tc>
                  <a:txBody>
                    <a:bodyPr wrap="square" anchor="ctr"/>
                    <a:lstStyle/>
                    <a:p>
                      <a:pPr algn="l">
                        <a:lnSpc>
                          <a:spcPct val="120000"/>
                        </a:lnSpc>
                      </a:pPr>
                      <a:r>
                        <a:rPr sz="1150" b="0">
                          <a:solidFill>
                            <a:srgbClr val="1E293B"/>
                          </a:solidFill>
                          <a:latin typeface="Times New Roman"/>
                          <a:ea typeface="宋体"/>
                        </a:rPr>
                        <a:t>零 (彻底绕开一切关税)</a:t>
                      </a:r>
                    </a:p>
                  </a:txBody>
                  <a:tcPr>
                    <a:solidFill>
                      <a:srgbClr val="F2F2F2"/>
                    </a:solidFill>
                  </a:tcPr>
                </a:tc>
                <a:tc>
                  <a:txBody>
                    <a:bodyPr wrap="square" anchor="ctr"/>
                    <a:lstStyle/>
                    <a:p>
                      <a:pPr algn="l">
                        <a:lnSpc>
                          <a:spcPct val="120000"/>
                        </a:lnSpc>
                      </a:pPr>
                      <a:r>
                        <a:rPr sz="1150" b="0">
                          <a:solidFill>
                            <a:srgbClr val="1E293B"/>
                          </a:solidFill>
                          <a:latin typeface="Times New Roman"/>
                          <a:ea typeface="宋体"/>
                        </a:rPr>
                        <a:t>全球核心战略高地、品牌专利壁垒极高</a:t>
                      </a:r>
                    </a:p>
                  </a:txBody>
                  <a:tcPr>
                    <a:solidFill>
                      <a:srgbClr val="F2F2F2"/>
                    </a:solidFill>
                  </a:tcPr>
                </a:tc>
              </a:tr>
            </a:tbl>
          </a:graphicData>
        </a:graphic>
      </p:graphicFrame>
      <p:sp>
        <p:nvSpPr>
          <p:cNvPr id="10" name="TextBox 9"/>
          <p:cNvSpPr txBox="1"/>
          <p:nvPr/>
        </p:nvSpPr>
        <p:spPr>
          <a:xfrm>
            <a:off x="457200" y="5833872"/>
            <a:ext cx="11247120" cy="41148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 矩阵解析：企业出海必须在控制权、资本风险投入与知识产权保护之间审慎权衡最优进入路径。</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第4节 跨国直接投资与国际化战略</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三、跨国并购 vs 绿地投资与阿里巴巴案例（案例11-2）</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19</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绿地投资（Greenfield）vs 跨国并购（M&amp;A）</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（1）绿地投资（全新建厂）： </a:t>
            </a:r>
            <a:r>
              <a:rPr sz="1250" b="0">
                <a:solidFill>
                  <a:srgbClr val="1E293B"/>
                </a:solidFill>
                <a:latin typeface="Times New Roman"/>
                <a:ea typeface="宋体"/>
              </a:rPr>
              <a:t>量身定制最先进工厂与工艺布局，无历史包袱，但建设周期长达数年、市场切入慢。</a:t>
            </a:r>
          </a:p>
          <a:p>
            <a:pPr>
              <a:lnSpc>
                <a:spcPct val="120000"/>
              </a:lnSpc>
              <a:spcAft>
                <a:spcPts val="600"/>
              </a:spcAft>
            </a:pPr>
            <a:r>
              <a:rPr sz="1250" b="1">
                <a:solidFill>
                  <a:srgbClr val="1B3A5C"/>
                </a:solidFill>
                <a:latin typeface="Times New Roman"/>
                <a:ea typeface="宋体"/>
              </a:rPr>
              <a:t>（2）跨国并购（Cross-border M&amp;A）： </a:t>
            </a:r>
            <a:r>
              <a:rPr sz="1250" b="0">
                <a:solidFill>
                  <a:srgbClr val="1E293B"/>
                </a:solidFill>
                <a:latin typeface="Times New Roman"/>
                <a:ea typeface="宋体"/>
              </a:rPr>
              <a:t>快速获取成熟的海外本地销售渠道、研发团队与知名品牌，但面临极高的跨文化整合冲突与商誉减值风险。</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案例11-2：阿里巴巴与中小企业全球化新平台（eWTP）</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（1）赋能全球中小微企业： </a:t>
            </a:r>
            <a:r>
              <a:rPr sz="1250" b="0">
                <a:solidFill>
                  <a:srgbClr val="1E293B"/>
                </a:solidFill>
                <a:latin typeface="Times New Roman"/>
                <a:ea typeface="宋体"/>
              </a:rPr>
              <a:t>通过跨境电商数字基础设施、菜鸟全球智能物流骨干网与全球支付清算，打破传统跨国巨头对国际贸易渠道的垄断。</a:t>
            </a:r>
          </a:p>
          <a:p>
            <a:pPr>
              <a:lnSpc>
                <a:spcPct val="120000"/>
              </a:lnSpc>
              <a:spcAft>
                <a:spcPts val="600"/>
              </a:spcAft>
            </a:pPr>
            <a:r>
              <a:rPr sz="1250" b="1">
                <a:solidFill>
                  <a:srgbClr val="2E86C1"/>
                </a:solidFill>
                <a:latin typeface="Times New Roman"/>
                <a:ea typeface="宋体"/>
              </a:rPr>
              <a:t>（2）管理启示： </a:t>
            </a:r>
            <a:r>
              <a:rPr sz="1250" b="0">
                <a:solidFill>
                  <a:srgbClr val="1E293B"/>
                </a:solidFill>
                <a:latin typeface="Times New Roman"/>
                <a:ea typeface="宋体"/>
              </a:rPr>
              <a:t>数字化平台赋能使中小企业能够以极低边际成本参与全球分工，开辟无国界的第二增长曲线。</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核心要点：全球化供应链的未来属于数字化、轻量化与高韧性，兼顾全球效率与本地化协同。</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第4节 跨国直接投资与国际化战略</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四、跨国公司全球组织架构演进与敏捷治理</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20</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跨国公司全球组织架构四种经典模式</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（1）国际事业部制（International Division）： </a:t>
            </a:r>
            <a:r>
              <a:rPr sz="1250" b="0">
                <a:solidFill>
                  <a:srgbClr val="1E293B"/>
                </a:solidFill>
                <a:latin typeface="Times New Roman"/>
                <a:ea typeface="宋体"/>
              </a:rPr>
              <a:t>出海初级阶段，在总部下设立独立国际部管理全部海外业务。</a:t>
            </a:r>
          </a:p>
          <a:p>
            <a:pPr>
              <a:lnSpc>
                <a:spcPct val="120000"/>
              </a:lnSpc>
              <a:spcAft>
                <a:spcPts val="600"/>
              </a:spcAft>
            </a:pPr>
            <a:r>
              <a:rPr sz="1250" b="1">
                <a:solidFill>
                  <a:srgbClr val="1B3A5C"/>
                </a:solidFill>
                <a:latin typeface="Times New Roman"/>
                <a:ea typeface="宋体"/>
              </a:rPr>
              <a:t>（2）全球产品事业部制（Global Product Division）： </a:t>
            </a:r>
            <a:r>
              <a:rPr sz="1250" b="0">
                <a:solidFill>
                  <a:srgbClr val="1E293B"/>
                </a:solidFill>
                <a:latin typeface="Times New Roman"/>
                <a:ea typeface="宋体"/>
              </a:rPr>
              <a:t>按产品线统领全球研发与产销，适合产品标准化、规模经济显著的高科技企业。</a:t>
            </a:r>
          </a:p>
          <a:p>
            <a:pPr>
              <a:lnSpc>
                <a:spcPct val="120000"/>
              </a:lnSpc>
              <a:spcAft>
                <a:spcPts val="600"/>
              </a:spcAft>
            </a:pPr>
            <a:r>
              <a:rPr sz="1250" b="1">
                <a:solidFill>
                  <a:srgbClr val="1B3A5C"/>
                </a:solidFill>
                <a:latin typeface="Times New Roman"/>
                <a:ea typeface="宋体"/>
              </a:rPr>
              <a:t>（3）全球区域事业部制（Global Area Division）： </a:t>
            </a:r>
            <a:r>
              <a:rPr sz="1250" b="0">
                <a:solidFill>
                  <a:srgbClr val="1E293B"/>
                </a:solidFill>
                <a:latin typeface="Times New Roman"/>
                <a:ea typeface="宋体"/>
              </a:rPr>
              <a:t>按美洲、欧洲、亚太分片治理，适合消费习惯差异大、本地化要求高的食品快消品。</a:t>
            </a:r>
          </a:p>
          <a:p>
            <a:pPr>
              <a:lnSpc>
                <a:spcPct val="120000"/>
              </a:lnSpc>
              <a:spcAft>
                <a:spcPts val="600"/>
              </a:spcAft>
            </a:pPr>
            <a:r>
              <a:rPr sz="1250" b="1">
                <a:solidFill>
                  <a:srgbClr val="1B3A5C"/>
                </a:solidFill>
                <a:latin typeface="Times New Roman"/>
                <a:ea typeface="宋体"/>
              </a:rPr>
              <a:t>（4）全球矩阵式架构（Global Matrix Structure）： </a:t>
            </a:r>
            <a:r>
              <a:rPr sz="1250" b="0">
                <a:solidFill>
                  <a:srgbClr val="1E293B"/>
                </a:solidFill>
                <a:latin typeface="Times New Roman"/>
                <a:ea typeface="宋体"/>
              </a:rPr>
              <a:t>产品线与区域双重汇报线，兼顾全球规模协同与本地市场敏捷响应。</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跨国组织治理的战略演进</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（1）从多国本土化走向全球整合跨国网络： </a:t>
            </a:r>
            <a:r>
              <a:rPr sz="1250" b="0">
                <a:solidFill>
                  <a:srgbClr val="1E293B"/>
                </a:solidFill>
                <a:latin typeface="Times New Roman"/>
                <a:ea typeface="宋体"/>
              </a:rPr>
              <a:t>构建'全球中台赋能+本地前线自主'的高韧性分布式跨国网络。</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核心要点：组织架构是跨国战略落地的骨架支撑，动态调整架构是驾驭复杂全球经营环境的根本保障。</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本章复习</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【第11章】全球化背景下的企业经营决策 全章核心要点串讲与决策指南</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21</a:t>
            </a:r>
          </a:p>
        </p:txBody>
      </p:sp>
      <p:sp>
        <p:nvSpPr>
          <p:cNvPr id="9" name="Rectangle 8"/>
          <p:cNvSpPr/>
          <p:nvPr/>
        </p:nvSpPr>
        <p:spPr>
          <a:xfrm>
            <a:off x="457200"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2651760" cy="4572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比较优势与新贸易理论</a:t>
            </a:r>
          </a:p>
        </p:txBody>
      </p:sp>
      <p:sp>
        <p:nvSpPr>
          <p:cNvPr id="11" name="TextBox 10"/>
          <p:cNvSpPr txBox="1"/>
          <p:nvPr/>
        </p:nvSpPr>
        <p:spPr>
          <a:xfrm>
            <a:off x="621792" y="1920240"/>
            <a:ext cx="2322576" cy="36118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李嘉图机会成本两利相权取其重</a:t>
            </a:r>
          </a:p>
          <a:p>
            <a:pPr algn="l">
              <a:lnSpc>
                <a:spcPct val="120000"/>
              </a:lnSpc>
              <a:spcAft>
                <a:spcPts val="400"/>
              </a:spcAft>
            </a:pPr>
            <a:r>
              <a:rPr sz="1150" b="0">
                <a:solidFill>
                  <a:srgbClr val="1E293B"/>
                </a:solidFill>
                <a:latin typeface="Times New Roman"/>
                <a:ea typeface="宋体"/>
              </a:rPr>
              <a:t>- 克鲁格曼规模经济解释高端工业品贸易</a:t>
            </a:r>
          </a:p>
          <a:p>
            <a:pPr algn="l">
              <a:lnSpc>
                <a:spcPct val="120000"/>
              </a:lnSpc>
              <a:spcAft>
                <a:spcPts val="400"/>
              </a:spcAft>
            </a:pPr>
            <a:r>
              <a:rPr sz="1150" b="0">
                <a:solidFill>
                  <a:srgbClr val="1E293B"/>
                </a:solidFill>
                <a:latin typeface="Times New Roman"/>
                <a:ea typeface="宋体"/>
              </a:rPr>
              <a:t>- H-O 要素禀赋理论指导全球产业链分工</a:t>
            </a:r>
          </a:p>
          <a:p>
            <a:pPr algn="l">
              <a:lnSpc>
                <a:spcPct val="120000"/>
              </a:lnSpc>
              <a:spcAft>
                <a:spcPts val="400"/>
              </a:spcAft>
            </a:pPr>
            <a:r>
              <a:rPr sz="1150" b="0">
                <a:solidFill>
                  <a:srgbClr val="1E293B"/>
                </a:solidFill>
                <a:latin typeface="Times New Roman"/>
                <a:ea typeface="宋体"/>
              </a:rPr>
              <a:t>- 战略贸易政策抢占全球规模制高点</a:t>
            </a:r>
          </a:p>
        </p:txBody>
      </p:sp>
      <p:sp>
        <p:nvSpPr>
          <p:cNvPr id="12" name="Rectangle 11"/>
          <p:cNvSpPr/>
          <p:nvPr/>
        </p:nvSpPr>
        <p:spPr>
          <a:xfrm>
            <a:off x="3310128"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10128" y="1325880"/>
            <a:ext cx="2651760" cy="4572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汇率波动与风险管理</a:t>
            </a:r>
          </a:p>
        </p:txBody>
      </p:sp>
      <p:sp>
        <p:nvSpPr>
          <p:cNvPr id="14" name="TextBox 13"/>
          <p:cNvSpPr txBox="1"/>
          <p:nvPr/>
        </p:nvSpPr>
        <p:spPr>
          <a:xfrm>
            <a:off x="3474720" y="1920240"/>
            <a:ext cx="2322576" cy="36118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本币升贬值对进出口产生异向冲击</a:t>
            </a:r>
          </a:p>
          <a:p>
            <a:pPr algn="l">
              <a:lnSpc>
                <a:spcPct val="120000"/>
              </a:lnSpc>
              <a:spcAft>
                <a:spcPts val="400"/>
              </a:spcAft>
            </a:pPr>
            <a:r>
              <a:rPr sz="1150" b="0">
                <a:solidFill>
                  <a:srgbClr val="1E293B"/>
                </a:solidFill>
                <a:latin typeface="Times New Roman"/>
                <a:ea typeface="宋体"/>
              </a:rPr>
              <a:t>- 交易/折算/经济三大汇率风险特征</a:t>
            </a:r>
          </a:p>
          <a:p>
            <a:pPr algn="l">
              <a:lnSpc>
                <a:spcPct val="120000"/>
              </a:lnSpc>
              <a:spcAft>
                <a:spcPts val="400"/>
              </a:spcAft>
            </a:pPr>
            <a:r>
              <a:rPr sz="1150" b="0">
                <a:solidFill>
                  <a:srgbClr val="1E293B"/>
                </a:solidFill>
                <a:latin typeface="Times New Roman"/>
                <a:ea typeface="宋体"/>
              </a:rPr>
              <a:t>- 远期外汇与期权锁定结售汇成本</a:t>
            </a:r>
          </a:p>
          <a:p>
            <a:pPr algn="l">
              <a:lnSpc>
                <a:spcPct val="120000"/>
              </a:lnSpc>
              <a:spcAft>
                <a:spcPts val="400"/>
              </a:spcAft>
            </a:pPr>
            <a:r>
              <a:rPr sz="1150" b="0">
                <a:solidFill>
                  <a:srgbClr val="1E293B"/>
                </a:solidFill>
                <a:latin typeface="Times New Roman"/>
                <a:ea typeface="宋体"/>
              </a:rPr>
              <a:t>- 全球多币种产销平衡自然对冲风险</a:t>
            </a:r>
          </a:p>
        </p:txBody>
      </p:sp>
      <p:sp>
        <p:nvSpPr>
          <p:cNvPr id="15" name="Rectangle 14"/>
          <p:cNvSpPr/>
          <p:nvPr/>
        </p:nvSpPr>
        <p:spPr>
          <a:xfrm>
            <a:off x="6163056"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63056" y="1325880"/>
            <a:ext cx="2651760" cy="45720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关税保护与死重损失</a:t>
            </a:r>
          </a:p>
        </p:txBody>
      </p:sp>
      <p:sp>
        <p:nvSpPr>
          <p:cNvPr id="17" name="TextBox 16"/>
          <p:cNvSpPr txBox="1"/>
          <p:nvPr/>
        </p:nvSpPr>
        <p:spPr>
          <a:xfrm>
            <a:off x="6327648" y="1920240"/>
            <a:ext cx="2322576" cy="36118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自由贸易实现全人类福利最大化</a:t>
            </a:r>
          </a:p>
          <a:p>
            <a:pPr algn="l">
              <a:lnSpc>
                <a:spcPct val="120000"/>
              </a:lnSpc>
              <a:spcAft>
                <a:spcPts val="400"/>
              </a:spcAft>
            </a:pPr>
            <a:r>
              <a:rPr sz="1150" b="0">
                <a:solidFill>
                  <a:srgbClr val="1E293B"/>
                </a:solidFill>
                <a:latin typeface="Times New Roman"/>
                <a:ea typeface="宋体"/>
              </a:rPr>
              <a:t>- 关税抬高国内物价、压制消费者剩余</a:t>
            </a:r>
          </a:p>
          <a:p>
            <a:pPr algn="l">
              <a:lnSpc>
                <a:spcPct val="120000"/>
              </a:lnSpc>
              <a:spcAft>
                <a:spcPts val="400"/>
              </a:spcAft>
            </a:pPr>
            <a:r>
              <a:rPr sz="1150" b="0">
                <a:solidFill>
                  <a:srgbClr val="1E293B"/>
                </a:solidFill>
                <a:latin typeface="Times New Roman"/>
                <a:ea typeface="宋体"/>
              </a:rPr>
              <a:t>- b+d 双重死重损失量化社会纯效率牺牲</a:t>
            </a:r>
          </a:p>
          <a:p>
            <a:pPr algn="l">
              <a:lnSpc>
                <a:spcPct val="120000"/>
              </a:lnSpc>
              <a:spcAft>
                <a:spcPts val="400"/>
              </a:spcAft>
            </a:pPr>
            <a:r>
              <a:rPr sz="1150" b="0">
                <a:solidFill>
                  <a:srgbClr val="1E293B"/>
                </a:solidFill>
                <a:latin typeface="Times New Roman"/>
                <a:ea typeface="宋体"/>
              </a:rPr>
              <a:t>- 配额寻租进一步恶化市场资源配置</a:t>
            </a:r>
          </a:p>
        </p:txBody>
      </p:sp>
      <p:sp>
        <p:nvSpPr>
          <p:cNvPr id="18" name="Rectangle 17"/>
          <p:cNvSpPr/>
          <p:nvPr/>
        </p:nvSpPr>
        <p:spPr>
          <a:xfrm>
            <a:off x="9015984"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015984" y="1325880"/>
            <a:ext cx="2651760" cy="45720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邓宁 OLI 与 FDI 模式</a:t>
            </a:r>
          </a:p>
        </p:txBody>
      </p:sp>
      <p:sp>
        <p:nvSpPr>
          <p:cNvPr id="20" name="TextBox 19"/>
          <p:cNvSpPr txBox="1"/>
          <p:nvPr/>
        </p:nvSpPr>
        <p:spPr>
          <a:xfrm>
            <a:off x="9180576" y="1920240"/>
            <a:ext cx="2322576" cy="36118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所有权 O、内部化 I、区位 L 三要素</a:t>
            </a:r>
          </a:p>
          <a:p>
            <a:pPr algn="l">
              <a:lnSpc>
                <a:spcPct val="120000"/>
              </a:lnSpc>
              <a:spcAft>
                <a:spcPts val="400"/>
              </a:spcAft>
            </a:pPr>
            <a:r>
              <a:rPr sz="1150" b="0">
                <a:solidFill>
                  <a:srgbClr val="1E293B"/>
                </a:solidFill>
                <a:latin typeface="Times New Roman"/>
                <a:ea typeface="宋体"/>
              </a:rPr>
              <a:t>- 出口/许可/合资/独资四大进入模式权衡</a:t>
            </a:r>
          </a:p>
          <a:p>
            <a:pPr algn="l">
              <a:lnSpc>
                <a:spcPct val="120000"/>
              </a:lnSpc>
              <a:spcAft>
                <a:spcPts val="400"/>
              </a:spcAft>
            </a:pPr>
            <a:r>
              <a:rPr sz="1150" b="0">
                <a:solidFill>
                  <a:srgbClr val="1E293B"/>
                </a:solidFill>
                <a:latin typeface="Times New Roman"/>
                <a:ea typeface="宋体"/>
              </a:rPr>
              <a:t>- 兼顾控制权、资本风险与本地化协同</a:t>
            </a:r>
          </a:p>
          <a:p>
            <a:pPr algn="l">
              <a:lnSpc>
                <a:spcPct val="120000"/>
              </a:lnSpc>
              <a:spcAft>
                <a:spcPts val="400"/>
              </a:spcAft>
            </a:pPr>
            <a:r>
              <a:rPr sz="1150" b="0">
                <a:solidFill>
                  <a:srgbClr val="1E293B"/>
                </a:solidFill>
                <a:latin typeface="Times New Roman"/>
                <a:ea typeface="宋体"/>
              </a:rPr>
              <a:t>- 打造全球化敏捷韧性供应链体系</a:t>
            </a:r>
          </a:p>
        </p:txBody>
      </p:sp>
      <p:sp>
        <p:nvSpPr>
          <p:cNvPr id="21" name="Rectangle 20"/>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战略结语：全球化经营要求企业站在全球价值链的高度，统筹把握比较优势、跨国资本运作、汇率风险套保与本土化运营，开辟无国界的第二增长曲线。</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课后思考与习题</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【第11章】课后复习思考题与作业题精选（对标课本）</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22</a:t>
            </a:r>
          </a:p>
        </p:txBody>
      </p:sp>
      <p:sp>
        <p:nvSpPr>
          <p:cNvPr id="9" name="Rectangle 8"/>
          <p:cNvSpPr/>
          <p:nvPr/>
        </p:nvSpPr>
        <p:spPr>
          <a:xfrm>
            <a:off x="457200" y="1325880"/>
            <a:ext cx="11247120" cy="48920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1124712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课后复习思考题与 MBA 讨论案例（严格对应课本习题）</a:t>
            </a:r>
          </a:p>
        </p:txBody>
      </p:sp>
      <p:sp>
        <p:nvSpPr>
          <p:cNvPr id="11" name="TextBox 10"/>
          <p:cNvSpPr txBox="1"/>
          <p:nvPr/>
        </p:nvSpPr>
        <p:spPr>
          <a:xfrm>
            <a:off x="731520" y="1965960"/>
            <a:ext cx="10698480" cy="406908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 </a:t>
            </a:r>
            <a:r>
              <a:rPr sz="1250" b="0">
                <a:solidFill>
                  <a:srgbClr val="1E293B"/>
                </a:solidFill>
                <a:latin typeface="Times New Roman"/>
                <a:ea typeface="宋体"/>
              </a:rPr>
              <a:t>【思考题1】什么是比较优势原理？为什么说即使一国在所有商品的生产上都处于绝对劣势，也仍然能够通过国际贸易实现双赢？</a:t>
            </a:r>
          </a:p>
          <a:p>
            <a:pPr>
              <a:lnSpc>
                <a:spcPct val="120000"/>
              </a:lnSpc>
              <a:spcAft>
                <a:spcPts val="600"/>
              </a:spcAft>
            </a:pPr>
            <a:r>
              <a:rPr sz="1250" b="1">
                <a:solidFill>
                  <a:srgbClr val="2E86C1"/>
                </a:solidFill>
                <a:latin typeface="Times New Roman"/>
                <a:ea typeface="宋体"/>
              </a:rPr>
              <a:t>2. </a:t>
            </a:r>
            <a:r>
              <a:rPr sz="1250" b="0">
                <a:solidFill>
                  <a:srgbClr val="1E293B"/>
                </a:solidFill>
                <a:latin typeface="Times New Roman"/>
                <a:ea typeface="宋体"/>
              </a:rPr>
              <a:t>【思考题2】克鲁格曼的新贸易理论是怎样解释发达国家之间同类工业品双向贸易现象的？</a:t>
            </a:r>
          </a:p>
          <a:p>
            <a:pPr>
              <a:lnSpc>
                <a:spcPct val="120000"/>
              </a:lnSpc>
              <a:spcAft>
                <a:spcPts val="600"/>
              </a:spcAft>
            </a:pPr>
            <a:r>
              <a:rPr sz="1250" b="1">
                <a:solidFill>
                  <a:srgbClr val="2E86C1"/>
                </a:solidFill>
                <a:latin typeface="Times New Roman"/>
                <a:ea typeface="宋体"/>
              </a:rPr>
              <a:t>3. </a:t>
            </a:r>
            <a:r>
              <a:rPr sz="1250" b="0">
                <a:solidFill>
                  <a:srgbClr val="1E293B"/>
                </a:solidFill>
                <a:latin typeface="Times New Roman"/>
                <a:ea typeface="宋体"/>
              </a:rPr>
              <a:t>【思考题3】跨国公司在经营中主要面临哪三种汇率风险？通常可以采取哪些金融工具和战略手段来防范和降低汇率风险？</a:t>
            </a:r>
          </a:p>
          <a:p>
            <a:pPr>
              <a:lnSpc>
                <a:spcPct val="120000"/>
              </a:lnSpc>
              <a:spcAft>
                <a:spcPts val="600"/>
              </a:spcAft>
            </a:pPr>
            <a:r>
              <a:rPr sz="1250" b="1">
                <a:solidFill>
                  <a:srgbClr val="2E86C1"/>
                </a:solidFill>
                <a:latin typeface="Times New Roman"/>
                <a:ea typeface="宋体"/>
              </a:rPr>
              <a:t>4. </a:t>
            </a:r>
            <a:r>
              <a:rPr sz="1250" b="0">
                <a:solidFill>
                  <a:srgbClr val="1E293B"/>
                </a:solidFill>
                <a:latin typeface="Times New Roman"/>
                <a:ea typeface="宋体"/>
              </a:rPr>
              <a:t>【思考题4】请用消费者剩余和生产者剩余分析进口关税的经济福利效应，并说明为什么关税会导致社会净福利的死重损失（DWL）？</a:t>
            </a:r>
          </a:p>
          <a:p>
            <a:pPr>
              <a:lnSpc>
                <a:spcPct val="120000"/>
              </a:lnSpc>
              <a:spcAft>
                <a:spcPts val="600"/>
              </a:spcAft>
            </a:pPr>
            <a:r>
              <a:rPr sz="1250" b="1">
                <a:solidFill>
                  <a:srgbClr val="2E86C1"/>
                </a:solidFill>
                <a:latin typeface="Times New Roman"/>
                <a:ea typeface="宋体"/>
              </a:rPr>
              <a:t>5. </a:t>
            </a:r>
            <a:r>
              <a:rPr sz="1250" b="0">
                <a:solidFill>
                  <a:srgbClr val="1E293B"/>
                </a:solidFill>
                <a:latin typeface="Times New Roman"/>
                <a:ea typeface="宋体"/>
              </a:rPr>
              <a:t>【思考题5】简述邓宁的国际生产折衷理论（OLI 理论）。企业在选择出口、技术许可和对外直接投资（FDI）时应当如何权衡？</a:t>
            </a:r>
          </a:p>
          <a:p>
            <a:pPr>
              <a:lnSpc>
                <a:spcPct val="120000"/>
              </a:lnSpc>
              <a:spcAft>
                <a:spcPts val="600"/>
              </a:spcAft>
            </a:pPr>
            <a:r>
              <a:rPr sz="1250" b="1">
                <a:solidFill>
                  <a:srgbClr val="2E86C1"/>
                </a:solidFill>
                <a:latin typeface="Times New Roman"/>
                <a:ea typeface="宋体"/>
              </a:rPr>
              <a:t>6. </a:t>
            </a:r>
            <a:r>
              <a:rPr sz="1250" b="0">
                <a:solidFill>
                  <a:srgbClr val="1E293B"/>
                </a:solidFill>
                <a:latin typeface="Times New Roman"/>
                <a:ea typeface="宋体"/>
              </a:rPr>
              <a:t>【作业题1】假定中国生产 1 单位布需要 2 小时劳动，生产 1 台收音机需要 4 小时；日本生产 1 单位布需要 3 小时，生产 1 台收音机需要 3 小时。计算两国各自生产布和收音机的机会成本，并指出各自的比较优势产品与最优专业化分工方向。</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